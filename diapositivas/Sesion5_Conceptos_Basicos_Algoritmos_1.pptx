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77" r:id="rId9"/>
    <p:sldId id="278" r:id="rId10"/>
    <p:sldId id="279" r:id="rId11"/>
    <p:sldId id="263" r:id="rId12"/>
    <p:sldId id="267" r:id="rId13"/>
    <p:sldId id="265" r:id="rId14"/>
    <p:sldId id="266" r:id="rId15"/>
    <p:sldId id="268" r:id="rId16"/>
    <p:sldId id="269" r:id="rId17"/>
    <p:sldId id="270" r:id="rId18"/>
    <p:sldId id="271" r:id="rId19"/>
    <p:sldId id="272" r:id="rId20"/>
    <p:sldId id="273" r:id="rId21"/>
    <p:sldId id="274" r:id="rId22"/>
    <p:sldId id="280" r:id="rId23"/>
    <p:sldId id="281"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47" autoAdjust="0"/>
    <p:restoredTop sz="94610"/>
  </p:normalViewPr>
  <p:slideViewPr>
    <p:cSldViewPr snapToGrid="0" snapToObjects="1">
      <p:cViewPr varScale="1">
        <p:scale>
          <a:sx n="69" d="100"/>
          <a:sy n="69" d="100"/>
        </p:scale>
        <p:origin x="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1307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La sesión cubre dos saberes de la Semana 2: «identifica conceptos básicos de algoritmos» y «describe los elementos básicos de un algoritmo».
El arco de la sesión es: primero cómo se representa un algoritmo, después con qué datos trabaja. Anúncialo así al abrir.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Cuatro de los ocho bloques son actividad de los estudiantes; ocupan un poco más de un tercio de la sesión.
Si el tiempo aprieta, la Actividad 4 puede pasar a trabajo independiente. Las actividades 2 y 3 no, porque cubren directamente los dos saberes de la sesión.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La barra inferior es la que evita que los tipos de datos se sientan repetidos: es el mismo concepto visto desde el algoritmo y no desde la clase.
Si alguien pregunta cuándo se escribe un programa que se ejecute, responde que la próxima semana, sin más detalle.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90 segundos individual y 90 en voz alta. Orden correcto: 3 · 5 · 2 · 4 · 1.
Sirve para introducir la característica «orden» sin definirla todavía.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El promedio de tres notas es el ejemplo transversal de la sesión: aparece aquí, en el caso guía y en los tipos de datos.
Detente en Precisión y en Salida: son las dos que más se incumplen en la actividad que sigue.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Respuestas:
A — Precisión: «al gusto» y «hasta que quede rica» admiten interpretaciones distintas.
B — Finitud: vuelve al mismo paso sin condición de parada, nunca termina.
C — Salida: se calcula el área pero el resultado nunca se comunica.
D — Precisión: «el descuento de siempre» no está definido; además falta la entrada del porcentaje.
Recoge las respuestas en voz alta y escríbelas en el tablero. No proyectes la solución.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«Lenguajes algorítmicos» es el término que usa el compromiso académico: úsalo explícitamente, porque así aparece en la evaluación.
Aclara que ninguno de los tres es un lenguaje de programación: eso llega cuando escribamos Java.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Proyecta esta diapositiva mientras hacen las actividades: es la tarjeta de referencia de la sesión.
Subraya que el repertorio es cerrado. Si un estudiante necesita una palabra que no está aquí, casi siempre significa que está intentando resolver el problema con una decisión o una repetición, y hoy no es el caso.
La fila de las cinco palabras de tipo es la que conecta el pseudocódigo con la declaración en Java que vieron en la Sesión 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La fila «total ← total + iva» es la que separa a quien entendió de quien está copiando patrones. Hazla en el tablero con números: si total vale 100.000 y iva vale 19.000, la derecha da 119.000 y ese valor reemplaza al total. El dato no está a los dos lados «al mismo tiempo»: primero se lee, después se escribe.
La regla 3 explica por qué en la Actividad de caza de errores la línea que calculaba antes de leer estaba mal.
Anuncia que en Java esta flecha se escribe con el signo igual, y que por eso el = de Java tampoco significa «es igual 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La tabla de las comillas conviene hacerla en vivo: escribe en el tablero «area vale 15» y pregunta qué imprime cada línea antes de mostrar la respuesta.
Es exactamente la misma regla que van a necesitar en Java con System.out.println: el texto entre comillas y el dato fuera de ellas.
La regla de la entrega —siempre un texto acompañando al número— es criterio de calificación en las actividades y en el trabajo independiente.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Si alguien pregunta por el rombo, responde que es el símbolo de decisión y que aparecerá cuando lleguemos a las estructuras condicionales. No lo desarrolles.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Señala en el bloque de la derecha dónde empieza y termina cada una de las cuatro partes. Es literalmente el mismo algoritmo del ejemplo de la convención, ahora leído por partes.
A partir de aquí la sesión cambia de foco: pasamos de cómo se representa un algoritmo a con qué datos trabaja.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Constrúyelo en el tablero, no lo muestres hecho de entrada: pregunta símbolo por símbolo cuál corresponde y por qué.
El paréntesis merece una demostración: calcula en el tablero la versión sin paréntesis con 4.0, 3.5 y 4.5. Da 5.0 en lugar de 4.0. La equivocación se vuelve memorable, y anticipa la jerarquía de operadores de la próxima semana.
Fíjate en que el pseudocódigo ya declara los datos con su tipo: es el puente a la segunda mitad de la sesión.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Solución:
Entrada: temperaturaCelsius (real) · Proceso: temperaturaFahrenheit ← temperaturaCelsius * 9 / 5 + 32 · Salida: la temperatura en Fahrenheit.
Mientras circulas revisa tres cosas: que ningún símbolo tenga dos acciones, que los datos estén declarados con su tipo y que la salida lleve texto explicativo.
La comprobación con 0 °C es una primera aproximación a los casos de prueba, tema de la próxima semana.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Distingue con claridad las dos columnas: la izquierda es lo que el compilador rechaza, la derecha es lo que el equipo espera. Las dos se califican, pero por razones distintas.
El caso de la ñ y las tildes conviene mencionarlo aunque técnicamente Java lo permita: en la práctica genera problemas de codificación entre equipos.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El criterio de decisión de la tarjeta central es lo que se evalúa: no basta con saber la sintaxis, hay que saber cuándo un dato es constante.
Ejemplo para el tablero: en «calcular el total con IVA del 19%», el precio es variable y el 19% es constante.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El caso del teléfono es el que mejor fija la idea de «qué representa» frente a «cómo se ve». Otros ejemplos: el código de un estudiante y el número de una cédula también son texto.
Recuerda que String, a diferencia de los otros cuatro, no es un tipo primitivo: eso ya lo mencionaste en la Sesión 4.</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La división entera es el error que más aparece en los primeros programas y explica por qué en el caso guía las notas se declararon como reales.
Demuéstralo con el promedio: si nota1, nota2 y nota3 fueran enteros, (4+3+5)/3 daría 4 y no 4.0.
El mensaje «possible lossy conversion» conviene leerlo en voz alta: los estudiantes lo van a ver mucho.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Respuestas:
nombreProducto · String · variable
precioUnitario · double · variable
cantidadVendida · int · variable
esAfiliado · boolean · variable
inicialSede · char · variable
IVA · double · constante  (final double IVA = 0.19;)
Esta actividad corresponde exactamente al trabajo independiente que pide el compromiso académico: «ejercicios para identificar las variables y su respectivo tipo de datos».
El único que suele fallar es la inicial de la sede: muchos escriben String en lugar de char.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Respuestas:
1 · Identificador inválido: empieza por un número → int edad = 20;
2 · Identificador inválido: tiene un espacio → double precioUnitario = 1500;
3 · Conversión: un double no cabe en un int → double promedio = 4.7;  (o int promedio = (int) 4.7;)
4 · Tipo incompatible: «sí» es texto → boolean matriculado = true;
5 · Tipo incompatible: char usa comillas simples → char inicial = 'A';
6 · Mala práctica: compila, pero una constante va en mayúsculas → final double IVA = 0.19;
La línea 6 es la del enunciado «uno compila sin problemas»: es la que enseña la diferencia entre error de compilación y mala práctica.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Esta tabla cierra el primer saber de la sesión y responde de paso la pregunta de dónde encaja Java.
«Compilar no significa que esté bien» es la frase que conviene dejar dicha: se retomará cuando lleguen los casos de prueba.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Respuestas de las dos filas abiertas:
· La tarifa por hora → pseudocódigo: real TARIFA_HORA → Java: final double TARIFA_HORA = 3500;
  Es constante porque el enunciado dice «siempre»: es una regla del problema, no un dato del vehículo. Por eso lleva final y va en mayúsculas.
· El total a pagar → pseudocódigo: real totalAPagar → Java: double totalAPagar;
  Es real porque el resultado de multiplicar por 3.500 puede tener decimales, y es variable porque cambia con cada vehículo.
Cómo conducirlo: pregunta primero por la placa, para que noten que un dato «numérico a la vista» como ABC123 en realidad es texto. Después pide las dos filas abiertas a mano alzada antes de escribirlas.
Si alguien propone int para el total, aprovecha para volver a la diapositiva de conversión: al truncar se perderían los pesos.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[Facilitación]
Solución del 1 · La cafetería:
  String nombreCliente;   int cantidadCafes;   char tamanoVaso;   boolean esParaLlevar;   final double PRECIO_CAFE = 4200;
  El tamaño del vaso es char porque es un solo carácter: P, M o G. Si lo guardan como String no está mal en Java, pero desaprovecha el tipo que representa exactamente el dato.
Solución del 2 · El taller:
  String numeroOrden;   int minutosEmpleados;   char inicialTecnico;   boolean cubiertaPorGarantia;   final double VALOR_MINUTO = 950;   int horasCompletas;
  El número de orden es texto porque contiene letras y un guion, y porque nunca se va a operar con él aritméticamente. Es el mismo caso del número de teléfono.
  Las horas completas necesitan una conversión explícita: la división da un real y el dato pedido es entero, así que hay que escribir (int). Con 135 minutos el resultado es 2, no 2.25.
Los dos enunciados están fuera de los dominios ya usados en clase, así que no se pueden resolver copiando las respuestas de las actividades.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206240" cy="4206240"/>
          </a:xfrm>
          <a:prstGeom prst="ellipse">
            <a:avLst/>
          </a:prstGeom>
          <a:solidFill>
            <a:srgbClr val="1C7293">
              <a:alpha val="22000"/>
            </a:srgbClr>
          </a:solidFill>
          <a:ln w="12700">
            <a:solidFill>
              <a:srgbClr val="1C7293">
                <a:alpha val="0"/>
              </a:srgbClr>
            </a:solidFill>
            <a:prstDash val="solid"/>
          </a:ln>
        </p:spPr>
        <p:txBody>
          <a:bodyPr/>
          <a:lstStyle/>
          <a:p>
            <a:endParaRPr lang="es-CO"/>
          </a:p>
        </p:txBody>
      </p:sp>
      <p:sp>
        <p:nvSpPr>
          <p:cNvPr id="3" name="Shape 1"/>
          <p:cNvSpPr/>
          <p:nvPr/>
        </p:nvSpPr>
        <p:spPr>
          <a:xfrm>
            <a:off x="-1280160" y="4206240"/>
            <a:ext cx="3840480" cy="3840480"/>
          </a:xfrm>
          <a:prstGeom prst="ellipse">
            <a:avLst/>
          </a:prstGeom>
          <a:solidFill>
            <a:srgbClr val="FFB100">
              <a:alpha val="12000"/>
            </a:srgbClr>
          </a:solidFill>
          <a:ln w="12700">
            <a:solidFill>
              <a:srgbClr val="FFB100">
                <a:alpha val="0"/>
              </a:srgbClr>
            </a:solidFill>
            <a:prstDash val="solid"/>
          </a:ln>
        </p:spPr>
        <p:txBody>
          <a:bodyPr/>
          <a:lstStyle/>
          <a:p>
            <a:endParaRPr lang="es-CO"/>
          </a:p>
        </p:txBody>
      </p:sp>
      <p:sp>
        <p:nvSpPr>
          <p:cNvPr id="4" name="Text 2"/>
          <p:cNvSpPr/>
          <p:nvPr/>
        </p:nvSpPr>
        <p:spPr>
          <a:xfrm>
            <a:off x="548640" y="1481328"/>
            <a:ext cx="10058400" cy="365760"/>
          </a:xfrm>
          <a:prstGeom prst="rect">
            <a:avLst/>
          </a:prstGeom>
          <a:noFill/>
          <a:ln/>
        </p:spPr>
        <p:txBody>
          <a:bodyPr wrap="square" lIns="0" tIns="0" rIns="0" bIns="0"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LÓGICA DE PROGRAMACIÓN Y LABORATORIO</a:t>
            </a:r>
            <a:endParaRPr lang="en-US" sz="1400" dirty="0"/>
          </a:p>
        </p:txBody>
      </p:sp>
      <p:sp>
        <p:nvSpPr>
          <p:cNvPr id="5" name="Text 3"/>
          <p:cNvSpPr/>
          <p:nvPr/>
        </p:nvSpPr>
        <p:spPr>
          <a:xfrm>
            <a:off x="548640" y="1901952"/>
            <a:ext cx="10058400" cy="502920"/>
          </a:xfrm>
          <a:prstGeom prst="rect">
            <a:avLst/>
          </a:prstGeom>
          <a:noFill/>
          <a:ln/>
        </p:spPr>
        <p:txBody>
          <a:bodyPr wrap="square" lIns="0" tIns="0" rIns="0" bIns="0" rtlCol="0" anchor="ctr"/>
          <a:lstStyle/>
          <a:p>
            <a:pPr marL="0" indent="0">
              <a:buNone/>
            </a:pPr>
            <a:r>
              <a:rPr lang="en-US" sz="2000" b="1" dirty="0">
                <a:solidFill>
                  <a:srgbClr val="FFB100"/>
                </a:solidFill>
                <a:latin typeface="Calibri" pitchFamily="34" charset="0"/>
                <a:ea typeface="Calibri" pitchFamily="34" charset="-122"/>
                <a:cs typeface="Calibri" pitchFamily="34" charset="-120"/>
              </a:rPr>
              <a:t>Semana 2 · Sesión 5 · Día de laboratorio</a:t>
            </a:r>
            <a:endParaRPr lang="en-US" sz="2000" dirty="0"/>
          </a:p>
        </p:txBody>
      </p:sp>
      <p:sp>
        <p:nvSpPr>
          <p:cNvPr id="6" name="Text 4"/>
          <p:cNvSpPr/>
          <p:nvPr/>
        </p:nvSpPr>
        <p:spPr>
          <a:xfrm>
            <a:off x="548640" y="2450592"/>
            <a:ext cx="10515600" cy="1737360"/>
          </a:xfrm>
          <a:prstGeom prst="rect">
            <a:avLst/>
          </a:prstGeom>
          <a:noFill/>
          <a:ln/>
        </p:spPr>
        <p:txBody>
          <a:bodyPr wrap="square" lIns="0" tIns="0" rIns="0" bIns="0" rtlCol="0" anchor="ctr"/>
          <a:lstStyle/>
          <a:p>
            <a:pPr marL="0" indent="0">
              <a:lnSpc>
                <a:spcPts val="4600"/>
              </a:lnSpc>
              <a:buNone/>
            </a:pPr>
            <a:r>
              <a:rPr lang="en-US" sz="4400" b="1" dirty="0">
                <a:solidFill>
                  <a:srgbClr val="FFFFFF"/>
                </a:solidFill>
                <a:latin typeface="Cambria" pitchFamily="34" charset="0"/>
                <a:ea typeface="Cambria" pitchFamily="34" charset="-122"/>
                <a:cs typeface="Cambria" pitchFamily="34" charset="-120"/>
              </a:rPr>
              <a:t>Conceptos básicos</a:t>
            </a:r>
            <a:endParaRPr lang="en-US" sz="4400" dirty="0"/>
          </a:p>
          <a:p>
            <a:pPr marL="0" indent="0">
              <a:lnSpc>
                <a:spcPts val="4600"/>
              </a:lnSpc>
              <a:buNone/>
            </a:pPr>
            <a:r>
              <a:rPr lang="en-US" sz="4400" b="1" dirty="0">
                <a:solidFill>
                  <a:srgbClr val="FFFFFF"/>
                </a:solidFill>
                <a:latin typeface="Cambria" pitchFamily="34" charset="0"/>
                <a:ea typeface="Cambria" pitchFamily="34" charset="-122"/>
                <a:cs typeface="Cambria" pitchFamily="34" charset="-120"/>
              </a:rPr>
              <a:t>de algoritmos</a:t>
            </a:r>
            <a:endParaRPr lang="en-US" sz="4400" dirty="0"/>
          </a:p>
        </p:txBody>
      </p:sp>
      <p:sp>
        <p:nvSpPr>
          <p:cNvPr id="7" name="Text 5"/>
          <p:cNvSpPr/>
          <p:nvPr/>
        </p:nvSpPr>
        <p:spPr>
          <a:xfrm>
            <a:off x="548640" y="4297680"/>
            <a:ext cx="10058400" cy="45720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Cómo se representa un algoritmo y con qué datos trabaja</a:t>
            </a:r>
            <a:endParaRPr lang="en-US" sz="1500" dirty="0"/>
          </a:p>
        </p:txBody>
      </p:sp>
      <p:sp>
        <p:nvSpPr>
          <p:cNvPr id="8" name="Shape 6"/>
          <p:cNvSpPr/>
          <p:nvPr/>
        </p:nvSpPr>
        <p:spPr>
          <a:xfrm>
            <a:off x="548640" y="4937760"/>
            <a:ext cx="2011680" cy="0"/>
          </a:xfrm>
          <a:prstGeom prst="line">
            <a:avLst/>
          </a:prstGeom>
          <a:noFill/>
          <a:ln w="31750">
            <a:solidFill>
              <a:srgbClr val="FFB100"/>
            </a:solidFill>
            <a:prstDash val="solid"/>
          </a:ln>
        </p:spPr>
        <p:txBody>
          <a:bodyPr/>
          <a:lstStyle/>
          <a:p>
            <a:endParaRPr lang="es-CO"/>
          </a:p>
        </p:txBody>
      </p:sp>
      <p:sp>
        <p:nvSpPr>
          <p:cNvPr id="9" name="Text 7"/>
          <p:cNvSpPr/>
          <p:nvPr/>
        </p:nvSpPr>
        <p:spPr>
          <a:xfrm>
            <a:off x="548640" y="5175504"/>
            <a:ext cx="10058400" cy="320040"/>
          </a:xfrm>
          <a:prstGeom prst="rect">
            <a:avLst/>
          </a:prstGeom>
          <a:noFill/>
          <a:ln/>
        </p:spPr>
        <p:txBody>
          <a:bodyPr wrap="square" lIns="0" tIns="0" rIns="0" bIns="0" rtlCol="0" anchor="ctr"/>
          <a:lstStyle/>
          <a:p>
            <a:pPr marL="0" indent="0">
              <a:buNone/>
            </a:pPr>
            <a:r>
              <a:rPr lang="en-US" sz="1200" dirty="0">
                <a:solidFill>
                  <a:srgbClr val="8FA6C4"/>
                </a:solidFill>
                <a:latin typeface="Calibri" pitchFamily="34" charset="0"/>
                <a:ea typeface="Calibri" pitchFamily="34" charset="-122"/>
                <a:cs typeface="Calibri" pitchFamily="34" charset="-120"/>
              </a:rPr>
              <a:t>Institución Universitaria ITM  ·  Tecnología en Desarrollo de Software  ·  Grupo 27</a:t>
            </a:r>
            <a:endParaRPr lang="en-US" sz="1200" dirty="0"/>
          </a:p>
        </p:txBody>
      </p:sp>
      <p:sp>
        <p:nvSpPr>
          <p:cNvPr id="10" name="Text 8"/>
          <p:cNvSpPr/>
          <p:nvPr/>
        </p:nvSpPr>
        <p:spPr>
          <a:xfrm>
            <a:off x="548640" y="5495544"/>
            <a:ext cx="10058400" cy="320040"/>
          </a:xfrm>
          <a:prstGeom prst="rect">
            <a:avLst/>
          </a:prstGeom>
          <a:noFill/>
          <a:ln/>
        </p:spPr>
        <p:txBody>
          <a:bodyPr wrap="square" lIns="0" tIns="0" rIns="0" bIns="0"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Sebastián Montoya Villada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SESIÓN 5 · DÍA DE LABORATORIO</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Objetivo y ruta de la sesión</a:t>
            </a:r>
            <a:endParaRPr lang="en-US" sz="2900" dirty="0"/>
          </a:p>
        </p:txBody>
      </p:sp>
      <p:sp>
        <p:nvSpPr>
          <p:cNvPr id="4" name="Shape 2"/>
          <p:cNvSpPr/>
          <p:nvPr/>
        </p:nvSpPr>
        <p:spPr>
          <a:xfrm>
            <a:off x="374073" y="1648692"/>
            <a:ext cx="11266239" cy="2147454"/>
          </a:xfrm>
          <a:prstGeom prst="roundRect">
            <a:avLst>
              <a:gd name="adj" fmla="val 6557"/>
            </a:avLst>
          </a:prstGeom>
          <a:solidFill>
            <a:srgbClr val="F4F7FB"/>
          </a:solidFill>
          <a:ln w="12700">
            <a:solidFill>
              <a:srgbClr val="F4F7FB"/>
            </a:solidFill>
            <a:prstDash val="solid"/>
          </a:ln>
        </p:spPr>
        <p:txBody>
          <a:bodyPr/>
          <a:lstStyle/>
          <a:p>
            <a:endParaRPr lang="es-CO"/>
          </a:p>
        </p:txBody>
      </p:sp>
      <p:sp>
        <p:nvSpPr>
          <p:cNvPr id="5" name="Text 3"/>
          <p:cNvSpPr/>
          <p:nvPr/>
        </p:nvSpPr>
        <p:spPr>
          <a:xfrm>
            <a:off x="548640" y="1964020"/>
            <a:ext cx="9426633" cy="2929959"/>
          </a:xfrm>
          <a:prstGeom prst="rect">
            <a:avLst/>
          </a:prstGeom>
          <a:noFill/>
          <a:ln/>
        </p:spPr>
        <p:txBody>
          <a:bodyPr wrap="square" lIns="0" tIns="0" rIns="0" bIns="0" rtlCol="0" anchor="t"/>
          <a:lstStyle/>
          <a:p>
            <a:pPr marL="0" indent="0">
              <a:lnSpc>
                <a:spcPts val="1900"/>
              </a:lnSpc>
              <a:buNone/>
            </a:pPr>
            <a:r>
              <a:rPr lang="en-US" sz="2400" b="1" dirty="0">
                <a:solidFill>
                  <a:srgbClr val="13294B"/>
                </a:solidFill>
                <a:latin typeface="Calibri" pitchFamily="34" charset="0"/>
                <a:ea typeface="Calibri" pitchFamily="34" charset="-122"/>
                <a:cs typeface="Calibri" pitchFamily="34" charset="-120"/>
              </a:rPr>
              <a:t>Objetivo de aprendizaje
</a:t>
            </a:r>
            <a:endParaRPr lang="en-US" sz="2400" dirty="0"/>
          </a:p>
          <a:p>
            <a:pPr marL="0" indent="0">
              <a:lnSpc>
                <a:spcPts val="1900"/>
              </a:lnSpc>
              <a:buNone/>
            </a:pPr>
            <a:r>
              <a:rPr lang="en-US" sz="2400" dirty="0">
                <a:solidFill>
                  <a:srgbClr val="1A1A2E"/>
                </a:solidFill>
                <a:latin typeface="Calibri" pitchFamily="34" charset="0"/>
                <a:ea typeface="Calibri" pitchFamily="34" charset="-122"/>
                <a:cs typeface="Calibri" pitchFamily="34" charset="-120"/>
              </a:rPr>
              <a:t>Reconocer un algoritmo y sus características, representarlo en los tres lenguajes algorítmicos —lenguaje natural, diagrama de flujo y pseudocódigo— y describir los elementos básicos con los que trabaja: identificadores, variables, constantes y tipos de datos.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DÓNDE ESTAMOS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Semana 2 · los dos saberes de hoy</a:t>
            </a:r>
            <a:endParaRPr lang="en-US" sz="2900" dirty="0"/>
          </a:p>
        </p:txBody>
      </p:sp>
      <p:sp>
        <p:nvSpPr>
          <p:cNvPr id="4" name="Shape 2"/>
          <p:cNvSpPr/>
          <p:nvPr/>
        </p:nvSpPr>
        <p:spPr>
          <a:xfrm>
            <a:off x="548640" y="1426464"/>
            <a:ext cx="10896600" cy="1637192"/>
          </a:xfrm>
          <a:prstGeom prst="roundRect">
            <a:avLst>
              <a:gd name="adj" fmla="val 5970"/>
            </a:avLst>
          </a:prstGeom>
          <a:solidFill>
            <a:srgbClr val="E8EEF4"/>
          </a:solidFill>
          <a:ln w="12700">
            <a:solidFill>
              <a:srgbClr val="E8EEF4"/>
            </a:solidFill>
            <a:prstDash val="solid"/>
          </a:ln>
        </p:spPr>
        <p:txBody>
          <a:bodyPr/>
          <a:lstStyle/>
          <a:p>
            <a:endParaRPr lang="es-CO" sz="2400"/>
          </a:p>
        </p:txBody>
      </p:sp>
      <p:sp>
        <p:nvSpPr>
          <p:cNvPr id="5" name="Text 3"/>
          <p:cNvSpPr/>
          <p:nvPr/>
        </p:nvSpPr>
        <p:spPr>
          <a:xfrm>
            <a:off x="868680" y="1517904"/>
            <a:ext cx="10451592" cy="1060704"/>
          </a:xfrm>
          <a:prstGeom prst="rect">
            <a:avLst/>
          </a:prstGeom>
          <a:noFill/>
          <a:ln/>
        </p:spPr>
        <p:txBody>
          <a:bodyPr wrap="square" lIns="0" tIns="0" rIns="0" bIns="0" rtlCol="0" anchor="t"/>
          <a:lstStyle/>
          <a:p>
            <a:pPr marL="0" indent="0">
              <a:lnSpc>
                <a:spcPts val="1900"/>
              </a:lnSpc>
              <a:buNone/>
            </a:pPr>
            <a:r>
              <a:rPr lang="en-US" sz="1400" b="1" kern="0" spc="120" dirty="0">
                <a:solidFill>
                  <a:srgbClr val="1C7293"/>
                </a:solidFill>
                <a:latin typeface="Calibri" pitchFamily="34" charset="0"/>
                <a:ea typeface="Calibri" pitchFamily="34" charset="-122"/>
                <a:cs typeface="Calibri" pitchFamily="34" charset="-120"/>
              </a:rPr>
              <a:t>COMPROMISO ACADÉMICO · SEMANA 2
</a:t>
            </a:r>
            <a:endParaRPr lang="en-US" sz="1400" dirty="0"/>
          </a:p>
          <a:p>
            <a:pPr marL="0" indent="0">
              <a:lnSpc>
                <a:spcPts val="1900"/>
              </a:lnSpc>
              <a:buNone/>
            </a:pPr>
            <a:r>
              <a:rPr lang="en-US" sz="1600" i="1" dirty="0">
                <a:solidFill>
                  <a:srgbClr val="13294B"/>
                </a:solidFill>
                <a:latin typeface="Calibri" pitchFamily="34" charset="0"/>
                <a:ea typeface="Calibri" pitchFamily="34" charset="-122"/>
                <a:cs typeface="Calibri" pitchFamily="34" charset="-120"/>
              </a:rPr>
              <a:t>«Identifica conceptos básicos de algoritmos»  →  definición de algoritmo, características y lenguajes algorítmicos.
</a:t>
            </a:r>
            <a:endParaRPr lang="en-US" sz="1400" dirty="0"/>
          </a:p>
          <a:p>
            <a:pPr marL="0" indent="0">
              <a:lnSpc>
                <a:spcPts val="1900"/>
              </a:lnSpc>
              <a:buNone/>
            </a:pPr>
            <a:r>
              <a:rPr lang="en-US" sz="1600" i="1" dirty="0">
                <a:solidFill>
                  <a:srgbClr val="13294B"/>
                </a:solidFill>
                <a:latin typeface="Calibri" pitchFamily="34" charset="0"/>
                <a:ea typeface="Calibri" pitchFamily="34" charset="-122"/>
                <a:cs typeface="Calibri" pitchFamily="34" charset="-120"/>
              </a:rPr>
              <a:t>«Describe los elementos básicos de un algoritmo»  →  estructura básica, identificadores, constantes, variables, tipos de datos y su conversión.</a:t>
            </a:r>
            <a:endParaRPr lang="en-US" sz="1400" dirty="0"/>
          </a:p>
        </p:txBody>
      </p:sp>
      <p:sp>
        <p:nvSpPr>
          <p:cNvPr id="6" name="Shape 4"/>
          <p:cNvSpPr/>
          <p:nvPr/>
        </p:nvSpPr>
        <p:spPr>
          <a:xfrm>
            <a:off x="548640" y="3155096"/>
            <a:ext cx="5349240" cy="2751928"/>
          </a:xfrm>
          <a:prstGeom prst="roundRect">
            <a:avLst>
              <a:gd name="adj" fmla="val 2778"/>
            </a:avLst>
          </a:prstGeom>
          <a:solidFill>
            <a:srgbClr val="F4F7FB"/>
          </a:solidFill>
          <a:ln w="12700">
            <a:solidFill>
              <a:srgbClr val="F4F7FB"/>
            </a:solidFill>
            <a:prstDash val="solid"/>
          </a:ln>
        </p:spPr>
        <p:txBody>
          <a:bodyPr/>
          <a:lstStyle/>
          <a:p>
            <a:endParaRPr lang="es-CO"/>
          </a:p>
        </p:txBody>
      </p:sp>
      <p:sp>
        <p:nvSpPr>
          <p:cNvPr id="7" name="Text 5"/>
          <p:cNvSpPr/>
          <p:nvPr/>
        </p:nvSpPr>
        <p:spPr>
          <a:xfrm>
            <a:off x="749808" y="3273552"/>
            <a:ext cx="4754880" cy="274320"/>
          </a:xfrm>
          <a:prstGeom prst="rect">
            <a:avLst/>
          </a:prstGeom>
          <a:noFill/>
          <a:ln/>
        </p:spPr>
        <p:txBody>
          <a:bodyPr wrap="square" lIns="0" tIns="0" rIns="0" bIns="0" rtlCol="0" anchor="ctr"/>
          <a:lstStyle/>
          <a:p>
            <a:pPr marL="0" indent="0">
              <a:buNone/>
            </a:pPr>
            <a:r>
              <a:rPr lang="en-US" sz="1400" b="1" kern="0" spc="120" dirty="0">
                <a:solidFill>
                  <a:srgbClr val="13294B"/>
                </a:solidFill>
                <a:latin typeface="Calibri" pitchFamily="34" charset="0"/>
                <a:ea typeface="Calibri" pitchFamily="34" charset="-122"/>
                <a:cs typeface="Calibri" pitchFamily="34" charset="-120"/>
              </a:rPr>
              <a:t>LO QUE TRAEMOS DE LA SESIÓN 4</a:t>
            </a:r>
            <a:endParaRPr lang="en-US" sz="1400" dirty="0"/>
          </a:p>
        </p:txBody>
      </p:sp>
      <p:sp>
        <p:nvSpPr>
          <p:cNvPr id="8" name="Text 6"/>
          <p:cNvSpPr/>
          <p:nvPr/>
        </p:nvSpPr>
        <p:spPr>
          <a:xfrm>
            <a:off x="749808" y="3602736"/>
            <a:ext cx="4754880" cy="20116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Paradigmas de programación</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La clase: atributos y métodos</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Los tipos de datos como atributos</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Cómo se declara un dato en Java</a:t>
            </a:r>
            <a:endParaRPr lang="en-US" sz="1600" dirty="0"/>
          </a:p>
        </p:txBody>
      </p:sp>
      <p:sp>
        <p:nvSpPr>
          <p:cNvPr id="9" name="Shape 7"/>
          <p:cNvSpPr/>
          <p:nvPr/>
        </p:nvSpPr>
        <p:spPr>
          <a:xfrm>
            <a:off x="6092952" y="3173245"/>
            <a:ext cx="5349240" cy="2633472"/>
          </a:xfrm>
          <a:prstGeom prst="roundRect">
            <a:avLst>
              <a:gd name="adj" fmla="val 2778"/>
            </a:avLst>
          </a:prstGeom>
          <a:solidFill>
            <a:srgbClr val="FFF4DE"/>
          </a:solidFill>
          <a:ln w="12700">
            <a:solidFill>
              <a:srgbClr val="FFF4DE"/>
            </a:solidFill>
            <a:prstDash val="solid"/>
          </a:ln>
        </p:spPr>
        <p:txBody>
          <a:bodyPr/>
          <a:lstStyle/>
          <a:p>
            <a:endParaRPr lang="es-CO" sz="2400"/>
          </a:p>
        </p:txBody>
      </p:sp>
      <p:sp>
        <p:nvSpPr>
          <p:cNvPr id="10" name="Text 8"/>
          <p:cNvSpPr/>
          <p:nvPr/>
        </p:nvSpPr>
        <p:spPr>
          <a:xfrm>
            <a:off x="6562344" y="3246674"/>
            <a:ext cx="4754880" cy="274320"/>
          </a:xfrm>
          <a:prstGeom prst="rect">
            <a:avLst/>
          </a:prstGeom>
          <a:noFill/>
          <a:ln/>
        </p:spPr>
        <p:txBody>
          <a:bodyPr wrap="square" lIns="0" tIns="0" rIns="0" bIns="0" rtlCol="0" anchor="ctr"/>
          <a:lstStyle/>
          <a:p>
            <a:pPr marL="0" indent="0">
              <a:buNone/>
            </a:pPr>
            <a:r>
              <a:rPr lang="en-US" sz="1400" b="1" kern="0" spc="120" dirty="0">
                <a:solidFill>
                  <a:srgbClr val="B07800"/>
                </a:solidFill>
                <a:latin typeface="Calibri" pitchFamily="34" charset="0"/>
                <a:ea typeface="Calibri" pitchFamily="34" charset="-122"/>
                <a:cs typeface="Calibri" pitchFamily="34" charset="-120"/>
              </a:rPr>
              <a:t>LO QUE CONSTRUIMOS EN ESTA SESIÓN</a:t>
            </a:r>
            <a:endParaRPr lang="en-US" sz="1400" dirty="0"/>
          </a:p>
        </p:txBody>
      </p:sp>
      <p:sp>
        <p:nvSpPr>
          <p:cNvPr id="11" name="Text 9"/>
          <p:cNvSpPr/>
          <p:nvPr/>
        </p:nvSpPr>
        <p:spPr>
          <a:xfrm>
            <a:off x="6385560" y="3667021"/>
            <a:ext cx="4754880" cy="20116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El algoritmo: definición y características</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Lenguaje natural, diagrama de flujo y pseudocódigo</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Identificadores y buenas prácticas de nomenclatura</a:t>
            </a:r>
            <a:endParaRPr lang="en-US" sz="1600" dirty="0"/>
          </a:p>
          <a:p>
            <a:pPr marL="342900" indent="-342900">
              <a:spcAft>
                <a:spcPts val="1200"/>
              </a:spcAft>
              <a:buSzPct val="100000"/>
              <a:buChar char="•"/>
            </a:pPr>
            <a:r>
              <a:rPr lang="en-US" sz="1600" dirty="0">
                <a:solidFill>
                  <a:srgbClr val="1A1A2E"/>
                </a:solidFill>
                <a:latin typeface="Calibri" pitchFamily="34" charset="0"/>
                <a:ea typeface="Calibri" pitchFamily="34" charset="-122"/>
                <a:cs typeface="Calibri" pitchFamily="34" charset="-120"/>
              </a:rPr>
              <a:t>Variables, constantes, tipos y conversión de tipos</a:t>
            </a:r>
            <a:endParaRPr lang="en-US" sz="1600" dirty="0"/>
          </a:p>
        </p:txBody>
      </p:sp>
      <p:sp>
        <p:nvSpPr>
          <p:cNvPr id="12" name="Shape 10"/>
          <p:cNvSpPr/>
          <p:nvPr/>
        </p:nvSpPr>
        <p:spPr>
          <a:xfrm>
            <a:off x="548640" y="6016613"/>
            <a:ext cx="11091672" cy="685800"/>
          </a:xfrm>
          <a:prstGeom prst="roundRect">
            <a:avLst>
              <a:gd name="adj" fmla="val 10667"/>
            </a:avLst>
          </a:prstGeom>
          <a:solidFill>
            <a:srgbClr val="13294B"/>
          </a:solidFill>
          <a:ln w="12700">
            <a:solidFill>
              <a:srgbClr val="13294B"/>
            </a:solidFill>
            <a:prstDash val="solid"/>
          </a:ln>
        </p:spPr>
        <p:txBody>
          <a:bodyPr/>
          <a:lstStyle/>
          <a:p>
            <a:endParaRPr lang="es-CO"/>
          </a:p>
        </p:txBody>
      </p:sp>
      <p:sp>
        <p:nvSpPr>
          <p:cNvPr id="13" name="Text 11"/>
          <p:cNvSpPr/>
          <p:nvPr/>
        </p:nvSpPr>
        <p:spPr>
          <a:xfrm>
            <a:off x="868680" y="6016613"/>
            <a:ext cx="10451592" cy="68580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EL HILO QUE LOS UNE:  </a:t>
            </a:r>
            <a:r>
              <a:rPr lang="en-US" sz="1350" dirty="0">
                <a:solidFill>
                  <a:srgbClr val="FFFFFF"/>
                </a:solidFill>
                <a:latin typeface="Calibri" pitchFamily="34" charset="0"/>
                <a:ea typeface="Calibri" pitchFamily="34" charset="-122"/>
                <a:cs typeface="Calibri" pitchFamily="34" charset="-120"/>
              </a:rPr>
              <a:t>en la Sesión 4 los tipos de datos describían un objeto. Aquí describen las variables con las que trabaja un algoritmo.</a:t>
            </a:r>
            <a:endParaRPr lang="en-US" sz="13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1" grpId="0" animBg="1"/>
      <p:bldP spid="12" grpId="0" animBg="1"/>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CALENTAMIENTO</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El café desordenado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Un robot debe preparar café, pero recibió los pasos en desorden. Numera del 1 al 5 el orden correcto.</a:t>
            </a:r>
            <a:endParaRPr lang="en-US" sz="1400" dirty="0"/>
          </a:p>
        </p:txBody>
      </p:sp>
      <p:sp>
        <p:nvSpPr>
          <p:cNvPr id="5" name="Shape 3"/>
          <p:cNvSpPr/>
          <p:nvPr/>
        </p:nvSpPr>
        <p:spPr>
          <a:xfrm>
            <a:off x="548640" y="2084832"/>
            <a:ext cx="11091672" cy="548640"/>
          </a:xfrm>
          <a:prstGeom prst="roundRect">
            <a:avLst>
              <a:gd name="adj" fmla="val 13333"/>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822960" y="2194560"/>
            <a:ext cx="329184" cy="329184"/>
          </a:xfrm>
          <a:prstGeom prst="roundRect">
            <a:avLst>
              <a:gd name="adj" fmla="val 13889"/>
            </a:avLst>
          </a:prstGeom>
          <a:solidFill>
            <a:srgbClr val="FFFFFF"/>
          </a:solidFill>
          <a:ln w="12700">
            <a:solidFill>
              <a:srgbClr val="C9D6E4"/>
            </a:solidFill>
            <a:prstDash val="solid"/>
          </a:ln>
        </p:spPr>
        <p:txBody>
          <a:bodyPr/>
          <a:lstStyle/>
          <a:p>
            <a:endParaRPr lang="es-CO"/>
          </a:p>
        </p:txBody>
      </p:sp>
      <p:sp>
        <p:nvSpPr>
          <p:cNvPr id="7" name="Text 5"/>
          <p:cNvSpPr/>
          <p:nvPr/>
        </p:nvSpPr>
        <p:spPr>
          <a:xfrm>
            <a:off x="1325880" y="2084832"/>
            <a:ext cx="960120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Servir el café en la taza</a:t>
            </a:r>
            <a:endParaRPr lang="en-US" sz="1450" dirty="0"/>
          </a:p>
        </p:txBody>
      </p:sp>
      <p:sp>
        <p:nvSpPr>
          <p:cNvPr id="8" name="Shape 6"/>
          <p:cNvSpPr/>
          <p:nvPr/>
        </p:nvSpPr>
        <p:spPr>
          <a:xfrm>
            <a:off x="548640" y="2724912"/>
            <a:ext cx="11091672" cy="548640"/>
          </a:xfrm>
          <a:prstGeom prst="roundRect">
            <a:avLst>
              <a:gd name="adj" fmla="val 13333"/>
            </a:avLst>
          </a:prstGeom>
          <a:solidFill>
            <a:srgbClr val="F4F7FB"/>
          </a:solidFill>
          <a:ln w="12700">
            <a:solidFill>
              <a:srgbClr val="F4F7FB"/>
            </a:solidFill>
            <a:prstDash val="solid"/>
          </a:ln>
        </p:spPr>
        <p:txBody>
          <a:bodyPr/>
          <a:lstStyle/>
          <a:p>
            <a:endParaRPr lang="es-CO"/>
          </a:p>
        </p:txBody>
      </p:sp>
      <p:sp>
        <p:nvSpPr>
          <p:cNvPr id="9" name="Shape 7"/>
          <p:cNvSpPr/>
          <p:nvPr/>
        </p:nvSpPr>
        <p:spPr>
          <a:xfrm>
            <a:off x="822960" y="2834640"/>
            <a:ext cx="329184" cy="329184"/>
          </a:xfrm>
          <a:prstGeom prst="roundRect">
            <a:avLst>
              <a:gd name="adj" fmla="val 13889"/>
            </a:avLst>
          </a:prstGeom>
          <a:solidFill>
            <a:srgbClr val="FFFFFF"/>
          </a:solidFill>
          <a:ln w="12700">
            <a:solidFill>
              <a:srgbClr val="C9D6E4"/>
            </a:solidFill>
            <a:prstDash val="solid"/>
          </a:ln>
        </p:spPr>
        <p:txBody>
          <a:bodyPr/>
          <a:lstStyle/>
          <a:p>
            <a:endParaRPr lang="es-CO"/>
          </a:p>
        </p:txBody>
      </p:sp>
      <p:sp>
        <p:nvSpPr>
          <p:cNvPr id="10" name="Text 8"/>
          <p:cNvSpPr/>
          <p:nvPr/>
        </p:nvSpPr>
        <p:spPr>
          <a:xfrm>
            <a:off x="1325880" y="2724912"/>
            <a:ext cx="960120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Encender la cafetera</a:t>
            </a:r>
            <a:endParaRPr lang="en-US" sz="1450" dirty="0"/>
          </a:p>
        </p:txBody>
      </p:sp>
      <p:sp>
        <p:nvSpPr>
          <p:cNvPr id="11" name="Shape 9"/>
          <p:cNvSpPr/>
          <p:nvPr/>
        </p:nvSpPr>
        <p:spPr>
          <a:xfrm>
            <a:off x="548640" y="3364992"/>
            <a:ext cx="11091672" cy="548640"/>
          </a:xfrm>
          <a:prstGeom prst="roundRect">
            <a:avLst>
              <a:gd name="adj" fmla="val 13333"/>
            </a:avLst>
          </a:prstGeom>
          <a:solidFill>
            <a:srgbClr val="F4F7FB"/>
          </a:solidFill>
          <a:ln w="12700">
            <a:solidFill>
              <a:srgbClr val="F4F7FB"/>
            </a:solidFill>
            <a:prstDash val="solid"/>
          </a:ln>
        </p:spPr>
        <p:txBody>
          <a:bodyPr/>
          <a:lstStyle/>
          <a:p>
            <a:endParaRPr lang="es-CO"/>
          </a:p>
        </p:txBody>
      </p:sp>
      <p:sp>
        <p:nvSpPr>
          <p:cNvPr id="12" name="Shape 10"/>
          <p:cNvSpPr/>
          <p:nvPr/>
        </p:nvSpPr>
        <p:spPr>
          <a:xfrm>
            <a:off x="822960" y="3474720"/>
            <a:ext cx="329184" cy="329184"/>
          </a:xfrm>
          <a:prstGeom prst="roundRect">
            <a:avLst>
              <a:gd name="adj" fmla="val 13889"/>
            </a:avLst>
          </a:prstGeom>
          <a:solidFill>
            <a:srgbClr val="FFFFFF"/>
          </a:solidFill>
          <a:ln w="12700">
            <a:solidFill>
              <a:srgbClr val="C9D6E4"/>
            </a:solidFill>
            <a:prstDash val="solid"/>
          </a:ln>
        </p:spPr>
        <p:txBody>
          <a:bodyPr/>
          <a:lstStyle/>
          <a:p>
            <a:endParaRPr lang="es-CO"/>
          </a:p>
        </p:txBody>
      </p:sp>
      <p:sp>
        <p:nvSpPr>
          <p:cNvPr id="13" name="Text 11"/>
          <p:cNvSpPr/>
          <p:nvPr/>
        </p:nvSpPr>
        <p:spPr>
          <a:xfrm>
            <a:off x="1325880" y="3364992"/>
            <a:ext cx="960120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Poner agua en el depósito</a:t>
            </a:r>
            <a:endParaRPr lang="en-US" sz="1450" dirty="0"/>
          </a:p>
        </p:txBody>
      </p:sp>
      <p:sp>
        <p:nvSpPr>
          <p:cNvPr id="14" name="Shape 12"/>
          <p:cNvSpPr/>
          <p:nvPr/>
        </p:nvSpPr>
        <p:spPr>
          <a:xfrm>
            <a:off x="548640" y="4005072"/>
            <a:ext cx="11091672" cy="548640"/>
          </a:xfrm>
          <a:prstGeom prst="roundRect">
            <a:avLst>
              <a:gd name="adj" fmla="val 13333"/>
            </a:avLst>
          </a:prstGeom>
          <a:solidFill>
            <a:srgbClr val="F4F7FB"/>
          </a:solidFill>
          <a:ln w="12700">
            <a:solidFill>
              <a:srgbClr val="F4F7FB"/>
            </a:solidFill>
            <a:prstDash val="solid"/>
          </a:ln>
        </p:spPr>
        <p:txBody>
          <a:bodyPr/>
          <a:lstStyle/>
          <a:p>
            <a:endParaRPr lang="es-CO"/>
          </a:p>
        </p:txBody>
      </p:sp>
      <p:sp>
        <p:nvSpPr>
          <p:cNvPr id="15" name="Shape 13"/>
          <p:cNvSpPr/>
          <p:nvPr/>
        </p:nvSpPr>
        <p:spPr>
          <a:xfrm>
            <a:off x="822960" y="4114800"/>
            <a:ext cx="329184" cy="329184"/>
          </a:xfrm>
          <a:prstGeom prst="roundRect">
            <a:avLst>
              <a:gd name="adj" fmla="val 13889"/>
            </a:avLst>
          </a:prstGeom>
          <a:solidFill>
            <a:srgbClr val="FFFFFF"/>
          </a:solidFill>
          <a:ln w="12700">
            <a:solidFill>
              <a:srgbClr val="C9D6E4"/>
            </a:solidFill>
            <a:prstDash val="solid"/>
          </a:ln>
        </p:spPr>
        <p:txBody>
          <a:bodyPr/>
          <a:lstStyle/>
          <a:p>
            <a:endParaRPr lang="es-CO"/>
          </a:p>
        </p:txBody>
      </p:sp>
      <p:sp>
        <p:nvSpPr>
          <p:cNvPr id="16" name="Text 14"/>
          <p:cNvSpPr/>
          <p:nvPr/>
        </p:nvSpPr>
        <p:spPr>
          <a:xfrm>
            <a:off x="1325880" y="4005072"/>
            <a:ext cx="960120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Esperar a que termine de filtrar</a:t>
            </a:r>
            <a:endParaRPr lang="en-US" sz="1450" dirty="0"/>
          </a:p>
        </p:txBody>
      </p:sp>
      <p:sp>
        <p:nvSpPr>
          <p:cNvPr id="17" name="Shape 15"/>
          <p:cNvSpPr/>
          <p:nvPr/>
        </p:nvSpPr>
        <p:spPr>
          <a:xfrm>
            <a:off x="548640" y="4645152"/>
            <a:ext cx="11091672" cy="548640"/>
          </a:xfrm>
          <a:prstGeom prst="roundRect">
            <a:avLst>
              <a:gd name="adj" fmla="val 13333"/>
            </a:avLst>
          </a:prstGeom>
          <a:solidFill>
            <a:srgbClr val="F4F7FB"/>
          </a:solidFill>
          <a:ln w="12700">
            <a:solidFill>
              <a:srgbClr val="F4F7FB"/>
            </a:solidFill>
            <a:prstDash val="solid"/>
          </a:ln>
        </p:spPr>
        <p:txBody>
          <a:bodyPr/>
          <a:lstStyle/>
          <a:p>
            <a:endParaRPr lang="es-CO"/>
          </a:p>
        </p:txBody>
      </p:sp>
      <p:sp>
        <p:nvSpPr>
          <p:cNvPr id="18" name="Shape 16"/>
          <p:cNvSpPr/>
          <p:nvPr/>
        </p:nvSpPr>
        <p:spPr>
          <a:xfrm>
            <a:off x="822960" y="4754880"/>
            <a:ext cx="329184" cy="329184"/>
          </a:xfrm>
          <a:prstGeom prst="roundRect">
            <a:avLst>
              <a:gd name="adj" fmla="val 13889"/>
            </a:avLst>
          </a:prstGeom>
          <a:solidFill>
            <a:srgbClr val="FFFFFF"/>
          </a:solidFill>
          <a:ln w="12700">
            <a:solidFill>
              <a:srgbClr val="C9D6E4"/>
            </a:solidFill>
            <a:prstDash val="solid"/>
          </a:ln>
        </p:spPr>
        <p:txBody>
          <a:bodyPr/>
          <a:lstStyle/>
          <a:p>
            <a:endParaRPr lang="es-CO"/>
          </a:p>
        </p:txBody>
      </p:sp>
      <p:sp>
        <p:nvSpPr>
          <p:cNvPr id="19" name="Text 17"/>
          <p:cNvSpPr/>
          <p:nvPr/>
        </p:nvSpPr>
        <p:spPr>
          <a:xfrm>
            <a:off x="1325880" y="4645152"/>
            <a:ext cx="9601200" cy="548640"/>
          </a:xfrm>
          <a:prstGeom prst="rect">
            <a:avLst/>
          </a:prstGeom>
          <a:noFill/>
          <a:ln/>
        </p:spPr>
        <p:txBody>
          <a:bodyPr wrap="square" lIns="0" tIns="0" rIns="0" bIns="0" rtlCol="0" anchor="ctr"/>
          <a:lstStyle/>
          <a:p>
            <a:pPr marL="0" indent="0">
              <a:buNone/>
            </a:pPr>
            <a:r>
              <a:rPr lang="en-US" sz="1450" dirty="0">
                <a:solidFill>
                  <a:srgbClr val="1A1A2E"/>
                </a:solidFill>
                <a:latin typeface="Calibri" pitchFamily="34" charset="0"/>
                <a:ea typeface="Calibri" pitchFamily="34" charset="-122"/>
                <a:cs typeface="Calibri" pitchFamily="34" charset="-120"/>
              </a:rPr>
              <a:t>Agregar el café molido al filtro</a:t>
            </a:r>
            <a:endParaRPr lang="en-US" sz="1450" dirty="0"/>
          </a:p>
        </p:txBody>
      </p:sp>
      <p:sp>
        <p:nvSpPr>
          <p:cNvPr id="20" name="Shape 18"/>
          <p:cNvSpPr/>
          <p:nvPr/>
        </p:nvSpPr>
        <p:spPr>
          <a:xfrm>
            <a:off x="548640" y="5468112"/>
            <a:ext cx="11091672" cy="749808"/>
          </a:xfrm>
          <a:prstGeom prst="roundRect">
            <a:avLst>
              <a:gd name="adj" fmla="val 9756"/>
            </a:avLst>
          </a:prstGeom>
          <a:solidFill>
            <a:srgbClr val="13294B"/>
          </a:solidFill>
          <a:ln w="12700">
            <a:solidFill>
              <a:srgbClr val="13294B"/>
            </a:solidFill>
            <a:prstDash val="solid"/>
          </a:ln>
        </p:spPr>
        <p:txBody>
          <a:bodyPr/>
          <a:lstStyle/>
          <a:p>
            <a:endParaRPr lang="es-CO"/>
          </a:p>
        </p:txBody>
      </p:sp>
      <p:sp>
        <p:nvSpPr>
          <p:cNvPr id="21" name="Text 19"/>
          <p:cNvSpPr/>
          <p:nvPr/>
        </p:nvSpPr>
        <p:spPr>
          <a:xfrm>
            <a:off x="868680" y="5468112"/>
            <a:ext cx="10451592" cy="74980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PREGUNTA CLAVE:  </a:t>
            </a:r>
            <a:r>
              <a:rPr lang="en-US" sz="1350" dirty="0">
                <a:solidFill>
                  <a:srgbClr val="FFFFFF"/>
                </a:solidFill>
                <a:latin typeface="Calibri" pitchFamily="34" charset="0"/>
                <a:ea typeface="Calibri" pitchFamily="34" charset="-122"/>
                <a:cs typeface="Calibri" pitchFamily="34" charset="-120"/>
              </a:rPr>
              <a:t>¿qué ocurre si el robot sirve antes de encender? El orden no es un detalle del algoritmo: es parte de la solución.</a:t>
            </a:r>
            <a:endParaRPr lang="en-US" sz="1350" dirty="0"/>
          </a:p>
        </p:txBody>
      </p:sp>
      <p:sp>
        <p:nvSpPr>
          <p:cNvPr id="22" name="Text 20"/>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04</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CONCEPTOS BÁSICOS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Qué es un algoritmo y qué debe cumplir</a:t>
            </a:r>
            <a:endParaRPr lang="en-US" sz="2900" dirty="0"/>
          </a:p>
        </p:txBody>
      </p:sp>
      <p:sp>
        <p:nvSpPr>
          <p:cNvPr id="4" name="Shape 2"/>
          <p:cNvSpPr/>
          <p:nvPr/>
        </p:nvSpPr>
        <p:spPr>
          <a:xfrm>
            <a:off x="548640" y="1463040"/>
            <a:ext cx="11091672" cy="713232"/>
          </a:xfrm>
          <a:prstGeom prst="roundRect">
            <a:avLst>
              <a:gd name="adj" fmla="val 10256"/>
            </a:avLst>
          </a:prstGeom>
          <a:solidFill>
            <a:srgbClr val="F4F7FB"/>
          </a:solidFill>
          <a:ln w="12700">
            <a:solidFill>
              <a:srgbClr val="F4F7FB"/>
            </a:solidFill>
            <a:prstDash val="solid"/>
          </a:ln>
        </p:spPr>
        <p:txBody>
          <a:bodyPr/>
          <a:lstStyle/>
          <a:p>
            <a:endParaRPr lang="es-CO" sz="2000"/>
          </a:p>
        </p:txBody>
      </p:sp>
      <p:sp>
        <p:nvSpPr>
          <p:cNvPr id="5" name="Text 3"/>
          <p:cNvSpPr/>
          <p:nvPr/>
        </p:nvSpPr>
        <p:spPr>
          <a:xfrm>
            <a:off x="868680" y="1463040"/>
            <a:ext cx="10451592" cy="713232"/>
          </a:xfrm>
          <a:prstGeom prst="rect">
            <a:avLst/>
          </a:prstGeom>
          <a:noFill/>
          <a:ln/>
        </p:spPr>
        <p:txBody>
          <a:bodyPr wrap="square" lIns="0" tIns="0" rIns="0" bIns="0" rtlCol="0" anchor="ctr"/>
          <a:lstStyle/>
          <a:p>
            <a:pPr marL="0" indent="0">
              <a:buNone/>
            </a:pPr>
            <a:r>
              <a:rPr lang="en-US" sz="1600" b="1" dirty="0">
                <a:solidFill>
                  <a:srgbClr val="13294B"/>
                </a:solidFill>
                <a:latin typeface="Calibri" pitchFamily="34" charset="0"/>
                <a:ea typeface="Calibri" pitchFamily="34" charset="-122"/>
                <a:cs typeface="Calibri" pitchFamily="34" charset="-120"/>
              </a:rPr>
              <a:t>Una secuencia finita y ordenada de pasos precisos que transforma una información inicial en un resultado esperado.</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52166109"/>
              </p:ext>
            </p:extLst>
          </p:nvPr>
        </p:nvGraphicFramePr>
        <p:xfrm>
          <a:off x="548640" y="2377440"/>
          <a:ext cx="11091672" cy="2572512"/>
        </p:xfrm>
        <a:graphic>
          <a:graphicData uri="http://schemas.openxmlformats.org/drawingml/2006/table">
            <a:tbl>
              <a:tblPr/>
              <a:tblGrid>
                <a:gridCol w="201168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384048">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Característica</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Qué significa</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Ejemplo: promedio de tres notas</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57200">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Precisión</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Cada paso se interpreta de una sola manera, sin ambigüedad.</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«Sumar las tres notas», no «revisar cómo le fue».</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Finitud</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Termina tras una cantidad limitada de pasos.</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Mostrar el promedio y finalizar.</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Orden</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Los pasos respetan una secuencia lógica.</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Primero recibir las notas, después calcular.</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Entrada</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Recibe los datos que necesita para trabajar.</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Las tres notas parciales.</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Salida</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Produce un resultado observable.</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600" dirty="0">
                          <a:solidFill>
                            <a:srgbClr val="1A1A2E"/>
                          </a:solidFill>
                          <a:latin typeface="Calibri" pitchFamily="34" charset="0"/>
                          <a:ea typeface="Calibri" pitchFamily="34" charset="-122"/>
                          <a:cs typeface="Calibri" pitchFamily="34" charset="-120"/>
                        </a:rPr>
                        <a:t>El promedio, comunicado a quien lo pidió.</a:t>
                      </a:r>
                      <a:endParaRPr lang="en-US" sz="16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5349240"/>
            <a:ext cx="11091672" cy="1143000"/>
          </a:xfrm>
          <a:prstGeom prst="roundRect">
            <a:avLst>
              <a:gd name="adj" fmla="val 8421"/>
            </a:avLst>
          </a:prstGeom>
          <a:solidFill>
            <a:srgbClr val="E8EEF4"/>
          </a:solidFill>
          <a:ln w="12700">
            <a:solidFill>
              <a:srgbClr val="E8EEF4"/>
            </a:solidFill>
            <a:prstDash val="solid"/>
          </a:ln>
        </p:spPr>
        <p:txBody>
          <a:bodyPr/>
          <a:lstStyle/>
          <a:p>
            <a:endParaRPr lang="es-CO" sz="2400"/>
          </a:p>
        </p:txBody>
      </p:sp>
      <p:sp>
        <p:nvSpPr>
          <p:cNvPr id="8" name="Text 5"/>
          <p:cNvSpPr/>
          <p:nvPr/>
        </p:nvSpPr>
        <p:spPr>
          <a:xfrm>
            <a:off x="868680" y="5458968"/>
            <a:ext cx="10451592" cy="713232"/>
          </a:xfrm>
          <a:prstGeom prst="rect">
            <a:avLst/>
          </a:prstGeom>
          <a:noFill/>
          <a:ln/>
        </p:spPr>
        <p:txBody>
          <a:bodyPr wrap="square" lIns="0" tIns="0" rIns="0" bIns="0" rtlCol="0" anchor="t"/>
          <a:lstStyle/>
          <a:p>
            <a:pPr marL="0" indent="0">
              <a:lnSpc>
                <a:spcPts val="1800"/>
              </a:lnSpc>
              <a:buNone/>
            </a:pPr>
            <a:r>
              <a:rPr lang="en-US" sz="1400" b="1" kern="0" spc="120" dirty="0">
                <a:solidFill>
                  <a:srgbClr val="1C7293"/>
                </a:solidFill>
                <a:latin typeface="Calibri" pitchFamily="34" charset="0"/>
                <a:ea typeface="Calibri" pitchFamily="34" charset="-122"/>
                <a:cs typeface="Calibri" pitchFamily="34" charset="-120"/>
              </a:rPr>
              <a:t>TAMBIÉN CUENTAN
</a:t>
            </a:r>
            <a:endParaRPr lang="en-US" sz="1400" dirty="0"/>
          </a:p>
          <a:p>
            <a:pPr marL="0" indent="0">
              <a:lnSpc>
                <a:spcPts val="1800"/>
              </a:lnSpc>
              <a:buNone/>
            </a:pPr>
            <a:r>
              <a:rPr lang="en-US" sz="1600" dirty="0">
                <a:solidFill>
                  <a:srgbClr val="1A1A2E"/>
                </a:solidFill>
                <a:latin typeface="Calibri" pitchFamily="34" charset="0"/>
                <a:ea typeface="Calibri" pitchFamily="34" charset="-122"/>
                <a:cs typeface="Calibri" pitchFamily="34" charset="-120"/>
              </a:rPr>
              <a:t>Efectividad — cada paso es realmente ejecutable.     Determinación — misma entrada, mismo resultado.     Generalidad — sirve para casos semejantes.</a:t>
            </a:r>
            <a:endParaRPr lang="en-US" sz="1400" dirty="0"/>
          </a:p>
        </p:txBody>
      </p:sp>
      <p:sp>
        <p:nvSpPr>
          <p:cNvPr id="9" name="Text 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400" b="1" dirty="0">
                <a:solidFill>
                  <a:srgbClr val="E1E7EF"/>
                </a:solidFill>
                <a:latin typeface="Calibri" pitchFamily="34" charset="0"/>
                <a:ea typeface="Calibri" pitchFamily="34" charset="-122"/>
                <a:cs typeface="Calibri" pitchFamily="34" charset="-120"/>
              </a:rPr>
              <a:t>05</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1 · INDIVIDUAL</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¿Qué criterio incumple?</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Lee cada propuesta, identifica qué característica falla y explica por qué en una frase.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2844712575"/>
              </p:ext>
            </p:extLst>
          </p:nvPr>
        </p:nvGraphicFramePr>
        <p:xfrm>
          <a:off x="548640" y="2084832"/>
          <a:ext cx="11091672" cy="3017520"/>
        </p:xfrm>
        <a:graphic>
          <a:graphicData uri="http://schemas.openxmlformats.org/drawingml/2006/table">
            <a:tbl>
              <a:tblPr/>
              <a:tblGrid>
                <a:gridCol w="210312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3136392">
                  <a:extLst>
                    <a:ext uri="{9D8B030D-6E8A-4147-A177-3AD203B41FA5}">
                      <a16:colId xmlns:a16="http://schemas.microsoft.com/office/drawing/2014/main" val="20002"/>
                    </a:ext>
                  </a:extLst>
                </a:gridCol>
              </a:tblGrid>
              <a:tr h="384048">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Caso</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Propuesta</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Falla en…</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658368">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A — La sopa</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1. Poner agua.   2. Agregar sal al gusto.   3. Cocinar hasta que quede rica.</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B — La cuenta atrás</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1. Escribir el número 10.   2. Restar 1.   3. Volver al paso 2.</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C — El área</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1. Recibir la base.   2. Recibir la altura.   3. Multiplicarlas.</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D — El descuento</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800" dirty="0">
                          <a:solidFill>
                            <a:srgbClr val="1A1A2E"/>
                          </a:solidFill>
                          <a:latin typeface="Calibri" pitchFamily="34" charset="0"/>
                          <a:ea typeface="Calibri" pitchFamily="34" charset="-122"/>
                          <a:cs typeface="Calibri" pitchFamily="34" charset="-120"/>
                        </a:rPr>
                        <a:t>1. Recibir el precio.   2. Aplicar el descuento de siempre.   3. Mostrar el precio final.</a:t>
                      </a: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8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5532120"/>
            <a:ext cx="11091672" cy="685800"/>
          </a:xfrm>
          <a:prstGeom prst="roundRect">
            <a:avLst>
              <a:gd name="adj" fmla="val 10667"/>
            </a:avLst>
          </a:prstGeom>
          <a:solidFill>
            <a:srgbClr val="13294B"/>
          </a:solidFill>
          <a:ln w="12700">
            <a:solidFill>
              <a:srgbClr val="13294B"/>
            </a:solidFill>
            <a:prstDash val="solid"/>
          </a:ln>
        </p:spPr>
        <p:txBody>
          <a:bodyPr/>
          <a:lstStyle/>
          <a:p>
            <a:endParaRPr lang="es-CO"/>
          </a:p>
        </p:txBody>
      </p:sp>
      <p:sp>
        <p:nvSpPr>
          <p:cNvPr id="5" name="Text 4"/>
          <p:cNvSpPr/>
          <p:nvPr/>
        </p:nvSpPr>
        <p:spPr>
          <a:xfrm>
            <a:off x="868680" y="5532120"/>
            <a:ext cx="10451592" cy="68580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PISTA:  </a:t>
            </a:r>
            <a:r>
              <a:rPr lang="en-US" sz="1350" dirty="0">
                <a:solidFill>
                  <a:srgbClr val="FFFFFF"/>
                </a:solidFill>
                <a:latin typeface="Calibri" pitchFamily="34" charset="0"/>
                <a:ea typeface="Calibri" pitchFamily="34" charset="-122"/>
                <a:cs typeface="Calibri" pitchFamily="34" charset="-120"/>
              </a:rPr>
              <a:t>las respuestas están en la tabla de la diapositiva anterior. Una propuesta puede incumplir más de una característica.</a:t>
            </a:r>
            <a:endParaRPr lang="en-US" sz="1350" dirty="0"/>
          </a:p>
        </p:txBody>
      </p:sp>
      <p:sp>
        <p:nvSpPr>
          <p:cNvPr id="8" name="Text 5"/>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06</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5"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LENGUAJES ALGORÍTMICOS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Tres formas de escribir el mismo algoritmo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Un lenguaje algorítmico es una manera de expresar un algoritmo. Cambia el nivel de detalle, nunca la lógica.</a:t>
            </a:r>
            <a:endParaRPr lang="en-US" sz="1400" dirty="0"/>
          </a:p>
        </p:txBody>
      </p:sp>
      <p:sp>
        <p:nvSpPr>
          <p:cNvPr id="5" name="Shape 3"/>
          <p:cNvSpPr/>
          <p:nvPr/>
        </p:nvSpPr>
        <p:spPr>
          <a:xfrm>
            <a:off x="548640" y="2057400"/>
            <a:ext cx="3520440" cy="3200400"/>
          </a:xfrm>
          <a:prstGeom prst="roundRect">
            <a:avLst>
              <a:gd name="adj" fmla="val 2286"/>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822960" y="2249424"/>
            <a:ext cx="402336" cy="402336"/>
          </a:xfrm>
          <a:prstGeom prst="ellipse">
            <a:avLst/>
          </a:prstGeom>
          <a:solidFill>
            <a:srgbClr val="1C7293"/>
          </a:solidFill>
          <a:ln w="12700">
            <a:solidFill>
              <a:srgbClr val="1C7293"/>
            </a:solidFill>
            <a:prstDash val="solid"/>
          </a:ln>
        </p:spPr>
        <p:txBody>
          <a:bodyPr/>
          <a:lstStyle/>
          <a:p>
            <a:endParaRPr lang="es-CO"/>
          </a:p>
        </p:txBody>
      </p:sp>
      <p:sp>
        <p:nvSpPr>
          <p:cNvPr id="7" name="Text 5"/>
          <p:cNvSpPr/>
          <p:nvPr/>
        </p:nvSpPr>
        <p:spPr>
          <a:xfrm>
            <a:off x="822960" y="224942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35024" y="2249424"/>
            <a:ext cx="2514600" cy="402336"/>
          </a:xfrm>
          <a:prstGeom prst="rect">
            <a:avLst/>
          </a:prstGeom>
          <a:noFill/>
          <a:ln/>
        </p:spPr>
        <p:txBody>
          <a:bodyPr wrap="square" lIns="0" tIns="0" rIns="0" bIns="0" rtlCol="0" anchor="ctr"/>
          <a:lstStyle/>
          <a:p>
            <a:pPr marL="0" indent="0">
              <a:buNone/>
            </a:pPr>
            <a:r>
              <a:rPr lang="en-US" sz="1350" b="1" dirty="0">
                <a:solidFill>
                  <a:srgbClr val="1C7293"/>
                </a:solidFill>
                <a:latin typeface="Calibri" pitchFamily="34" charset="0"/>
                <a:ea typeface="Calibri" pitchFamily="34" charset="-122"/>
                <a:cs typeface="Calibri" pitchFamily="34" charset="-120"/>
              </a:rPr>
              <a:t>LENGUAJE NATURAL</a:t>
            </a:r>
            <a:endParaRPr lang="en-US" sz="1350" dirty="0"/>
          </a:p>
        </p:txBody>
      </p:sp>
      <p:sp>
        <p:nvSpPr>
          <p:cNvPr id="9" name="Text 7"/>
          <p:cNvSpPr/>
          <p:nvPr/>
        </p:nvSpPr>
        <p:spPr>
          <a:xfrm>
            <a:off x="822960" y="2779776"/>
            <a:ext cx="2971800" cy="457200"/>
          </a:xfrm>
          <a:prstGeom prst="rect">
            <a:avLst/>
          </a:prstGeom>
          <a:noFill/>
          <a:ln/>
        </p:spPr>
        <p:txBody>
          <a:bodyPr wrap="square" lIns="0" tIns="0" rIns="0" bIns="0" rtlCol="0" anchor="t"/>
          <a:lstStyle/>
          <a:p>
            <a:pPr marL="0" indent="0">
              <a:lnSpc>
                <a:spcPts val="1700"/>
              </a:lnSpc>
              <a:buNone/>
            </a:pPr>
            <a:r>
              <a:rPr lang="en-US" sz="1350" b="1" dirty="0">
                <a:solidFill>
                  <a:srgbClr val="13294B"/>
                </a:solidFill>
                <a:latin typeface="Calibri" pitchFamily="34" charset="0"/>
                <a:ea typeface="Calibri" pitchFamily="34" charset="-122"/>
                <a:cs typeface="Calibri" pitchFamily="34" charset="-120"/>
              </a:rPr>
              <a:t>Frases numeradas en español.</a:t>
            </a:r>
            <a:endParaRPr lang="en-US" sz="1350" dirty="0"/>
          </a:p>
        </p:txBody>
      </p:sp>
      <p:sp>
        <p:nvSpPr>
          <p:cNvPr id="10" name="Text 8"/>
          <p:cNvSpPr/>
          <p:nvPr/>
        </p:nvSpPr>
        <p:spPr>
          <a:xfrm>
            <a:off x="822960" y="3310128"/>
            <a:ext cx="2971800" cy="777240"/>
          </a:xfrm>
          <a:prstGeom prst="rect">
            <a:avLst/>
          </a:prstGeom>
          <a:noFill/>
          <a:ln/>
        </p:spPr>
        <p:txBody>
          <a:bodyPr wrap="square" lIns="0" tIns="0" rIns="0" bIns="0" rtlCol="0" anchor="t"/>
          <a:lstStyle/>
          <a:p>
            <a:pPr marL="0" indent="0">
              <a:lnSpc>
                <a:spcPts val="1700"/>
              </a:lnSpc>
              <a:buNone/>
            </a:pPr>
            <a:r>
              <a:rPr lang="en-US" sz="1250" dirty="0">
                <a:solidFill>
                  <a:srgbClr val="1A1A2E"/>
                </a:solidFill>
                <a:latin typeface="Calibri" pitchFamily="34" charset="0"/>
                <a:ea typeface="Calibri" pitchFamily="34" charset="-122"/>
                <a:cs typeface="Calibri" pitchFamily="34" charset="-120"/>
              </a:rPr>
              <a:t>Cualquiera lo entiende, pero es fácil ser ambiguo.</a:t>
            </a:r>
            <a:endParaRPr lang="en-US" sz="1250" dirty="0"/>
          </a:p>
        </p:txBody>
      </p:sp>
      <p:sp>
        <p:nvSpPr>
          <p:cNvPr id="11" name="Shape 9"/>
          <p:cNvSpPr/>
          <p:nvPr/>
        </p:nvSpPr>
        <p:spPr>
          <a:xfrm>
            <a:off x="822960" y="4187952"/>
            <a:ext cx="2971800" cy="0"/>
          </a:xfrm>
          <a:prstGeom prst="line">
            <a:avLst/>
          </a:prstGeom>
          <a:noFill/>
          <a:ln w="12700">
            <a:solidFill>
              <a:srgbClr val="D5DFEA"/>
            </a:solidFill>
            <a:prstDash val="solid"/>
          </a:ln>
        </p:spPr>
        <p:txBody>
          <a:bodyPr/>
          <a:lstStyle/>
          <a:p>
            <a:endParaRPr lang="es-CO"/>
          </a:p>
        </p:txBody>
      </p:sp>
      <p:sp>
        <p:nvSpPr>
          <p:cNvPr id="12" name="Text 10"/>
          <p:cNvSpPr/>
          <p:nvPr/>
        </p:nvSpPr>
        <p:spPr>
          <a:xfrm>
            <a:off x="822960" y="4297680"/>
            <a:ext cx="2971800" cy="777240"/>
          </a:xfrm>
          <a:prstGeom prst="rect">
            <a:avLst/>
          </a:prstGeom>
          <a:noFill/>
          <a:ln/>
        </p:spPr>
        <p:txBody>
          <a:bodyPr wrap="square" lIns="0" tIns="0" rIns="0" bIns="0" rtlCol="0" anchor="t"/>
          <a:lstStyle/>
          <a:p>
            <a:pPr marL="0" indent="0">
              <a:lnSpc>
                <a:spcPts val="1600"/>
              </a:lnSpc>
              <a:buNone/>
            </a:pPr>
            <a:r>
              <a:rPr lang="en-US" sz="1150" b="1" dirty="0">
                <a:solidFill>
                  <a:srgbClr val="1C7293"/>
                </a:solidFill>
                <a:latin typeface="Calibri" pitchFamily="34" charset="0"/>
                <a:ea typeface="Calibri" pitchFamily="34" charset="-122"/>
                <a:cs typeface="Calibri" pitchFamily="34" charset="-120"/>
              </a:rPr>
              <a:t>Se usa  </a:t>
            </a:r>
            <a:r>
              <a:rPr lang="en-US" sz="1200" dirty="0">
                <a:solidFill>
                  <a:srgbClr val="5B6B7C"/>
                </a:solidFill>
                <a:latin typeface="Calibri" pitchFamily="34" charset="0"/>
                <a:ea typeface="Calibri" pitchFamily="34" charset="-122"/>
                <a:cs typeface="Calibri" pitchFamily="34" charset="-120"/>
              </a:rPr>
              <a:t>Para explicar la idea a alguien.</a:t>
            </a:r>
            <a:endParaRPr lang="en-US" sz="1150" dirty="0"/>
          </a:p>
        </p:txBody>
      </p:sp>
      <p:sp>
        <p:nvSpPr>
          <p:cNvPr id="13" name="Shape 11"/>
          <p:cNvSpPr/>
          <p:nvPr/>
        </p:nvSpPr>
        <p:spPr>
          <a:xfrm>
            <a:off x="4306824" y="2057400"/>
            <a:ext cx="3520440" cy="3200400"/>
          </a:xfrm>
          <a:prstGeom prst="roundRect">
            <a:avLst>
              <a:gd name="adj" fmla="val 2286"/>
            </a:avLst>
          </a:prstGeom>
          <a:solidFill>
            <a:srgbClr val="F4F7FB"/>
          </a:solidFill>
          <a:ln w="12700">
            <a:solidFill>
              <a:srgbClr val="F4F7FB"/>
            </a:solidFill>
            <a:prstDash val="solid"/>
          </a:ln>
        </p:spPr>
        <p:txBody>
          <a:bodyPr/>
          <a:lstStyle/>
          <a:p>
            <a:endParaRPr lang="es-CO"/>
          </a:p>
        </p:txBody>
      </p:sp>
      <p:sp>
        <p:nvSpPr>
          <p:cNvPr id="14" name="Shape 12"/>
          <p:cNvSpPr/>
          <p:nvPr/>
        </p:nvSpPr>
        <p:spPr>
          <a:xfrm>
            <a:off x="4581144" y="2249424"/>
            <a:ext cx="402336" cy="402336"/>
          </a:xfrm>
          <a:prstGeom prst="ellipse">
            <a:avLst/>
          </a:prstGeom>
          <a:solidFill>
            <a:srgbClr val="13294B"/>
          </a:solidFill>
          <a:ln w="12700">
            <a:solidFill>
              <a:srgbClr val="13294B"/>
            </a:solidFill>
            <a:prstDash val="solid"/>
          </a:ln>
        </p:spPr>
        <p:txBody>
          <a:bodyPr/>
          <a:lstStyle/>
          <a:p>
            <a:endParaRPr lang="es-CO"/>
          </a:p>
        </p:txBody>
      </p:sp>
      <p:sp>
        <p:nvSpPr>
          <p:cNvPr id="15" name="Text 13"/>
          <p:cNvSpPr/>
          <p:nvPr/>
        </p:nvSpPr>
        <p:spPr>
          <a:xfrm>
            <a:off x="4581144" y="224942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5093208" y="2249424"/>
            <a:ext cx="2514600" cy="402336"/>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DIAGRAMA DE FLUJO</a:t>
            </a:r>
            <a:endParaRPr lang="en-US" sz="1350" dirty="0"/>
          </a:p>
        </p:txBody>
      </p:sp>
      <p:sp>
        <p:nvSpPr>
          <p:cNvPr id="17" name="Text 15"/>
          <p:cNvSpPr/>
          <p:nvPr/>
        </p:nvSpPr>
        <p:spPr>
          <a:xfrm>
            <a:off x="4581144" y="2779776"/>
            <a:ext cx="2971800" cy="457200"/>
          </a:xfrm>
          <a:prstGeom prst="rect">
            <a:avLst/>
          </a:prstGeom>
          <a:noFill/>
          <a:ln/>
        </p:spPr>
        <p:txBody>
          <a:bodyPr wrap="square" lIns="0" tIns="0" rIns="0" bIns="0" rtlCol="0" anchor="t"/>
          <a:lstStyle/>
          <a:p>
            <a:pPr marL="0" indent="0">
              <a:lnSpc>
                <a:spcPts val="1700"/>
              </a:lnSpc>
              <a:buNone/>
            </a:pPr>
            <a:r>
              <a:rPr lang="en-US" sz="1350" b="1" dirty="0">
                <a:solidFill>
                  <a:srgbClr val="13294B"/>
                </a:solidFill>
                <a:latin typeface="Calibri" pitchFamily="34" charset="0"/>
                <a:ea typeface="Calibri" pitchFamily="34" charset="-122"/>
                <a:cs typeface="Calibri" pitchFamily="34" charset="-120"/>
              </a:rPr>
              <a:t>Símbolos conectados por flechas.</a:t>
            </a:r>
            <a:endParaRPr lang="en-US" sz="1350" dirty="0"/>
          </a:p>
        </p:txBody>
      </p:sp>
      <p:sp>
        <p:nvSpPr>
          <p:cNvPr id="18" name="Text 16"/>
          <p:cNvSpPr/>
          <p:nvPr/>
        </p:nvSpPr>
        <p:spPr>
          <a:xfrm>
            <a:off x="4581144" y="3310128"/>
            <a:ext cx="2971800" cy="777240"/>
          </a:xfrm>
          <a:prstGeom prst="rect">
            <a:avLst/>
          </a:prstGeom>
          <a:noFill/>
          <a:ln/>
        </p:spPr>
        <p:txBody>
          <a:bodyPr wrap="square" lIns="0" tIns="0" rIns="0" bIns="0" rtlCol="0" anchor="t"/>
          <a:lstStyle/>
          <a:p>
            <a:pPr marL="0" indent="0">
              <a:lnSpc>
                <a:spcPts val="1700"/>
              </a:lnSpc>
              <a:buNone/>
            </a:pPr>
            <a:r>
              <a:rPr lang="en-US" sz="1250" dirty="0">
                <a:solidFill>
                  <a:srgbClr val="1A1A2E"/>
                </a:solidFill>
                <a:latin typeface="Calibri" pitchFamily="34" charset="0"/>
                <a:ea typeface="Calibri" pitchFamily="34" charset="-122"/>
                <a:cs typeface="Calibri" pitchFamily="34" charset="-120"/>
              </a:rPr>
              <a:t>Se ve de un vistazo el orden y el camino.</a:t>
            </a:r>
            <a:endParaRPr lang="en-US" sz="1250" dirty="0"/>
          </a:p>
        </p:txBody>
      </p:sp>
      <p:sp>
        <p:nvSpPr>
          <p:cNvPr id="19" name="Shape 17"/>
          <p:cNvSpPr/>
          <p:nvPr/>
        </p:nvSpPr>
        <p:spPr>
          <a:xfrm>
            <a:off x="4581144" y="4187952"/>
            <a:ext cx="2971800" cy="0"/>
          </a:xfrm>
          <a:prstGeom prst="line">
            <a:avLst/>
          </a:prstGeom>
          <a:noFill/>
          <a:ln w="12700">
            <a:solidFill>
              <a:srgbClr val="D5DFEA"/>
            </a:solidFill>
            <a:prstDash val="solid"/>
          </a:ln>
        </p:spPr>
        <p:txBody>
          <a:bodyPr/>
          <a:lstStyle/>
          <a:p>
            <a:endParaRPr lang="es-CO"/>
          </a:p>
        </p:txBody>
      </p:sp>
      <p:sp>
        <p:nvSpPr>
          <p:cNvPr id="20" name="Text 18"/>
          <p:cNvSpPr/>
          <p:nvPr/>
        </p:nvSpPr>
        <p:spPr>
          <a:xfrm>
            <a:off x="4581144" y="4297680"/>
            <a:ext cx="2971800" cy="777240"/>
          </a:xfrm>
          <a:prstGeom prst="rect">
            <a:avLst/>
          </a:prstGeom>
          <a:noFill/>
          <a:ln/>
        </p:spPr>
        <p:txBody>
          <a:bodyPr wrap="square" lIns="0" tIns="0" rIns="0" bIns="0" rtlCol="0" anchor="t"/>
          <a:lstStyle/>
          <a:p>
            <a:pPr marL="0" indent="0">
              <a:lnSpc>
                <a:spcPts val="1600"/>
              </a:lnSpc>
              <a:buNone/>
            </a:pPr>
            <a:r>
              <a:rPr lang="en-US" sz="1150" b="1" dirty="0">
                <a:solidFill>
                  <a:srgbClr val="13294B"/>
                </a:solidFill>
                <a:latin typeface="Calibri" pitchFamily="34" charset="0"/>
                <a:ea typeface="Calibri" pitchFamily="34" charset="-122"/>
                <a:cs typeface="Calibri" pitchFamily="34" charset="-120"/>
              </a:rPr>
              <a:t>Se usa  </a:t>
            </a:r>
            <a:r>
              <a:rPr lang="en-US" sz="1200" dirty="0">
                <a:solidFill>
                  <a:srgbClr val="5B6B7C"/>
                </a:solidFill>
                <a:latin typeface="Calibri" pitchFamily="34" charset="0"/>
                <a:ea typeface="Calibri" pitchFamily="34" charset="-122"/>
                <a:cs typeface="Calibri" pitchFamily="34" charset="-120"/>
              </a:rPr>
              <a:t>Para diseñar y detectar pasos que faltan.</a:t>
            </a:r>
            <a:endParaRPr lang="en-US" sz="1150" dirty="0"/>
          </a:p>
        </p:txBody>
      </p:sp>
      <p:sp>
        <p:nvSpPr>
          <p:cNvPr id="21" name="Shape 19"/>
          <p:cNvSpPr/>
          <p:nvPr/>
        </p:nvSpPr>
        <p:spPr>
          <a:xfrm>
            <a:off x="8065008" y="2057400"/>
            <a:ext cx="3520440" cy="3200400"/>
          </a:xfrm>
          <a:prstGeom prst="roundRect">
            <a:avLst>
              <a:gd name="adj" fmla="val 2286"/>
            </a:avLst>
          </a:prstGeom>
          <a:solidFill>
            <a:srgbClr val="F4F7FB"/>
          </a:solidFill>
          <a:ln w="12700">
            <a:solidFill>
              <a:srgbClr val="F4F7FB"/>
            </a:solidFill>
            <a:prstDash val="solid"/>
          </a:ln>
        </p:spPr>
        <p:txBody>
          <a:bodyPr/>
          <a:lstStyle/>
          <a:p>
            <a:endParaRPr lang="es-CO"/>
          </a:p>
        </p:txBody>
      </p:sp>
      <p:sp>
        <p:nvSpPr>
          <p:cNvPr id="22" name="Shape 20"/>
          <p:cNvSpPr/>
          <p:nvPr/>
        </p:nvSpPr>
        <p:spPr>
          <a:xfrm>
            <a:off x="8339328" y="2249424"/>
            <a:ext cx="402336" cy="402336"/>
          </a:xfrm>
          <a:prstGeom prst="ellipse">
            <a:avLst/>
          </a:prstGeom>
          <a:solidFill>
            <a:srgbClr val="2F9E58"/>
          </a:solidFill>
          <a:ln w="12700">
            <a:solidFill>
              <a:srgbClr val="2F9E58"/>
            </a:solidFill>
            <a:prstDash val="solid"/>
          </a:ln>
        </p:spPr>
        <p:txBody>
          <a:bodyPr/>
          <a:lstStyle/>
          <a:p>
            <a:endParaRPr lang="es-CO"/>
          </a:p>
        </p:txBody>
      </p:sp>
      <p:sp>
        <p:nvSpPr>
          <p:cNvPr id="23" name="Text 21"/>
          <p:cNvSpPr/>
          <p:nvPr/>
        </p:nvSpPr>
        <p:spPr>
          <a:xfrm>
            <a:off x="8339328" y="224942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2"/>
          <p:cNvSpPr/>
          <p:nvPr/>
        </p:nvSpPr>
        <p:spPr>
          <a:xfrm>
            <a:off x="8851392" y="2249424"/>
            <a:ext cx="2514600" cy="402336"/>
          </a:xfrm>
          <a:prstGeom prst="rect">
            <a:avLst/>
          </a:prstGeom>
          <a:noFill/>
          <a:ln/>
        </p:spPr>
        <p:txBody>
          <a:bodyPr wrap="square" lIns="0" tIns="0" rIns="0" bIns="0" rtlCol="0" anchor="ctr"/>
          <a:lstStyle/>
          <a:p>
            <a:pPr marL="0" indent="0">
              <a:buNone/>
            </a:pPr>
            <a:r>
              <a:rPr lang="en-US" sz="1350" b="1" dirty="0">
                <a:solidFill>
                  <a:srgbClr val="2F9E58"/>
                </a:solidFill>
                <a:latin typeface="Calibri" pitchFamily="34" charset="0"/>
                <a:ea typeface="Calibri" pitchFamily="34" charset="-122"/>
                <a:cs typeface="Calibri" pitchFamily="34" charset="-120"/>
              </a:rPr>
              <a:t>PSEUDOCÓDIGO</a:t>
            </a:r>
            <a:endParaRPr lang="en-US" sz="1350" dirty="0"/>
          </a:p>
        </p:txBody>
      </p:sp>
      <p:sp>
        <p:nvSpPr>
          <p:cNvPr id="25" name="Text 23"/>
          <p:cNvSpPr/>
          <p:nvPr/>
        </p:nvSpPr>
        <p:spPr>
          <a:xfrm>
            <a:off x="8339328" y="2779776"/>
            <a:ext cx="2971800" cy="457200"/>
          </a:xfrm>
          <a:prstGeom prst="rect">
            <a:avLst/>
          </a:prstGeom>
          <a:noFill/>
          <a:ln/>
        </p:spPr>
        <p:txBody>
          <a:bodyPr wrap="square" lIns="0" tIns="0" rIns="0" bIns="0" rtlCol="0" anchor="t"/>
          <a:lstStyle/>
          <a:p>
            <a:pPr marL="0" indent="0">
              <a:lnSpc>
                <a:spcPts val="1700"/>
              </a:lnSpc>
              <a:buNone/>
            </a:pPr>
            <a:r>
              <a:rPr lang="en-US" sz="1350" b="1" dirty="0">
                <a:solidFill>
                  <a:srgbClr val="13294B"/>
                </a:solidFill>
                <a:latin typeface="Calibri" pitchFamily="34" charset="0"/>
                <a:ea typeface="Calibri" pitchFamily="34" charset="-122"/>
                <a:cs typeface="Calibri" pitchFamily="34" charset="-120"/>
              </a:rPr>
              <a:t>Texto estructurado con palabras fijas.</a:t>
            </a:r>
            <a:endParaRPr lang="en-US" sz="1350" dirty="0"/>
          </a:p>
        </p:txBody>
      </p:sp>
      <p:sp>
        <p:nvSpPr>
          <p:cNvPr id="26" name="Text 24"/>
          <p:cNvSpPr/>
          <p:nvPr/>
        </p:nvSpPr>
        <p:spPr>
          <a:xfrm>
            <a:off x="8339328" y="3310128"/>
            <a:ext cx="2971800" cy="777240"/>
          </a:xfrm>
          <a:prstGeom prst="rect">
            <a:avLst/>
          </a:prstGeom>
          <a:noFill/>
          <a:ln/>
        </p:spPr>
        <p:txBody>
          <a:bodyPr wrap="square" lIns="0" tIns="0" rIns="0" bIns="0" rtlCol="0" anchor="t"/>
          <a:lstStyle/>
          <a:p>
            <a:pPr marL="0" indent="0">
              <a:lnSpc>
                <a:spcPts val="1700"/>
              </a:lnSpc>
              <a:buNone/>
            </a:pPr>
            <a:r>
              <a:rPr lang="en-US" sz="1250" dirty="0">
                <a:solidFill>
                  <a:srgbClr val="1A1A2E"/>
                </a:solidFill>
                <a:latin typeface="Calibri" pitchFamily="34" charset="0"/>
                <a:ea typeface="Calibri" pitchFamily="34" charset="-122"/>
                <a:cs typeface="Calibri" pitchFamily="34" charset="-120"/>
              </a:rPr>
              <a:t>Está a un paso del programa, sin exigir sintaxis.</a:t>
            </a:r>
            <a:endParaRPr lang="en-US" sz="1250" dirty="0"/>
          </a:p>
        </p:txBody>
      </p:sp>
      <p:sp>
        <p:nvSpPr>
          <p:cNvPr id="27" name="Shape 25"/>
          <p:cNvSpPr/>
          <p:nvPr/>
        </p:nvSpPr>
        <p:spPr>
          <a:xfrm>
            <a:off x="8339328" y="4187952"/>
            <a:ext cx="2971800" cy="0"/>
          </a:xfrm>
          <a:prstGeom prst="line">
            <a:avLst/>
          </a:prstGeom>
          <a:noFill/>
          <a:ln w="12700">
            <a:solidFill>
              <a:srgbClr val="D5DFEA"/>
            </a:solidFill>
            <a:prstDash val="solid"/>
          </a:ln>
        </p:spPr>
        <p:txBody>
          <a:bodyPr/>
          <a:lstStyle/>
          <a:p>
            <a:endParaRPr lang="es-CO"/>
          </a:p>
        </p:txBody>
      </p:sp>
      <p:sp>
        <p:nvSpPr>
          <p:cNvPr id="28" name="Text 26"/>
          <p:cNvSpPr/>
          <p:nvPr/>
        </p:nvSpPr>
        <p:spPr>
          <a:xfrm>
            <a:off x="8339328" y="4297680"/>
            <a:ext cx="2971800" cy="777240"/>
          </a:xfrm>
          <a:prstGeom prst="rect">
            <a:avLst/>
          </a:prstGeom>
          <a:noFill/>
          <a:ln/>
        </p:spPr>
        <p:txBody>
          <a:bodyPr wrap="square" lIns="0" tIns="0" rIns="0" bIns="0" rtlCol="0" anchor="t"/>
          <a:lstStyle/>
          <a:p>
            <a:pPr marL="0" indent="0">
              <a:lnSpc>
                <a:spcPts val="1600"/>
              </a:lnSpc>
              <a:buNone/>
            </a:pPr>
            <a:r>
              <a:rPr lang="en-US" sz="1150" b="1" dirty="0">
                <a:solidFill>
                  <a:srgbClr val="2F9E58"/>
                </a:solidFill>
                <a:latin typeface="Calibri" pitchFamily="34" charset="0"/>
                <a:ea typeface="Calibri" pitchFamily="34" charset="-122"/>
                <a:cs typeface="Calibri" pitchFamily="34" charset="-120"/>
              </a:rPr>
              <a:t>Se usa  </a:t>
            </a:r>
            <a:r>
              <a:rPr lang="en-US" sz="1200" dirty="0">
                <a:solidFill>
                  <a:srgbClr val="5B6B7C"/>
                </a:solidFill>
                <a:latin typeface="Calibri" pitchFamily="34" charset="0"/>
                <a:ea typeface="Calibri" pitchFamily="34" charset="-122"/>
                <a:cs typeface="Calibri" pitchFamily="34" charset="-120"/>
              </a:rPr>
              <a:t>Para planear la implementación.</a:t>
            </a:r>
            <a:endParaRPr lang="en-US" sz="1150" dirty="0"/>
          </a:p>
        </p:txBody>
      </p:sp>
      <p:sp>
        <p:nvSpPr>
          <p:cNvPr id="29" name="Shape 27"/>
          <p:cNvSpPr/>
          <p:nvPr/>
        </p:nvSpPr>
        <p:spPr>
          <a:xfrm>
            <a:off x="548640" y="5440680"/>
            <a:ext cx="11091672" cy="777240"/>
          </a:xfrm>
          <a:prstGeom prst="roundRect">
            <a:avLst>
              <a:gd name="adj" fmla="val 9412"/>
            </a:avLst>
          </a:prstGeom>
          <a:solidFill>
            <a:srgbClr val="13294B"/>
          </a:solidFill>
          <a:ln w="12700">
            <a:solidFill>
              <a:srgbClr val="13294B"/>
            </a:solidFill>
            <a:prstDash val="solid"/>
          </a:ln>
        </p:spPr>
        <p:txBody>
          <a:bodyPr/>
          <a:lstStyle/>
          <a:p>
            <a:endParaRPr lang="es-CO"/>
          </a:p>
        </p:txBody>
      </p:sp>
      <p:sp>
        <p:nvSpPr>
          <p:cNvPr id="30" name="Text 28"/>
          <p:cNvSpPr/>
          <p:nvPr/>
        </p:nvSpPr>
        <p:spPr>
          <a:xfrm>
            <a:off x="868680" y="5440680"/>
            <a:ext cx="10451592" cy="77724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ORDEN DE TRABAJO:  </a:t>
            </a:r>
            <a:r>
              <a:rPr lang="en-US" sz="1350" dirty="0">
                <a:solidFill>
                  <a:srgbClr val="FFFFFF"/>
                </a:solidFill>
                <a:latin typeface="Calibri" pitchFamily="34" charset="0"/>
                <a:ea typeface="Calibri" pitchFamily="34" charset="-122"/>
                <a:cs typeface="Calibri" pitchFamily="34" charset="-120"/>
              </a:rPr>
              <a:t>analizar el enunciado → lenguaje natural → diagrama de flujo → pseudocódigo. Cada paso agrega precisión al anterior.</a:t>
            </a:r>
            <a:endParaRPr lang="en-US" sz="1350" dirty="0"/>
          </a:p>
        </p:txBody>
      </p:sp>
      <p:sp>
        <p:nvSpPr>
          <p:cNvPr id="31" name="Text 29"/>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07</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PSEUDOCÓDIGO · LAS INSTRUCCIONES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Con cinco instrucciones se escribe todo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Este es el repertorio completo. Cualquier algoritmo que escribas en el curso se arma combinando únicamente estas cinco.</a:t>
            </a:r>
            <a:endParaRPr lang="en-US" sz="1400" dirty="0"/>
          </a:p>
        </p:txBody>
      </p:sp>
      <p:graphicFrame>
        <p:nvGraphicFramePr>
          <p:cNvPr id="5" name="Table 0"/>
          <p:cNvGraphicFramePr>
            <a:graphicFrameLocks noGrp="1"/>
          </p:cNvGraphicFramePr>
          <p:nvPr/>
        </p:nvGraphicFramePr>
        <p:xfrm>
          <a:off x="548640" y="2057400"/>
          <a:ext cx="11091672" cy="2939796"/>
        </p:xfrm>
        <a:graphic>
          <a:graphicData uri="http://schemas.openxmlformats.org/drawingml/2006/table">
            <a:tbl>
              <a:tblPr/>
              <a:tblGrid>
                <a:gridCol w="1600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Instrucción</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Para qué sirve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Cómo se escribe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Ejemplo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Inicio / Fin</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Marcan dónde empieza y dónde termina el algoritmo.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Inicio  …  Fin</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Inicio</a:t>
                      </a:r>
                      <a:endParaRPr lang="en-US" sz="1150" dirty="0">
                        <a:latin typeface="Courier New" charset="0"/>
                        <a:ea typeface="Courier New" charset="0"/>
                        <a:cs typeface="Courier New" charset="0"/>
                      </a:endParaRPr>
                    </a:p>
                    <a:p>
                      <a:pPr marL="0" indent="0">
                        <a:buNone/>
                      </a:pPr>
                      <a:r>
                        <a:rPr lang="en-US" sz="1150" b="1" dirty="0">
                          <a:solidFill>
                            <a:srgbClr val="13294B"/>
                          </a:solidFill>
                          <a:latin typeface="Courier New" pitchFamily="34" charset="0"/>
                          <a:ea typeface="Courier New" pitchFamily="34" charset="-122"/>
                          <a:cs typeface="Courier New" pitchFamily="34" charset="-120"/>
                        </a:rPr>
                        <a:t>   …</a:t>
                      </a:r>
                      <a:endParaRPr lang="en-US" sz="1150" dirty="0">
                        <a:latin typeface="Courier New" charset="0"/>
                        <a:ea typeface="Courier New" charset="0"/>
                        <a:cs typeface="Courier New" charset="0"/>
                      </a:endParaRPr>
                    </a:p>
                    <a:p>
                      <a:pPr marL="0" indent="0">
                        <a:buNone/>
                      </a:pPr>
                      <a:r>
                        <a:rPr lang="en-US" sz="1150" b="1" dirty="0">
                          <a:solidFill>
                            <a:srgbClr val="13294B"/>
                          </a:solidFill>
                          <a:latin typeface="Courier New" pitchFamily="34" charset="0"/>
                          <a:ea typeface="Courier New" pitchFamily="34" charset="-122"/>
                          <a:cs typeface="Courier New" pitchFamily="34" charset="-120"/>
                        </a:rPr>
                        <a:t>Fin</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Declarar</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Anuncia qué datos se usarán y de qué tipo es cada uno.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tipo nombre1, nombre2</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real precioUnitario</a:t>
                      </a:r>
                      <a:endParaRPr lang="en-US" sz="1150" dirty="0">
                        <a:latin typeface="Courier New" charset="0"/>
                        <a:ea typeface="Courier New" charset="0"/>
                        <a:cs typeface="Courier New" charset="0"/>
                      </a:endParaRPr>
                    </a:p>
                    <a:p>
                      <a:pPr marL="0" indent="0">
                        <a:buNone/>
                      </a:pPr>
                      <a:r>
                        <a:rPr lang="en-US" sz="1150" b="1" dirty="0">
                          <a:solidFill>
                            <a:srgbClr val="13294B"/>
                          </a:solidFill>
                          <a:latin typeface="Courier New" pitchFamily="34" charset="0"/>
                          <a:ea typeface="Courier New" pitchFamily="34" charset="-122"/>
                          <a:cs typeface="Courier New" pitchFamily="34" charset="-120"/>
                        </a:rPr>
                        <a:t>entero cantidad</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Leer</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Recibe un dato que viene desde afuera.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Leer nombre</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Leer cantidad</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Asignar</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Guarda en un dato el resultado de un cálculo.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nombre ← expresión</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total ← precio * cantidad</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Escribir</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Comunica un resultado a quien usa el algoritmo.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Escribir "texto", nombre</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Escribir "Total: ", total</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5138928"/>
            <a:ext cx="11091672" cy="1078992"/>
          </a:xfrm>
          <a:prstGeom prst="roundRect">
            <a:avLst>
              <a:gd name="adj" fmla="val 6780"/>
            </a:avLst>
          </a:prstGeom>
          <a:solidFill>
            <a:srgbClr val="E8EEF4"/>
          </a:solidFill>
          <a:ln w="12700">
            <a:solidFill>
              <a:srgbClr val="E8EEF4"/>
            </a:solidFill>
            <a:prstDash val="solid"/>
          </a:ln>
        </p:spPr>
        <p:txBody>
          <a:bodyPr/>
          <a:lstStyle/>
          <a:p>
            <a:endParaRPr lang="es-CO"/>
          </a:p>
        </p:txBody>
      </p:sp>
      <p:sp>
        <p:nvSpPr>
          <p:cNvPr id="7" name="Text 4"/>
          <p:cNvSpPr/>
          <p:nvPr/>
        </p:nvSpPr>
        <p:spPr>
          <a:xfrm>
            <a:off x="868680" y="5248656"/>
            <a:ext cx="10058400" cy="256032"/>
          </a:xfrm>
          <a:prstGeom prst="rect">
            <a:avLst/>
          </a:prstGeom>
          <a:noFill/>
          <a:ln/>
        </p:spPr>
        <p:txBody>
          <a:bodyPr wrap="square" lIns="0" tIns="0" rIns="0" bIns="0" rtlCol="0" anchor="ctr"/>
          <a:lstStyle/>
          <a:p>
            <a:pPr marL="0" indent="0">
              <a:buNone/>
            </a:pPr>
            <a:r>
              <a:rPr lang="en-US" sz="1100" b="1" kern="0" spc="120" dirty="0">
                <a:solidFill>
                  <a:srgbClr val="1C7293"/>
                </a:solidFill>
                <a:latin typeface="Calibri" pitchFamily="34" charset="0"/>
                <a:ea typeface="Calibri" pitchFamily="34" charset="-122"/>
                <a:cs typeface="Calibri" pitchFamily="34" charset="-120"/>
              </a:rPr>
              <a:t>LAS CINCO PALABRAS PARA DECLARAR UN TIPO</a:t>
            </a:r>
            <a:endParaRPr lang="en-US" sz="1100" dirty="0"/>
          </a:p>
        </p:txBody>
      </p:sp>
      <p:sp>
        <p:nvSpPr>
          <p:cNvPr id="8" name="Text 5"/>
          <p:cNvSpPr/>
          <p:nvPr/>
        </p:nvSpPr>
        <p:spPr>
          <a:xfrm>
            <a:off x="868680" y="5541264"/>
            <a:ext cx="2103120" cy="502920"/>
          </a:xfrm>
          <a:prstGeom prst="rect">
            <a:avLst/>
          </a:prstGeom>
          <a:noFill/>
          <a:ln/>
        </p:spPr>
        <p:txBody>
          <a:bodyPr wrap="square" lIns="0" tIns="0" rIns="0" bIns="0" rtlCol="0" anchor="ctr"/>
          <a:lstStyle/>
          <a:p>
            <a:pPr marL="0" indent="0">
              <a:buNone/>
            </a:pPr>
            <a:r>
              <a:rPr lang="en-US" sz="1350" b="1" dirty="0">
                <a:solidFill>
                  <a:srgbClr val="13294B"/>
                </a:solidFill>
                <a:latin typeface="Courier New" pitchFamily="34" charset="0"/>
                <a:ea typeface="Courier New" pitchFamily="34" charset="-122"/>
                <a:cs typeface="Courier New" pitchFamily="34" charset="-120"/>
              </a:rPr>
              <a:t>entero</a:t>
            </a:r>
            <a:r>
              <a:rPr lang="en-US" sz="1200" dirty="0">
                <a:solidFill>
                  <a:srgbClr val="5B6B7C"/>
                </a:solidFill>
              </a:rPr>
              <a:t>   →   </a:t>
            </a:r>
            <a:r>
              <a:rPr lang="en-US" sz="1350" b="1" dirty="0">
                <a:solidFill>
                  <a:srgbClr val="1C7293"/>
                </a:solidFill>
                <a:latin typeface="Courier New" pitchFamily="34" charset="0"/>
                <a:ea typeface="Courier New" pitchFamily="34" charset="-122"/>
                <a:cs typeface="Courier New" pitchFamily="34" charset="-120"/>
              </a:rPr>
              <a:t>int</a:t>
            </a:r>
            <a:endParaRPr lang="en-US" sz="1350" dirty="0"/>
          </a:p>
        </p:txBody>
      </p:sp>
      <p:sp>
        <p:nvSpPr>
          <p:cNvPr id="9" name="Text 6"/>
          <p:cNvSpPr/>
          <p:nvPr/>
        </p:nvSpPr>
        <p:spPr>
          <a:xfrm>
            <a:off x="2990088" y="5541264"/>
            <a:ext cx="2103120" cy="502920"/>
          </a:xfrm>
          <a:prstGeom prst="rect">
            <a:avLst/>
          </a:prstGeom>
          <a:noFill/>
          <a:ln/>
        </p:spPr>
        <p:txBody>
          <a:bodyPr wrap="square" lIns="0" tIns="0" rIns="0" bIns="0" rtlCol="0" anchor="ctr"/>
          <a:lstStyle/>
          <a:p>
            <a:pPr marL="0" indent="0">
              <a:buNone/>
            </a:pPr>
            <a:r>
              <a:rPr lang="en-US" sz="1350" b="1" dirty="0">
                <a:solidFill>
                  <a:srgbClr val="13294B"/>
                </a:solidFill>
                <a:latin typeface="Courier New" pitchFamily="34" charset="0"/>
                <a:ea typeface="Courier New" pitchFamily="34" charset="-122"/>
                <a:cs typeface="Courier New" pitchFamily="34" charset="-120"/>
              </a:rPr>
              <a:t>real</a:t>
            </a:r>
            <a:r>
              <a:rPr lang="en-US" sz="1200" dirty="0">
                <a:solidFill>
                  <a:srgbClr val="5B6B7C"/>
                </a:solidFill>
              </a:rPr>
              <a:t>   →   </a:t>
            </a:r>
            <a:r>
              <a:rPr lang="en-US" sz="1350" b="1" dirty="0">
                <a:solidFill>
                  <a:srgbClr val="1C7293"/>
                </a:solidFill>
                <a:latin typeface="Courier New" pitchFamily="34" charset="0"/>
                <a:ea typeface="Courier New" pitchFamily="34" charset="-122"/>
                <a:cs typeface="Courier New" pitchFamily="34" charset="-120"/>
              </a:rPr>
              <a:t>double</a:t>
            </a:r>
            <a:endParaRPr lang="en-US" sz="1350" dirty="0"/>
          </a:p>
        </p:txBody>
      </p:sp>
      <p:sp>
        <p:nvSpPr>
          <p:cNvPr id="10" name="Text 7"/>
          <p:cNvSpPr/>
          <p:nvPr/>
        </p:nvSpPr>
        <p:spPr>
          <a:xfrm>
            <a:off x="5111496" y="5541264"/>
            <a:ext cx="2103120" cy="502920"/>
          </a:xfrm>
          <a:prstGeom prst="rect">
            <a:avLst/>
          </a:prstGeom>
          <a:noFill/>
          <a:ln/>
        </p:spPr>
        <p:txBody>
          <a:bodyPr wrap="square" lIns="0" tIns="0" rIns="0" bIns="0" rtlCol="0" anchor="ctr"/>
          <a:lstStyle/>
          <a:p>
            <a:pPr marL="0" indent="0">
              <a:buNone/>
            </a:pPr>
            <a:r>
              <a:rPr lang="en-US" sz="1350" b="1" dirty="0">
                <a:solidFill>
                  <a:srgbClr val="13294B"/>
                </a:solidFill>
                <a:latin typeface="Courier New" pitchFamily="34" charset="0"/>
                <a:ea typeface="Courier New" pitchFamily="34" charset="-122"/>
                <a:cs typeface="Courier New" pitchFamily="34" charset="-120"/>
              </a:rPr>
              <a:t>texto</a:t>
            </a:r>
            <a:r>
              <a:rPr lang="en-US" sz="1200" dirty="0">
                <a:solidFill>
                  <a:srgbClr val="5B6B7C"/>
                </a:solidFill>
              </a:rPr>
              <a:t>   →   </a:t>
            </a:r>
            <a:r>
              <a:rPr lang="en-US" sz="1350" b="1" dirty="0">
                <a:solidFill>
                  <a:srgbClr val="1C7293"/>
                </a:solidFill>
                <a:latin typeface="Courier New" pitchFamily="34" charset="0"/>
                <a:ea typeface="Courier New" pitchFamily="34" charset="-122"/>
                <a:cs typeface="Courier New" pitchFamily="34" charset="-120"/>
              </a:rPr>
              <a:t>String</a:t>
            </a:r>
            <a:endParaRPr lang="en-US" sz="1350" dirty="0"/>
          </a:p>
        </p:txBody>
      </p:sp>
      <p:sp>
        <p:nvSpPr>
          <p:cNvPr id="11" name="Text 8"/>
          <p:cNvSpPr/>
          <p:nvPr/>
        </p:nvSpPr>
        <p:spPr>
          <a:xfrm>
            <a:off x="7232904" y="5541264"/>
            <a:ext cx="2103120" cy="502920"/>
          </a:xfrm>
          <a:prstGeom prst="rect">
            <a:avLst/>
          </a:prstGeom>
          <a:noFill/>
          <a:ln/>
        </p:spPr>
        <p:txBody>
          <a:bodyPr wrap="square" lIns="0" tIns="0" rIns="0" bIns="0" rtlCol="0" anchor="ctr"/>
          <a:lstStyle/>
          <a:p>
            <a:pPr marL="0" indent="0">
              <a:buNone/>
            </a:pPr>
            <a:r>
              <a:rPr lang="en-US" sz="1350" b="1" dirty="0">
                <a:solidFill>
                  <a:srgbClr val="13294B"/>
                </a:solidFill>
                <a:latin typeface="Courier New" pitchFamily="34" charset="0"/>
                <a:ea typeface="Courier New" pitchFamily="34" charset="-122"/>
                <a:cs typeface="Courier New" pitchFamily="34" charset="-120"/>
              </a:rPr>
              <a:t>logico</a:t>
            </a:r>
            <a:r>
              <a:rPr lang="en-US" sz="1200" dirty="0">
                <a:solidFill>
                  <a:srgbClr val="5B6B7C"/>
                </a:solidFill>
              </a:rPr>
              <a:t>   →   </a:t>
            </a:r>
            <a:r>
              <a:rPr lang="en-US" sz="1350" b="1" dirty="0">
                <a:solidFill>
                  <a:srgbClr val="1C7293"/>
                </a:solidFill>
                <a:latin typeface="Courier New" pitchFamily="34" charset="0"/>
                <a:ea typeface="Courier New" pitchFamily="34" charset="-122"/>
                <a:cs typeface="Courier New" pitchFamily="34" charset="-120"/>
              </a:rPr>
              <a:t>boolean</a:t>
            </a:r>
            <a:endParaRPr lang="en-US" sz="1350" dirty="0"/>
          </a:p>
        </p:txBody>
      </p:sp>
      <p:sp>
        <p:nvSpPr>
          <p:cNvPr id="12" name="Text 9"/>
          <p:cNvSpPr/>
          <p:nvPr/>
        </p:nvSpPr>
        <p:spPr>
          <a:xfrm>
            <a:off x="9354312" y="5541264"/>
            <a:ext cx="2103120" cy="502920"/>
          </a:xfrm>
          <a:prstGeom prst="rect">
            <a:avLst/>
          </a:prstGeom>
          <a:noFill/>
          <a:ln/>
        </p:spPr>
        <p:txBody>
          <a:bodyPr wrap="square" lIns="0" tIns="0" rIns="0" bIns="0" rtlCol="0" anchor="ctr"/>
          <a:lstStyle/>
          <a:p>
            <a:pPr marL="0" indent="0">
              <a:buNone/>
            </a:pPr>
            <a:r>
              <a:rPr lang="en-US" sz="1350" b="1" dirty="0">
                <a:solidFill>
                  <a:srgbClr val="13294B"/>
                </a:solidFill>
                <a:latin typeface="Courier New" pitchFamily="34" charset="0"/>
                <a:ea typeface="Courier New" pitchFamily="34" charset="-122"/>
                <a:cs typeface="Courier New" pitchFamily="34" charset="-120"/>
              </a:rPr>
              <a:t>caracter</a:t>
            </a:r>
            <a:r>
              <a:rPr lang="en-US" sz="1200" dirty="0">
                <a:solidFill>
                  <a:srgbClr val="5B6B7C"/>
                </a:solidFill>
              </a:rPr>
              <a:t>   →   </a:t>
            </a:r>
            <a:r>
              <a:rPr lang="en-US" sz="1350" b="1" dirty="0">
                <a:solidFill>
                  <a:srgbClr val="1C7293"/>
                </a:solidFill>
                <a:latin typeface="Courier New" pitchFamily="34" charset="0"/>
                <a:ea typeface="Courier New" pitchFamily="34" charset="-122"/>
                <a:cs typeface="Courier New" pitchFamily="34" charset="-120"/>
              </a:rPr>
              <a:t>char</a:t>
            </a:r>
            <a:endParaRPr lang="en-US" sz="1350" dirty="0"/>
          </a:p>
        </p:txBody>
      </p:sp>
      <p:sp>
        <p:nvSpPr>
          <p:cNvPr id="13" name="Text 10"/>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PSEUDOCÓDIGO · LA INSTRUCCIÓN MÁS IMPORTANTE</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La asignación: dato ← expresión</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Es la instrucción que hace el trabajo. Si esta se entiende bien, el resto del pseudocódigo sale solo.</a:t>
            </a:r>
            <a:endParaRPr lang="en-US" sz="1400" dirty="0"/>
          </a:p>
        </p:txBody>
      </p:sp>
      <p:sp>
        <p:nvSpPr>
          <p:cNvPr id="5" name="Shape 3"/>
          <p:cNvSpPr/>
          <p:nvPr/>
        </p:nvSpPr>
        <p:spPr>
          <a:xfrm>
            <a:off x="548640" y="2084832"/>
            <a:ext cx="5532120" cy="868680"/>
          </a:xfrm>
          <a:prstGeom prst="roundRect">
            <a:avLst>
              <a:gd name="adj" fmla="val 8421"/>
            </a:avLst>
          </a:prstGeom>
          <a:solidFill>
            <a:srgbClr val="E8EEF4"/>
          </a:solidFill>
          <a:ln w="12700">
            <a:solidFill>
              <a:srgbClr val="E8EEF4"/>
            </a:solidFill>
            <a:prstDash val="solid"/>
          </a:ln>
        </p:spPr>
        <p:txBody>
          <a:bodyPr/>
          <a:lstStyle/>
          <a:p>
            <a:endParaRPr lang="es-CO"/>
          </a:p>
        </p:txBody>
      </p:sp>
      <p:sp>
        <p:nvSpPr>
          <p:cNvPr id="6" name="Text 4"/>
          <p:cNvSpPr/>
          <p:nvPr/>
        </p:nvSpPr>
        <p:spPr>
          <a:xfrm>
            <a:off x="841248" y="2286000"/>
            <a:ext cx="4946904" cy="466344"/>
          </a:xfrm>
          <a:prstGeom prst="rect">
            <a:avLst/>
          </a:prstGeom>
          <a:noFill/>
          <a:ln/>
        </p:spPr>
        <p:txBody>
          <a:bodyPr wrap="square" lIns="0" tIns="0" rIns="0" bIns="0" rtlCol="0" anchor="t"/>
          <a:lstStyle/>
          <a:p>
            <a:pPr marL="0" indent="0">
              <a:lnSpc>
                <a:spcPts val="2560"/>
              </a:lnSpc>
              <a:buNone/>
            </a:pPr>
            <a:r>
              <a:rPr lang="en-US" sz="1600" b="1" dirty="0">
                <a:solidFill>
                  <a:srgbClr val="13294B"/>
                </a:solidFill>
                <a:latin typeface="Courier New" pitchFamily="34" charset="0"/>
                <a:ea typeface="Courier New" pitchFamily="34" charset="-122"/>
                <a:cs typeface="Courier New" pitchFamily="34" charset="-120"/>
              </a:rPr>
              <a:t>total ← precioUnitario * cantidad</a:t>
            </a:r>
            <a:endParaRPr lang="en-US" sz="1600" dirty="0"/>
          </a:p>
        </p:txBody>
      </p:sp>
      <p:sp>
        <p:nvSpPr>
          <p:cNvPr id="7" name="Text 5"/>
          <p:cNvSpPr/>
          <p:nvPr/>
        </p:nvSpPr>
        <p:spPr>
          <a:xfrm>
            <a:off x="548640" y="2999232"/>
            <a:ext cx="5532120" cy="329184"/>
          </a:xfrm>
          <a:prstGeom prst="rect">
            <a:avLst/>
          </a:prstGeom>
          <a:noFill/>
          <a:ln/>
        </p:spPr>
        <p:txBody>
          <a:bodyPr wrap="square" lIns="0" tIns="0" rIns="0" bIns="0" rtlCol="0" anchor="ctr"/>
          <a:lstStyle/>
          <a:p>
            <a:pPr marL="0" indent="0" algn="ctr">
              <a:buNone/>
            </a:pPr>
            <a:r>
              <a:rPr lang="en-US" sz="1350" i="1" dirty="0">
                <a:solidFill>
                  <a:srgbClr val="5B6B7C"/>
                </a:solidFill>
                <a:latin typeface="Calibri" pitchFamily="34" charset="0"/>
                <a:ea typeface="Calibri" pitchFamily="34" charset="-122"/>
                <a:cs typeface="Calibri" pitchFamily="34" charset="-120"/>
              </a:rPr>
              <a:t>«total toma el valor de precioUnitario por cantidad»</a:t>
            </a:r>
            <a:endParaRPr lang="en-US" sz="1350" dirty="0"/>
          </a:p>
        </p:txBody>
      </p:sp>
      <p:sp>
        <p:nvSpPr>
          <p:cNvPr id="8" name="Shape 6"/>
          <p:cNvSpPr/>
          <p:nvPr/>
        </p:nvSpPr>
        <p:spPr>
          <a:xfrm>
            <a:off x="548640" y="3474720"/>
            <a:ext cx="5532120" cy="868680"/>
          </a:xfrm>
          <a:prstGeom prst="roundRect">
            <a:avLst>
              <a:gd name="adj" fmla="val 8421"/>
            </a:avLst>
          </a:prstGeom>
          <a:solidFill>
            <a:srgbClr val="F4F7FB"/>
          </a:solidFill>
          <a:ln w="12700">
            <a:solidFill>
              <a:srgbClr val="F4F7FB"/>
            </a:solidFill>
            <a:prstDash val="solid"/>
          </a:ln>
        </p:spPr>
        <p:txBody>
          <a:bodyPr/>
          <a:lstStyle/>
          <a:p>
            <a:endParaRPr lang="es-CO"/>
          </a:p>
        </p:txBody>
      </p:sp>
      <p:sp>
        <p:nvSpPr>
          <p:cNvPr id="9" name="Shape 7"/>
          <p:cNvSpPr/>
          <p:nvPr/>
        </p:nvSpPr>
        <p:spPr>
          <a:xfrm>
            <a:off x="804672" y="3694176"/>
            <a:ext cx="420624" cy="420624"/>
          </a:xfrm>
          <a:prstGeom prst="ellipse">
            <a:avLst/>
          </a:prstGeom>
          <a:solidFill>
            <a:srgbClr val="1C7293"/>
          </a:solidFill>
          <a:ln w="12700">
            <a:solidFill>
              <a:srgbClr val="1C7293"/>
            </a:solidFill>
            <a:prstDash val="solid"/>
          </a:ln>
        </p:spPr>
        <p:txBody>
          <a:bodyPr/>
          <a:lstStyle/>
          <a:p>
            <a:endParaRPr lang="es-CO"/>
          </a:p>
        </p:txBody>
      </p:sp>
      <p:sp>
        <p:nvSpPr>
          <p:cNvPr id="10" name="Text 8"/>
          <p:cNvSpPr/>
          <p:nvPr/>
        </p:nvSpPr>
        <p:spPr>
          <a:xfrm>
            <a:off x="804672" y="369417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p:nvPr/>
        </p:nvSpPr>
        <p:spPr>
          <a:xfrm>
            <a:off x="1389888" y="3575304"/>
            <a:ext cx="4480560" cy="274320"/>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A la izquierda va siempre un solo dato</a:t>
            </a:r>
            <a:endParaRPr lang="en-US" sz="1350" dirty="0"/>
          </a:p>
        </p:txBody>
      </p:sp>
      <p:sp>
        <p:nvSpPr>
          <p:cNvPr id="12" name="Text 10"/>
          <p:cNvSpPr/>
          <p:nvPr/>
        </p:nvSpPr>
        <p:spPr>
          <a:xfrm>
            <a:off x="1389888" y="3858768"/>
            <a:ext cx="4526280" cy="411480"/>
          </a:xfrm>
          <a:prstGeom prst="rect">
            <a:avLst/>
          </a:prstGeom>
          <a:noFill/>
          <a:ln/>
        </p:spPr>
        <p:txBody>
          <a:bodyPr wrap="square" lIns="0" tIns="0" rIns="0" bIns="0" rtlCol="0" anchor="t"/>
          <a:lstStyle/>
          <a:p>
            <a:pPr marL="0" indent="0">
              <a:lnSpc>
                <a:spcPts val="1500"/>
              </a:lnSpc>
              <a:buNone/>
            </a:pPr>
            <a:r>
              <a:rPr lang="en-US" sz="1200" dirty="0">
                <a:solidFill>
                  <a:srgbClr val="1A1A2E"/>
                </a:solidFill>
                <a:latin typeface="Calibri" pitchFamily="34" charset="0"/>
                <a:ea typeface="Calibri" pitchFamily="34" charset="-122"/>
                <a:cs typeface="Calibri" pitchFamily="34" charset="-120"/>
              </a:rPr>
              <a:t>Nunca un cálculo. La flecha apunta hacia donde se guarda.</a:t>
            </a:r>
            <a:endParaRPr lang="en-US" sz="1200" dirty="0"/>
          </a:p>
        </p:txBody>
      </p:sp>
      <p:sp>
        <p:nvSpPr>
          <p:cNvPr id="13" name="Shape 11"/>
          <p:cNvSpPr/>
          <p:nvPr/>
        </p:nvSpPr>
        <p:spPr>
          <a:xfrm>
            <a:off x="548640" y="4416552"/>
            <a:ext cx="5532120" cy="868680"/>
          </a:xfrm>
          <a:prstGeom prst="roundRect">
            <a:avLst>
              <a:gd name="adj" fmla="val 8421"/>
            </a:avLst>
          </a:prstGeom>
          <a:solidFill>
            <a:srgbClr val="F4F7FB"/>
          </a:solidFill>
          <a:ln w="12700">
            <a:solidFill>
              <a:srgbClr val="F4F7FB"/>
            </a:solidFill>
            <a:prstDash val="solid"/>
          </a:ln>
        </p:spPr>
        <p:txBody>
          <a:bodyPr/>
          <a:lstStyle/>
          <a:p>
            <a:endParaRPr lang="es-CO"/>
          </a:p>
        </p:txBody>
      </p:sp>
      <p:sp>
        <p:nvSpPr>
          <p:cNvPr id="14" name="Shape 12"/>
          <p:cNvSpPr/>
          <p:nvPr/>
        </p:nvSpPr>
        <p:spPr>
          <a:xfrm>
            <a:off x="804672" y="4636008"/>
            <a:ext cx="420624" cy="420624"/>
          </a:xfrm>
          <a:prstGeom prst="ellipse">
            <a:avLst/>
          </a:prstGeom>
          <a:solidFill>
            <a:srgbClr val="1C7293"/>
          </a:solidFill>
          <a:ln w="12700">
            <a:solidFill>
              <a:srgbClr val="1C7293"/>
            </a:solidFill>
            <a:prstDash val="solid"/>
          </a:ln>
        </p:spPr>
        <p:txBody>
          <a:bodyPr/>
          <a:lstStyle/>
          <a:p>
            <a:endParaRPr lang="es-CO"/>
          </a:p>
        </p:txBody>
      </p:sp>
      <p:sp>
        <p:nvSpPr>
          <p:cNvPr id="15" name="Text 13"/>
          <p:cNvSpPr/>
          <p:nvPr/>
        </p:nvSpPr>
        <p:spPr>
          <a:xfrm>
            <a:off x="804672" y="463600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p:nvPr/>
        </p:nvSpPr>
        <p:spPr>
          <a:xfrm>
            <a:off x="1389888" y="4517136"/>
            <a:ext cx="4480560" cy="274320"/>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A la derecha va una expresión</a:t>
            </a:r>
            <a:endParaRPr lang="en-US" sz="1350" dirty="0"/>
          </a:p>
        </p:txBody>
      </p:sp>
      <p:sp>
        <p:nvSpPr>
          <p:cNvPr id="17" name="Text 15"/>
          <p:cNvSpPr/>
          <p:nvPr/>
        </p:nvSpPr>
        <p:spPr>
          <a:xfrm>
            <a:off x="1389888" y="4800600"/>
            <a:ext cx="4526280" cy="411480"/>
          </a:xfrm>
          <a:prstGeom prst="rect">
            <a:avLst/>
          </a:prstGeom>
          <a:noFill/>
          <a:ln/>
        </p:spPr>
        <p:txBody>
          <a:bodyPr wrap="square" lIns="0" tIns="0" rIns="0" bIns="0" rtlCol="0" anchor="t"/>
          <a:lstStyle/>
          <a:p>
            <a:pPr marL="0" indent="0">
              <a:lnSpc>
                <a:spcPts val="1500"/>
              </a:lnSpc>
              <a:buNone/>
            </a:pPr>
            <a:r>
              <a:rPr lang="en-US" sz="1200" dirty="0">
                <a:solidFill>
                  <a:srgbClr val="1A1A2E"/>
                </a:solidFill>
                <a:latin typeface="Calibri" pitchFamily="34" charset="0"/>
                <a:ea typeface="Calibri" pitchFamily="34" charset="-122"/>
                <a:cs typeface="Calibri" pitchFamily="34" charset="-120"/>
              </a:rPr>
              <a:t>Puede tener números, otros datos y los operadores + − * /</a:t>
            </a:r>
            <a:endParaRPr lang="en-US" sz="1200" dirty="0"/>
          </a:p>
        </p:txBody>
      </p:sp>
      <p:sp>
        <p:nvSpPr>
          <p:cNvPr id="18" name="Shape 16"/>
          <p:cNvSpPr/>
          <p:nvPr/>
        </p:nvSpPr>
        <p:spPr>
          <a:xfrm>
            <a:off x="548640" y="5358384"/>
            <a:ext cx="5532120" cy="868680"/>
          </a:xfrm>
          <a:prstGeom prst="roundRect">
            <a:avLst>
              <a:gd name="adj" fmla="val 8421"/>
            </a:avLst>
          </a:prstGeom>
          <a:solidFill>
            <a:srgbClr val="F4F7FB"/>
          </a:solidFill>
          <a:ln w="12700">
            <a:solidFill>
              <a:srgbClr val="F4F7FB"/>
            </a:solidFill>
            <a:prstDash val="solid"/>
          </a:ln>
        </p:spPr>
        <p:txBody>
          <a:bodyPr/>
          <a:lstStyle/>
          <a:p>
            <a:endParaRPr lang="es-CO"/>
          </a:p>
        </p:txBody>
      </p:sp>
      <p:sp>
        <p:nvSpPr>
          <p:cNvPr id="19" name="Shape 17"/>
          <p:cNvSpPr/>
          <p:nvPr/>
        </p:nvSpPr>
        <p:spPr>
          <a:xfrm>
            <a:off x="804672" y="5577840"/>
            <a:ext cx="420624" cy="420624"/>
          </a:xfrm>
          <a:prstGeom prst="ellipse">
            <a:avLst/>
          </a:prstGeom>
          <a:solidFill>
            <a:srgbClr val="1C7293"/>
          </a:solidFill>
          <a:ln w="12700">
            <a:solidFill>
              <a:srgbClr val="1C7293"/>
            </a:solidFill>
            <a:prstDash val="solid"/>
          </a:ln>
        </p:spPr>
        <p:txBody>
          <a:bodyPr/>
          <a:lstStyle/>
          <a:p>
            <a:endParaRPr lang="es-CO"/>
          </a:p>
        </p:txBody>
      </p:sp>
      <p:sp>
        <p:nvSpPr>
          <p:cNvPr id="20" name="Text 18"/>
          <p:cNvSpPr/>
          <p:nvPr/>
        </p:nvSpPr>
        <p:spPr>
          <a:xfrm>
            <a:off x="804672" y="55778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1389888" y="5458968"/>
            <a:ext cx="4480560" cy="274320"/>
          </a:xfrm>
          <a:prstGeom prst="rect">
            <a:avLst/>
          </a:prstGeom>
          <a:noFill/>
          <a:ln/>
        </p:spPr>
        <p:txBody>
          <a:bodyPr wrap="square" lIns="0" tIns="0" rIns="0" bIns="0" rtlCol="0" anchor="ctr"/>
          <a:lstStyle/>
          <a:p>
            <a:pPr marL="0" indent="0">
              <a:buNone/>
            </a:pPr>
            <a:r>
              <a:rPr lang="en-US" sz="1350" b="1" dirty="0">
                <a:solidFill>
                  <a:srgbClr val="13294B"/>
                </a:solidFill>
                <a:latin typeface="Calibri" pitchFamily="34" charset="0"/>
                <a:ea typeface="Calibri" pitchFamily="34" charset="-122"/>
                <a:cs typeface="Calibri" pitchFamily="34" charset="-120"/>
              </a:rPr>
              <a:t>Primero se resuelve la derecha</a:t>
            </a:r>
            <a:endParaRPr lang="en-US" sz="1350" dirty="0"/>
          </a:p>
        </p:txBody>
      </p:sp>
      <p:sp>
        <p:nvSpPr>
          <p:cNvPr id="22" name="Text 20"/>
          <p:cNvSpPr/>
          <p:nvPr/>
        </p:nvSpPr>
        <p:spPr>
          <a:xfrm>
            <a:off x="1389888" y="5742432"/>
            <a:ext cx="4526280" cy="411480"/>
          </a:xfrm>
          <a:prstGeom prst="rect">
            <a:avLst/>
          </a:prstGeom>
          <a:noFill/>
          <a:ln/>
        </p:spPr>
        <p:txBody>
          <a:bodyPr wrap="square" lIns="0" tIns="0" rIns="0" bIns="0" rtlCol="0" anchor="t"/>
          <a:lstStyle/>
          <a:p>
            <a:pPr marL="0" indent="0">
              <a:lnSpc>
                <a:spcPts val="1500"/>
              </a:lnSpc>
              <a:buNone/>
            </a:pPr>
            <a:r>
              <a:rPr lang="en-US" sz="1200" dirty="0">
                <a:solidFill>
                  <a:srgbClr val="1A1A2E"/>
                </a:solidFill>
                <a:latin typeface="Calibri" pitchFamily="34" charset="0"/>
                <a:ea typeface="Calibri" pitchFamily="34" charset="-122"/>
                <a:cs typeface="Calibri" pitchFamily="34" charset="-120"/>
              </a:rPr>
              <a:t>El resultado se guarda después. Por eso los datos de la derecha ya deben tener valor.</a:t>
            </a:r>
            <a:endParaRPr lang="en-US" sz="1200" dirty="0"/>
          </a:p>
        </p:txBody>
      </p:sp>
      <p:graphicFrame>
        <p:nvGraphicFramePr>
          <p:cNvPr id="23" name="Table 0"/>
          <p:cNvGraphicFramePr>
            <a:graphicFrameLocks noGrp="1"/>
          </p:cNvGraphicFramePr>
          <p:nvPr/>
        </p:nvGraphicFramePr>
        <p:xfrm>
          <a:off x="6309360" y="2084832"/>
          <a:ext cx="5330952" cy="2834640"/>
        </p:xfrm>
        <a:graphic>
          <a:graphicData uri="http://schemas.openxmlformats.org/drawingml/2006/table">
            <a:tbl>
              <a:tblPr/>
              <a:tblGrid>
                <a:gridCol w="19202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581912">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Así sí</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Así no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Por qué</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731520">
                <a:tc>
                  <a:txBody>
                    <a:bodyPr/>
                    <a:lstStyle/>
                    <a:p>
                      <a:pPr marL="0" indent="0">
                        <a:buNone/>
                      </a:pPr>
                      <a:r>
                        <a:rPr lang="en-US" sz="1150" b="1" dirty="0">
                          <a:solidFill>
                            <a:srgbClr val="2F9E58"/>
                          </a:solidFill>
                          <a:latin typeface="Courier New" pitchFamily="34" charset="0"/>
                          <a:ea typeface="Courier New" pitchFamily="34" charset="-122"/>
                          <a:cs typeface="Courier New" pitchFamily="34" charset="-120"/>
                        </a:rPr>
                        <a:t>area ← base * altura</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D64545"/>
                          </a:solidFill>
                          <a:latin typeface="Courier New" pitchFamily="34" charset="0"/>
                          <a:ea typeface="Courier New" pitchFamily="34" charset="-122"/>
                          <a:cs typeface="Courier New" pitchFamily="34" charset="-120"/>
                        </a:rPr>
                        <a:t>base * altura ← area</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El resultado se guarda en un dato, no al revés.</a:t>
                      </a:r>
                      <a:endParaRPr lang="en-US" sz="11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150" b="1" dirty="0">
                          <a:solidFill>
                            <a:srgbClr val="2F9E58"/>
                          </a:solidFill>
                          <a:latin typeface="Courier New" pitchFamily="34" charset="0"/>
                          <a:ea typeface="Courier New" pitchFamily="34" charset="-122"/>
                          <a:cs typeface="Courier New" pitchFamily="34" charset="-120"/>
                        </a:rPr>
                        <a:t>promedio ←</a:t>
                      </a:r>
                      <a:endParaRPr lang="en-US" sz="1150" dirty="0">
                        <a:latin typeface="Courier New" charset="0"/>
                        <a:ea typeface="Courier New" charset="0"/>
                        <a:cs typeface="Courier New" charset="0"/>
                      </a:endParaRPr>
                    </a:p>
                    <a:p>
                      <a:pPr marL="0" indent="0">
                        <a:buNone/>
                      </a:pPr>
                      <a:r>
                        <a:rPr lang="en-US" sz="1150" b="1" dirty="0">
                          <a:solidFill>
                            <a:srgbClr val="2F9E58"/>
                          </a:solidFill>
                          <a:latin typeface="Courier New" pitchFamily="34" charset="0"/>
                          <a:ea typeface="Courier New" pitchFamily="34" charset="-122"/>
                          <a:cs typeface="Courier New" pitchFamily="34" charset="-120"/>
                        </a:rPr>
                        <a:t>(a + b + c) / 3</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D64545"/>
                          </a:solidFill>
                          <a:latin typeface="Courier New" pitchFamily="34" charset="0"/>
                          <a:ea typeface="Courier New" pitchFamily="34" charset="-122"/>
                          <a:cs typeface="Courier New" pitchFamily="34" charset="-120"/>
                        </a:rPr>
                        <a:t>promedio ←</a:t>
                      </a:r>
                      <a:endParaRPr lang="en-US" sz="1150" dirty="0">
                        <a:latin typeface="Courier New" charset="0"/>
                        <a:ea typeface="Courier New" charset="0"/>
                        <a:cs typeface="Courier New" charset="0"/>
                      </a:endParaRPr>
                    </a:p>
                    <a:p>
                      <a:pPr marL="0" indent="0">
                        <a:buNone/>
                      </a:pPr>
                      <a:r>
                        <a:rPr lang="en-US" sz="1150" b="1" dirty="0">
                          <a:solidFill>
                            <a:srgbClr val="D64545"/>
                          </a:solidFill>
                          <a:latin typeface="Courier New" pitchFamily="34" charset="0"/>
                          <a:ea typeface="Courier New" pitchFamily="34" charset="-122"/>
                          <a:cs typeface="Courier New" pitchFamily="34" charset="-120"/>
                        </a:rPr>
                        <a:t>a + b + c / 3</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Sin paréntesis solo se divide la última.</a:t>
                      </a:r>
                      <a:endParaRPr lang="en-US" sz="11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buNone/>
                      </a:pPr>
                      <a:r>
                        <a:rPr lang="en-US" sz="1150" b="1" dirty="0">
                          <a:solidFill>
                            <a:srgbClr val="2F9E58"/>
                          </a:solidFill>
                          <a:latin typeface="Courier New" pitchFamily="34" charset="0"/>
                          <a:ea typeface="Courier New" pitchFamily="34" charset="-122"/>
                          <a:cs typeface="Courier New" pitchFamily="34" charset="-120"/>
                        </a:rPr>
                        <a:t>total ← total + iva</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D64545"/>
                          </a:solidFill>
                          <a:latin typeface="Courier New" pitchFamily="34" charset="0"/>
                          <a:ea typeface="Courier New" pitchFamily="34" charset="-122"/>
                          <a:cs typeface="Courier New" pitchFamily="34" charset="-120"/>
                        </a:rPr>
                        <a:t>total ←</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00" dirty="0">
                          <a:solidFill>
                            <a:srgbClr val="1A1A2E"/>
                          </a:solidFill>
                          <a:latin typeface="Calibri" pitchFamily="34" charset="0"/>
                          <a:ea typeface="Calibri" pitchFamily="34" charset="-122"/>
                          <a:cs typeface="Calibri" pitchFamily="34" charset="-120"/>
                        </a:rPr>
                        <a:t>Un dato puede estar en los dos lados, pero la derecha nunca queda vacía.</a:t>
                      </a:r>
                      <a:endParaRPr lang="en-US" sz="11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4" name="Shape 21"/>
          <p:cNvSpPr/>
          <p:nvPr/>
        </p:nvSpPr>
        <p:spPr>
          <a:xfrm>
            <a:off x="6309360" y="5074920"/>
            <a:ext cx="5330952" cy="1143000"/>
          </a:xfrm>
          <a:prstGeom prst="roundRect">
            <a:avLst>
              <a:gd name="adj" fmla="val 6400"/>
            </a:avLst>
          </a:prstGeom>
          <a:solidFill>
            <a:srgbClr val="FFF4DE"/>
          </a:solidFill>
          <a:ln w="12700">
            <a:solidFill>
              <a:srgbClr val="FFF4DE"/>
            </a:solidFill>
            <a:prstDash val="solid"/>
          </a:ln>
        </p:spPr>
        <p:txBody>
          <a:bodyPr/>
          <a:lstStyle/>
          <a:p>
            <a:endParaRPr lang="es-CO"/>
          </a:p>
        </p:txBody>
      </p:sp>
      <p:sp>
        <p:nvSpPr>
          <p:cNvPr id="25" name="Text 22"/>
          <p:cNvSpPr/>
          <p:nvPr/>
        </p:nvSpPr>
        <p:spPr>
          <a:xfrm>
            <a:off x="6583680" y="5193792"/>
            <a:ext cx="4800600" cy="914400"/>
          </a:xfrm>
          <a:prstGeom prst="rect">
            <a:avLst/>
          </a:prstGeom>
          <a:noFill/>
          <a:ln/>
        </p:spPr>
        <p:txBody>
          <a:bodyPr wrap="square" lIns="0" tIns="0" rIns="0" bIns="0" rtlCol="0" anchor="t"/>
          <a:lstStyle/>
          <a:p>
            <a:pPr marL="0" indent="0">
              <a:lnSpc>
                <a:spcPts val="1700"/>
              </a:lnSpc>
              <a:buNone/>
            </a:pPr>
            <a:r>
              <a:rPr lang="en-US" sz="1100" b="1" kern="0" spc="120" dirty="0">
                <a:solidFill>
                  <a:srgbClr val="B07800"/>
                </a:solidFill>
                <a:latin typeface="Calibri" pitchFamily="34" charset="0"/>
                <a:ea typeface="Calibri" pitchFamily="34" charset="-122"/>
                <a:cs typeface="Calibri" pitchFamily="34" charset="-120"/>
              </a:rPr>
              <a:t>SOBRE LA TERCERA FILA
</a:t>
            </a:r>
            <a:endParaRPr lang="en-US" sz="1100" dirty="0"/>
          </a:p>
          <a:p>
            <a:pPr marL="0" indent="0">
              <a:lnSpc>
                <a:spcPts val="1700"/>
              </a:lnSpc>
              <a:buNone/>
            </a:pPr>
            <a:r>
              <a:rPr lang="en-US" sz="1250" b="1" dirty="0">
                <a:solidFill>
                  <a:srgbClr val="13294B"/>
                </a:solidFill>
                <a:latin typeface="Courier New" pitchFamily="34" charset="0"/>
                <a:ea typeface="Courier New" pitchFamily="34" charset="-122"/>
                <a:cs typeface="Courier New" pitchFamily="34" charset="-120"/>
              </a:rPr>
              <a:t>total ← total + iva</a:t>
            </a:r>
            <a:r>
              <a:rPr lang="en-US" sz="1250" dirty="0">
                <a:solidFill>
                  <a:srgbClr val="1A1A2E"/>
                </a:solidFill>
                <a:latin typeface="Calibri" pitchFamily="34" charset="0"/>
                <a:ea typeface="Calibri" pitchFamily="34" charset="-122"/>
                <a:cs typeface="Calibri" pitchFamily="34" charset="-120"/>
              </a:rPr>
              <a:t> no es una ecuación imposible: se calcula el total actual más el iva, y ese resultado reemplaza al total anterior.</a:t>
            </a:r>
            <a:endParaRPr lang="en-US" sz="1100" dirty="0"/>
          </a:p>
        </p:txBody>
      </p:sp>
      <p:sp>
        <p:nvSpPr>
          <p:cNvPr id="26" name="Text 23"/>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11</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4"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PSEUDOCÓDIGO · ENTRADA Y SALIDA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Leer y Escribir: dos detalles que cambian todo</a:t>
            </a:r>
            <a:endParaRPr lang="en-US" sz="2900" dirty="0"/>
          </a:p>
        </p:txBody>
      </p:sp>
      <p:sp>
        <p:nvSpPr>
          <p:cNvPr id="4" name="Shape 2"/>
          <p:cNvSpPr/>
          <p:nvPr/>
        </p:nvSpPr>
        <p:spPr>
          <a:xfrm>
            <a:off x="548640" y="1572768"/>
            <a:ext cx="5349240" cy="2240280"/>
          </a:xfrm>
          <a:prstGeom prst="roundRect">
            <a:avLst>
              <a:gd name="adj" fmla="val 3265"/>
            </a:avLst>
          </a:prstGeom>
          <a:solidFill>
            <a:srgbClr val="F4F7FB"/>
          </a:solidFill>
          <a:ln w="12700">
            <a:solidFill>
              <a:srgbClr val="F4F7FB"/>
            </a:solidFill>
            <a:prstDash val="solid"/>
          </a:ln>
        </p:spPr>
        <p:txBody>
          <a:bodyPr/>
          <a:lstStyle/>
          <a:p>
            <a:endParaRPr lang="es-CO"/>
          </a:p>
        </p:txBody>
      </p:sp>
      <p:sp>
        <p:nvSpPr>
          <p:cNvPr id="5" name="Text 3"/>
          <p:cNvSpPr/>
          <p:nvPr/>
        </p:nvSpPr>
        <p:spPr>
          <a:xfrm>
            <a:off x="822960" y="1737360"/>
            <a:ext cx="4800600" cy="274320"/>
          </a:xfrm>
          <a:prstGeom prst="rect">
            <a:avLst/>
          </a:prstGeom>
          <a:noFill/>
          <a:ln/>
        </p:spPr>
        <p:txBody>
          <a:bodyPr wrap="square" lIns="0" tIns="0" rIns="0" bIns="0" rtlCol="0" anchor="ctr"/>
          <a:lstStyle/>
          <a:p>
            <a:pPr marL="0" indent="0">
              <a:buNone/>
            </a:pPr>
            <a:r>
              <a:rPr lang="en-US" sz="1250" b="1" kern="0" spc="80" dirty="0">
                <a:solidFill>
                  <a:srgbClr val="1C7293"/>
                </a:solidFill>
                <a:latin typeface="Calibri" pitchFamily="34" charset="0"/>
                <a:ea typeface="Calibri" pitchFamily="34" charset="-122"/>
                <a:cs typeface="Calibri" pitchFamily="34" charset="-120"/>
              </a:rPr>
              <a:t>LEER · recibe datos</a:t>
            </a:r>
            <a:endParaRPr lang="en-US" sz="1250" dirty="0"/>
          </a:p>
        </p:txBody>
      </p:sp>
      <p:sp>
        <p:nvSpPr>
          <p:cNvPr id="6" name="Text 4"/>
          <p:cNvSpPr/>
          <p:nvPr/>
        </p:nvSpPr>
        <p:spPr>
          <a:xfrm>
            <a:off x="822960" y="2048256"/>
            <a:ext cx="4800600" cy="548640"/>
          </a:xfrm>
          <a:prstGeom prst="rect">
            <a:avLst/>
          </a:prstGeom>
          <a:noFill/>
          <a:ln/>
        </p:spPr>
        <p:txBody>
          <a:bodyPr wrap="square" lIns="0" tIns="0" rIns="0" bIns="0" rtlCol="0" anchor="t"/>
          <a:lstStyle/>
          <a:p>
            <a:pPr marL="0" indent="0">
              <a:lnSpc>
                <a:spcPts val="1700"/>
              </a:lnSpc>
              <a:buNone/>
            </a:pPr>
            <a:r>
              <a:rPr lang="en-US" sz="1300" dirty="0">
                <a:solidFill>
                  <a:srgbClr val="1A1A2E"/>
                </a:solidFill>
                <a:latin typeface="Calibri" pitchFamily="34" charset="0"/>
                <a:ea typeface="Calibri" pitchFamily="34" charset="-122"/>
                <a:cs typeface="Calibri" pitchFamily="34" charset="-120"/>
              </a:rPr>
              <a:t>Después de Leer solo van nombres de datos, separados por coma. Nunca un cálculo ni un texto.</a:t>
            </a:r>
            <a:endParaRPr lang="en-US" sz="1300" dirty="0"/>
          </a:p>
        </p:txBody>
      </p:sp>
      <p:sp>
        <p:nvSpPr>
          <p:cNvPr id="7" name="Shape 5"/>
          <p:cNvSpPr/>
          <p:nvPr/>
        </p:nvSpPr>
        <p:spPr>
          <a:xfrm>
            <a:off x="822960" y="2670048"/>
            <a:ext cx="4800600" cy="960120"/>
          </a:xfrm>
          <a:prstGeom prst="roundRect">
            <a:avLst>
              <a:gd name="adj" fmla="val 7619"/>
            </a:avLst>
          </a:prstGeom>
          <a:solidFill>
            <a:srgbClr val="E8EEF4"/>
          </a:solidFill>
          <a:ln w="12700">
            <a:solidFill>
              <a:srgbClr val="E8EEF4"/>
            </a:solidFill>
            <a:prstDash val="solid"/>
          </a:ln>
        </p:spPr>
        <p:txBody>
          <a:bodyPr/>
          <a:lstStyle/>
          <a:p>
            <a:endParaRPr lang="es-CO"/>
          </a:p>
        </p:txBody>
      </p:sp>
      <p:sp>
        <p:nvSpPr>
          <p:cNvPr id="8" name="Text 6"/>
          <p:cNvSpPr/>
          <p:nvPr/>
        </p:nvSpPr>
        <p:spPr>
          <a:xfrm>
            <a:off x="1115568" y="2871216"/>
            <a:ext cx="4215384" cy="557784"/>
          </a:xfrm>
          <a:prstGeom prst="rect">
            <a:avLst/>
          </a:prstGeom>
          <a:noFill/>
          <a:ln/>
        </p:spPr>
        <p:txBody>
          <a:bodyPr wrap="square" lIns="0" tIns="0" rIns="0" bIns="0" rtlCol="0" anchor="t"/>
          <a:lstStyle/>
          <a:p>
            <a:pPr marL="0" indent="0">
              <a:lnSpc>
                <a:spcPts val="2080"/>
              </a:lnSpc>
              <a:buNone/>
            </a:pPr>
            <a:r>
              <a:rPr lang="en-US" sz="1300" b="1" dirty="0">
                <a:solidFill>
                  <a:srgbClr val="13294B"/>
                </a:solidFill>
                <a:latin typeface="Courier New" pitchFamily="34" charset="0"/>
                <a:ea typeface="Courier New" pitchFamily="34" charset="-122"/>
                <a:cs typeface="Courier New" pitchFamily="34" charset="-120"/>
              </a:rPr>
              <a:t>Leer base, altura</a:t>
            </a:r>
            <a:endParaRPr lang="en-US" sz="1300" dirty="0"/>
          </a:p>
          <a:p>
            <a:pPr marL="0" indent="0">
              <a:lnSpc>
                <a:spcPts val="2080"/>
              </a:lnSpc>
              <a:buNone/>
            </a:pPr>
            <a:r>
              <a:rPr lang="en-US" sz="1300" b="1" dirty="0">
                <a:solidFill>
                  <a:srgbClr val="13294B"/>
                </a:solidFill>
                <a:latin typeface="Courier New" pitchFamily="34" charset="0"/>
                <a:ea typeface="Courier New" pitchFamily="34" charset="-122"/>
                <a:cs typeface="Courier New" pitchFamily="34" charset="-120"/>
              </a:rPr>
              <a:t>Leer base * 2</a:t>
            </a:r>
            <a:endParaRPr lang="en-US" sz="1300" dirty="0"/>
          </a:p>
        </p:txBody>
      </p:sp>
      <p:sp>
        <p:nvSpPr>
          <p:cNvPr id="9" name="Text 7"/>
          <p:cNvSpPr/>
          <p:nvPr/>
        </p:nvSpPr>
        <p:spPr>
          <a:xfrm>
            <a:off x="5074920" y="2761488"/>
            <a:ext cx="365760" cy="274320"/>
          </a:xfrm>
          <a:prstGeom prst="rect">
            <a:avLst/>
          </a:prstGeom>
          <a:noFill/>
          <a:ln/>
        </p:spPr>
        <p:txBody>
          <a:bodyPr wrap="square" lIns="0" tIns="0" rIns="0" bIns="0" rtlCol="0" anchor="ctr"/>
          <a:lstStyle/>
          <a:p>
            <a:pPr marL="0" indent="0" algn="ctr">
              <a:buNone/>
            </a:pPr>
            <a:r>
              <a:rPr lang="en-US" sz="1500" b="1" dirty="0">
                <a:solidFill>
                  <a:srgbClr val="2F9E58"/>
                </a:solidFill>
                <a:latin typeface="Calibri" pitchFamily="34" charset="0"/>
                <a:ea typeface="Calibri" pitchFamily="34" charset="-122"/>
                <a:cs typeface="Calibri" pitchFamily="34" charset="-120"/>
              </a:rPr>
              <a:t>✓</a:t>
            </a:r>
            <a:endParaRPr lang="en-US" sz="1500" dirty="0"/>
          </a:p>
        </p:txBody>
      </p:sp>
      <p:sp>
        <p:nvSpPr>
          <p:cNvPr id="10" name="Text 8"/>
          <p:cNvSpPr/>
          <p:nvPr/>
        </p:nvSpPr>
        <p:spPr>
          <a:xfrm>
            <a:off x="5074920" y="3072384"/>
            <a:ext cx="365760" cy="274320"/>
          </a:xfrm>
          <a:prstGeom prst="rect">
            <a:avLst/>
          </a:prstGeom>
          <a:noFill/>
          <a:ln/>
        </p:spPr>
        <p:txBody>
          <a:bodyPr wrap="square" lIns="0" tIns="0" rIns="0" bIns="0" rtlCol="0" anchor="ctr"/>
          <a:lstStyle/>
          <a:p>
            <a:pPr marL="0" indent="0" algn="ctr">
              <a:buNone/>
            </a:pPr>
            <a:r>
              <a:rPr lang="en-US" sz="1500" b="1" dirty="0">
                <a:solidFill>
                  <a:srgbClr val="D64545"/>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6291072" y="1572768"/>
            <a:ext cx="5349240" cy="2240280"/>
          </a:xfrm>
          <a:prstGeom prst="roundRect">
            <a:avLst>
              <a:gd name="adj" fmla="val 3265"/>
            </a:avLst>
          </a:prstGeom>
          <a:solidFill>
            <a:srgbClr val="F4F7FB"/>
          </a:solidFill>
          <a:ln w="12700">
            <a:solidFill>
              <a:srgbClr val="F4F7FB"/>
            </a:solidFill>
            <a:prstDash val="solid"/>
          </a:ln>
        </p:spPr>
        <p:txBody>
          <a:bodyPr/>
          <a:lstStyle/>
          <a:p>
            <a:endParaRPr lang="es-CO"/>
          </a:p>
        </p:txBody>
      </p:sp>
      <p:sp>
        <p:nvSpPr>
          <p:cNvPr id="12" name="Text 10"/>
          <p:cNvSpPr/>
          <p:nvPr/>
        </p:nvSpPr>
        <p:spPr>
          <a:xfrm>
            <a:off x="6565392" y="1737360"/>
            <a:ext cx="4800600" cy="274320"/>
          </a:xfrm>
          <a:prstGeom prst="rect">
            <a:avLst/>
          </a:prstGeom>
          <a:noFill/>
          <a:ln/>
        </p:spPr>
        <p:txBody>
          <a:bodyPr wrap="square" lIns="0" tIns="0" rIns="0" bIns="0" rtlCol="0" anchor="ctr"/>
          <a:lstStyle/>
          <a:p>
            <a:pPr marL="0" indent="0">
              <a:buNone/>
            </a:pPr>
            <a:r>
              <a:rPr lang="en-US" sz="1250" b="1" kern="0" spc="80" dirty="0">
                <a:solidFill>
                  <a:srgbClr val="2F9E58"/>
                </a:solidFill>
                <a:latin typeface="Calibri" pitchFamily="34" charset="0"/>
                <a:ea typeface="Calibri" pitchFamily="34" charset="-122"/>
                <a:cs typeface="Calibri" pitchFamily="34" charset="-120"/>
              </a:rPr>
              <a:t>ESCRIBIR · comunica resultados</a:t>
            </a:r>
            <a:endParaRPr lang="en-US" sz="1250" dirty="0"/>
          </a:p>
        </p:txBody>
      </p:sp>
      <p:sp>
        <p:nvSpPr>
          <p:cNvPr id="13" name="Text 11"/>
          <p:cNvSpPr/>
          <p:nvPr/>
        </p:nvSpPr>
        <p:spPr>
          <a:xfrm>
            <a:off x="6565392" y="2048256"/>
            <a:ext cx="4800600" cy="548640"/>
          </a:xfrm>
          <a:prstGeom prst="rect">
            <a:avLst/>
          </a:prstGeom>
          <a:noFill/>
          <a:ln/>
        </p:spPr>
        <p:txBody>
          <a:bodyPr wrap="square" lIns="0" tIns="0" rIns="0" bIns="0" rtlCol="0" anchor="t"/>
          <a:lstStyle/>
          <a:p>
            <a:pPr marL="0" indent="0">
              <a:lnSpc>
                <a:spcPts val="1700"/>
              </a:lnSpc>
              <a:buNone/>
            </a:pPr>
            <a:r>
              <a:rPr lang="en-US" sz="1300" dirty="0">
                <a:solidFill>
                  <a:srgbClr val="1A1A2E"/>
                </a:solidFill>
                <a:latin typeface="Calibri" pitchFamily="34" charset="0"/>
                <a:ea typeface="Calibri" pitchFamily="34" charset="-122"/>
                <a:cs typeface="Calibri" pitchFamily="34" charset="-120"/>
              </a:rPr>
              <a:t>El texto va entre comillas y los datos van sin comillas. Se separan con coma y se pueden combinar.</a:t>
            </a:r>
            <a:endParaRPr lang="en-US" sz="1300" dirty="0"/>
          </a:p>
        </p:txBody>
      </p:sp>
      <p:sp>
        <p:nvSpPr>
          <p:cNvPr id="14" name="Shape 12"/>
          <p:cNvSpPr/>
          <p:nvPr/>
        </p:nvSpPr>
        <p:spPr>
          <a:xfrm>
            <a:off x="6565392" y="2670048"/>
            <a:ext cx="4800600" cy="960120"/>
          </a:xfrm>
          <a:prstGeom prst="roundRect">
            <a:avLst>
              <a:gd name="adj" fmla="val 7619"/>
            </a:avLst>
          </a:prstGeom>
          <a:solidFill>
            <a:srgbClr val="E8EEF4"/>
          </a:solidFill>
          <a:ln w="12700">
            <a:solidFill>
              <a:srgbClr val="E8EEF4"/>
            </a:solidFill>
            <a:prstDash val="solid"/>
          </a:ln>
        </p:spPr>
        <p:txBody>
          <a:bodyPr/>
          <a:lstStyle/>
          <a:p>
            <a:endParaRPr lang="es-CO"/>
          </a:p>
        </p:txBody>
      </p:sp>
      <p:sp>
        <p:nvSpPr>
          <p:cNvPr id="15" name="Text 13"/>
          <p:cNvSpPr/>
          <p:nvPr/>
        </p:nvSpPr>
        <p:spPr>
          <a:xfrm>
            <a:off x="6858000" y="2871216"/>
            <a:ext cx="4215384" cy="557784"/>
          </a:xfrm>
          <a:prstGeom prst="rect">
            <a:avLst/>
          </a:prstGeom>
          <a:noFill/>
          <a:ln/>
        </p:spPr>
        <p:txBody>
          <a:bodyPr wrap="square" lIns="0" tIns="0" rIns="0" bIns="0" rtlCol="0" anchor="t"/>
          <a:lstStyle/>
          <a:p>
            <a:pPr marL="0" indent="0">
              <a:lnSpc>
                <a:spcPts val="1920"/>
              </a:lnSpc>
              <a:buNone/>
            </a:pPr>
            <a:r>
              <a:rPr lang="en-US" sz="1200" b="1" dirty="0">
                <a:solidFill>
                  <a:srgbClr val="13294B"/>
                </a:solidFill>
                <a:latin typeface="Courier New" pitchFamily="34" charset="0"/>
                <a:ea typeface="Courier New" pitchFamily="34" charset="-122"/>
                <a:cs typeface="Courier New" pitchFamily="34" charset="-120"/>
              </a:rPr>
              <a:t>Escribir "El área es: ", area</a:t>
            </a:r>
            <a:endParaRPr lang="en-US" sz="1200" dirty="0"/>
          </a:p>
          <a:p>
            <a:pPr marL="0" indent="0">
              <a:lnSpc>
                <a:spcPts val="1920"/>
              </a:lnSpc>
              <a:buNone/>
            </a:pPr>
            <a:r>
              <a:rPr lang="en-US" sz="1200" b="1" dirty="0">
                <a:solidFill>
                  <a:srgbClr val="13294B"/>
                </a:solidFill>
                <a:latin typeface="Courier New" pitchFamily="34" charset="0"/>
                <a:ea typeface="Courier New" pitchFamily="34" charset="-122"/>
                <a:cs typeface="Courier New" pitchFamily="34" charset="-120"/>
              </a:rPr>
              <a:t>Escribir El área es area</a:t>
            </a:r>
            <a:endParaRPr lang="en-US" sz="1200" dirty="0"/>
          </a:p>
        </p:txBody>
      </p:sp>
      <p:sp>
        <p:nvSpPr>
          <p:cNvPr id="16" name="Text 14"/>
          <p:cNvSpPr/>
          <p:nvPr/>
        </p:nvSpPr>
        <p:spPr>
          <a:xfrm>
            <a:off x="10817352" y="2761488"/>
            <a:ext cx="365760" cy="274320"/>
          </a:xfrm>
          <a:prstGeom prst="rect">
            <a:avLst/>
          </a:prstGeom>
          <a:noFill/>
          <a:ln/>
        </p:spPr>
        <p:txBody>
          <a:bodyPr wrap="square" lIns="0" tIns="0" rIns="0" bIns="0" rtlCol="0" anchor="ctr"/>
          <a:lstStyle/>
          <a:p>
            <a:pPr marL="0" indent="0" algn="ctr">
              <a:buNone/>
            </a:pPr>
            <a:r>
              <a:rPr lang="en-US" sz="1500" b="1" dirty="0">
                <a:solidFill>
                  <a:srgbClr val="2F9E58"/>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0817352" y="3072384"/>
            <a:ext cx="365760" cy="274320"/>
          </a:xfrm>
          <a:prstGeom prst="rect">
            <a:avLst/>
          </a:prstGeom>
          <a:noFill/>
          <a:ln/>
        </p:spPr>
        <p:txBody>
          <a:bodyPr wrap="square" lIns="0" tIns="0" rIns="0" bIns="0" rtlCol="0" anchor="ctr"/>
          <a:lstStyle/>
          <a:p>
            <a:pPr marL="0" indent="0" algn="ctr">
              <a:buNone/>
            </a:pPr>
            <a:r>
              <a:rPr lang="en-US" sz="1500" b="1" dirty="0">
                <a:solidFill>
                  <a:srgbClr val="D64545"/>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548640" y="3950208"/>
            <a:ext cx="11091672" cy="1828800"/>
          </a:xfrm>
          <a:prstGeom prst="roundRect">
            <a:avLst>
              <a:gd name="adj" fmla="val 4000"/>
            </a:avLst>
          </a:prstGeom>
          <a:solidFill>
            <a:srgbClr val="E8EEF4"/>
          </a:solidFill>
          <a:ln w="12700">
            <a:solidFill>
              <a:srgbClr val="E8EEF4"/>
            </a:solidFill>
            <a:prstDash val="solid"/>
          </a:ln>
        </p:spPr>
        <p:txBody>
          <a:bodyPr/>
          <a:lstStyle/>
          <a:p>
            <a:endParaRPr lang="es-CO"/>
          </a:p>
        </p:txBody>
      </p:sp>
      <p:sp>
        <p:nvSpPr>
          <p:cNvPr id="19" name="Text 17"/>
          <p:cNvSpPr/>
          <p:nvPr/>
        </p:nvSpPr>
        <p:spPr>
          <a:xfrm>
            <a:off x="868680" y="4078224"/>
            <a:ext cx="10058400" cy="256032"/>
          </a:xfrm>
          <a:prstGeom prst="rect">
            <a:avLst/>
          </a:prstGeom>
          <a:noFill/>
          <a:ln/>
        </p:spPr>
        <p:txBody>
          <a:bodyPr wrap="square" lIns="0" tIns="0" rIns="0" bIns="0" rtlCol="0" anchor="ctr"/>
          <a:lstStyle/>
          <a:p>
            <a:pPr marL="0" indent="0">
              <a:buNone/>
            </a:pPr>
            <a:r>
              <a:rPr lang="en-US" sz="1100" b="1" kern="0" spc="120" dirty="0">
                <a:solidFill>
                  <a:srgbClr val="D64545"/>
                </a:solidFill>
                <a:latin typeface="Calibri" pitchFamily="34" charset="0"/>
                <a:ea typeface="Calibri" pitchFamily="34" charset="-122"/>
                <a:cs typeface="Calibri" pitchFamily="34" charset="-120"/>
              </a:rPr>
              <a:t>EL DETALLE QUE MÁS SE EQUIVOCA: LAS COMILLAS</a:t>
            </a:r>
            <a:endParaRPr lang="en-US" sz="1100" dirty="0"/>
          </a:p>
        </p:txBody>
      </p:sp>
      <p:sp>
        <p:nvSpPr>
          <p:cNvPr id="20" name="Text 18"/>
          <p:cNvSpPr/>
          <p:nvPr/>
        </p:nvSpPr>
        <p:spPr>
          <a:xfrm>
            <a:off x="868680" y="4352544"/>
            <a:ext cx="10058400" cy="274320"/>
          </a:xfrm>
          <a:prstGeom prst="rect">
            <a:avLst/>
          </a:prstGeom>
          <a:noFill/>
          <a:ln/>
        </p:spPr>
        <p:txBody>
          <a:bodyPr wrap="square" lIns="0" tIns="0" rIns="0" bIns="0" rtlCol="0" anchor="ctr"/>
          <a:lstStyle/>
          <a:p>
            <a:pPr marL="0" indent="0">
              <a:buNone/>
            </a:pPr>
            <a:r>
              <a:rPr lang="en-US" sz="1250" i="1" dirty="0">
                <a:solidFill>
                  <a:srgbClr val="5B6B7C"/>
                </a:solidFill>
                <a:latin typeface="Calibri" pitchFamily="34" charset="0"/>
                <a:ea typeface="Calibri" pitchFamily="34" charset="-122"/>
                <a:cs typeface="Calibri" pitchFamily="34" charset="-120"/>
              </a:rPr>
              <a:t>Supón que area vale 15. Las comillas deciden si se imprime la palabra o el valor guardado.</a:t>
            </a:r>
            <a:endParaRPr lang="en-US" sz="1250" dirty="0"/>
          </a:p>
        </p:txBody>
      </p:sp>
      <p:sp>
        <p:nvSpPr>
          <p:cNvPr id="21" name="Text 19"/>
          <p:cNvSpPr/>
          <p:nvPr/>
        </p:nvSpPr>
        <p:spPr>
          <a:xfrm>
            <a:off x="1005840" y="4736592"/>
            <a:ext cx="3108960" cy="310896"/>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Escribir area</a:t>
            </a:r>
            <a:endParaRPr lang="en-US" sz="1300" dirty="0"/>
          </a:p>
        </p:txBody>
      </p:sp>
      <p:sp>
        <p:nvSpPr>
          <p:cNvPr id="22" name="Text 20"/>
          <p:cNvSpPr/>
          <p:nvPr/>
        </p:nvSpPr>
        <p:spPr>
          <a:xfrm>
            <a:off x="4160520" y="4736592"/>
            <a:ext cx="822960" cy="310896"/>
          </a:xfrm>
          <a:prstGeom prst="rect">
            <a:avLst/>
          </a:prstGeom>
          <a:noFill/>
          <a:ln/>
        </p:spPr>
        <p:txBody>
          <a:bodyPr wrap="square" lIns="0" tIns="0" rIns="0" bIns="0" rtlCol="0" anchor="ctr"/>
          <a:lstStyle/>
          <a:p>
            <a:pPr marL="0" indent="0" algn="ctr">
              <a:buNone/>
            </a:pPr>
            <a:r>
              <a:rPr lang="en-US" sz="1100" i="1" dirty="0">
                <a:solidFill>
                  <a:srgbClr val="5B6B7C"/>
                </a:solidFill>
                <a:latin typeface="Calibri" pitchFamily="34" charset="0"/>
                <a:ea typeface="Calibri" pitchFamily="34" charset="-122"/>
                <a:cs typeface="Calibri" pitchFamily="34" charset="-120"/>
              </a:rPr>
              <a:t>imprime</a:t>
            </a:r>
            <a:endParaRPr lang="en-US" sz="1100" dirty="0"/>
          </a:p>
        </p:txBody>
      </p:sp>
      <p:sp>
        <p:nvSpPr>
          <p:cNvPr id="23" name="Shape 21"/>
          <p:cNvSpPr/>
          <p:nvPr/>
        </p:nvSpPr>
        <p:spPr>
          <a:xfrm>
            <a:off x="5029200" y="4754880"/>
            <a:ext cx="1828800" cy="274320"/>
          </a:xfrm>
          <a:prstGeom prst="roundRect">
            <a:avLst>
              <a:gd name="adj" fmla="val 16667"/>
            </a:avLst>
          </a:prstGeom>
          <a:solidFill>
            <a:srgbClr val="FFFFFF"/>
          </a:solidFill>
          <a:ln w="12700">
            <a:solidFill>
              <a:srgbClr val="D5DFEA"/>
            </a:solidFill>
            <a:prstDash val="solid"/>
          </a:ln>
        </p:spPr>
        <p:txBody>
          <a:bodyPr/>
          <a:lstStyle/>
          <a:p>
            <a:endParaRPr lang="es-CO"/>
          </a:p>
        </p:txBody>
      </p:sp>
      <p:sp>
        <p:nvSpPr>
          <p:cNvPr id="24" name="Text 22"/>
          <p:cNvSpPr/>
          <p:nvPr/>
        </p:nvSpPr>
        <p:spPr>
          <a:xfrm>
            <a:off x="5029200" y="4754880"/>
            <a:ext cx="1828800" cy="274320"/>
          </a:xfrm>
          <a:prstGeom prst="rect">
            <a:avLst/>
          </a:prstGeom>
          <a:noFill/>
          <a:ln/>
        </p:spPr>
        <p:txBody>
          <a:bodyPr wrap="square" lIns="0" tIns="0" rIns="0" bIns="0" rtlCol="0" anchor="ctr"/>
          <a:lstStyle/>
          <a:p>
            <a:pPr marL="0" indent="0" algn="ctr">
              <a:buNone/>
            </a:pPr>
            <a:r>
              <a:rPr lang="en-US" sz="1200" b="1" dirty="0">
                <a:solidFill>
                  <a:srgbClr val="2F9E58"/>
                </a:solidFill>
                <a:latin typeface="Courier New" pitchFamily="34" charset="0"/>
                <a:ea typeface="Courier New" pitchFamily="34" charset="-122"/>
                <a:cs typeface="Courier New" pitchFamily="34" charset="-120"/>
              </a:rPr>
              <a:t>15</a:t>
            </a:r>
            <a:endParaRPr lang="en-US" sz="1200" dirty="0"/>
          </a:p>
        </p:txBody>
      </p:sp>
      <p:sp>
        <p:nvSpPr>
          <p:cNvPr id="25" name="Text 23"/>
          <p:cNvSpPr/>
          <p:nvPr/>
        </p:nvSpPr>
        <p:spPr>
          <a:xfrm>
            <a:off x="7040880" y="4736592"/>
            <a:ext cx="4114800" cy="310896"/>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Sin comillas: se imprime el valor guardado.</a:t>
            </a:r>
            <a:endParaRPr lang="en-US" sz="1200" dirty="0"/>
          </a:p>
        </p:txBody>
      </p:sp>
      <p:sp>
        <p:nvSpPr>
          <p:cNvPr id="26" name="Text 24"/>
          <p:cNvSpPr/>
          <p:nvPr/>
        </p:nvSpPr>
        <p:spPr>
          <a:xfrm>
            <a:off x="1005840" y="5120640"/>
            <a:ext cx="3108960" cy="310896"/>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Escribir "area"</a:t>
            </a:r>
            <a:endParaRPr lang="en-US" sz="1300" dirty="0"/>
          </a:p>
        </p:txBody>
      </p:sp>
      <p:sp>
        <p:nvSpPr>
          <p:cNvPr id="27" name="Text 25"/>
          <p:cNvSpPr/>
          <p:nvPr/>
        </p:nvSpPr>
        <p:spPr>
          <a:xfrm>
            <a:off x="4160520" y="5120640"/>
            <a:ext cx="822960" cy="310896"/>
          </a:xfrm>
          <a:prstGeom prst="rect">
            <a:avLst/>
          </a:prstGeom>
          <a:noFill/>
          <a:ln/>
        </p:spPr>
        <p:txBody>
          <a:bodyPr wrap="square" lIns="0" tIns="0" rIns="0" bIns="0" rtlCol="0" anchor="ctr"/>
          <a:lstStyle/>
          <a:p>
            <a:pPr marL="0" indent="0" algn="ctr">
              <a:buNone/>
            </a:pPr>
            <a:r>
              <a:rPr lang="en-US" sz="1100" i="1" dirty="0">
                <a:solidFill>
                  <a:srgbClr val="5B6B7C"/>
                </a:solidFill>
                <a:latin typeface="Calibri" pitchFamily="34" charset="0"/>
                <a:ea typeface="Calibri" pitchFamily="34" charset="-122"/>
                <a:cs typeface="Calibri" pitchFamily="34" charset="-120"/>
              </a:rPr>
              <a:t>imprime</a:t>
            </a:r>
            <a:endParaRPr lang="en-US" sz="1100" dirty="0"/>
          </a:p>
        </p:txBody>
      </p:sp>
      <p:sp>
        <p:nvSpPr>
          <p:cNvPr id="28" name="Shape 26"/>
          <p:cNvSpPr/>
          <p:nvPr/>
        </p:nvSpPr>
        <p:spPr>
          <a:xfrm>
            <a:off x="5029200" y="5138928"/>
            <a:ext cx="1828800" cy="274320"/>
          </a:xfrm>
          <a:prstGeom prst="roundRect">
            <a:avLst>
              <a:gd name="adj" fmla="val 16667"/>
            </a:avLst>
          </a:prstGeom>
          <a:solidFill>
            <a:srgbClr val="FFFFFF"/>
          </a:solidFill>
          <a:ln w="12700">
            <a:solidFill>
              <a:srgbClr val="D5DFEA"/>
            </a:solidFill>
            <a:prstDash val="solid"/>
          </a:ln>
        </p:spPr>
        <p:txBody>
          <a:bodyPr/>
          <a:lstStyle/>
          <a:p>
            <a:endParaRPr lang="es-CO"/>
          </a:p>
        </p:txBody>
      </p:sp>
      <p:sp>
        <p:nvSpPr>
          <p:cNvPr id="29" name="Text 27"/>
          <p:cNvSpPr/>
          <p:nvPr/>
        </p:nvSpPr>
        <p:spPr>
          <a:xfrm>
            <a:off x="5029200" y="5138928"/>
            <a:ext cx="1828800" cy="274320"/>
          </a:xfrm>
          <a:prstGeom prst="rect">
            <a:avLst/>
          </a:prstGeom>
          <a:noFill/>
          <a:ln/>
        </p:spPr>
        <p:txBody>
          <a:bodyPr wrap="square" lIns="0" tIns="0" rIns="0" bIns="0" rtlCol="0" anchor="ctr"/>
          <a:lstStyle/>
          <a:p>
            <a:pPr marL="0" indent="0" algn="ctr">
              <a:buNone/>
            </a:pPr>
            <a:r>
              <a:rPr lang="en-US" sz="1200" b="1" dirty="0">
                <a:solidFill>
                  <a:srgbClr val="B07800"/>
                </a:solidFill>
                <a:latin typeface="Courier New" pitchFamily="34" charset="0"/>
                <a:ea typeface="Courier New" pitchFamily="34" charset="-122"/>
                <a:cs typeface="Courier New" pitchFamily="34" charset="-120"/>
              </a:rPr>
              <a:t>area</a:t>
            </a:r>
            <a:endParaRPr lang="en-US" sz="1200" dirty="0"/>
          </a:p>
        </p:txBody>
      </p:sp>
      <p:sp>
        <p:nvSpPr>
          <p:cNvPr id="30" name="Text 28"/>
          <p:cNvSpPr/>
          <p:nvPr/>
        </p:nvSpPr>
        <p:spPr>
          <a:xfrm>
            <a:off x="7040880" y="5120640"/>
            <a:ext cx="4114800" cy="310896"/>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Con comillas: se imprime la palabra tal cual.</a:t>
            </a:r>
            <a:endParaRPr lang="en-US" sz="1200" dirty="0"/>
          </a:p>
        </p:txBody>
      </p:sp>
      <p:sp>
        <p:nvSpPr>
          <p:cNvPr id="31" name="Text 29"/>
          <p:cNvSpPr/>
          <p:nvPr/>
        </p:nvSpPr>
        <p:spPr>
          <a:xfrm>
            <a:off x="1005840" y="5504688"/>
            <a:ext cx="3108960" cy="310896"/>
          </a:xfrm>
          <a:prstGeom prst="rect">
            <a:avLst/>
          </a:prstGeom>
          <a:noFill/>
          <a:ln/>
        </p:spPr>
        <p:txBody>
          <a:bodyPr wrap="square" lIns="0" tIns="0" rIns="0" bIns="0" rtlCol="0" anchor="ctr"/>
          <a:lstStyle/>
          <a:p>
            <a:pPr marL="0" indent="0">
              <a:buNone/>
            </a:pPr>
            <a:r>
              <a:rPr lang="en-US" sz="1300" b="1" dirty="0">
                <a:solidFill>
                  <a:srgbClr val="13294B"/>
                </a:solidFill>
                <a:latin typeface="Courier New" pitchFamily="34" charset="0"/>
                <a:ea typeface="Courier New" pitchFamily="34" charset="-122"/>
                <a:cs typeface="Courier New" pitchFamily="34" charset="-120"/>
              </a:rPr>
              <a:t>Escribir "area: ", area</a:t>
            </a:r>
            <a:endParaRPr lang="en-US" sz="1300" dirty="0"/>
          </a:p>
        </p:txBody>
      </p:sp>
      <p:sp>
        <p:nvSpPr>
          <p:cNvPr id="32" name="Text 30"/>
          <p:cNvSpPr/>
          <p:nvPr/>
        </p:nvSpPr>
        <p:spPr>
          <a:xfrm>
            <a:off x="4160520" y="5504688"/>
            <a:ext cx="822960" cy="310896"/>
          </a:xfrm>
          <a:prstGeom prst="rect">
            <a:avLst/>
          </a:prstGeom>
          <a:noFill/>
          <a:ln/>
        </p:spPr>
        <p:txBody>
          <a:bodyPr wrap="square" lIns="0" tIns="0" rIns="0" bIns="0" rtlCol="0" anchor="ctr"/>
          <a:lstStyle/>
          <a:p>
            <a:pPr marL="0" indent="0" algn="ctr">
              <a:buNone/>
            </a:pPr>
            <a:r>
              <a:rPr lang="en-US" sz="1100" i="1" dirty="0">
                <a:solidFill>
                  <a:srgbClr val="5B6B7C"/>
                </a:solidFill>
                <a:latin typeface="Calibri" pitchFamily="34" charset="0"/>
                <a:ea typeface="Calibri" pitchFamily="34" charset="-122"/>
                <a:cs typeface="Calibri" pitchFamily="34" charset="-120"/>
              </a:rPr>
              <a:t>imprime</a:t>
            </a:r>
            <a:endParaRPr lang="en-US" sz="1100" dirty="0"/>
          </a:p>
        </p:txBody>
      </p:sp>
      <p:sp>
        <p:nvSpPr>
          <p:cNvPr id="33" name="Shape 31"/>
          <p:cNvSpPr/>
          <p:nvPr/>
        </p:nvSpPr>
        <p:spPr>
          <a:xfrm>
            <a:off x="5029200" y="5522976"/>
            <a:ext cx="1828800" cy="274320"/>
          </a:xfrm>
          <a:prstGeom prst="roundRect">
            <a:avLst>
              <a:gd name="adj" fmla="val 16667"/>
            </a:avLst>
          </a:prstGeom>
          <a:solidFill>
            <a:srgbClr val="FFFFFF"/>
          </a:solidFill>
          <a:ln w="12700">
            <a:solidFill>
              <a:srgbClr val="D5DFEA"/>
            </a:solidFill>
            <a:prstDash val="solid"/>
          </a:ln>
        </p:spPr>
        <p:txBody>
          <a:bodyPr/>
          <a:lstStyle/>
          <a:p>
            <a:endParaRPr lang="es-CO"/>
          </a:p>
        </p:txBody>
      </p:sp>
      <p:sp>
        <p:nvSpPr>
          <p:cNvPr id="34" name="Text 32"/>
          <p:cNvSpPr/>
          <p:nvPr/>
        </p:nvSpPr>
        <p:spPr>
          <a:xfrm>
            <a:off x="5029200" y="5522976"/>
            <a:ext cx="1828800" cy="274320"/>
          </a:xfrm>
          <a:prstGeom prst="rect">
            <a:avLst/>
          </a:prstGeom>
          <a:noFill/>
          <a:ln/>
        </p:spPr>
        <p:txBody>
          <a:bodyPr wrap="square" lIns="0" tIns="0" rIns="0" bIns="0" rtlCol="0" anchor="ctr"/>
          <a:lstStyle/>
          <a:p>
            <a:pPr marL="0" indent="0" algn="ctr">
              <a:buNone/>
            </a:pPr>
            <a:r>
              <a:rPr lang="en-US" sz="1200" b="1" dirty="0">
                <a:solidFill>
                  <a:srgbClr val="1C7293"/>
                </a:solidFill>
                <a:latin typeface="Courier New" pitchFamily="34" charset="0"/>
                <a:ea typeface="Courier New" pitchFamily="34" charset="-122"/>
                <a:cs typeface="Courier New" pitchFamily="34" charset="-120"/>
              </a:rPr>
              <a:t>area: 15</a:t>
            </a:r>
            <a:endParaRPr lang="en-US" sz="1200" dirty="0"/>
          </a:p>
        </p:txBody>
      </p:sp>
      <p:sp>
        <p:nvSpPr>
          <p:cNvPr id="35" name="Text 33"/>
          <p:cNvSpPr/>
          <p:nvPr/>
        </p:nvSpPr>
        <p:spPr>
          <a:xfrm>
            <a:off x="7040880" y="5504688"/>
            <a:ext cx="4114800" cy="310896"/>
          </a:xfrm>
          <a:prstGeom prst="rect">
            <a:avLst/>
          </a:prstGeom>
          <a:noFill/>
          <a:ln/>
        </p:spPr>
        <p:txBody>
          <a:bodyPr wrap="square" lIns="0" tIns="0" rIns="0" bIns="0" rtlCol="0" anchor="ctr"/>
          <a:lstStyle/>
          <a:p>
            <a:pPr marL="0" indent="0">
              <a:buNone/>
            </a:pPr>
            <a:r>
              <a:rPr lang="en-US" sz="1200" dirty="0">
                <a:solidFill>
                  <a:srgbClr val="1A1A2E"/>
                </a:solidFill>
                <a:latin typeface="Calibri" pitchFamily="34" charset="0"/>
                <a:ea typeface="Calibri" pitchFamily="34" charset="-122"/>
                <a:cs typeface="Calibri" pitchFamily="34" charset="-120"/>
              </a:rPr>
              <a:t>Combinadas: el texto explica y el dato informa.</a:t>
            </a:r>
            <a:endParaRPr lang="en-US" sz="1200" dirty="0"/>
          </a:p>
        </p:txBody>
      </p:sp>
      <p:sp>
        <p:nvSpPr>
          <p:cNvPr id="36" name="Shape 34"/>
          <p:cNvSpPr/>
          <p:nvPr/>
        </p:nvSpPr>
        <p:spPr>
          <a:xfrm>
            <a:off x="548640" y="5925312"/>
            <a:ext cx="11091672" cy="411480"/>
          </a:xfrm>
          <a:prstGeom prst="roundRect">
            <a:avLst>
              <a:gd name="adj" fmla="val 17778"/>
            </a:avLst>
          </a:prstGeom>
          <a:solidFill>
            <a:srgbClr val="13294B"/>
          </a:solidFill>
          <a:ln w="12700">
            <a:solidFill>
              <a:srgbClr val="13294B"/>
            </a:solidFill>
            <a:prstDash val="solid"/>
          </a:ln>
        </p:spPr>
        <p:txBody>
          <a:bodyPr/>
          <a:lstStyle/>
          <a:p>
            <a:endParaRPr lang="es-CO"/>
          </a:p>
        </p:txBody>
      </p:sp>
      <p:sp>
        <p:nvSpPr>
          <p:cNvPr id="37" name="Text 35"/>
          <p:cNvSpPr/>
          <p:nvPr/>
        </p:nvSpPr>
        <p:spPr>
          <a:xfrm>
            <a:off x="868680" y="5925312"/>
            <a:ext cx="10451592" cy="41148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REGLA PARA LA ENTREGA:  </a:t>
            </a:r>
            <a:r>
              <a:rPr lang="en-US" sz="1350" dirty="0">
                <a:solidFill>
                  <a:srgbClr val="FFFFFF"/>
                </a:solidFill>
                <a:latin typeface="Calibri" pitchFamily="34" charset="0"/>
                <a:ea typeface="Calibri" pitchFamily="34" charset="-122"/>
                <a:cs typeface="Calibri" pitchFamily="34" charset="-120"/>
              </a:rPr>
              <a:t>toda salida lleva un texto que explique el número. Un resultado suelto en pantalla no comunica nada.</a:t>
            </a:r>
            <a:endParaRPr lang="en-US" sz="1350" dirty="0"/>
          </a:p>
        </p:txBody>
      </p:sp>
      <p:sp>
        <p:nvSpPr>
          <p:cNvPr id="38" name="Text 3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12</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6"/>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3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DIAGRAMA DE FLUJO</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Simbología básica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Con estos tres símbolos y la flecha se representa cualquier algoritmo que vaya en línea recta.</a:t>
            </a:r>
            <a:endParaRPr lang="en-US" sz="1400" dirty="0"/>
          </a:p>
        </p:txBody>
      </p:sp>
      <p:sp>
        <p:nvSpPr>
          <p:cNvPr id="5" name="Shape 3"/>
          <p:cNvSpPr/>
          <p:nvPr/>
        </p:nvSpPr>
        <p:spPr>
          <a:xfrm>
            <a:off x="548640" y="2057400"/>
            <a:ext cx="3520440" cy="2331720"/>
          </a:xfrm>
          <a:prstGeom prst="roundRect">
            <a:avLst>
              <a:gd name="adj" fmla="val 3137"/>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1417320" y="2267712"/>
            <a:ext cx="1783080" cy="548640"/>
          </a:xfrm>
          <a:prstGeom prst="ellipse">
            <a:avLst/>
          </a:prstGeom>
          <a:solidFill>
            <a:srgbClr val="FFFFFF"/>
          </a:solidFill>
          <a:ln w="22225">
            <a:solidFill>
              <a:srgbClr val="1C7293"/>
            </a:solidFill>
            <a:prstDash val="solid"/>
          </a:ln>
        </p:spPr>
        <p:txBody>
          <a:bodyPr/>
          <a:lstStyle/>
          <a:p>
            <a:endParaRPr lang="es-CO"/>
          </a:p>
        </p:txBody>
      </p:sp>
      <p:sp>
        <p:nvSpPr>
          <p:cNvPr id="7" name="Text 5"/>
          <p:cNvSpPr/>
          <p:nvPr/>
        </p:nvSpPr>
        <p:spPr>
          <a:xfrm>
            <a:off x="822960" y="2926080"/>
            <a:ext cx="2971800" cy="292608"/>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Óvalo</a:t>
            </a:r>
            <a:endParaRPr lang="en-US" sz="1500" dirty="0"/>
          </a:p>
        </p:txBody>
      </p:sp>
      <p:sp>
        <p:nvSpPr>
          <p:cNvPr id="8" name="Text 6"/>
          <p:cNvSpPr/>
          <p:nvPr/>
        </p:nvSpPr>
        <p:spPr>
          <a:xfrm>
            <a:off x="822960" y="3236976"/>
            <a:ext cx="2971800" cy="274320"/>
          </a:xfrm>
          <a:prstGeom prst="rect">
            <a:avLst/>
          </a:prstGeom>
          <a:noFill/>
          <a:ln/>
        </p:spPr>
        <p:txBody>
          <a:bodyPr wrap="square" lIns="0" tIns="0" rIns="0" bIns="0" rtlCol="0" anchor="ctr"/>
          <a:lstStyle/>
          <a:p>
            <a:pPr marL="0" indent="0" algn="ctr">
              <a:buNone/>
            </a:pPr>
            <a:r>
              <a:rPr lang="en-US" sz="1300" b="1" dirty="0">
                <a:solidFill>
                  <a:srgbClr val="1C7293"/>
                </a:solidFill>
                <a:latin typeface="Calibri" pitchFamily="34" charset="0"/>
                <a:ea typeface="Calibri" pitchFamily="34" charset="-122"/>
                <a:cs typeface="Calibri" pitchFamily="34" charset="-120"/>
              </a:rPr>
              <a:t>Inicio y Fin</a:t>
            </a:r>
            <a:endParaRPr lang="en-US" sz="1300" dirty="0"/>
          </a:p>
        </p:txBody>
      </p:sp>
      <p:sp>
        <p:nvSpPr>
          <p:cNvPr id="9" name="Text 7"/>
          <p:cNvSpPr/>
          <p:nvPr/>
        </p:nvSpPr>
        <p:spPr>
          <a:xfrm>
            <a:off x="822960" y="3566160"/>
            <a:ext cx="2971800" cy="548640"/>
          </a:xfrm>
          <a:prstGeom prst="rect">
            <a:avLst/>
          </a:prstGeom>
          <a:noFill/>
          <a:ln/>
        </p:spPr>
        <p:txBody>
          <a:bodyPr wrap="square" lIns="0" tIns="0" rIns="0" bIns="0" rtlCol="0" anchor="t"/>
          <a:lstStyle/>
          <a:p>
            <a:pPr marL="0" indent="0" algn="ctr">
              <a:lnSpc>
                <a:spcPts val="1600"/>
              </a:lnSpc>
              <a:buNone/>
            </a:pPr>
            <a:r>
              <a:rPr lang="en-US" sz="1250" dirty="0">
                <a:solidFill>
                  <a:srgbClr val="5B6B7C"/>
                </a:solidFill>
                <a:latin typeface="Calibri" pitchFamily="34" charset="0"/>
                <a:ea typeface="Calibri" pitchFamily="34" charset="-122"/>
                <a:cs typeface="Calibri" pitchFamily="34" charset="-120"/>
              </a:rPr>
              <a:t>Todo diagrama abre y cierra con uno.</a:t>
            </a:r>
            <a:endParaRPr lang="en-US" sz="1250" dirty="0"/>
          </a:p>
        </p:txBody>
      </p:sp>
      <p:sp>
        <p:nvSpPr>
          <p:cNvPr id="10" name="Shape 8"/>
          <p:cNvSpPr/>
          <p:nvPr/>
        </p:nvSpPr>
        <p:spPr>
          <a:xfrm>
            <a:off x="4306824" y="2057400"/>
            <a:ext cx="3520440" cy="2331720"/>
          </a:xfrm>
          <a:prstGeom prst="roundRect">
            <a:avLst>
              <a:gd name="adj" fmla="val 3137"/>
            </a:avLst>
          </a:prstGeom>
          <a:solidFill>
            <a:srgbClr val="F4F7FB"/>
          </a:solidFill>
          <a:ln w="12700">
            <a:solidFill>
              <a:srgbClr val="F4F7FB"/>
            </a:solidFill>
            <a:prstDash val="solid"/>
          </a:ln>
        </p:spPr>
        <p:txBody>
          <a:bodyPr/>
          <a:lstStyle/>
          <a:p>
            <a:endParaRPr lang="es-CO"/>
          </a:p>
        </p:txBody>
      </p:sp>
      <p:sp>
        <p:nvSpPr>
          <p:cNvPr id="11" name="Shape 9"/>
          <p:cNvSpPr/>
          <p:nvPr/>
        </p:nvSpPr>
        <p:spPr>
          <a:xfrm>
            <a:off x="5175504" y="2267712"/>
            <a:ext cx="1783080" cy="548640"/>
          </a:xfrm>
          <a:prstGeom prst="parallelogram">
            <a:avLst/>
          </a:prstGeom>
          <a:solidFill>
            <a:srgbClr val="FFFFFF"/>
          </a:solidFill>
          <a:ln w="22225">
            <a:solidFill>
              <a:srgbClr val="13294B"/>
            </a:solidFill>
            <a:prstDash val="solid"/>
          </a:ln>
        </p:spPr>
        <p:txBody>
          <a:bodyPr/>
          <a:lstStyle/>
          <a:p>
            <a:endParaRPr lang="es-CO"/>
          </a:p>
        </p:txBody>
      </p:sp>
      <p:sp>
        <p:nvSpPr>
          <p:cNvPr id="12" name="Text 10"/>
          <p:cNvSpPr/>
          <p:nvPr/>
        </p:nvSpPr>
        <p:spPr>
          <a:xfrm>
            <a:off x="4581144" y="2926080"/>
            <a:ext cx="2971800" cy="292608"/>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Paralelogramo</a:t>
            </a:r>
            <a:endParaRPr lang="en-US" sz="1500" dirty="0"/>
          </a:p>
        </p:txBody>
      </p:sp>
      <p:sp>
        <p:nvSpPr>
          <p:cNvPr id="13" name="Text 11"/>
          <p:cNvSpPr/>
          <p:nvPr/>
        </p:nvSpPr>
        <p:spPr>
          <a:xfrm>
            <a:off x="4581144" y="3236976"/>
            <a:ext cx="2971800" cy="274320"/>
          </a:xfrm>
          <a:prstGeom prst="rect">
            <a:avLst/>
          </a:prstGeom>
          <a:noFill/>
          <a:ln/>
        </p:spPr>
        <p:txBody>
          <a:bodyPr wrap="square" lIns="0" tIns="0" rIns="0" bIns="0" rtlCol="0" anchor="ctr"/>
          <a:lstStyle/>
          <a:p>
            <a:pPr marL="0" indent="0" algn="ctr">
              <a:buNone/>
            </a:pPr>
            <a:r>
              <a:rPr lang="en-US" sz="1300" b="1" dirty="0">
                <a:solidFill>
                  <a:srgbClr val="13294B"/>
                </a:solidFill>
                <a:latin typeface="Calibri" pitchFamily="34" charset="0"/>
                <a:ea typeface="Calibri" pitchFamily="34" charset="-122"/>
                <a:cs typeface="Calibri" pitchFamily="34" charset="-120"/>
              </a:rPr>
              <a:t>Entrada y Salida</a:t>
            </a:r>
            <a:endParaRPr lang="en-US" sz="1300" dirty="0"/>
          </a:p>
        </p:txBody>
      </p:sp>
      <p:sp>
        <p:nvSpPr>
          <p:cNvPr id="14" name="Text 12"/>
          <p:cNvSpPr/>
          <p:nvPr/>
        </p:nvSpPr>
        <p:spPr>
          <a:xfrm>
            <a:off x="4581144" y="3566160"/>
            <a:ext cx="2971800" cy="548640"/>
          </a:xfrm>
          <a:prstGeom prst="rect">
            <a:avLst/>
          </a:prstGeom>
          <a:noFill/>
          <a:ln/>
        </p:spPr>
        <p:txBody>
          <a:bodyPr wrap="square" lIns="0" tIns="0" rIns="0" bIns="0" rtlCol="0" anchor="t"/>
          <a:lstStyle/>
          <a:p>
            <a:pPr marL="0" indent="0" algn="ctr">
              <a:lnSpc>
                <a:spcPts val="1600"/>
              </a:lnSpc>
              <a:buNone/>
            </a:pPr>
            <a:r>
              <a:rPr lang="en-US" sz="1250" dirty="0">
                <a:solidFill>
                  <a:srgbClr val="5B6B7C"/>
                </a:solidFill>
                <a:latin typeface="Calibri" pitchFamily="34" charset="0"/>
                <a:ea typeface="Calibri" pitchFamily="34" charset="-122"/>
                <a:cs typeface="Calibri" pitchFamily="34" charset="-120"/>
              </a:rPr>
              <a:t>Recibir un dato o comunicar un resultado.</a:t>
            </a:r>
            <a:endParaRPr lang="en-US" sz="1250" dirty="0"/>
          </a:p>
        </p:txBody>
      </p:sp>
      <p:sp>
        <p:nvSpPr>
          <p:cNvPr id="15" name="Shape 13"/>
          <p:cNvSpPr/>
          <p:nvPr/>
        </p:nvSpPr>
        <p:spPr>
          <a:xfrm>
            <a:off x="8065008" y="2057400"/>
            <a:ext cx="3520440" cy="2331720"/>
          </a:xfrm>
          <a:prstGeom prst="roundRect">
            <a:avLst>
              <a:gd name="adj" fmla="val 3137"/>
            </a:avLst>
          </a:prstGeom>
          <a:solidFill>
            <a:srgbClr val="F4F7FB"/>
          </a:solidFill>
          <a:ln w="12700">
            <a:solidFill>
              <a:srgbClr val="F4F7FB"/>
            </a:solidFill>
            <a:prstDash val="solid"/>
          </a:ln>
        </p:spPr>
        <p:txBody>
          <a:bodyPr/>
          <a:lstStyle/>
          <a:p>
            <a:endParaRPr lang="es-CO"/>
          </a:p>
        </p:txBody>
      </p:sp>
      <p:sp>
        <p:nvSpPr>
          <p:cNvPr id="16" name="Shape 14"/>
          <p:cNvSpPr/>
          <p:nvPr/>
        </p:nvSpPr>
        <p:spPr>
          <a:xfrm>
            <a:off x="8933688" y="2267712"/>
            <a:ext cx="1783080" cy="548640"/>
          </a:xfrm>
          <a:prstGeom prst="rect">
            <a:avLst/>
          </a:prstGeom>
          <a:solidFill>
            <a:srgbClr val="FFFFFF"/>
          </a:solidFill>
          <a:ln w="22225">
            <a:solidFill>
              <a:srgbClr val="2F9E58"/>
            </a:solidFill>
            <a:prstDash val="solid"/>
          </a:ln>
        </p:spPr>
        <p:txBody>
          <a:bodyPr/>
          <a:lstStyle/>
          <a:p>
            <a:endParaRPr lang="es-CO"/>
          </a:p>
        </p:txBody>
      </p:sp>
      <p:sp>
        <p:nvSpPr>
          <p:cNvPr id="17" name="Text 15"/>
          <p:cNvSpPr/>
          <p:nvPr/>
        </p:nvSpPr>
        <p:spPr>
          <a:xfrm>
            <a:off x="8339328" y="2926080"/>
            <a:ext cx="2971800" cy="292608"/>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Rectángulo</a:t>
            </a:r>
            <a:endParaRPr lang="en-US" sz="1500" dirty="0"/>
          </a:p>
        </p:txBody>
      </p:sp>
      <p:sp>
        <p:nvSpPr>
          <p:cNvPr id="18" name="Text 16"/>
          <p:cNvSpPr/>
          <p:nvPr/>
        </p:nvSpPr>
        <p:spPr>
          <a:xfrm>
            <a:off x="8339328" y="3236976"/>
            <a:ext cx="2971800" cy="274320"/>
          </a:xfrm>
          <a:prstGeom prst="rect">
            <a:avLst/>
          </a:prstGeom>
          <a:noFill/>
          <a:ln/>
        </p:spPr>
        <p:txBody>
          <a:bodyPr wrap="square" lIns="0" tIns="0" rIns="0" bIns="0" rtlCol="0" anchor="ctr"/>
          <a:lstStyle/>
          <a:p>
            <a:pPr marL="0" indent="0" algn="ctr">
              <a:buNone/>
            </a:pPr>
            <a:r>
              <a:rPr lang="en-US" sz="1300" b="1" dirty="0">
                <a:solidFill>
                  <a:srgbClr val="2F9E58"/>
                </a:solidFill>
                <a:latin typeface="Calibri" pitchFamily="34" charset="0"/>
                <a:ea typeface="Calibri" pitchFamily="34" charset="-122"/>
                <a:cs typeface="Calibri" pitchFamily="34" charset="-120"/>
              </a:rPr>
              <a:t>Proceso</a:t>
            </a:r>
            <a:endParaRPr lang="en-US" sz="1300" dirty="0"/>
          </a:p>
        </p:txBody>
      </p:sp>
      <p:sp>
        <p:nvSpPr>
          <p:cNvPr id="19" name="Text 17"/>
          <p:cNvSpPr/>
          <p:nvPr/>
        </p:nvSpPr>
        <p:spPr>
          <a:xfrm>
            <a:off x="8339328" y="3566160"/>
            <a:ext cx="2971800" cy="548640"/>
          </a:xfrm>
          <a:prstGeom prst="rect">
            <a:avLst/>
          </a:prstGeom>
          <a:noFill/>
          <a:ln/>
        </p:spPr>
        <p:txBody>
          <a:bodyPr wrap="square" lIns="0" tIns="0" rIns="0" bIns="0" rtlCol="0" anchor="t"/>
          <a:lstStyle/>
          <a:p>
            <a:pPr marL="0" indent="0" algn="ctr">
              <a:lnSpc>
                <a:spcPts val="1600"/>
              </a:lnSpc>
              <a:buNone/>
            </a:pPr>
            <a:r>
              <a:rPr lang="en-US" sz="1250" dirty="0">
                <a:solidFill>
                  <a:srgbClr val="5B6B7C"/>
                </a:solidFill>
                <a:latin typeface="Calibri" pitchFamily="34" charset="0"/>
                <a:ea typeface="Calibri" pitchFamily="34" charset="-122"/>
                <a:cs typeface="Calibri" pitchFamily="34" charset="-120"/>
              </a:rPr>
              <a:t>Un cálculo o una asignación.</a:t>
            </a:r>
            <a:endParaRPr lang="en-US" sz="1250" dirty="0"/>
          </a:p>
        </p:txBody>
      </p:sp>
      <p:sp>
        <p:nvSpPr>
          <p:cNvPr id="20" name="Shape 18"/>
          <p:cNvSpPr/>
          <p:nvPr/>
        </p:nvSpPr>
        <p:spPr>
          <a:xfrm>
            <a:off x="548640" y="4572000"/>
            <a:ext cx="11091672" cy="822960"/>
          </a:xfrm>
          <a:prstGeom prst="roundRect">
            <a:avLst>
              <a:gd name="adj" fmla="val 8889"/>
            </a:avLst>
          </a:prstGeom>
          <a:solidFill>
            <a:srgbClr val="E8EEF4"/>
          </a:solidFill>
          <a:ln w="12700">
            <a:solidFill>
              <a:srgbClr val="E8EEF4"/>
            </a:solidFill>
            <a:prstDash val="solid"/>
          </a:ln>
        </p:spPr>
        <p:txBody>
          <a:bodyPr/>
          <a:lstStyle/>
          <a:p>
            <a:endParaRPr lang="es-CO"/>
          </a:p>
        </p:txBody>
      </p:sp>
      <p:sp>
        <p:nvSpPr>
          <p:cNvPr id="21" name="Text 19"/>
          <p:cNvSpPr/>
          <p:nvPr/>
        </p:nvSpPr>
        <p:spPr>
          <a:xfrm>
            <a:off x="868680" y="4572000"/>
            <a:ext cx="10451592" cy="822960"/>
          </a:xfrm>
          <a:prstGeom prst="rect">
            <a:avLst/>
          </a:prstGeom>
          <a:noFill/>
          <a:ln/>
        </p:spPr>
        <p:txBody>
          <a:bodyPr wrap="square" lIns="0" tIns="0" rIns="0" bIns="0" rtlCol="0" anchor="ctr"/>
          <a:lstStyle/>
          <a:p>
            <a:pPr marL="0" indent="0">
              <a:lnSpc>
                <a:spcPts val="1800"/>
              </a:lnSpc>
              <a:buNone/>
            </a:pPr>
            <a:r>
              <a:rPr lang="en-US" sz="1250" b="1" kern="0" spc="120" dirty="0">
                <a:solidFill>
                  <a:srgbClr val="1C7293"/>
                </a:solidFill>
                <a:latin typeface="Calibri" pitchFamily="34" charset="0"/>
                <a:ea typeface="Calibri" pitchFamily="34" charset="-122"/>
                <a:cs typeface="Calibri" pitchFamily="34" charset="-120"/>
              </a:rPr>
              <a:t>LA FLECHA  </a:t>
            </a:r>
            <a:r>
              <a:rPr lang="en-US" sz="1350" dirty="0">
                <a:solidFill>
                  <a:srgbClr val="1A1A2E"/>
                </a:solidFill>
                <a:latin typeface="Calibri" pitchFamily="34" charset="0"/>
                <a:ea typeface="Calibri" pitchFamily="34" charset="-122"/>
                <a:cs typeface="Calibri" pitchFamily="34" charset="-120"/>
              </a:rPr>
              <a:t>indica hacia dónde avanza el proceso. Nunca queda suelta ni sin dirección, y conecta siempre un símbolo con el siguiente.</a:t>
            </a:r>
            <a:endParaRPr lang="en-US" sz="1250" dirty="0"/>
          </a:p>
        </p:txBody>
      </p:sp>
      <p:sp>
        <p:nvSpPr>
          <p:cNvPr id="22" name="Shape 20"/>
          <p:cNvSpPr/>
          <p:nvPr/>
        </p:nvSpPr>
        <p:spPr>
          <a:xfrm>
            <a:off x="548640" y="5541264"/>
            <a:ext cx="11091672" cy="685800"/>
          </a:xfrm>
          <a:prstGeom prst="roundRect">
            <a:avLst>
              <a:gd name="adj" fmla="val 10667"/>
            </a:avLst>
          </a:prstGeom>
          <a:solidFill>
            <a:srgbClr val="13294B"/>
          </a:solidFill>
          <a:ln w="12700">
            <a:solidFill>
              <a:srgbClr val="13294B"/>
            </a:solidFill>
            <a:prstDash val="solid"/>
          </a:ln>
        </p:spPr>
        <p:txBody>
          <a:bodyPr/>
          <a:lstStyle/>
          <a:p>
            <a:endParaRPr lang="es-CO"/>
          </a:p>
        </p:txBody>
      </p:sp>
      <p:sp>
        <p:nvSpPr>
          <p:cNvPr id="23" name="Text 21"/>
          <p:cNvSpPr/>
          <p:nvPr/>
        </p:nvSpPr>
        <p:spPr>
          <a:xfrm>
            <a:off x="868680" y="5541264"/>
            <a:ext cx="10451592" cy="68580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REGLA:  </a:t>
            </a:r>
            <a:r>
              <a:rPr lang="en-US" sz="1350" dirty="0">
                <a:solidFill>
                  <a:srgbClr val="FFFFFF"/>
                </a:solidFill>
                <a:latin typeface="Calibri" pitchFamily="34" charset="0"/>
                <a:ea typeface="Calibri" pitchFamily="34" charset="-122"/>
                <a:cs typeface="Calibri" pitchFamily="34" charset="-120"/>
              </a:rPr>
              <a:t>un símbolo por acción. El error más común es meter tres cálculos dentro de un mismo rectángulo.</a:t>
            </a:r>
            <a:endParaRPr lang="en-US" sz="1350" dirty="0"/>
          </a:p>
        </p:txBody>
      </p:sp>
      <p:sp>
        <p:nvSpPr>
          <p:cNvPr id="24" name="Text 22"/>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08</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ELEMENTOS BÁSICOS · 1 DE 4</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La estructura básica de un algoritmo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Todo algoritmo, por sencillo que sea, tiene estas cuatro partes en este orden.</a:t>
            </a:r>
            <a:endParaRPr lang="en-US" sz="1400" dirty="0"/>
          </a:p>
        </p:txBody>
      </p:sp>
      <p:sp>
        <p:nvSpPr>
          <p:cNvPr id="5" name="Shape 3"/>
          <p:cNvSpPr/>
          <p:nvPr/>
        </p:nvSpPr>
        <p:spPr>
          <a:xfrm>
            <a:off x="548640" y="2084832"/>
            <a:ext cx="5532120" cy="960120"/>
          </a:xfrm>
          <a:prstGeom prst="roundRect">
            <a:avLst>
              <a:gd name="adj" fmla="val 7619"/>
            </a:avLst>
          </a:prstGeom>
          <a:solidFill>
            <a:srgbClr val="F4F7FB"/>
          </a:solidFill>
          <a:ln w="12700">
            <a:solidFill>
              <a:srgbClr val="F4F7FB"/>
            </a:solidFill>
            <a:prstDash val="solid"/>
          </a:ln>
        </p:spPr>
        <p:txBody>
          <a:bodyPr/>
          <a:lstStyle/>
          <a:p>
            <a:endParaRPr lang="es-CO"/>
          </a:p>
        </p:txBody>
      </p:sp>
      <p:sp>
        <p:nvSpPr>
          <p:cNvPr id="6" name="Shape 4"/>
          <p:cNvSpPr/>
          <p:nvPr/>
        </p:nvSpPr>
        <p:spPr>
          <a:xfrm>
            <a:off x="804672" y="2340864"/>
            <a:ext cx="438912" cy="438912"/>
          </a:xfrm>
          <a:prstGeom prst="ellipse">
            <a:avLst/>
          </a:prstGeom>
          <a:solidFill>
            <a:srgbClr val="1C7293"/>
          </a:solidFill>
          <a:ln w="12700">
            <a:solidFill>
              <a:srgbClr val="1C7293"/>
            </a:solidFill>
            <a:prstDash val="solid"/>
          </a:ln>
        </p:spPr>
        <p:txBody>
          <a:bodyPr/>
          <a:lstStyle/>
          <a:p>
            <a:endParaRPr lang="es-CO"/>
          </a:p>
        </p:txBody>
      </p:sp>
      <p:sp>
        <p:nvSpPr>
          <p:cNvPr id="7" name="Text 5"/>
          <p:cNvSpPr/>
          <p:nvPr/>
        </p:nvSpPr>
        <p:spPr>
          <a:xfrm>
            <a:off x="804672" y="2340864"/>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389888" y="2212848"/>
            <a:ext cx="4480560" cy="292608"/>
          </a:xfrm>
          <a:prstGeom prst="rect">
            <a:avLst/>
          </a:prstGeom>
          <a:noFill/>
          <a:ln/>
        </p:spPr>
        <p:txBody>
          <a:bodyPr wrap="square" lIns="0" tIns="0" rIns="0" bIns="0" rtlCol="0" anchor="ctr"/>
          <a:lstStyle/>
          <a:p>
            <a:pPr marL="0" indent="0">
              <a:buNone/>
            </a:pPr>
            <a:r>
              <a:rPr lang="en-US" sz="1350" b="1" kern="0" spc="100" dirty="0">
                <a:solidFill>
                  <a:srgbClr val="1C7293"/>
                </a:solidFill>
                <a:latin typeface="Calibri" pitchFamily="34" charset="0"/>
                <a:ea typeface="Calibri" pitchFamily="34" charset="-122"/>
                <a:cs typeface="Calibri" pitchFamily="34" charset="-120"/>
              </a:rPr>
              <a:t>DECLARACIÓN DE DATOS</a:t>
            </a:r>
            <a:endParaRPr lang="en-US" sz="1350" dirty="0"/>
          </a:p>
        </p:txBody>
      </p:sp>
      <p:sp>
        <p:nvSpPr>
          <p:cNvPr id="9" name="Text 7"/>
          <p:cNvSpPr/>
          <p:nvPr/>
        </p:nvSpPr>
        <p:spPr>
          <a:xfrm>
            <a:off x="1389888" y="2505456"/>
            <a:ext cx="4526280" cy="457200"/>
          </a:xfrm>
          <a:prstGeom prst="rect">
            <a:avLst/>
          </a:prstGeom>
          <a:noFill/>
          <a:ln/>
        </p:spPr>
        <p:txBody>
          <a:bodyPr wrap="square" lIns="0" tIns="0" rIns="0" bIns="0" rtlCol="0" anchor="t"/>
          <a:lstStyle/>
          <a:p>
            <a:pPr marL="0" indent="0">
              <a:lnSpc>
                <a:spcPts val="1600"/>
              </a:lnSpc>
              <a:buNone/>
            </a:pPr>
            <a:r>
              <a:rPr lang="en-US" sz="1250" dirty="0">
                <a:solidFill>
                  <a:srgbClr val="1A1A2E"/>
                </a:solidFill>
                <a:latin typeface="Calibri" pitchFamily="34" charset="0"/>
                <a:ea typeface="Calibri" pitchFamily="34" charset="-122"/>
                <a:cs typeface="Calibri" pitchFamily="34" charset="-120"/>
              </a:rPr>
              <a:t>Qué información va a manejar y de qué tipo es cada dato.</a:t>
            </a:r>
            <a:endParaRPr lang="en-US" sz="1250" dirty="0"/>
          </a:p>
        </p:txBody>
      </p:sp>
      <p:sp>
        <p:nvSpPr>
          <p:cNvPr id="10" name="Shape 8"/>
          <p:cNvSpPr/>
          <p:nvPr/>
        </p:nvSpPr>
        <p:spPr>
          <a:xfrm>
            <a:off x="548640" y="3118104"/>
            <a:ext cx="5532120" cy="960120"/>
          </a:xfrm>
          <a:prstGeom prst="roundRect">
            <a:avLst>
              <a:gd name="adj" fmla="val 7619"/>
            </a:avLst>
          </a:prstGeom>
          <a:solidFill>
            <a:srgbClr val="F4F7FB"/>
          </a:solidFill>
          <a:ln w="12700">
            <a:solidFill>
              <a:srgbClr val="F4F7FB"/>
            </a:solidFill>
            <a:prstDash val="solid"/>
          </a:ln>
        </p:spPr>
        <p:txBody>
          <a:bodyPr/>
          <a:lstStyle/>
          <a:p>
            <a:endParaRPr lang="es-CO"/>
          </a:p>
        </p:txBody>
      </p:sp>
      <p:sp>
        <p:nvSpPr>
          <p:cNvPr id="11" name="Shape 9"/>
          <p:cNvSpPr/>
          <p:nvPr/>
        </p:nvSpPr>
        <p:spPr>
          <a:xfrm>
            <a:off x="804672" y="3374136"/>
            <a:ext cx="438912" cy="438912"/>
          </a:xfrm>
          <a:prstGeom prst="ellipse">
            <a:avLst/>
          </a:prstGeom>
          <a:solidFill>
            <a:srgbClr val="13294B"/>
          </a:solidFill>
          <a:ln w="12700">
            <a:solidFill>
              <a:srgbClr val="13294B"/>
            </a:solidFill>
            <a:prstDash val="solid"/>
          </a:ln>
        </p:spPr>
        <p:txBody>
          <a:bodyPr/>
          <a:lstStyle/>
          <a:p>
            <a:endParaRPr lang="es-CO"/>
          </a:p>
        </p:txBody>
      </p:sp>
      <p:sp>
        <p:nvSpPr>
          <p:cNvPr id="12" name="Text 10"/>
          <p:cNvSpPr/>
          <p:nvPr/>
        </p:nvSpPr>
        <p:spPr>
          <a:xfrm>
            <a:off x="804672" y="3374136"/>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389888" y="3246120"/>
            <a:ext cx="4480560" cy="292608"/>
          </a:xfrm>
          <a:prstGeom prst="rect">
            <a:avLst/>
          </a:prstGeom>
          <a:noFill/>
          <a:ln/>
        </p:spPr>
        <p:txBody>
          <a:bodyPr wrap="square" lIns="0" tIns="0" rIns="0" bIns="0" rtlCol="0" anchor="ctr"/>
          <a:lstStyle/>
          <a:p>
            <a:pPr marL="0" indent="0">
              <a:buNone/>
            </a:pPr>
            <a:r>
              <a:rPr lang="en-US" sz="1350" b="1" kern="0" spc="100" dirty="0">
                <a:solidFill>
                  <a:srgbClr val="13294B"/>
                </a:solidFill>
                <a:latin typeface="Calibri" pitchFamily="34" charset="0"/>
                <a:ea typeface="Calibri" pitchFamily="34" charset="-122"/>
                <a:cs typeface="Calibri" pitchFamily="34" charset="-120"/>
              </a:rPr>
              <a:t>ENTRADA</a:t>
            </a:r>
            <a:endParaRPr lang="en-US" sz="1350" dirty="0"/>
          </a:p>
        </p:txBody>
      </p:sp>
      <p:sp>
        <p:nvSpPr>
          <p:cNvPr id="14" name="Text 12"/>
          <p:cNvSpPr/>
          <p:nvPr/>
        </p:nvSpPr>
        <p:spPr>
          <a:xfrm>
            <a:off x="1389888" y="3538728"/>
            <a:ext cx="4526280" cy="457200"/>
          </a:xfrm>
          <a:prstGeom prst="rect">
            <a:avLst/>
          </a:prstGeom>
          <a:noFill/>
          <a:ln/>
        </p:spPr>
        <p:txBody>
          <a:bodyPr wrap="square" lIns="0" tIns="0" rIns="0" bIns="0" rtlCol="0" anchor="t"/>
          <a:lstStyle/>
          <a:p>
            <a:pPr marL="0" indent="0">
              <a:lnSpc>
                <a:spcPts val="1600"/>
              </a:lnSpc>
              <a:buNone/>
            </a:pPr>
            <a:r>
              <a:rPr lang="en-US" sz="1250" dirty="0">
                <a:solidFill>
                  <a:srgbClr val="1A1A2E"/>
                </a:solidFill>
                <a:latin typeface="Calibri" pitchFamily="34" charset="0"/>
                <a:ea typeface="Calibri" pitchFamily="34" charset="-122"/>
                <a:cs typeface="Calibri" pitchFamily="34" charset="-120"/>
              </a:rPr>
              <a:t>Los datos que recibe desde afuera para poder trabajar.</a:t>
            </a:r>
            <a:endParaRPr lang="en-US" sz="1250" dirty="0"/>
          </a:p>
        </p:txBody>
      </p:sp>
      <p:sp>
        <p:nvSpPr>
          <p:cNvPr id="15" name="Shape 13"/>
          <p:cNvSpPr/>
          <p:nvPr/>
        </p:nvSpPr>
        <p:spPr>
          <a:xfrm>
            <a:off x="548640" y="4151376"/>
            <a:ext cx="5532120" cy="960120"/>
          </a:xfrm>
          <a:prstGeom prst="roundRect">
            <a:avLst>
              <a:gd name="adj" fmla="val 7619"/>
            </a:avLst>
          </a:prstGeom>
          <a:solidFill>
            <a:srgbClr val="F4F7FB"/>
          </a:solidFill>
          <a:ln w="12700">
            <a:solidFill>
              <a:srgbClr val="F4F7FB"/>
            </a:solidFill>
            <a:prstDash val="solid"/>
          </a:ln>
        </p:spPr>
        <p:txBody>
          <a:bodyPr/>
          <a:lstStyle/>
          <a:p>
            <a:endParaRPr lang="es-CO"/>
          </a:p>
        </p:txBody>
      </p:sp>
      <p:sp>
        <p:nvSpPr>
          <p:cNvPr id="16" name="Shape 14"/>
          <p:cNvSpPr/>
          <p:nvPr/>
        </p:nvSpPr>
        <p:spPr>
          <a:xfrm>
            <a:off x="804672" y="4407408"/>
            <a:ext cx="438912" cy="438912"/>
          </a:xfrm>
          <a:prstGeom prst="ellipse">
            <a:avLst/>
          </a:prstGeom>
          <a:solidFill>
            <a:srgbClr val="2F9E58"/>
          </a:solidFill>
          <a:ln w="12700">
            <a:solidFill>
              <a:srgbClr val="2F9E58"/>
            </a:solidFill>
            <a:prstDash val="solid"/>
          </a:ln>
        </p:spPr>
        <p:txBody>
          <a:bodyPr/>
          <a:lstStyle/>
          <a:p>
            <a:endParaRPr lang="es-CO"/>
          </a:p>
        </p:txBody>
      </p:sp>
      <p:sp>
        <p:nvSpPr>
          <p:cNvPr id="17" name="Text 15"/>
          <p:cNvSpPr/>
          <p:nvPr/>
        </p:nvSpPr>
        <p:spPr>
          <a:xfrm>
            <a:off x="804672" y="4407408"/>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389888" y="4279392"/>
            <a:ext cx="4480560" cy="292608"/>
          </a:xfrm>
          <a:prstGeom prst="rect">
            <a:avLst/>
          </a:prstGeom>
          <a:noFill/>
          <a:ln/>
        </p:spPr>
        <p:txBody>
          <a:bodyPr wrap="square" lIns="0" tIns="0" rIns="0" bIns="0" rtlCol="0" anchor="ctr"/>
          <a:lstStyle/>
          <a:p>
            <a:pPr marL="0" indent="0">
              <a:buNone/>
            </a:pPr>
            <a:r>
              <a:rPr lang="en-US" sz="1350" b="1" kern="0" spc="100" dirty="0">
                <a:solidFill>
                  <a:srgbClr val="2F9E58"/>
                </a:solidFill>
                <a:latin typeface="Calibri" pitchFamily="34" charset="0"/>
                <a:ea typeface="Calibri" pitchFamily="34" charset="-122"/>
                <a:cs typeface="Calibri" pitchFamily="34" charset="-120"/>
              </a:rPr>
              <a:t>PROCESO</a:t>
            </a:r>
            <a:endParaRPr lang="en-US" sz="1350" dirty="0"/>
          </a:p>
        </p:txBody>
      </p:sp>
      <p:sp>
        <p:nvSpPr>
          <p:cNvPr id="19" name="Text 17"/>
          <p:cNvSpPr/>
          <p:nvPr/>
        </p:nvSpPr>
        <p:spPr>
          <a:xfrm>
            <a:off x="1389888" y="4572000"/>
            <a:ext cx="4526280" cy="457200"/>
          </a:xfrm>
          <a:prstGeom prst="rect">
            <a:avLst/>
          </a:prstGeom>
          <a:noFill/>
          <a:ln/>
        </p:spPr>
        <p:txBody>
          <a:bodyPr wrap="square" lIns="0" tIns="0" rIns="0" bIns="0" rtlCol="0" anchor="t"/>
          <a:lstStyle/>
          <a:p>
            <a:pPr marL="0" indent="0">
              <a:lnSpc>
                <a:spcPts val="1600"/>
              </a:lnSpc>
              <a:buNone/>
            </a:pPr>
            <a:r>
              <a:rPr lang="en-US" sz="1250" dirty="0">
                <a:solidFill>
                  <a:srgbClr val="1A1A2E"/>
                </a:solidFill>
                <a:latin typeface="Calibri" pitchFamily="34" charset="0"/>
                <a:ea typeface="Calibri" pitchFamily="34" charset="-122"/>
                <a:cs typeface="Calibri" pitchFamily="34" charset="-120"/>
              </a:rPr>
              <a:t>Los cálculos y asignaciones que transforman la entrada.</a:t>
            </a:r>
            <a:endParaRPr lang="en-US" sz="1250" dirty="0"/>
          </a:p>
        </p:txBody>
      </p:sp>
      <p:sp>
        <p:nvSpPr>
          <p:cNvPr id="20" name="Shape 18"/>
          <p:cNvSpPr/>
          <p:nvPr/>
        </p:nvSpPr>
        <p:spPr>
          <a:xfrm>
            <a:off x="548640" y="5184648"/>
            <a:ext cx="5532120" cy="960120"/>
          </a:xfrm>
          <a:prstGeom prst="roundRect">
            <a:avLst>
              <a:gd name="adj" fmla="val 7619"/>
            </a:avLst>
          </a:prstGeom>
          <a:solidFill>
            <a:srgbClr val="F4F7FB"/>
          </a:solidFill>
          <a:ln w="12700">
            <a:solidFill>
              <a:srgbClr val="F4F7FB"/>
            </a:solidFill>
            <a:prstDash val="solid"/>
          </a:ln>
        </p:spPr>
        <p:txBody>
          <a:bodyPr/>
          <a:lstStyle/>
          <a:p>
            <a:endParaRPr lang="es-CO"/>
          </a:p>
        </p:txBody>
      </p:sp>
      <p:sp>
        <p:nvSpPr>
          <p:cNvPr id="21" name="Shape 19"/>
          <p:cNvSpPr/>
          <p:nvPr/>
        </p:nvSpPr>
        <p:spPr>
          <a:xfrm>
            <a:off x="804672" y="5440680"/>
            <a:ext cx="438912" cy="438912"/>
          </a:xfrm>
          <a:prstGeom prst="ellipse">
            <a:avLst/>
          </a:prstGeom>
          <a:solidFill>
            <a:srgbClr val="B07800"/>
          </a:solidFill>
          <a:ln w="12700">
            <a:solidFill>
              <a:srgbClr val="B07800"/>
            </a:solidFill>
            <a:prstDash val="solid"/>
          </a:ln>
        </p:spPr>
        <p:txBody>
          <a:bodyPr/>
          <a:lstStyle/>
          <a:p>
            <a:endParaRPr lang="es-CO"/>
          </a:p>
        </p:txBody>
      </p:sp>
      <p:sp>
        <p:nvSpPr>
          <p:cNvPr id="22" name="Text 20"/>
          <p:cNvSpPr/>
          <p:nvPr/>
        </p:nvSpPr>
        <p:spPr>
          <a:xfrm>
            <a:off x="804672" y="544068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389888" y="5312664"/>
            <a:ext cx="4480560" cy="292608"/>
          </a:xfrm>
          <a:prstGeom prst="rect">
            <a:avLst/>
          </a:prstGeom>
          <a:noFill/>
          <a:ln/>
        </p:spPr>
        <p:txBody>
          <a:bodyPr wrap="square" lIns="0" tIns="0" rIns="0" bIns="0" rtlCol="0" anchor="ctr"/>
          <a:lstStyle/>
          <a:p>
            <a:pPr marL="0" indent="0">
              <a:buNone/>
            </a:pPr>
            <a:r>
              <a:rPr lang="en-US" sz="1350" b="1" kern="0" spc="100" dirty="0">
                <a:solidFill>
                  <a:srgbClr val="B07800"/>
                </a:solidFill>
                <a:latin typeface="Calibri" pitchFamily="34" charset="0"/>
                <a:ea typeface="Calibri" pitchFamily="34" charset="-122"/>
                <a:cs typeface="Calibri" pitchFamily="34" charset="-120"/>
              </a:rPr>
              <a:t>SALIDA</a:t>
            </a:r>
            <a:endParaRPr lang="en-US" sz="1350" dirty="0"/>
          </a:p>
        </p:txBody>
      </p:sp>
      <p:sp>
        <p:nvSpPr>
          <p:cNvPr id="24" name="Text 22"/>
          <p:cNvSpPr/>
          <p:nvPr/>
        </p:nvSpPr>
        <p:spPr>
          <a:xfrm>
            <a:off x="1389888" y="5605272"/>
            <a:ext cx="4526280" cy="457200"/>
          </a:xfrm>
          <a:prstGeom prst="rect">
            <a:avLst/>
          </a:prstGeom>
          <a:noFill/>
          <a:ln/>
        </p:spPr>
        <p:txBody>
          <a:bodyPr wrap="square" lIns="0" tIns="0" rIns="0" bIns="0" rtlCol="0" anchor="t"/>
          <a:lstStyle/>
          <a:p>
            <a:pPr marL="0" indent="0">
              <a:lnSpc>
                <a:spcPts val="1600"/>
              </a:lnSpc>
              <a:buNone/>
            </a:pPr>
            <a:r>
              <a:rPr lang="en-US" sz="1250" dirty="0">
                <a:solidFill>
                  <a:srgbClr val="1A1A2E"/>
                </a:solidFill>
                <a:latin typeface="Calibri" pitchFamily="34" charset="0"/>
                <a:ea typeface="Calibri" pitchFamily="34" charset="-122"/>
                <a:cs typeface="Calibri" pitchFamily="34" charset="-120"/>
              </a:rPr>
              <a:t>El resultado que comunica. Sin salida el algoritmo no sirve.</a:t>
            </a:r>
            <a:endParaRPr lang="en-US" sz="1250" dirty="0"/>
          </a:p>
        </p:txBody>
      </p:sp>
      <p:sp>
        <p:nvSpPr>
          <p:cNvPr id="25" name="Shape 23"/>
          <p:cNvSpPr/>
          <p:nvPr/>
        </p:nvSpPr>
        <p:spPr>
          <a:xfrm>
            <a:off x="6492240" y="2084832"/>
            <a:ext cx="5148072" cy="2788920"/>
          </a:xfrm>
          <a:prstGeom prst="roundRect">
            <a:avLst>
              <a:gd name="adj" fmla="val 2623"/>
            </a:avLst>
          </a:prstGeom>
          <a:solidFill>
            <a:srgbClr val="E8EEF4"/>
          </a:solidFill>
          <a:ln w="12700">
            <a:solidFill>
              <a:srgbClr val="E8EEF4"/>
            </a:solidFill>
            <a:prstDash val="solid"/>
          </a:ln>
        </p:spPr>
        <p:txBody>
          <a:bodyPr/>
          <a:lstStyle/>
          <a:p>
            <a:endParaRPr lang="es-CO"/>
          </a:p>
        </p:txBody>
      </p:sp>
      <p:sp>
        <p:nvSpPr>
          <p:cNvPr id="26" name="Text 24"/>
          <p:cNvSpPr/>
          <p:nvPr/>
        </p:nvSpPr>
        <p:spPr>
          <a:xfrm>
            <a:off x="6784848" y="2286000"/>
            <a:ext cx="4562856" cy="2386584"/>
          </a:xfrm>
          <a:prstGeom prst="rect">
            <a:avLst/>
          </a:prstGeom>
          <a:noFill/>
          <a:ln/>
        </p:spPr>
        <p:txBody>
          <a:bodyPr wrap="square" lIns="0" tIns="0" rIns="0" bIns="0" rtlCol="0" anchor="t"/>
          <a:lstStyle/>
          <a:p>
            <a:pPr marL="0" indent="0">
              <a:lnSpc>
                <a:spcPts val="1920"/>
              </a:lnSpc>
              <a:buNone/>
            </a:pPr>
            <a:r>
              <a:rPr lang="en-US" sz="1200" b="1" dirty="0">
                <a:solidFill>
                  <a:srgbClr val="13294B"/>
                </a:solidFill>
                <a:latin typeface="Courier New" pitchFamily="34" charset="0"/>
                <a:ea typeface="Courier New" pitchFamily="34" charset="-122"/>
                <a:cs typeface="Courier New" pitchFamily="34" charset="-120"/>
              </a:rPr>
              <a:t>Inicio</a:t>
            </a:r>
            <a:endParaRPr lang="en-US" sz="1200" dirty="0"/>
          </a:p>
          <a:p>
            <a:pPr marL="0" indent="0">
              <a:lnSpc>
                <a:spcPts val="1920"/>
              </a:lnSpc>
              <a:buNone/>
            </a:pPr>
            <a:r>
              <a:rPr lang="en-US" sz="1200" b="1" dirty="0">
                <a:solidFill>
                  <a:srgbClr val="13294B"/>
                </a:solidFill>
                <a:latin typeface="Courier New" pitchFamily="34" charset="0"/>
                <a:ea typeface="Courier New" pitchFamily="34" charset="-122"/>
                <a:cs typeface="Courier New" pitchFamily="34" charset="-120"/>
              </a:rPr>
              <a:t>   real precioUnitario, total</a:t>
            </a:r>
            <a:endParaRPr lang="en-US" sz="1200" dirty="0"/>
          </a:p>
          <a:p>
            <a:pPr marL="0" indent="0">
              <a:lnSpc>
                <a:spcPts val="1920"/>
              </a:lnSpc>
              <a:buNone/>
            </a:pPr>
            <a:r>
              <a:rPr lang="en-US" sz="1200" b="1" dirty="0">
                <a:solidFill>
                  <a:srgbClr val="13294B"/>
                </a:solidFill>
                <a:latin typeface="Courier New" pitchFamily="34" charset="0"/>
                <a:ea typeface="Courier New" pitchFamily="34" charset="-122"/>
                <a:cs typeface="Courier New" pitchFamily="34" charset="-120"/>
              </a:rPr>
              <a:t>   entero cantidad</a:t>
            </a:r>
            <a:endParaRPr lang="en-US" sz="1200" dirty="0"/>
          </a:p>
          <a:p>
            <a:pPr marL="0" indent="0">
              <a:lnSpc>
                <a:spcPts val="1920"/>
              </a:lnSpc>
              <a:buNone/>
            </a:pPr>
            <a:endParaRPr lang="en-US" sz="1200" dirty="0"/>
          </a:p>
          <a:p>
            <a:pPr marL="0" indent="0">
              <a:lnSpc>
                <a:spcPts val="1920"/>
              </a:lnSpc>
              <a:buNone/>
            </a:pPr>
            <a:r>
              <a:rPr lang="en-US" sz="1200" b="1" dirty="0">
                <a:solidFill>
                  <a:srgbClr val="13294B"/>
                </a:solidFill>
                <a:latin typeface="Courier New" pitchFamily="34" charset="0"/>
                <a:ea typeface="Courier New" pitchFamily="34" charset="-122"/>
                <a:cs typeface="Courier New" pitchFamily="34" charset="-120"/>
              </a:rPr>
              <a:t>   Leer precioUnitario, cantidad</a:t>
            </a:r>
            <a:endParaRPr lang="en-US" sz="1200" dirty="0"/>
          </a:p>
          <a:p>
            <a:pPr marL="0" indent="0">
              <a:lnSpc>
                <a:spcPts val="1920"/>
              </a:lnSpc>
              <a:buNone/>
            </a:pPr>
            <a:endParaRPr lang="en-US" sz="1200" dirty="0"/>
          </a:p>
          <a:p>
            <a:pPr marL="0" indent="0">
              <a:lnSpc>
                <a:spcPts val="1920"/>
              </a:lnSpc>
              <a:buNone/>
            </a:pPr>
            <a:r>
              <a:rPr lang="en-US" sz="1200" b="1" dirty="0">
                <a:solidFill>
                  <a:srgbClr val="13294B"/>
                </a:solidFill>
                <a:latin typeface="Courier New" pitchFamily="34" charset="0"/>
                <a:ea typeface="Courier New" pitchFamily="34" charset="-122"/>
                <a:cs typeface="Courier New" pitchFamily="34" charset="-120"/>
              </a:rPr>
              <a:t>   total ← precioUnitario * cantidad</a:t>
            </a:r>
            <a:endParaRPr lang="en-US" sz="1200" dirty="0"/>
          </a:p>
          <a:p>
            <a:pPr marL="0" indent="0">
              <a:lnSpc>
                <a:spcPts val="1920"/>
              </a:lnSpc>
              <a:buNone/>
            </a:pPr>
            <a:endParaRPr lang="en-US" sz="1200" dirty="0"/>
          </a:p>
          <a:p>
            <a:pPr marL="0" indent="0">
              <a:lnSpc>
                <a:spcPts val="1920"/>
              </a:lnSpc>
              <a:buNone/>
            </a:pPr>
            <a:r>
              <a:rPr lang="en-US" sz="1200" b="1" dirty="0">
                <a:solidFill>
                  <a:srgbClr val="13294B"/>
                </a:solidFill>
                <a:latin typeface="Courier New" pitchFamily="34" charset="0"/>
                <a:ea typeface="Courier New" pitchFamily="34" charset="-122"/>
                <a:cs typeface="Courier New" pitchFamily="34" charset="-120"/>
              </a:rPr>
              <a:t>   Escribir "Total: ", total</a:t>
            </a:r>
            <a:endParaRPr lang="en-US" sz="1200" dirty="0"/>
          </a:p>
          <a:p>
            <a:pPr marL="0" indent="0">
              <a:lnSpc>
                <a:spcPts val="1920"/>
              </a:lnSpc>
              <a:buNone/>
            </a:pPr>
            <a:r>
              <a:rPr lang="en-US" sz="1200" b="1" dirty="0">
                <a:solidFill>
                  <a:srgbClr val="13294B"/>
                </a:solidFill>
                <a:latin typeface="Courier New" pitchFamily="34" charset="0"/>
                <a:ea typeface="Courier New" pitchFamily="34" charset="-122"/>
                <a:cs typeface="Courier New" pitchFamily="34" charset="-120"/>
              </a:rPr>
              <a:t>Fin</a:t>
            </a:r>
            <a:endParaRPr lang="en-US" sz="1200" dirty="0"/>
          </a:p>
        </p:txBody>
      </p:sp>
      <p:sp>
        <p:nvSpPr>
          <p:cNvPr id="27" name="Shape 25"/>
          <p:cNvSpPr/>
          <p:nvPr/>
        </p:nvSpPr>
        <p:spPr>
          <a:xfrm>
            <a:off x="6492240" y="4983480"/>
            <a:ext cx="5148072" cy="1234440"/>
          </a:xfrm>
          <a:prstGeom prst="roundRect">
            <a:avLst>
              <a:gd name="adj" fmla="val 5926"/>
            </a:avLst>
          </a:prstGeom>
          <a:solidFill>
            <a:srgbClr val="FFF4DE"/>
          </a:solidFill>
          <a:ln w="12700">
            <a:solidFill>
              <a:srgbClr val="FFF4DE"/>
            </a:solidFill>
            <a:prstDash val="solid"/>
          </a:ln>
        </p:spPr>
        <p:txBody>
          <a:bodyPr/>
          <a:lstStyle/>
          <a:p>
            <a:endParaRPr lang="es-CO"/>
          </a:p>
        </p:txBody>
      </p:sp>
      <p:sp>
        <p:nvSpPr>
          <p:cNvPr id="28" name="Text 26"/>
          <p:cNvSpPr/>
          <p:nvPr/>
        </p:nvSpPr>
        <p:spPr>
          <a:xfrm>
            <a:off x="6766560" y="5102352"/>
            <a:ext cx="4617720" cy="1005840"/>
          </a:xfrm>
          <a:prstGeom prst="rect">
            <a:avLst/>
          </a:prstGeom>
          <a:noFill/>
          <a:ln/>
        </p:spPr>
        <p:txBody>
          <a:bodyPr wrap="square" lIns="0" tIns="0" rIns="0" bIns="0" rtlCol="0" anchor="t"/>
          <a:lstStyle/>
          <a:p>
            <a:pPr marL="0" indent="0">
              <a:lnSpc>
                <a:spcPts val="1700"/>
              </a:lnSpc>
              <a:buNone/>
            </a:pPr>
            <a:r>
              <a:rPr lang="en-US" sz="1150" b="1" kern="0" spc="120" dirty="0">
                <a:solidFill>
                  <a:srgbClr val="B07800"/>
                </a:solidFill>
                <a:latin typeface="Calibri" pitchFamily="34" charset="0"/>
                <a:ea typeface="Calibri" pitchFamily="34" charset="-122"/>
                <a:cs typeface="Calibri" pitchFamily="34" charset="-120"/>
              </a:rPr>
              <a:t>LO NUEVO DE HOY
</a:t>
            </a:r>
            <a:endParaRPr lang="en-US" sz="1150" dirty="0"/>
          </a:p>
          <a:p>
            <a:pPr marL="0" indent="0">
              <a:lnSpc>
                <a:spcPts val="1700"/>
              </a:lnSpc>
              <a:buNone/>
            </a:pPr>
            <a:r>
              <a:rPr lang="en-US" sz="1250" dirty="0">
                <a:solidFill>
                  <a:srgbClr val="1A1A2E"/>
                </a:solidFill>
                <a:latin typeface="Calibri" pitchFamily="34" charset="0"/>
                <a:ea typeface="Calibri" pitchFamily="34" charset="-122"/>
                <a:cs typeface="Calibri" pitchFamily="34" charset="-120"/>
              </a:rPr>
              <a:t>La primera parte. Antes de leer o calcular, un algoritmo dice qué datos va a usar y de qué tipo son. En Java es obligatorio; aquí lo hacemos desde el pseudocódigo.</a:t>
            </a:r>
            <a:endParaRPr lang="en-US" sz="1150" dirty="0"/>
          </a:p>
        </p:txBody>
      </p:sp>
      <p:sp>
        <p:nvSpPr>
          <p:cNvPr id="29" name="Text 27"/>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CASO GUÍA · CONSTRUCCIÓN CONJUNTA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El promedio de tres notas</a:t>
            </a:r>
            <a:endParaRPr lang="en-US" sz="2900" dirty="0"/>
          </a:p>
        </p:txBody>
      </p:sp>
      <p:sp>
        <p:nvSpPr>
          <p:cNvPr id="4" name="Shape 2"/>
          <p:cNvSpPr/>
          <p:nvPr/>
        </p:nvSpPr>
        <p:spPr>
          <a:xfrm>
            <a:off x="548640" y="1444752"/>
            <a:ext cx="11091672" cy="658368"/>
          </a:xfrm>
          <a:prstGeom prst="roundRect">
            <a:avLst>
              <a:gd name="adj" fmla="val 11111"/>
            </a:avLst>
          </a:prstGeom>
          <a:solidFill>
            <a:srgbClr val="E8EEF4"/>
          </a:solidFill>
          <a:ln w="12700">
            <a:solidFill>
              <a:srgbClr val="E8EEF4"/>
            </a:solidFill>
            <a:prstDash val="solid"/>
          </a:ln>
        </p:spPr>
        <p:txBody>
          <a:bodyPr/>
          <a:lstStyle/>
          <a:p>
            <a:endParaRPr lang="es-CO"/>
          </a:p>
        </p:txBody>
      </p:sp>
      <p:sp>
        <p:nvSpPr>
          <p:cNvPr id="5" name="Text 3"/>
          <p:cNvSpPr/>
          <p:nvPr/>
        </p:nvSpPr>
        <p:spPr>
          <a:xfrm>
            <a:off x="868680" y="1444752"/>
            <a:ext cx="10451592" cy="658368"/>
          </a:xfrm>
          <a:prstGeom prst="rect">
            <a:avLst/>
          </a:prstGeom>
          <a:noFill/>
          <a:ln/>
        </p:spPr>
        <p:txBody>
          <a:bodyPr wrap="square" lIns="0" tIns="0" rIns="0" bIns="0" rtlCol="0" anchor="ctr"/>
          <a:lstStyle/>
          <a:p>
            <a:pPr marL="0" indent="0">
              <a:buNone/>
            </a:pPr>
            <a:r>
              <a:rPr lang="en-US" sz="1500" i="1" dirty="0">
                <a:solidFill>
                  <a:srgbClr val="13294B"/>
                </a:solidFill>
                <a:latin typeface="Calibri" pitchFamily="34" charset="0"/>
                <a:ea typeface="Calibri" pitchFamily="34" charset="-122"/>
                <a:cs typeface="Calibri" pitchFamily="34" charset="-120"/>
              </a:rPr>
              <a:t>«Un estudiante necesita conocer su promedio en una asignatura a partir de sus tres notas parciales.»</a:t>
            </a:r>
            <a:endParaRPr lang="en-US" sz="1500" dirty="0"/>
          </a:p>
        </p:txBody>
      </p:sp>
      <p:sp>
        <p:nvSpPr>
          <p:cNvPr id="6" name="Shape 4"/>
          <p:cNvSpPr/>
          <p:nvPr/>
        </p:nvSpPr>
        <p:spPr>
          <a:xfrm>
            <a:off x="548640" y="2240280"/>
            <a:ext cx="5349240" cy="3977640"/>
          </a:xfrm>
          <a:prstGeom prst="roundRect">
            <a:avLst>
              <a:gd name="adj" fmla="val 1839"/>
            </a:avLst>
          </a:prstGeom>
          <a:solidFill>
            <a:srgbClr val="E8EEF4"/>
          </a:solidFill>
          <a:ln w="12700">
            <a:solidFill>
              <a:srgbClr val="E8EEF4"/>
            </a:solidFill>
            <a:prstDash val="solid"/>
          </a:ln>
        </p:spPr>
        <p:txBody>
          <a:bodyPr/>
          <a:lstStyle/>
          <a:p>
            <a:endParaRPr lang="es-CO"/>
          </a:p>
        </p:txBody>
      </p:sp>
      <p:sp>
        <p:nvSpPr>
          <p:cNvPr id="7" name="Shape 5"/>
          <p:cNvSpPr/>
          <p:nvPr/>
        </p:nvSpPr>
        <p:spPr>
          <a:xfrm>
            <a:off x="2446020" y="2487168"/>
            <a:ext cx="1554480" cy="365760"/>
          </a:xfrm>
          <a:prstGeom prst="ellipse">
            <a:avLst/>
          </a:prstGeom>
          <a:solidFill>
            <a:srgbClr val="13294B"/>
          </a:solidFill>
          <a:ln w="17780">
            <a:solidFill>
              <a:srgbClr val="13294B"/>
            </a:solidFill>
            <a:prstDash val="solid"/>
          </a:ln>
        </p:spPr>
        <p:txBody>
          <a:bodyPr/>
          <a:lstStyle/>
          <a:p>
            <a:endParaRPr lang="es-CO"/>
          </a:p>
        </p:txBody>
      </p:sp>
      <p:sp>
        <p:nvSpPr>
          <p:cNvPr id="8" name="Text 6"/>
          <p:cNvSpPr/>
          <p:nvPr/>
        </p:nvSpPr>
        <p:spPr>
          <a:xfrm>
            <a:off x="2446020" y="2487168"/>
            <a:ext cx="1554480" cy="365760"/>
          </a:xfrm>
          <a:prstGeom prst="rect">
            <a:avLst/>
          </a:prstGeom>
          <a:noFill/>
          <a:ln/>
        </p:spPr>
        <p:txBody>
          <a:bodyPr wrap="square" lIns="0" tIns="0" rIns="0" bIns="0" rtlCol="0" anchor="ctr"/>
          <a:lstStyle/>
          <a:p>
            <a:pPr marL="0" indent="0" algn="ctr">
              <a:lnSpc>
                <a:spcPts val="1200"/>
              </a:lnSpc>
              <a:buNone/>
            </a:pPr>
            <a:r>
              <a:rPr lang="en-US" sz="1050" b="1" dirty="0">
                <a:solidFill>
                  <a:srgbClr val="FFFFFF"/>
                </a:solidFill>
                <a:latin typeface="Calibri" pitchFamily="34" charset="0"/>
                <a:ea typeface="Calibri" pitchFamily="34" charset="-122"/>
                <a:cs typeface="Calibri" pitchFamily="34" charset="-120"/>
              </a:rPr>
              <a:t>INICIO</a:t>
            </a:r>
            <a:endParaRPr lang="en-US" sz="1050" dirty="0"/>
          </a:p>
        </p:txBody>
      </p:sp>
      <p:sp>
        <p:nvSpPr>
          <p:cNvPr id="9" name="Shape 7"/>
          <p:cNvSpPr/>
          <p:nvPr/>
        </p:nvSpPr>
        <p:spPr>
          <a:xfrm>
            <a:off x="3223260" y="2852928"/>
            <a:ext cx="0" cy="310896"/>
          </a:xfrm>
          <a:prstGeom prst="line">
            <a:avLst/>
          </a:prstGeom>
          <a:noFill/>
          <a:ln w="19050">
            <a:solidFill>
              <a:srgbClr val="13294B"/>
            </a:solidFill>
            <a:prstDash val="solid"/>
            <a:tailEnd type="triangle"/>
          </a:ln>
        </p:spPr>
        <p:txBody>
          <a:bodyPr/>
          <a:lstStyle/>
          <a:p>
            <a:endParaRPr lang="es-CO"/>
          </a:p>
        </p:txBody>
      </p:sp>
      <p:sp>
        <p:nvSpPr>
          <p:cNvPr id="10" name="Shape 8"/>
          <p:cNvSpPr/>
          <p:nvPr/>
        </p:nvSpPr>
        <p:spPr>
          <a:xfrm>
            <a:off x="1623060" y="3163824"/>
            <a:ext cx="3200400" cy="402336"/>
          </a:xfrm>
          <a:prstGeom prst="parallelogram">
            <a:avLst/>
          </a:prstGeom>
          <a:solidFill>
            <a:srgbClr val="FFFFFF"/>
          </a:solidFill>
          <a:ln w="17780">
            <a:solidFill>
              <a:srgbClr val="13294B"/>
            </a:solidFill>
            <a:prstDash val="solid"/>
          </a:ln>
        </p:spPr>
        <p:txBody>
          <a:bodyPr/>
          <a:lstStyle/>
          <a:p>
            <a:endParaRPr lang="es-CO"/>
          </a:p>
        </p:txBody>
      </p:sp>
      <p:sp>
        <p:nvSpPr>
          <p:cNvPr id="11" name="Text 9"/>
          <p:cNvSpPr/>
          <p:nvPr/>
        </p:nvSpPr>
        <p:spPr>
          <a:xfrm>
            <a:off x="1623060" y="3163824"/>
            <a:ext cx="3200400" cy="402336"/>
          </a:xfrm>
          <a:prstGeom prst="rect">
            <a:avLst/>
          </a:prstGeom>
          <a:noFill/>
          <a:ln/>
        </p:spPr>
        <p:txBody>
          <a:bodyPr wrap="square" lIns="0" tIns="0" rIns="0" bIns="0" rtlCol="0" anchor="ctr"/>
          <a:lstStyle/>
          <a:p>
            <a:pPr marL="0" indent="0" algn="ctr">
              <a:lnSpc>
                <a:spcPts val="1200"/>
              </a:lnSpc>
              <a:buNone/>
            </a:pPr>
            <a:r>
              <a:rPr lang="en-US" sz="1050" b="1" dirty="0">
                <a:solidFill>
                  <a:srgbClr val="13294B"/>
                </a:solidFill>
                <a:latin typeface="Calibri" pitchFamily="34" charset="0"/>
                <a:ea typeface="Calibri" pitchFamily="34" charset="-122"/>
                <a:cs typeface="Calibri" pitchFamily="34" charset="-120"/>
              </a:rPr>
              <a:t>Leer nota1, nota2, nota3</a:t>
            </a:r>
            <a:endParaRPr lang="en-US" sz="1050" dirty="0"/>
          </a:p>
        </p:txBody>
      </p:sp>
      <p:sp>
        <p:nvSpPr>
          <p:cNvPr id="12" name="Shape 10"/>
          <p:cNvSpPr/>
          <p:nvPr/>
        </p:nvSpPr>
        <p:spPr>
          <a:xfrm>
            <a:off x="3223260" y="3566160"/>
            <a:ext cx="0" cy="310896"/>
          </a:xfrm>
          <a:prstGeom prst="line">
            <a:avLst/>
          </a:prstGeom>
          <a:noFill/>
          <a:ln w="19050">
            <a:solidFill>
              <a:srgbClr val="13294B"/>
            </a:solidFill>
            <a:prstDash val="solid"/>
            <a:tailEnd type="triangle"/>
          </a:ln>
        </p:spPr>
        <p:txBody>
          <a:bodyPr/>
          <a:lstStyle/>
          <a:p>
            <a:endParaRPr lang="es-CO"/>
          </a:p>
        </p:txBody>
      </p:sp>
      <p:sp>
        <p:nvSpPr>
          <p:cNvPr id="13" name="Shape 11"/>
          <p:cNvSpPr/>
          <p:nvPr/>
        </p:nvSpPr>
        <p:spPr>
          <a:xfrm>
            <a:off x="1485900" y="3877056"/>
            <a:ext cx="3474720" cy="548640"/>
          </a:xfrm>
          <a:prstGeom prst="rect">
            <a:avLst/>
          </a:prstGeom>
          <a:solidFill>
            <a:srgbClr val="FFFFFF"/>
          </a:solidFill>
          <a:ln w="17780">
            <a:solidFill>
              <a:srgbClr val="13294B"/>
            </a:solidFill>
            <a:prstDash val="solid"/>
          </a:ln>
        </p:spPr>
        <p:txBody>
          <a:bodyPr/>
          <a:lstStyle/>
          <a:p>
            <a:endParaRPr lang="es-CO"/>
          </a:p>
        </p:txBody>
      </p:sp>
      <p:sp>
        <p:nvSpPr>
          <p:cNvPr id="14" name="Text 12"/>
          <p:cNvSpPr/>
          <p:nvPr/>
        </p:nvSpPr>
        <p:spPr>
          <a:xfrm>
            <a:off x="1485900" y="3877056"/>
            <a:ext cx="347472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13294B"/>
                </a:solidFill>
                <a:latin typeface="Calibri" pitchFamily="34" charset="0"/>
                <a:ea typeface="Calibri" pitchFamily="34" charset="-122"/>
                <a:cs typeface="Calibri" pitchFamily="34" charset="-120"/>
              </a:rPr>
              <a:t>promedio ← (nota1 + nota2</a:t>
            </a:r>
            <a:endParaRPr lang="en-US" sz="1050" dirty="0"/>
          </a:p>
          <a:p>
            <a:pPr marL="0" indent="0" algn="ctr">
              <a:lnSpc>
                <a:spcPts val="1200"/>
              </a:lnSpc>
              <a:buNone/>
            </a:pPr>
            <a:r>
              <a:rPr lang="en-US" sz="1050" b="1" dirty="0">
                <a:solidFill>
                  <a:srgbClr val="13294B"/>
                </a:solidFill>
                <a:latin typeface="Calibri" pitchFamily="34" charset="0"/>
                <a:ea typeface="Calibri" pitchFamily="34" charset="-122"/>
                <a:cs typeface="Calibri" pitchFamily="34" charset="-120"/>
              </a:rPr>
              <a:t>+ nota3) / 3</a:t>
            </a:r>
            <a:endParaRPr lang="en-US" sz="1050" dirty="0"/>
          </a:p>
        </p:txBody>
      </p:sp>
      <p:sp>
        <p:nvSpPr>
          <p:cNvPr id="15" name="Shape 13"/>
          <p:cNvSpPr/>
          <p:nvPr/>
        </p:nvSpPr>
        <p:spPr>
          <a:xfrm>
            <a:off x="3223260" y="4425696"/>
            <a:ext cx="0" cy="310896"/>
          </a:xfrm>
          <a:prstGeom prst="line">
            <a:avLst/>
          </a:prstGeom>
          <a:noFill/>
          <a:ln w="19050">
            <a:solidFill>
              <a:srgbClr val="13294B"/>
            </a:solidFill>
            <a:prstDash val="solid"/>
            <a:tailEnd type="triangle"/>
          </a:ln>
        </p:spPr>
        <p:txBody>
          <a:bodyPr/>
          <a:lstStyle/>
          <a:p>
            <a:endParaRPr lang="es-CO"/>
          </a:p>
        </p:txBody>
      </p:sp>
      <p:sp>
        <p:nvSpPr>
          <p:cNvPr id="16" name="Shape 14"/>
          <p:cNvSpPr/>
          <p:nvPr/>
        </p:nvSpPr>
        <p:spPr>
          <a:xfrm>
            <a:off x="1485900" y="4736592"/>
            <a:ext cx="3474720" cy="548640"/>
          </a:xfrm>
          <a:prstGeom prst="parallelogram">
            <a:avLst/>
          </a:prstGeom>
          <a:solidFill>
            <a:srgbClr val="FFFFFF"/>
          </a:solidFill>
          <a:ln w="17780">
            <a:solidFill>
              <a:srgbClr val="13294B"/>
            </a:solidFill>
            <a:prstDash val="solid"/>
          </a:ln>
        </p:spPr>
        <p:txBody>
          <a:bodyPr/>
          <a:lstStyle/>
          <a:p>
            <a:endParaRPr lang="es-CO"/>
          </a:p>
        </p:txBody>
      </p:sp>
      <p:sp>
        <p:nvSpPr>
          <p:cNvPr id="17" name="Text 15"/>
          <p:cNvSpPr/>
          <p:nvPr/>
        </p:nvSpPr>
        <p:spPr>
          <a:xfrm>
            <a:off x="1485900" y="4736592"/>
            <a:ext cx="3474720" cy="548640"/>
          </a:xfrm>
          <a:prstGeom prst="rect">
            <a:avLst/>
          </a:prstGeom>
          <a:noFill/>
          <a:ln/>
        </p:spPr>
        <p:txBody>
          <a:bodyPr wrap="square" lIns="0" tIns="0" rIns="0" bIns="0" rtlCol="0" anchor="ctr"/>
          <a:lstStyle/>
          <a:p>
            <a:pPr marL="0" indent="0" algn="ctr">
              <a:lnSpc>
                <a:spcPts val="1200"/>
              </a:lnSpc>
              <a:buNone/>
            </a:pPr>
            <a:r>
              <a:rPr lang="en-US" sz="1050" b="1" dirty="0">
                <a:solidFill>
                  <a:srgbClr val="13294B"/>
                </a:solidFill>
                <a:latin typeface="Calibri" pitchFamily="34" charset="0"/>
                <a:ea typeface="Calibri" pitchFamily="34" charset="-122"/>
                <a:cs typeface="Calibri" pitchFamily="34" charset="-120"/>
              </a:rPr>
              <a:t>Escribir "El promedio es: ",</a:t>
            </a:r>
            <a:endParaRPr lang="en-US" sz="1050" dirty="0"/>
          </a:p>
          <a:p>
            <a:pPr marL="0" indent="0" algn="ctr">
              <a:lnSpc>
                <a:spcPts val="1200"/>
              </a:lnSpc>
              <a:buNone/>
            </a:pPr>
            <a:r>
              <a:rPr lang="en-US" sz="1050" b="1" dirty="0">
                <a:solidFill>
                  <a:srgbClr val="13294B"/>
                </a:solidFill>
                <a:latin typeface="Calibri" pitchFamily="34" charset="0"/>
                <a:ea typeface="Calibri" pitchFamily="34" charset="-122"/>
                <a:cs typeface="Calibri" pitchFamily="34" charset="-120"/>
              </a:rPr>
              <a:t>promedio</a:t>
            </a:r>
            <a:endParaRPr lang="en-US" sz="1050" dirty="0"/>
          </a:p>
        </p:txBody>
      </p:sp>
      <p:sp>
        <p:nvSpPr>
          <p:cNvPr id="18" name="Shape 16"/>
          <p:cNvSpPr/>
          <p:nvPr/>
        </p:nvSpPr>
        <p:spPr>
          <a:xfrm>
            <a:off x="3223260" y="5285232"/>
            <a:ext cx="0" cy="310896"/>
          </a:xfrm>
          <a:prstGeom prst="line">
            <a:avLst/>
          </a:prstGeom>
          <a:noFill/>
          <a:ln w="19050">
            <a:solidFill>
              <a:srgbClr val="13294B"/>
            </a:solidFill>
            <a:prstDash val="solid"/>
            <a:tailEnd type="triangle"/>
          </a:ln>
        </p:spPr>
        <p:txBody>
          <a:bodyPr/>
          <a:lstStyle/>
          <a:p>
            <a:endParaRPr lang="es-CO"/>
          </a:p>
        </p:txBody>
      </p:sp>
      <p:sp>
        <p:nvSpPr>
          <p:cNvPr id="19" name="Shape 17"/>
          <p:cNvSpPr/>
          <p:nvPr/>
        </p:nvSpPr>
        <p:spPr>
          <a:xfrm>
            <a:off x="2446020" y="5596128"/>
            <a:ext cx="1554480" cy="365760"/>
          </a:xfrm>
          <a:prstGeom prst="ellipse">
            <a:avLst/>
          </a:prstGeom>
          <a:solidFill>
            <a:srgbClr val="13294B"/>
          </a:solidFill>
          <a:ln w="17780">
            <a:solidFill>
              <a:srgbClr val="13294B"/>
            </a:solidFill>
            <a:prstDash val="solid"/>
          </a:ln>
        </p:spPr>
        <p:txBody>
          <a:bodyPr/>
          <a:lstStyle/>
          <a:p>
            <a:endParaRPr lang="es-CO"/>
          </a:p>
        </p:txBody>
      </p:sp>
      <p:sp>
        <p:nvSpPr>
          <p:cNvPr id="20" name="Text 18"/>
          <p:cNvSpPr/>
          <p:nvPr/>
        </p:nvSpPr>
        <p:spPr>
          <a:xfrm>
            <a:off x="2446020" y="5596128"/>
            <a:ext cx="1554480" cy="365760"/>
          </a:xfrm>
          <a:prstGeom prst="rect">
            <a:avLst/>
          </a:prstGeom>
          <a:noFill/>
          <a:ln/>
        </p:spPr>
        <p:txBody>
          <a:bodyPr wrap="square" lIns="0" tIns="0" rIns="0" bIns="0" rtlCol="0" anchor="ctr"/>
          <a:lstStyle/>
          <a:p>
            <a:pPr marL="0" indent="0" algn="ctr">
              <a:lnSpc>
                <a:spcPts val="1200"/>
              </a:lnSpc>
              <a:buNone/>
            </a:pPr>
            <a:r>
              <a:rPr lang="en-US" sz="1050" b="1" dirty="0">
                <a:solidFill>
                  <a:srgbClr val="FFFFFF"/>
                </a:solidFill>
                <a:latin typeface="Calibri" pitchFamily="34" charset="0"/>
                <a:ea typeface="Calibri" pitchFamily="34" charset="-122"/>
                <a:cs typeface="Calibri" pitchFamily="34" charset="-120"/>
              </a:rPr>
              <a:t>FIN</a:t>
            </a:r>
            <a:endParaRPr lang="en-US" sz="10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291072" y="2240280"/>
          <a:ext cx="5349240" cy="1737360"/>
        </p:xfrm>
        <a:graphic>
          <a:graphicData uri="http://schemas.openxmlformats.org/drawingml/2006/table">
            <a:tbl>
              <a:tblPr/>
              <a:tblGrid>
                <a:gridCol w="146304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Parte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Respuesta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Entrada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nota1, nota2, nota3  ·  tres datos reales</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Proceso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promedio ← (nota1 + nota2 + nota3) / 3</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Salida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el promedio, con un texto que lo explique</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2" name="Shape 19"/>
          <p:cNvSpPr/>
          <p:nvPr/>
        </p:nvSpPr>
        <p:spPr>
          <a:xfrm>
            <a:off x="6291072" y="4069080"/>
            <a:ext cx="5349240" cy="1645920"/>
          </a:xfrm>
          <a:prstGeom prst="roundRect">
            <a:avLst>
              <a:gd name="adj" fmla="val 4444"/>
            </a:avLst>
          </a:prstGeom>
          <a:solidFill>
            <a:srgbClr val="E8EEF4"/>
          </a:solidFill>
          <a:ln w="12700">
            <a:solidFill>
              <a:srgbClr val="E8EEF4"/>
            </a:solidFill>
            <a:prstDash val="solid"/>
          </a:ln>
        </p:spPr>
        <p:txBody>
          <a:bodyPr/>
          <a:lstStyle/>
          <a:p>
            <a:endParaRPr lang="es-CO"/>
          </a:p>
        </p:txBody>
      </p:sp>
      <p:sp>
        <p:nvSpPr>
          <p:cNvPr id="23" name="Text 20"/>
          <p:cNvSpPr/>
          <p:nvPr/>
        </p:nvSpPr>
        <p:spPr>
          <a:xfrm>
            <a:off x="6583680" y="4270248"/>
            <a:ext cx="4764024" cy="1243584"/>
          </a:xfrm>
          <a:prstGeom prst="rect">
            <a:avLst/>
          </a:prstGeom>
          <a:noFill/>
          <a:ln/>
        </p:spPr>
        <p:txBody>
          <a:bodyPr wrap="square" lIns="0" tIns="0" rIns="0" bIns="0" rtlCol="0" anchor="t"/>
          <a:lstStyle/>
          <a:p>
            <a:pPr marL="0" indent="0">
              <a:lnSpc>
                <a:spcPts val="1600"/>
              </a:lnSpc>
              <a:buNone/>
            </a:pPr>
            <a:r>
              <a:rPr lang="en-US" sz="1000" b="1" dirty="0">
                <a:solidFill>
                  <a:srgbClr val="13294B"/>
                </a:solidFill>
                <a:latin typeface="Courier New" pitchFamily="34" charset="0"/>
                <a:ea typeface="Courier New" pitchFamily="34" charset="-122"/>
                <a:cs typeface="Courier New" pitchFamily="34" charset="-120"/>
              </a:rPr>
              <a:t>Inicio</a:t>
            </a:r>
            <a:endParaRPr lang="en-US" sz="1000" dirty="0"/>
          </a:p>
          <a:p>
            <a:pPr marL="0" indent="0">
              <a:lnSpc>
                <a:spcPts val="1600"/>
              </a:lnSpc>
              <a:buNone/>
            </a:pPr>
            <a:r>
              <a:rPr lang="en-US" sz="1000" b="1" dirty="0">
                <a:solidFill>
                  <a:srgbClr val="13294B"/>
                </a:solidFill>
                <a:latin typeface="Courier New" pitchFamily="34" charset="0"/>
                <a:ea typeface="Courier New" pitchFamily="34" charset="-122"/>
                <a:cs typeface="Courier New" pitchFamily="34" charset="-120"/>
              </a:rPr>
              <a:t>   real nota1, nota2, nota3, promedio</a:t>
            </a:r>
            <a:endParaRPr lang="en-US" sz="1000" dirty="0"/>
          </a:p>
          <a:p>
            <a:pPr marL="0" indent="0">
              <a:lnSpc>
                <a:spcPts val="1600"/>
              </a:lnSpc>
              <a:buNone/>
            </a:pPr>
            <a:r>
              <a:rPr lang="en-US" sz="1000" b="1" dirty="0">
                <a:solidFill>
                  <a:srgbClr val="13294B"/>
                </a:solidFill>
                <a:latin typeface="Courier New" pitchFamily="34" charset="0"/>
                <a:ea typeface="Courier New" pitchFamily="34" charset="-122"/>
                <a:cs typeface="Courier New" pitchFamily="34" charset="-120"/>
              </a:rPr>
              <a:t>   Leer nota1, nota2, nota3</a:t>
            </a:r>
            <a:endParaRPr lang="en-US" sz="1000" dirty="0"/>
          </a:p>
          <a:p>
            <a:pPr marL="0" indent="0">
              <a:lnSpc>
                <a:spcPts val="1600"/>
              </a:lnSpc>
              <a:buNone/>
            </a:pPr>
            <a:r>
              <a:rPr lang="en-US" sz="1000" b="1" dirty="0">
                <a:solidFill>
                  <a:srgbClr val="13294B"/>
                </a:solidFill>
                <a:latin typeface="Courier New" pitchFamily="34" charset="0"/>
                <a:ea typeface="Courier New" pitchFamily="34" charset="-122"/>
                <a:cs typeface="Courier New" pitchFamily="34" charset="-120"/>
              </a:rPr>
              <a:t>   promedio ← (nota1+nota2+nota3)/3</a:t>
            </a:r>
            <a:endParaRPr lang="en-US" sz="1000" dirty="0"/>
          </a:p>
          <a:p>
            <a:pPr marL="0" indent="0">
              <a:lnSpc>
                <a:spcPts val="1600"/>
              </a:lnSpc>
              <a:buNone/>
            </a:pPr>
            <a:r>
              <a:rPr lang="en-US" sz="1000" b="1" dirty="0">
                <a:solidFill>
                  <a:srgbClr val="13294B"/>
                </a:solidFill>
                <a:latin typeface="Courier New" pitchFamily="34" charset="0"/>
                <a:ea typeface="Courier New" pitchFamily="34" charset="-122"/>
                <a:cs typeface="Courier New" pitchFamily="34" charset="-120"/>
              </a:rPr>
              <a:t>   Escribir "El promedio es: ", promedio</a:t>
            </a:r>
            <a:endParaRPr lang="en-US" sz="1000" dirty="0"/>
          </a:p>
          <a:p>
            <a:pPr marL="0" indent="0">
              <a:lnSpc>
                <a:spcPts val="1600"/>
              </a:lnSpc>
              <a:buNone/>
            </a:pPr>
            <a:r>
              <a:rPr lang="en-US" sz="1000" b="1" dirty="0">
                <a:solidFill>
                  <a:srgbClr val="13294B"/>
                </a:solidFill>
                <a:latin typeface="Courier New" pitchFamily="34" charset="0"/>
                <a:ea typeface="Courier New" pitchFamily="34" charset="-122"/>
                <a:cs typeface="Courier New" pitchFamily="34" charset="-120"/>
              </a:rPr>
              <a:t>Fin</a:t>
            </a:r>
            <a:endParaRPr lang="en-US" sz="1000" dirty="0"/>
          </a:p>
        </p:txBody>
      </p:sp>
      <p:sp>
        <p:nvSpPr>
          <p:cNvPr id="24" name="Shape 21"/>
          <p:cNvSpPr/>
          <p:nvPr/>
        </p:nvSpPr>
        <p:spPr>
          <a:xfrm>
            <a:off x="6291072" y="5779008"/>
            <a:ext cx="5349240" cy="457200"/>
          </a:xfrm>
          <a:prstGeom prst="roundRect">
            <a:avLst>
              <a:gd name="adj" fmla="val 16000"/>
            </a:avLst>
          </a:prstGeom>
          <a:solidFill>
            <a:srgbClr val="13294B"/>
          </a:solidFill>
          <a:ln w="12700">
            <a:solidFill>
              <a:srgbClr val="13294B"/>
            </a:solidFill>
            <a:prstDash val="solid"/>
          </a:ln>
        </p:spPr>
        <p:txBody>
          <a:bodyPr/>
          <a:lstStyle/>
          <a:p>
            <a:endParaRPr lang="es-CO"/>
          </a:p>
        </p:txBody>
      </p:sp>
      <p:sp>
        <p:nvSpPr>
          <p:cNvPr id="25" name="Text 22"/>
          <p:cNvSpPr/>
          <p:nvPr/>
        </p:nvSpPr>
        <p:spPr>
          <a:xfrm>
            <a:off x="6565392" y="5779008"/>
            <a:ext cx="4800600" cy="457200"/>
          </a:xfrm>
          <a:prstGeom prst="rect">
            <a:avLst/>
          </a:prstGeom>
          <a:noFill/>
          <a:ln/>
        </p:spPr>
        <p:txBody>
          <a:bodyPr wrap="square" lIns="0" tIns="0" rIns="0" bIns="0" rtlCol="0" anchor="ctr"/>
          <a:lstStyle/>
          <a:p>
            <a:pPr marL="0" indent="0">
              <a:buNone/>
            </a:pPr>
            <a:r>
              <a:rPr lang="en-US" sz="1200" b="1" dirty="0">
                <a:solidFill>
                  <a:srgbClr val="FFB100"/>
                </a:solidFill>
                <a:latin typeface="Calibri" pitchFamily="34" charset="0"/>
                <a:ea typeface="Calibri" pitchFamily="34" charset="-122"/>
                <a:cs typeface="Calibri" pitchFamily="34" charset="-120"/>
              </a:rPr>
              <a:t>FÍJATE EN EL PARÉNTESIS:  </a:t>
            </a:r>
            <a:r>
              <a:rPr lang="en-US" sz="1200" dirty="0">
                <a:solidFill>
                  <a:srgbClr val="FFFFFF"/>
                </a:solidFill>
                <a:latin typeface="Calibri" pitchFamily="34" charset="0"/>
                <a:ea typeface="Calibri" pitchFamily="34" charset="-122"/>
                <a:cs typeface="Calibri" pitchFamily="34" charset="-120"/>
              </a:rPr>
              <a:t>sin él solo se dividiría la tercera nota.</a:t>
            </a:r>
            <a:endParaRPr lang="en-US" sz="1200" dirty="0"/>
          </a:p>
        </p:txBody>
      </p:sp>
      <p:sp>
        <p:nvSpPr>
          <p:cNvPr id="26" name="Text 23"/>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2</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Del enunciado a los tres lenguajes algorítmicos</a:t>
            </a:r>
            <a:endParaRPr lang="en-US" sz="2900" dirty="0"/>
          </a:p>
        </p:txBody>
      </p:sp>
      <p:sp>
        <p:nvSpPr>
          <p:cNvPr id="4" name="Shape 2"/>
          <p:cNvSpPr/>
          <p:nvPr/>
        </p:nvSpPr>
        <p:spPr>
          <a:xfrm>
            <a:off x="548640" y="1554480"/>
            <a:ext cx="11091672" cy="713232"/>
          </a:xfrm>
          <a:prstGeom prst="roundRect">
            <a:avLst>
              <a:gd name="adj" fmla="val 10256"/>
            </a:avLst>
          </a:prstGeom>
          <a:solidFill>
            <a:srgbClr val="E8EEF4"/>
          </a:solidFill>
          <a:ln w="12700">
            <a:solidFill>
              <a:srgbClr val="E8EEF4"/>
            </a:solidFill>
            <a:prstDash val="solid"/>
          </a:ln>
        </p:spPr>
        <p:txBody>
          <a:bodyPr/>
          <a:lstStyle/>
          <a:p>
            <a:endParaRPr lang="es-CO"/>
          </a:p>
        </p:txBody>
      </p:sp>
      <p:sp>
        <p:nvSpPr>
          <p:cNvPr id="5" name="Text 3"/>
          <p:cNvSpPr/>
          <p:nvPr/>
        </p:nvSpPr>
        <p:spPr>
          <a:xfrm>
            <a:off x="868680" y="1554480"/>
            <a:ext cx="10451592" cy="713232"/>
          </a:xfrm>
          <a:prstGeom prst="rect">
            <a:avLst/>
          </a:prstGeom>
          <a:noFill/>
          <a:ln/>
        </p:spPr>
        <p:txBody>
          <a:bodyPr wrap="square" lIns="0" tIns="0" rIns="0" bIns="0" rtlCol="0" anchor="ctr"/>
          <a:lstStyle/>
          <a:p>
            <a:pPr marL="0" indent="0">
              <a:buNone/>
            </a:pPr>
            <a:r>
              <a:rPr lang="en-US" sz="1450" i="1" dirty="0">
                <a:solidFill>
                  <a:srgbClr val="13294B"/>
                </a:solidFill>
                <a:latin typeface="Calibri" pitchFamily="34" charset="0"/>
                <a:ea typeface="Calibri" pitchFamily="34" charset="-122"/>
                <a:cs typeface="Calibri" pitchFamily="34" charset="-120"/>
              </a:rPr>
              <a:t>«Una estación meteorológica registra la temperatura en grados Celsius y debe reportarla en grados Fahrenheit. La fórmula de conversión es  F = C × 9 / 5 + 32.»</a:t>
            </a:r>
            <a:endParaRPr lang="en-US" sz="1450" dirty="0"/>
          </a:p>
        </p:txBody>
      </p:sp>
      <p:sp>
        <p:nvSpPr>
          <p:cNvPr id="6" name="Text 4"/>
          <p:cNvSpPr/>
          <p:nvPr/>
        </p:nvSpPr>
        <p:spPr>
          <a:xfrm>
            <a:off x="548640" y="2414016"/>
            <a:ext cx="5486400" cy="274320"/>
          </a:xfrm>
          <a:prstGeom prst="rect">
            <a:avLst/>
          </a:prstGeom>
          <a:noFill/>
          <a:ln/>
        </p:spPr>
        <p:txBody>
          <a:bodyPr wrap="square" lIns="0" tIns="0" rIns="0" bIns="0" rtlCol="0" anchor="ctr"/>
          <a:lstStyle/>
          <a:p>
            <a:pPr marL="0" indent="0">
              <a:buNone/>
            </a:pPr>
            <a:r>
              <a:rPr lang="en-US" sz="1150" b="1" kern="0" spc="120" dirty="0">
                <a:solidFill>
                  <a:srgbClr val="1C7293"/>
                </a:solidFill>
                <a:latin typeface="Calibri" pitchFamily="34" charset="0"/>
                <a:ea typeface="Calibri" pitchFamily="34" charset="-122"/>
                <a:cs typeface="Calibri" pitchFamily="34" charset="-120"/>
              </a:rPr>
              <a:t>INSTRUCCIONES DE ENTREGA</a:t>
            </a:r>
            <a:endParaRPr lang="en-US" sz="1150" dirty="0"/>
          </a:p>
        </p:txBody>
      </p:sp>
      <p:sp>
        <p:nvSpPr>
          <p:cNvPr id="10" name="Shape 8"/>
          <p:cNvSpPr/>
          <p:nvPr/>
        </p:nvSpPr>
        <p:spPr>
          <a:xfrm>
            <a:off x="548640" y="2865951"/>
            <a:ext cx="347472" cy="347472"/>
          </a:xfrm>
          <a:prstGeom prst="ellipse">
            <a:avLst/>
          </a:prstGeom>
          <a:solidFill>
            <a:srgbClr val="1C7293"/>
          </a:solidFill>
          <a:ln w="12700">
            <a:solidFill>
              <a:srgbClr val="1C7293"/>
            </a:solidFill>
            <a:prstDash val="solid"/>
          </a:ln>
        </p:spPr>
        <p:txBody>
          <a:bodyPr/>
          <a:lstStyle/>
          <a:p>
            <a:endParaRPr lang="es-CO"/>
          </a:p>
        </p:txBody>
      </p:sp>
      <p:sp>
        <p:nvSpPr>
          <p:cNvPr id="11" name="Text 9"/>
          <p:cNvSpPr/>
          <p:nvPr/>
        </p:nvSpPr>
        <p:spPr>
          <a:xfrm>
            <a:off x="548640" y="2865951"/>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10"/>
          <p:cNvSpPr/>
          <p:nvPr/>
        </p:nvSpPr>
        <p:spPr>
          <a:xfrm>
            <a:off x="1060704" y="2820231"/>
            <a:ext cx="5120640" cy="438912"/>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Dibuja el </a:t>
            </a:r>
            <a:r>
              <a:rPr lang="en-US" sz="1300" dirty="0" err="1">
                <a:solidFill>
                  <a:srgbClr val="1A1A2E"/>
                </a:solidFill>
                <a:latin typeface="Calibri" pitchFamily="34" charset="0"/>
                <a:ea typeface="Calibri" pitchFamily="34" charset="-122"/>
                <a:cs typeface="Calibri" pitchFamily="34" charset="-120"/>
              </a:rPr>
              <a:t>diagrama</a:t>
            </a:r>
            <a:r>
              <a:rPr lang="en-US" sz="1300" dirty="0">
                <a:solidFill>
                  <a:srgbClr val="1A1A2E"/>
                </a:solidFill>
                <a:latin typeface="Calibri" pitchFamily="34" charset="0"/>
                <a:ea typeface="Calibri" pitchFamily="34" charset="-122"/>
                <a:cs typeface="Calibri" pitchFamily="34" charset="-120"/>
              </a:rPr>
              <a:t> de </a:t>
            </a:r>
            <a:r>
              <a:rPr lang="en-US" sz="1300" dirty="0" err="1">
                <a:solidFill>
                  <a:srgbClr val="1A1A2E"/>
                </a:solidFill>
                <a:latin typeface="Calibri" pitchFamily="34" charset="0"/>
                <a:ea typeface="Calibri" pitchFamily="34" charset="-122"/>
                <a:cs typeface="Calibri" pitchFamily="34" charset="-120"/>
              </a:rPr>
              <a:t>flujo</a:t>
            </a:r>
            <a:endParaRPr lang="en-US" sz="1300" dirty="0"/>
          </a:p>
        </p:txBody>
      </p:sp>
      <p:sp>
        <p:nvSpPr>
          <p:cNvPr id="16" name="Shape 14"/>
          <p:cNvSpPr/>
          <p:nvPr/>
        </p:nvSpPr>
        <p:spPr>
          <a:xfrm>
            <a:off x="548640" y="3537896"/>
            <a:ext cx="347472" cy="347472"/>
          </a:xfrm>
          <a:prstGeom prst="ellipse">
            <a:avLst/>
          </a:prstGeom>
          <a:solidFill>
            <a:srgbClr val="1C7293"/>
          </a:solidFill>
          <a:ln w="12700">
            <a:solidFill>
              <a:srgbClr val="1C7293"/>
            </a:solidFill>
            <a:prstDash val="solid"/>
          </a:ln>
        </p:spPr>
        <p:txBody>
          <a:bodyPr/>
          <a:lstStyle/>
          <a:p>
            <a:endParaRPr lang="es-CO"/>
          </a:p>
        </p:txBody>
      </p:sp>
      <p:sp>
        <p:nvSpPr>
          <p:cNvPr id="17" name="Text 15"/>
          <p:cNvSpPr/>
          <p:nvPr/>
        </p:nvSpPr>
        <p:spPr>
          <a:xfrm>
            <a:off x="548640" y="3537896"/>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p:nvPr/>
        </p:nvSpPr>
        <p:spPr>
          <a:xfrm>
            <a:off x="1060704" y="3492176"/>
            <a:ext cx="5120640" cy="438912"/>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Escribe el pseudocódigo con la convención: Inicio, Leer, ←, Escribir, Fin.</a:t>
            </a:r>
            <a:endParaRPr lang="en-US" sz="1300" dirty="0"/>
          </a:p>
        </p:txBody>
      </p:sp>
      <p:sp>
        <p:nvSpPr>
          <p:cNvPr id="22" name="Shape 20"/>
          <p:cNvSpPr/>
          <p:nvPr/>
        </p:nvSpPr>
        <p:spPr>
          <a:xfrm>
            <a:off x="548640" y="4255561"/>
            <a:ext cx="347472" cy="347472"/>
          </a:xfrm>
          <a:prstGeom prst="ellipse">
            <a:avLst/>
          </a:prstGeom>
          <a:solidFill>
            <a:srgbClr val="1C7293"/>
          </a:solidFill>
          <a:ln w="12700">
            <a:solidFill>
              <a:srgbClr val="1C7293"/>
            </a:solidFill>
            <a:prstDash val="solid"/>
          </a:ln>
        </p:spPr>
        <p:txBody>
          <a:bodyPr/>
          <a:lstStyle/>
          <a:p>
            <a:endParaRPr lang="es-CO"/>
          </a:p>
        </p:txBody>
      </p:sp>
      <p:sp>
        <p:nvSpPr>
          <p:cNvPr id="23" name="Text 21"/>
          <p:cNvSpPr/>
          <p:nvPr/>
        </p:nvSpPr>
        <p:spPr>
          <a:xfrm>
            <a:off x="548640" y="4255561"/>
            <a:ext cx="347472" cy="347472"/>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4" name="Text 22"/>
          <p:cNvSpPr/>
          <p:nvPr/>
        </p:nvSpPr>
        <p:spPr>
          <a:xfrm>
            <a:off x="1060704" y="4209841"/>
            <a:ext cx="5120640" cy="438912"/>
          </a:xfrm>
          <a:prstGeom prst="rect">
            <a:avLst/>
          </a:prstGeom>
          <a:noFill/>
          <a:ln/>
        </p:spPr>
        <p:txBody>
          <a:bodyPr wrap="square" lIns="0" tIns="0" rIns="0" bIns="0" rtlCol="0" anchor="ctr"/>
          <a:lstStyle/>
          <a:p>
            <a:pPr marL="0" indent="0">
              <a:buNone/>
            </a:pPr>
            <a:r>
              <a:rPr lang="en-US" sz="1300" dirty="0">
                <a:solidFill>
                  <a:srgbClr val="1A1A2E"/>
                </a:solidFill>
                <a:latin typeface="Calibri" pitchFamily="34" charset="0"/>
                <a:ea typeface="Calibri" pitchFamily="34" charset="-122"/>
                <a:cs typeface="Calibri" pitchFamily="34" charset="-120"/>
              </a:rPr>
              <a:t>Nombra los datos en una sola palabra, sin tildes ni espacios.</a:t>
            </a:r>
            <a:endParaRPr lang="en-US" sz="1300" dirty="0"/>
          </a:p>
        </p:txBody>
      </p:sp>
      <p:sp>
        <p:nvSpPr>
          <p:cNvPr id="25" name="Shape 23"/>
          <p:cNvSpPr/>
          <p:nvPr/>
        </p:nvSpPr>
        <p:spPr>
          <a:xfrm>
            <a:off x="6492240" y="2414016"/>
            <a:ext cx="5148072" cy="2148840"/>
          </a:xfrm>
          <a:prstGeom prst="roundRect">
            <a:avLst>
              <a:gd name="adj" fmla="val 3404"/>
            </a:avLst>
          </a:prstGeom>
          <a:solidFill>
            <a:srgbClr val="FFF4DE"/>
          </a:solidFill>
          <a:ln w="12700">
            <a:solidFill>
              <a:srgbClr val="FFF4DE"/>
            </a:solidFill>
            <a:prstDash val="solid"/>
          </a:ln>
        </p:spPr>
        <p:txBody>
          <a:bodyPr/>
          <a:lstStyle/>
          <a:p>
            <a:endParaRPr lang="es-CO"/>
          </a:p>
        </p:txBody>
      </p:sp>
      <p:sp>
        <p:nvSpPr>
          <p:cNvPr id="26" name="Text 24"/>
          <p:cNvSpPr/>
          <p:nvPr/>
        </p:nvSpPr>
        <p:spPr>
          <a:xfrm>
            <a:off x="6766560" y="2578608"/>
            <a:ext cx="4617720" cy="274320"/>
          </a:xfrm>
          <a:prstGeom prst="rect">
            <a:avLst/>
          </a:prstGeom>
          <a:noFill/>
          <a:ln/>
        </p:spPr>
        <p:txBody>
          <a:bodyPr wrap="square" lIns="0" tIns="0" rIns="0" bIns="0" rtlCol="0" anchor="ctr"/>
          <a:lstStyle/>
          <a:p>
            <a:pPr marL="0" indent="0">
              <a:buNone/>
            </a:pPr>
            <a:r>
              <a:rPr lang="en-US" sz="1150" b="1" kern="0" spc="120" dirty="0">
                <a:solidFill>
                  <a:srgbClr val="B07800"/>
                </a:solidFill>
                <a:latin typeface="Calibri" pitchFamily="34" charset="0"/>
                <a:ea typeface="Calibri" pitchFamily="34" charset="-122"/>
                <a:cs typeface="Calibri" pitchFamily="34" charset="-120"/>
              </a:rPr>
              <a:t>CUIDADO CON ESTO</a:t>
            </a:r>
            <a:endParaRPr lang="en-US" sz="1150" dirty="0"/>
          </a:p>
        </p:txBody>
      </p:sp>
      <p:sp>
        <p:nvSpPr>
          <p:cNvPr id="27" name="Text 25"/>
          <p:cNvSpPr/>
          <p:nvPr/>
        </p:nvSpPr>
        <p:spPr>
          <a:xfrm>
            <a:off x="6766560" y="2889504"/>
            <a:ext cx="4617720" cy="1554480"/>
          </a:xfrm>
          <a:prstGeom prst="rect">
            <a:avLst/>
          </a:prstGeom>
          <a:noFill/>
          <a:ln/>
        </p:spPr>
        <p:txBody>
          <a:bodyPr wrap="square" lIns="0" tIns="0" rIns="0" bIns="0" rtlCol="0" anchor="t"/>
          <a:lstStyle/>
          <a:p>
            <a:pPr marL="0" indent="0">
              <a:lnSpc>
                <a:spcPts val="1700"/>
              </a:lnSpc>
              <a:buNone/>
            </a:pPr>
            <a:r>
              <a:rPr lang="en-US" sz="1250" dirty="0">
                <a:solidFill>
                  <a:srgbClr val="1A1A2E"/>
                </a:solidFill>
                <a:latin typeface="Calibri" pitchFamily="34" charset="0"/>
                <a:ea typeface="Calibri" pitchFamily="34" charset="-122"/>
                <a:cs typeface="Calibri" pitchFamily="34" charset="-120"/>
              </a:rPr>
              <a:t>La fórmula tiene una multiplicación, una división y una suma. Escríbela de manera que no quede ninguna duda del orden.
</a:t>
            </a:r>
            <a:endParaRPr lang="en-US" sz="1250" dirty="0"/>
          </a:p>
          <a:p>
            <a:pPr marL="0" indent="0">
              <a:lnSpc>
                <a:spcPts val="1700"/>
              </a:lnSpc>
              <a:buNone/>
            </a:pPr>
            <a:r>
              <a:rPr lang="en-US" sz="1250" dirty="0">
                <a:solidFill>
                  <a:srgbClr val="1A1A2E"/>
                </a:solidFill>
                <a:latin typeface="Calibri" pitchFamily="34" charset="0"/>
                <a:ea typeface="Calibri" pitchFamily="34" charset="-122"/>
                <a:cs typeface="Calibri" pitchFamily="34" charset="-120"/>
              </a:rPr>
              <a:t>La temperatura puede tener decimales: piensa qué tipo de dato le corresponde.
</a:t>
            </a:r>
            <a:endParaRPr lang="en-US" sz="1250" dirty="0"/>
          </a:p>
          <a:p>
            <a:pPr marL="0" indent="0">
              <a:lnSpc>
                <a:spcPts val="1700"/>
              </a:lnSpc>
              <a:buNone/>
            </a:pPr>
            <a:r>
              <a:rPr lang="en-US" sz="1250" b="1" dirty="0">
                <a:solidFill>
                  <a:srgbClr val="1A1A2E"/>
                </a:solidFill>
                <a:latin typeface="Calibri" pitchFamily="34" charset="0"/>
                <a:ea typeface="Calibri" pitchFamily="34" charset="-122"/>
                <a:cs typeface="Calibri" pitchFamily="34" charset="-120"/>
              </a:rPr>
              <a:t>Comprueba tu algoritmo con 0 °C: debe dar 32 °F.</a:t>
            </a:r>
            <a:endParaRPr lang="en-US" sz="1250" dirty="0"/>
          </a:p>
        </p:txBody>
      </p:sp>
      <p:sp>
        <p:nvSpPr>
          <p:cNvPr id="30" name="Text 28"/>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11</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0" grpId="0" animBg="1"/>
      <p:bldP spid="11" grpId="0" animBg="1"/>
      <p:bldP spid="12" grpId="0" animBg="1"/>
      <p:bldP spid="16" grpId="0" animBg="1"/>
      <p:bldP spid="17" grpId="0" animBg="1"/>
      <p:bldP spid="18" grpId="0" animBg="1"/>
      <p:bldP spid="22" grpId="0" animBg="1"/>
      <p:bldP spid="23" grpId="0" animBg="1"/>
      <p:bldP spid="24" grpId="0" animBg="1"/>
      <p:bldP spid="25" grpId="0" animBg="1"/>
      <p:bldP spid="26" grpId="0" animBg="1"/>
      <p:bldP spid="2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ELEMENTOS BÁSICOS </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Identificadores: cómo se nombran los datos</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Un identificador es el nombre que le damos a un dato. No es un detalle estético: hay reglas que el lenguaje obliga y prácticas que el equipo espera.</a:t>
            </a:r>
            <a:endParaRPr lang="en-US" sz="1400" dirty="0"/>
          </a:p>
        </p:txBody>
      </p:sp>
      <p:sp>
        <p:nvSpPr>
          <p:cNvPr id="5" name="Shape 3"/>
          <p:cNvSpPr/>
          <p:nvPr/>
        </p:nvSpPr>
        <p:spPr>
          <a:xfrm>
            <a:off x="548640" y="2103120"/>
            <a:ext cx="5349240" cy="1965960"/>
          </a:xfrm>
          <a:prstGeom prst="roundRect">
            <a:avLst>
              <a:gd name="adj" fmla="val 3721"/>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822960" y="2286000"/>
            <a:ext cx="4800600" cy="274320"/>
          </a:xfrm>
          <a:prstGeom prst="rect">
            <a:avLst/>
          </a:prstGeom>
          <a:noFill/>
          <a:ln/>
        </p:spPr>
        <p:txBody>
          <a:bodyPr wrap="square" lIns="0" tIns="0" rIns="0" bIns="0" rtlCol="0" anchor="ctr"/>
          <a:lstStyle/>
          <a:p>
            <a:pPr marL="0" indent="0">
              <a:buNone/>
            </a:pPr>
            <a:r>
              <a:rPr lang="en-US" sz="1150" b="1" kern="0" spc="120" dirty="0">
                <a:solidFill>
                  <a:srgbClr val="D64545"/>
                </a:solidFill>
                <a:latin typeface="Calibri" pitchFamily="34" charset="0"/>
                <a:ea typeface="Calibri" pitchFamily="34" charset="-122"/>
                <a:cs typeface="Calibri" pitchFamily="34" charset="-120"/>
              </a:rPr>
              <a:t>REGLAS QUE JAVA OBLIGA</a:t>
            </a:r>
            <a:endParaRPr lang="en-US" sz="1150" dirty="0"/>
          </a:p>
        </p:txBody>
      </p:sp>
      <p:sp>
        <p:nvSpPr>
          <p:cNvPr id="7" name="Text 5"/>
          <p:cNvSpPr/>
          <p:nvPr/>
        </p:nvSpPr>
        <p:spPr>
          <a:xfrm>
            <a:off x="822960" y="2578608"/>
            <a:ext cx="4800600" cy="14173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Empieza por una letra, nunca por un número.</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Sin espacios, sin tildes y sin la letra ñ.</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No puede ser una palabra reservada: int, class, final…</a:t>
            </a:r>
            <a:endParaRPr lang="en-US" sz="1250" dirty="0"/>
          </a:p>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Distingue mayúsculas: edad y Edad son datos distintos.</a:t>
            </a:r>
            <a:endParaRPr lang="en-US" sz="1250" dirty="0"/>
          </a:p>
        </p:txBody>
      </p:sp>
      <p:sp>
        <p:nvSpPr>
          <p:cNvPr id="8" name="Shape 6"/>
          <p:cNvSpPr/>
          <p:nvPr/>
        </p:nvSpPr>
        <p:spPr>
          <a:xfrm>
            <a:off x="6291072" y="2103120"/>
            <a:ext cx="5349240" cy="1965960"/>
          </a:xfrm>
          <a:prstGeom prst="roundRect">
            <a:avLst>
              <a:gd name="adj" fmla="val 3721"/>
            </a:avLst>
          </a:prstGeom>
          <a:solidFill>
            <a:srgbClr val="FFF4DE"/>
          </a:solidFill>
          <a:ln w="12700">
            <a:solidFill>
              <a:srgbClr val="FFF4DE"/>
            </a:solidFill>
            <a:prstDash val="solid"/>
          </a:ln>
        </p:spPr>
        <p:txBody>
          <a:bodyPr/>
          <a:lstStyle/>
          <a:p>
            <a:endParaRPr lang="es-CO"/>
          </a:p>
        </p:txBody>
      </p:sp>
      <p:sp>
        <p:nvSpPr>
          <p:cNvPr id="9" name="Text 7"/>
          <p:cNvSpPr/>
          <p:nvPr/>
        </p:nvSpPr>
        <p:spPr>
          <a:xfrm>
            <a:off x="6565392" y="2286000"/>
            <a:ext cx="4800600" cy="274320"/>
          </a:xfrm>
          <a:prstGeom prst="rect">
            <a:avLst/>
          </a:prstGeom>
          <a:noFill/>
          <a:ln/>
        </p:spPr>
        <p:txBody>
          <a:bodyPr wrap="square" lIns="0" tIns="0" rIns="0" bIns="0" rtlCol="0" anchor="ctr"/>
          <a:lstStyle/>
          <a:p>
            <a:pPr marL="0" indent="0">
              <a:buNone/>
            </a:pPr>
            <a:r>
              <a:rPr lang="en-US" sz="1150" b="1" kern="0" spc="120" dirty="0">
                <a:solidFill>
                  <a:srgbClr val="B07800"/>
                </a:solidFill>
                <a:latin typeface="Calibri" pitchFamily="34" charset="0"/>
                <a:ea typeface="Calibri" pitchFamily="34" charset="-122"/>
                <a:cs typeface="Calibri" pitchFamily="34" charset="-120"/>
              </a:rPr>
              <a:t>BUENAS PRÁCTICAS DEL CURSO</a:t>
            </a:r>
            <a:endParaRPr lang="en-US" sz="1150" dirty="0"/>
          </a:p>
        </p:txBody>
      </p:sp>
      <p:sp>
        <p:nvSpPr>
          <p:cNvPr id="10" name="Text 8"/>
          <p:cNvSpPr/>
          <p:nvPr/>
        </p:nvSpPr>
        <p:spPr>
          <a:xfrm>
            <a:off x="6565392" y="2578608"/>
            <a:ext cx="4800600" cy="141732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Variables en camelCase: precioUnitario, notaFinal.</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Constantes en mayúsculas: IVA, VALOR_MINIMO.</a:t>
            </a:r>
            <a:endParaRPr lang="en-US" sz="1250" dirty="0"/>
          </a:p>
          <a:p>
            <a:pPr marL="342900" indent="-342900">
              <a:spcAft>
                <a:spcPts val="700"/>
              </a:spcAft>
              <a:buSzPct val="100000"/>
              <a:buChar char="•"/>
            </a:pPr>
            <a:r>
              <a:rPr lang="en-US" sz="1250" dirty="0">
                <a:solidFill>
                  <a:srgbClr val="1A1A2E"/>
                </a:solidFill>
                <a:latin typeface="Calibri" pitchFamily="34" charset="0"/>
                <a:ea typeface="Calibri" pitchFamily="34" charset="-122"/>
                <a:cs typeface="Calibri" pitchFamily="34" charset="-120"/>
              </a:rPr>
              <a:t>El nombre dice qué guarda: base, no b; edad, no x1.</a:t>
            </a:r>
            <a:endParaRPr lang="en-US" sz="1250" dirty="0"/>
          </a:p>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Un idioma y uno solo en todo el programa.</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4261104"/>
          <a:ext cx="11091672" cy="1901952"/>
        </p:xfrm>
        <a:graphic>
          <a:graphicData uri="http://schemas.openxmlformats.org/drawingml/2006/table">
            <a:tbl>
              <a:tblPr/>
              <a:tblGrid>
                <a:gridCol w="32918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5696712">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Escrito así</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¿Sirve?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Por qué</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384048">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2edad</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No compila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Empieza por un número.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precio unitario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No compila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Tiene un espacio.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añoIngreso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Evítalo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La ñ y las tildes dan problemas de codificación.</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precioUnitario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Correcto</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00" dirty="0">
                          <a:solidFill>
                            <a:srgbClr val="1A1A2E"/>
                          </a:solidFill>
                          <a:latin typeface="Calibri" pitchFamily="34" charset="0"/>
                          <a:ea typeface="Calibri" pitchFamily="34" charset="-122"/>
                          <a:cs typeface="Calibri" pitchFamily="34" charset="-120"/>
                        </a:rPr>
                        <a:t>Cumple las reglas y dice qué guarda.</a:t>
                      </a:r>
                      <a:endParaRPr lang="en-US" sz="120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2" name="Text 9"/>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13</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ELEMENTOS BÁSICOS · 3 DE 4</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Variables y constantes</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Los dos guardan un dato. La diferencia es si ese valor puede cambiar mientras el algoritmo se ejecuta.</a:t>
            </a:r>
            <a:endParaRPr lang="en-US" sz="1400" dirty="0"/>
          </a:p>
        </p:txBody>
      </p:sp>
      <p:sp>
        <p:nvSpPr>
          <p:cNvPr id="5" name="Shape 3"/>
          <p:cNvSpPr/>
          <p:nvPr/>
        </p:nvSpPr>
        <p:spPr>
          <a:xfrm>
            <a:off x="548640" y="2103120"/>
            <a:ext cx="5349240" cy="2377440"/>
          </a:xfrm>
          <a:prstGeom prst="roundRect">
            <a:avLst>
              <a:gd name="adj" fmla="val 3077"/>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822960" y="2286000"/>
            <a:ext cx="4800600" cy="274320"/>
          </a:xfrm>
          <a:prstGeom prst="rect">
            <a:avLst/>
          </a:prstGeom>
          <a:noFill/>
          <a:ln/>
        </p:spPr>
        <p:txBody>
          <a:bodyPr wrap="square" lIns="0" tIns="0" rIns="0" bIns="0" rtlCol="0" anchor="ctr"/>
          <a:lstStyle/>
          <a:p>
            <a:pPr marL="0" indent="0">
              <a:buNone/>
            </a:pPr>
            <a:r>
              <a:rPr lang="en-US" sz="1250" b="1" kern="0" spc="80" dirty="0">
                <a:solidFill>
                  <a:srgbClr val="1C7293"/>
                </a:solidFill>
                <a:latin typeface="Calibri" pitchFamily="34" charset="0"/>
                <a:ea typeface="Calibri" pitchFamily="34" charset="-122"/>
                <a:cs typeface="Calibri" pitchFamily="34" charset="-120"/>
              </a:rPr>
              <a:t>VARIABLE · su valor puede cambiar</a:t>
            </a:r>
            <a:endParaRPr lang="en-US" sz="1250" dirty="0"/>
          </a:p>
        </p:txBody>
      </p:sp>
      <p:sp>
        <p:nvSpPr>
          <p:cNvPr id="7" name="Text 5"/>
          <p:cNvSpPr/>
          <p:nvPr/>
        </p:nvSpPr>
        <p:spPr>
          <a:xfrm>
            <a:off x="822960" y="2615184"/>
            <a:ext cx="4800600" cy="640080"/>
          </a:xfrm>
          <a:prstGeom prst="rect">
            <a:avLst/>
          </a:prstGeom>
          <a:noFill/>
          <a:ln/>
        </p:spPr>
        <p:txBody>
          <a:bodyPr wrap="square" lIns="0" tIns="0" rIns="0" bIns="0" rtlCol="0" anchor="t"/>
          <a:lstStyle/>
          <a:p>
            <a:pPr marL="0" indent="0">
              <a:lnSpc>
                <a:spcPts val="1700"/>
              </a:lnSpc>
              <a:buNone/>
            </a:pPr>
            <a:r>
              <a:rPr lang="en-US" sz="1300" dirty="0">
                <a:solidFill>
                  <a:srgbClr val="1A1A2E"/>
                </a:solidFill>
                <a:latin typeface="Calibri" pitchFamily="34" charset="0"/>
                <a:ea typeface="Calibri" pitchFamily="34" charset="-122"/>
                <a:cs typeface="Calibri" pitchFamily="34" charset="-120"/>
              </a:rPr>
              <a:t>Guarda un dato propio de cada caso: cambia según quién use el algoritmo o qué información se reciba.</a:t>
            </a:r>
            <a:endParaRPr lang="en-US" sz="1300" dirty="0"/>
          </a:p>
        </p:txBody>
      </p:sp>
      <p:sp>
        <p:nvSpPr>
          <p:cNvPr id="8" name="Shape 6"/>
          <p:cNvSpPr/>
          <p:nvPr/>
        </p:nvSpPr>
        <p:spPr>
          <a:xfrm>
            <a:off x="822960" y="3310128"/>
            <a:ext cx="4800600" cy="1005840"/>
          </a:xfrm>
          <a:prstGeom prst="roundRect">
            <a:avLst>
              <a:gd name="adj" fmla="val 2727"/>
            </a:avLst>
          </a:prstGeom>
          <a:solidFill>
            <a:srgbClr val="0B1E33"/>
          </a:solidFill>
          <a:ln w="12700">
            <a:solidFill>
              <a:srgbClr val="0B1E33"/>
            </a:solidFill>
            <a:prstDash val="solid"/>
          </a:ln>
        </p:spPr>
        <p:txBody>
          <a:bodyPr/>
          <a:lstStyle/>
          <a:p>
            <a:endParaRPr lang="es-CO"/>
          </a:p>
        </p:txBody>
      </p:sp>
      <p:sp>
        <p:nvSpPr>
          <p:cNvPr id="9" name="Text 7"/>
          <p:cNvSpPr/>
          <p:nvPr/>
        </p:nvSpPr>
        <p:spPr>
          <a:xfrm>
            <a:off x="1078992" y="3493008"/>
            <a:ext cx="4288536" cy="640080"/>
          </a:xfrm>
          <a:prstGeom prst="rect">
            <a:avLst/>
          </a:prstGeom>
          <a:noFill/>
          <a:ln/>
        </p:spPr>
        <p:txBody>
          <a:bodyPr wrap="square" lIns="0" tIns="0" rIns="0" bIns="0" rtlCol="0" anchor="t"/>
          <a:lstStyle/>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double precioUnitario = 1500;</a:t>
            </a:r>
            <a:endParaRPr lang="en-US" sz="1250" dirty="0"/>
          </a:p>
          <a:p>
            <a:pPr marL="0" indent="0">
              <a:lnSpc>
                <a:spcPts val="1938"/>
              </a:lnSpc>
              <a:buNone/>
            </a:pPr>
            <a:r>
              <a:rPr lang="en-US" sz="1250" dirty="0">
                <a:solidFill>
                  <a:srgbClr val="E8EEF4"/>
                </a:solidFill>
                <a:latin typeface="Courier New" pitchFamily="34" charset="0"/>
                <a:ea typeface="Courier New" pitchFamily="34" charset="-122"/>
                <a:cs typeface="Courier New" pitchFamily="34" charset="-120"/>
              </a:rPr>
              <a:t>int cantidad = 3;</a:t>
            </a:r>
            <a:endParaRPr lang="en-US" sz="1250" dirty="0"/>
          </a:p>
        </p:txBody>
      </p:sp>
      <p:sp>
        <p:nvSpPr>
          <p:cNvPr id="10" name="Shape 8"/>
          <p:cNvSpPr/>
          <p:nvPr/>
        </p:nvSpPr>
        <p:spPr>
          <a:xfrm>
            <a:off x="6291072" y="2103120"/>
            <a:ext cx="5349240" cy="2377440"/>
          </a:xfrm>
          <a:prstGeom prst="roundRect">
            <a:avLst>
              <a:gd name="adj" fmla="val 3077"/>
            </a:avLst>
          </a:prstGeom>
          <a:solidFill>
            <a:srgbClr val="FFF4DE"/>
          </a:solidFill>
          <a:ln w="12700">
            <a:solidFill>
              <a:srgbClr val="FFF4DE"/>
            </a:solidFill>
            <a:prstDash val="solid"/>
          </a:ln>
        </p:spPr>
        <p:txBody>
          <a:bodyPr/>
          <a:lstStyle/>
          <a:p>
            <a:endParaRPr lang="es-CO"/>
          </a:p>
        </p:txBody>
      </p:sp>
      <p:sp>
        <p:nvSpPr>
          <p:cNvPr id="11" name="Text 9"/>
          <p:cNvSpPr/>
          <p:nvPr/>
        </p:nvSpPr>
        <p:spPr>
          <a:xfrm>
            <a:off x="6565392" y="2286000"/>
            <a:ext cx="4800600" cy="274320"/>
          </a:xfrm>
          <a:prstGeom prst="rect">
            <a:avLst/>
          </a:prstGeom>
          <a:noFill/>
          <a:ln/>
        </p:spPr>
        <p:txBody>
          <a:bodyPr wrap="square" lIns="0" tIns="0" rIns="0" bIns="0" rtlCol="0" anchor="ctr"/>
          <a:lstStyle/>
          <a:p>
            <a:pPr marL="0" indent="0">
              <a:buNone/>
            </a:pPr>
            <a:r>
              <a:rPr lang="en-US" sz="1250" b="1" kern="0" spc="80" dirty="0">
                <a:solidFill>
                  <a:srgbClr val="B07800"/>
                </a:solidFill>
                <a:latin typeface="Calibri" pitchFamily="34" charset="0"/>
                <a:ea typeface="Calibri" pitchFamily="34" charset="-122"/>
                <a:cs typeface="Calibri" pitchFamily="34" charset="-120"/>
              </a:rPr>
              <a:t>CONSTANTE · su valor no cambia</a:t>
            </a:r>
            <a:endParaRPr lang="en-US" sz="1250" dirty="0"/>
          </a:p>
        </p:txBody>
      </p:sp>
      <p:sp>
        <p:nvSpPr>
          <p:cNvPr id="12" name="Text 10"/>
          <p:cNvSpPr/>
          <p:nvPr/>
        </p:nvSpPr>
        <p:spPr>
          <a:xfrm>
            <a:off x="6565392" y="2615184"/>
            <a:ext cx="4800600" cy="640080"/>
          </a:xfrm>
          <a:prstGeom prst="rect">
            <a:avLst/>
          </a:prstGeom>
          <a:noFill/>
          <a:ln/>
        </p:spPr>
        <p:txBody>
          <a:bodyPr wrap="square" lIns="0" tIns="0" rIns="0" bIns="0" rtlCol="0" anchor="t"/>
          <a:lstStyle/>
          <a:p>
            <a:pPr marL="0" indent="0">
              <a:lnSpc>
                <a:spcPts val="1700"/>
              </a:lnSpc>
              <a:buNone/>
            </a:pPr>
            <a:r>
              <a:rPr lang="en-US" sz="1300" dirty="0">
                <a:solidFill>
                  <a:srgbClr val="1A1A2E"/>
                </a:solidFill>
                <a:latin typeface="Calibri" pitchFamily="34" charset="0"/>
                <a:ea typeface="Calibri" pitchFamily="34" charset="-122"/>
                <a:cs typeface="Calibri" pitchFamily="34" charset="-120"/>
              </a:rPr>
              <a:t>Guarda una regla del problema, no un dato del caso. Se fija una vez y no se vuelve a tocar.</a:t>
            </a:r>
            <a:endParaRPr lang="en-US" sz="1300" dirty="0"/>
          </a:p>
        </p:txBody>
      </p:sp>
      <p:sp>
        <p:nvSpPr>
          <p:cNvPr id="13" name="Shape 11"/>
          <p:cNvSpPr/>
          <p:nvPr/>
        </p:nvSpPr>
        <p:spPr>
          <a:xfrm>
            <a:off x="6565392" y="3310128"/>
            <a:ext cx="4800600" cy="1005840"/>
          </a:xfrm>
          <a:prstGeom prst="roundRect">
            <a:avLst>
              <a:gd name="adj" fmla="val 2727"/>
            </a:avLst>
          </a:prstGeom>
          <a:solidFill>
            <a:srgbClr val="0B1E33"/>
          </a:solidFill>
          <a:ln w="12700">
            <a:solidFill>
              <a:srgbClr val="0B1E33"/>
            </a:solidFill>
            <a:prstDash val="solid"/>
          </a:ln>
        </p:spPr>
        <p:txBody>
          <a:bodyPr/>
          <a:lstStyle/>
          <a:p>
            <a:endParaRPr lang="es-CO"/>
          </a:p>
        </p:txBody>
      </p:sp>
      <p:sp>
        <p:nvSpPr>
          <p:cNvPr id="14" name="Text 12"/>
          <p:cNvSpPr/>
          <p:nvPr/>
        </p:nvSpPr>
        <p:spPr>
          <a:xfrm>
            <a:off x="6821424" y="3493008"/>
            <a:ext cx="4288536" cy="640080"/>
          </a:xfrm>
          <a:prstGeom prst="rect">
            <a:avLst/>
          </a:prstGeom>
          <a:noFill/>
          <a:ln/>
        </p:spPr>
        <p:txBody>
          <a:bodyPr wrap="square" lIns="0" tIns="0" rIns="0" bIns="0" rtlCol="0" anchor="t"/>
          <a:lstStyle/>
          <a:p>
            <a:pPr marL="0" indent="0">
              <a:lnSpc>
                <a:spcPts val="1938"/>
              </a:lnSpc>
              <a:buNone/>
            </a:pPr>
            <a:r>
              <a:rPr lang="en-US" sz="1250" b="1" dirty="0">
                <a:solidFill>
                  <a:srgbClr val="FFB100"/>
                </a:solidFill>
                <a:latin typeface="Courier New" pitchFamily="34" charset="0"/>
                <a:ea typeface="Courier New" pitchFamily="34" charset="-122"/>
                <a:cs typeface="Courier New" pitchFamily="34" charset="-120"/>
              </a:rPr>
              <a:t>final </a:t>
            </a:r>
            <a:r>
              <a:rPr lang="en-US" sz="1250" dirty="0">
                <a:solidFill>
                  <a:srgbClr val="E8EEF4"/>
                </a:solidFill>
                <a:latin typeface="Courier New" pitchFamily="34" charset="0"/>
                <a:ea typeface="Courier New" pitchFamily="34" charset="-122"/>
                <a:cs typeface="Courier New" pitchFamily="34" charset="-120"/>
              </a:rPr>
              <a:t>double IVA = 0.19;</a:t>
            </a:r>
            <a:endParaRPr lang="en-US" sz="1250" dirty="0"/>
          </a:p>
          <a:p>
            <a:pPr marL="0" indent="0">
              <a:lnSpc>
                <a:spcPts val="1938"/>
              </a:lnSpc>
              <a:buNone/>
            </a:pPr>
            <a:r>
              <a:rPr lang="en-US" sz="1250" b="1" dirty="0">
                <a:solidFill>
                  <a:srgbClr val="FFB100"/>
                </a:solidFill>
                <a:latin typeface="Courier New" pitchFamily="34" charset="0"/>
                <a:ea typeface="Courier New" pitchFamily="34" charset="-122"/>
                <a:cs typeface="Courier New" pitchFamily="34" charset="-120"/>
              </a:rPr>
              <a:t>final </a:t>
            </a:r>
            <a:r>
              <a:rPr lang="en-US" sz="1250" dirty="0">
                <a:solidFill>
                  <a:srgbClr val="E8EEF4"/>
                </a:solidFill>
                <a:latin typeface="Courier New" pitchFamily="34" charset="0"/>
                <a:ea typeface="Courier New" pitchFamily="34" charset="-122"/>
                <a:cs typeface="Courier New" pitchFamily="34" charset="-120"/>
              </a:rPr>
              <a:t>int CUPO_MAXIMO = 40;</a:t>
            </a:r>
            <a:endParaRPr lang="en-US" sz="1250" dirty="0"/>
          </a:p>
        </p:txBody>
      </p:sp>
      <p:sp>
        <p:nvSpPr>
          <p:cNvPr id="15" name="Shape 13"/>
          <p:cNvSpPr/>
          <p:nvPr/>
        </p:nvSpPr>
        <p:spPr>
          <a:xfrm>
            <a:off x="548640" y="4626864"/>
            <a:ext cx="11091672" cy="822960"/>
          </a:xfrm>
          <a:prstGeom prst="roundRect">
            <a:avLst>
              <a:gd name="adj" fmla="val 8889"/>
            </a:avLst>
          </a:prstGeom>
          <a:solidFill>
            <a:srgbClr val="E8EEF4"/>
          </a:solidFill>
          <a:ln w="12700">
            <a:solidFill>
              <a:srgbClr val="E8EEF4"/>
            </a:solidFill>
            <a:prstDash val="solid"/>
          </a:ln>
        </p:spPr>
        <p:txBody>
          <a:bodyPr/>
          <a:lstStyle/>
          <a:p>
            <a:endParaRPr lang="es-CO"/>
          </a:p>
        </p:txBody>
      </p:sp>
      <p:sp>
        <p:nvSpPr>
          <p:cNvPr id="16" name="Text 14"/>
          <p:cNvSpPr/>
          <p:nvPr/>
        </p:nvSpPr>
        <p:spPr>
          <a:xfrm>
            <a:off x="868680" y="4626864"/>
            <a:ext cx="10451592" cy="822960"/>
          </a:xfrm>
          <a:prstGeom prst="rect">
            <a:avLst/>
          </a:prstGeom>
          <a:noFill/>
          <a:ln/>
        </p:spPr>
        <p:txBody>
          <a:bodyPr wrap="square" lIns="0" tIns="0" rIns="0" bIns="0" rtlCol="0" anchor="ctr"/>
          <a:lstStyle/>
          <a:p>
            <a:pPr marL="0" indent="0">
              <a:lnSpc>
                <a:spcPts val="1800"/>
              </a:lnSpc>
              <a:buNone/>
            </a:pPr>
            <a:r>
              <a:rPr lang="en-US" sz="1300" b="1" dirty="0">
                <a:solidFill>
                  <a:srgbClr val="1C7293"/>
                </a:solidFill>
                <a:latin typeface="Calibri" pitchFamily="34" charset="0"/>
                <a:ea typeface="Calibri" pitchFamily="34" charset="-122"/>
                <a:cs typeface="Calibri" pitchFamily="34" charset="-120"/>
              </a:rPr>
              <a:t>CÓMO DECIDIR:  </a:t>
            </a:r>
            <a:r>
              <a:rPr lang="en-US" sz="1300" dirty="0">
                <a:solidFill>
                  <a:srgbClr val="1A1A2E"/>
                </a:solidFill>
                <a:latin typeface="Calibri" pitchFamily="34" charset="0"/>
                <a:ea typeface="Calibri" pitchFamily="34" charset="-122"/>
                <a:cs typeface="Calibri" pitchFamily="34" charset="-120"/>
              </a:rPr>
              <a:t>pregúntate si el valor viene del enunciado como una regla fija —el IVA, el cupo, el porcentaje de descuento— o si depende del caso concreto. Lo primero es constante; lo segundo, variable.</a:t>
            </a:r>
            <a:endParaRPr lang="en-US" sz="1300" dirty="0"/>
          </a:p>
        </p:txBody>
      </p:sp>
      <p:sp>
        <p:nvSpPr>
          <p:cNvPr id="17" name="Shape 15"/>
          <p:cNvSpPr/>
          <p:nvPr/>
        </p:nvSpPr>
        <p:spPr>
          <a:xfrm>
            <a:off x="548640" y="5577840"/>
            <a:ext cx="11091672" cy="640080"/>
          </a:xfrm>
          <a:prstGeom prst="roundRect">
            <a:avLst>
              <a:gd name="adj" fmla="val 11429"/>
            </a:avLst>
          </a:prstGeom>
          <a:solidFill>
            <a:srgbClr val="13294B"/>
          </a:solidFill>
          <a:ln w="12700">
            <a:solidFill>
              <a:srgbClr val="13294B"/>
            </a:solidFill>
            <a:prstDash val="solid"/>
          </a:ln>
        </p:spPr>
        <p:txBody>
          <a:bodyPr/>
          <a:lstStyle/>
          <a:p>
            <a:endParaRPr lang="es-CO"/>
          </a:p>
        </p:txBody>
      </p:sp>
      <p:sp>
        <p:nvSpPr>
          <p:cNvPr id="18" name="Text 16"/>
          <p:cNvSpPr/>
          <p:nvPr/>
        </p:nvSpPr>
        <p:spPr>
          <a:xfrm>
            <a:off x="868680" y="5577840"/>
            <a:ext cx="10451592" cy="64008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LA PALABRA final  </a:t>
            </a:r>
            <a:r>
              <a:rPr lang="en-US" sz="1350" dirty="0">
                <a:solidFill>
                  <a:srgbClr val="FFFFFF"/>
                </a:solidFill>
                <a:latin typeface="Calibri" pitchFamily="34" charset="0"/>
                <a:ea typeface="Calibri" pitchFamily="34" charset="-122"/>
                <a:cs typeface="Calibri" pitchFamily="34" charset="-120"/>
              </a:rPr>
              <a:t>es la que convierte una variable en constante: si alguien intenta cambiarle el valor después, el programa no compila.</a:t>
            </a:r>
            <a:endParaRPr lang="en-US" sz="1350" dirty="0"/>
          </a:p>
        </p:txBody>
      </p:sp>
      <p:sp>
        <p:nvSpPr>
          <p:cNvPr id="19" name="Text 17"/>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14</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ELEMENTOS BÁSICOS · 4 DE 4</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Tipos de datos: elegir según lo que representa</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En la Sesión 4 los vimos como atributos de una clase. Hoy los elegimos para las variables de un algoritmo.</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487168"/>
        </p:xfrm>
        <a:graphic>
          <a:graphicData uri="http://schemas.openxmlformats.org/drawingml/2006/table">
            <a:tbl>
              <a:tblPr/>
              <a:tblGrid>
                <a:gridCol w="1371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4507992">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Tipo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Qué guarda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Ejemplo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Cuándo se elige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int</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Números enteros, sin decimales.</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Cantidades que no se parten: personas, unidades.</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double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Números con decimales.</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4.75</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Promedios, precios, medidas, porcentajes.</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boolean</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Verdadero o falso.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true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Condiciones de sí o no: ¿está activo?, ¿es afiliado?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char</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Un solo carácter.</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Iniciales, códigos de una sola letra.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String</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Texto de cualquier longitud.</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"Laura Gómez"</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Nombres, direcciones, descripciones.</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48640" y="4617720"/>
            <a:ext cx="5349240" cy="914400"/>
          </a:xfrm>
          <a:prstGeom prst="roundRect">
            <a:avLst>
              <a:gd name="adj" fmla="val 8000"/>
            </a:avLst>
          </a:prstGeom>
          <a:solidFill>
            <a:srgbClr val="FFF4DE"/>
          </a:solidFill>
          <a:ln w="12700">
            <a:solidFill>
              <a:srgbClr val="FFF4DE"/>
            </a:solidFill>
            <a:prstDash val="solid"/>
          </a:ln>
        </p:spPr>
        <p:txBody>
          <a:bodyPr/>
          <a:lstStyle/>
          <a:p>
            <a:endParaRPr lang="es-CO"/>
          </a:p>
        </p:txBody>
      </p:sp>
      <p:sp>
        <p:nvSpPr>
          <p:cNvPr id="7" name="Text 4"/>
          <p:cNvSpPr/>
          <p:nvPr/>
        </p:nvSpPr>
        <p:spPr>
          <a:xfrm>
            <a:off x="822960" y="4617720"/>
            <a:ext cx="4800600" cy="914400"/>
          </a:xfrm>
          <a:prstGeom prst="rect">
            <a:avLst/>
          </a:prstGeom>
          <a:noFill/>
          <a:ln/>
        </p:spPr>
        <p:txBody>
          <a:bodyPr wrap="square" lIns="0" tIns="0" rIns="0" bIns="0" rtlCol="0" anchor="ctr"/>
          <a:lstStyle/>
          <a:p>
            <a:pPr marL="0" indent="0">
              <a:lnSpc>
                <a:spcPts val="1700"/>
              </a:lnSpc>
              <a:buNone/>
            </a:pPr>
            <a:r>
              <a:rPr lang="en-US" sz="1250" b="1" dirty="0">
                <a:solidFill>
                  <a:srgbClr val="B07800"/>
                </a:solidFill>
                <a:latin typeface="Calibri" pitchFamily="34" charset="0"/>
                <a:ea typeface="Calibri" pitchFamily="34" charset="-122"/>
                <a:cs typeface="Calibri" pitchFamily="34" charset="-120"/>
              </a:rPr>
              <a:t>OJO CON LAS COMILLAS:  </a:t>
            </a:r>
            <a:r>
              <a:rPr lang="en-US" sz="1250" dirty="0">
                <a:solidFill>
                  <a:srgbClr val="1A1A2E"/>
                </a:solidFill>
                <a:latin typeface="Calibri" pitchFamily="34" charset="0"/>
                <a:ea typeface="Calibri" pitchFamily="34" charset="-122"/>
                <a:cs typeface="Calibri" pitchFamily="34" charset="-120"/>
              </a:rPr>
              <a:t>char usa comillas simples ('A') y String usa comillas dobles ("A"). No son intercambiables.</a:t>
            </a:r>
            <a:endParaRPr lang="en-US" sz="1250" dirty="0"/>
          </a:p>
        </p:txBody>
      </p:sp>
      <p:sp>
        <p:nvSpPr>
          <p:cNvPr id="8" name="Shape 5"/>
          <p:cNvSpPr/>
          <p:nvPr/>
        </p:nvSpPr>
        <p:spPr>
          <a:xfrm>
            <a:off x="6291072" y="4617720"/>
            <a:ext cx="5349240" cy="914400"/>
          </a:xfrm>
          <a:prstGeom prst="roundRect">
            <a:avLst>
              <a:gd name="adj" fmla="val 8000"/>
            </a:avLst>
          </a:prstGeom>
          <a:solidFill>
            <a:srgbClr val="F4F7FB"/>
          </a:solidFill>
          <a:ln w="12700">
            <a:solidFill>
              <a:srgbClr val="F4F7FB"/>
            </a:solidFill>
            <a:prstDash val="solid"/>
          </a:ln>
        </p:spPr>
        <p:txBody>
          <a:bodyPr/>
          <a:lstStyle/>
          <a:p>
            <a:endParaRPr lang="es-CO"/>
          </a:p>
        </p:txBody>
      </p:sp>
      <p:sp>
        <p:nvSpPr>
          <p:cNvPr id="9" name="Text 6"/>
          <p:cNvSpPr/>
          <p:nvPr/>
        </p:nvSpPr>
        <p:spPr>
          <a:xfrm>
            <a:off x="6565392" y="4617720"/>
            <a:ext cx="4800600" cy="914400"/>
          </a:xfrm>
          <a:prstGeom prst="rect">
            <a:avLst/>
          </a:prstGeom>
          <a:noFill/>
          <a:ln/>
        </p:spPr>
        <p:txBody>
          <a:bodyPr wrap="square" lIns="0" tIns="0" rIns="0" bIns="0" rtlCol="0" anchor="ctr"/>
          <a:lstStyle/>
          <a:p>
            <a:pPr marL="0" indent="0">
              <a:lnSpc>
                <a:spcPts val="1700"/>
              </a:lnSpc>
              <a:buNone/>
            </a:pPr>
            <a:r>
              <a:rPr lang="en-US" sz="1250" b="1" dirty="0">
                <a:solidFill>
                  <a:srgbClr val="1C7293"/>
                </a:solidFill>
                <a:latin typeface="Calibri" pitchFamily="34" charset="0"/>
                <a:ea typeface="Calibri" pitchFamily="34" charset="-122"/>
                <a:cs typeface="Calibri" pitchFamily="34" charset="-120"/>
              </a:rPr>
              <a:t>LA PREGUNTA CORRECTA:  </a:t>
            </a:r>
            <a:r>
              <a:rPr lang="en-US" sz="1250" dirty="0">
                <a:solidFill>
                  <a:srgbClr val="1A1A2E"/>
                </a:solidFill>
                <a:latin typeface="Calibri" pitchFamily="34" charset="0"/>
                <a:ea typeface="Calibri" pitchFamily="34" charset="-122"/>
                <a:cs typeface="Calibri" pitchFamily="34" charset="-120"/>
              </a:rPr>
              <a:t>no es «cómo se ve el dato», sino «qué representa y qué operaciones necesita».</a:t>
            </a:r>
            <a:endParaRPr lang="en-US" sz="1250" dirty="0"/>
          </a:p>
        </p:txBody>
      </p:sp>
      <p:sp>
        <p:nvSpPr>
          <p:cNvPr id="10" name="Shape 7"/>
          <p:cNvSpPr/>
          <p:nvPr/>
        </p:nvSpPr>
        <p:spPr>
          <a:xfrm>
            <a:off x="548640" y="5669280"/>
            <a:ext cx="11091672" cy="566928"/>
          </a:xfrm>
          <a:prstGeom prst="roundRect">
            <a:avLst>
              <a:gd name="adj" fmla="val 12903"/>
            </a:avLst>
          </a:prstGeom>
          <a:solidFill>
            <a:srgbClr val="13294B"/>
          </a:solidFill>
          <a:ln w="12700">
            <a:solidFill>
              <a:srgbClr val="13294B"/>
            </a:solidFill>
            <a:prstDash val="solid"/>
          </a:ln>
        </p:spPr>
        <p:txBody>
          <a:bodyPr/>
          <a:lstStyle/>
          <a:p>
            <a:endParaRPr lang="es-CO"/>
          </a:p>
        </p:txBody>
      </p:sp>
      <p:sp>
        <p:nvSpPr>
          <p:cNvPr id="11" name="Text 8"/>
          <p:cNvSpPr/>
          <p:nvPr/>
        </p:nvSpPr>
        <p:spPr>
          <a:xfrm>
            <a:off x="868680" y="5669280"/>
            <a:ext cx="10451592" cy="56692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CASO CLÁSICO:  </a:t>
            </a:r>
            <a:r>
              <a:rPr lang="en-US" sz="1350" dirty="0">
                <a:solidFill>
                  <a:srgbClr val="FFFFFF"/>
                </a:solidFill>
                <a:latin typeface="Calibri" pitchFamily="34" charset="0"/>
                <a:ea typeface="Calibri" pitchFamily="34" charset="-122"/>
                <a:cs typeface="Calibri" pitchFamily="34" charset="-120"/>
              </a:rPr>
              <a:t>un número de teléfono se guarda como String, no como int: nunca vas a sumar teléfonos, y puede empezar por cero.</a:t>
            </a:r>
            <a:endParaRPr lang="en-US" sz="1350" dirty="0"/>
          </a:p>
        </p:txBody>
      </p:sp>
      <p:sp>
        <p:nvSpPr>
          <p:cNvPr id="12" name="Text 9"/>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15</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CONVERSIÓN DE TIPOS DE DATOS</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Qué pasa cuando un dato cambia de tipo</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A veces un valor debe pasar de un tipo a otro. Java lo permite en un sentido y lo exige explícito en el otro.</a:t>
            </a:r>
            <a:endParaRPr lang="en-US" sz="1400" dirty="0"/>
          </a:p>
        </p:txBody>
      </p:sp>
      <p:sp>
        <p:nvSpPr>
          <p:cNvPr id="5" name="Shape 3"/>
          <p:cNvSpPr/>
          <p:nvPr/>
        </p:nvSpPr>
        <p:spPr>
          <a:xfrm>
            <a:off x="548640" y="2084832"/>
            <a:ext cx="5349240" cy="1874520"/>
          </a:xfrm>
          <a:prstGeom prst="roundRect">
            <a:avLst>
              <a:gd name="adj" fmla="val 3902"/>
            </a:avLst>
          </a:prstGeom>
          <a:solidFill>
            <a:srgbClr val="F4F7FB"/>
          </a:solidFill>
          <a:ln w="12700">
            <a:solidFill>
              <a:srgbClr val="F4F7FB"/>
            </a:solidFill>
            <a:prstDash val="solid"/>
          </a:ln>
        </p:spPr>
        <p:txBody>
          <a:bodyPr/>
          <a:lstStyle/>
          <a:p>
            <a:endParaRPr lang="es-CO"/>
          </a:p>
        </p:txBody>
      </p:sp>
      <p:sp>
        <p:nvSpPr>
          <p:cNvPr id="6" name="Text 4"/>
          <p:cNvSpPr/>
          <p:nvPr/>
        </p:nvSpPr>
        <p:spPr>
          <a:xfrm>
            <a:off x="822960" y="2249424"/>
            <a:ext cx="4800600" cy="274320"/>
          </a:xfrm>
          <a:prstGeom prst="rect">
            <a:avLst/>
          </a:prstGeom>
          <a:noFill/>
          <a:ln/>
        </p:spPr>
        <p:txBody>
          <a:bodyPr wrap="square" lIns="0" tIns="0" rIns="0" bIns="0" rtlCol="0" anchor="ctr"/>
          <a:lstStyle/>
          <a:p>
            <a:pPr marL="0" indent="0">
              <a:buNone/>
            </a:pPr>
            <a:r>
              <a:rPr lang="en-US" sz="1250" b="1" kern="0" spc="80" dirty="0">
                <a:solidFill>
                  <a:srgbClr val="2F9E58"/>
                </a:solidFill>
                <a:latin typeface="Calibri" pitchFamily="34" charset="0"/>
                <a:ea typeface="Calibri" pitchFamily="34" charset="-122"/>
                <a:cs typeface="Calibri" pitchFamily="34" charset="-120"/>
              </a:rPr>
              <a:t>IMPLÍCITA · el dato cabe</a:t>
            </a:r>
            <a:endParaRPr lang="en-US" sz="1250" dirty="0"/>
          </a:p>
        </p:txBody>
      </p:sp>
      <p:sp>
        <p:nvSpPr>
          <p:cNvPr id="7" name="Text 5"/>
          <p:cNvSpPr/>
          <p:nvPr/>
        </p:nvSpPr>
        <p:spPr>
          <a:xfrm>
            <a:off x="822960" y="2560320"/>
            <a:ext cx="4800600" cy="548640"/>
          </a:xfrm>
          <a:prstGeom prst="rect">
            <a:avLst/>
          </a:prstGeom>
          <a:noFill/>
          <a:ln/>
        </p:spPr>
        <p:txBody>
          <a:bodyPr wrap="square" lIns="0" tIns="0" rIns="0" bIns="0" rtlCol="0" anchor="t"/>
          <a:lstStyle/>
          <a:p>
            <a:pPr marL="0" indent="0">
              <a:lnSpc>
                <a:spcPts val="1600"/>
              </a:lnSpc>
              <a:buNone/>
            </a:pPr>
            <a:r>
              <a:rPr lang="en-US" sz="1250" dirty="0">
                <a:solidFill>
                  <a:srgbClr val="1A1A2E"/>
                </a:solidFill>
                <a:latin typeface="Calibri" pitchFamily="34" charset="0"/>
                <a:ea typeface="Calibri" pitchFamily="34" charset="-122"/>
                <a:cs typeface="Calibri" pitchFamily="34" charset="-120"/>
              </a:rPr>
              <a:t>De un tipo pequeño a uno más grande. Java la hace solo, porque no se pierde información.</a:t>
            </a:r>
            <a:endParaRPr lang="en-US" sz="1250" dirty="0"/>
          </a:p>
        </p:txBody>
      </p:sp>
      <p:sp>
        <p:nvSpPr>
          <p:cNvPr id="8" name="Shape 6"/>
          <p:cNvSpPr/>
          <p:nvPr/>
        </p:nvSpPr>
        <p:spPr>
          <a:xfrm>
            <a:off x="822960" y="3127248"/>
            <a:ext cx="4800600" cy="731520"/>
          </a:xfrm>
          <a:prstGeom prst="roundRect">
            <a:avLst>
              <a:gd name="adj" fmla="val 3750"/>
            </a:avLst>
          </a:prstGeom>
          <a:solidFill>
            <a:srgbClr val="0B1E33"/>
          </a:solidFill>
          <a:ln w="12700">
            <a:solidFill>
              <a:srgbClr val="0B1E33"/>
            </a:solidFill>
            <a:prstDash val="solid"/>
          </a:ln>
        </p:spPr>
        <p:txBody>
          <a:bodyPr/>
          <a:lstStyle/>
          <a:p>
            <a:endParaRPr lang="es-CO"/>
          </a:p>
        </p:txBody>
      </p:sp>
      <p:sp>
        <p:nvSpPr>
          <p:cNvPr id="9" name="Text 7"/>
          <p:cNvSpPr/>
          <p:nvPr/>
        </p:nvSpPr>
        <p:spPr>
          <a:xfrm>
            <a:off x="1078992" y="3310128"/>
            <a:ext cx="4288536" cy="365760"/>
          </a:xfrm>
          <a:prstGeom prst="rect">
            <a:avLst/>
          </a:prstGeom>
          <a:noFill/>
          <a:ln/>
        </p:spPr>
        <p:txBody>
          <a:bodyPr wrap="square" lIns="0" tIns="0" rIns="0" bIns="0" rtlCol="0" anchor="t"/>
          <a:lstStyle/>
          <a:p>
            <a:pPr marL="0" indent="0">
              <a:lnSpc>
                <a:spcPts val="1783"/>
              </a:lnSpc>
              <a:buNone/>
            </a:pPr>
            <a:r>
              <a:rPr lang="en-US" sz="1150" dirty="0">
                <a:solidFill>
                  <a:srgbClr val="E8EEF4"/>
                </a:solidFill>
                <a:latin typeface="Courier New" pitchFamily="34" charset="0"/>
                <a:ea typeface="Courier New" pitchFamily="34" charset="-122"/>
                <a:cs typeface="Courier New" pitchFamily="34" charset="-120"/>
              </a:rPr>
              <a:t>int cantidad = 20;</a:t>
            </a:r>
            <a:endParaRPr lang="en-US" sz="1150" dirty="0"/>
          </a:p>
          <a:p>
            <a:pPr marL="0" indent="0">
              <a:lnSpc>
                <a:spcPts val="1783"/>
              </a:lnSpc>
              <a:buNone/>
            </a:pPr>
            <a:r>
              <a:rPr lang="en-US" sz="1150" dirty="0">
                <a:solidFill>
                  <a:srgbClr val="E8EEF4"/>
                </a:solidFill>
                <a:latin typeface="Courier New" pitchFamily="34" charset="0"/>
                <a:ea typeface="Courier New" pitchFamily="34" charset="-122"/>
                <a:cs typeface="Courier New" pitchFamily="34" charset="-120"/>
              </a:rPr>
              <a:t>double comoReal = cantidad;   // 20.0</a:t>
            </a:r>
            <a:endParaRPr lang="en-US" sz="1150" dirty="0"/>
          </a:p>
        </p:txBody>
      </p:sp>
      <p:sp>
        <p:nvSpPr>
          <p:cNvPr id="10" name="Shape 8"/>
          <p:cNvSpPr/>
          <p:nvPr/>
        </p:nvSpPr>
        <p:spPr>
          <a:xfrm>
            <a:off x="6291072" y="2084832"/>
            <a:ext cx="5349240" cy="1874520"/>
          </a:xfrm>
          <a:prstGeom prst="roundRect">
            <a:avLst>
              <a:gd name="adj" fmla="val 3902"/>
            </a:avLst>
          </a:prstGeom>
          <a:solidFill>
            <a:srgbClr val="FFF4DE"/>
          </a:solidFill>
          <a:ln w="12700">
            <a:solidFill>
              <a:srgbClr val="FFF4DE"/>
            </a:solidFill>
            <a:prstDash val="solid"/>
          </a:ln>
        </p:spPr>
        <p:txBody>
          <a:bodyPr/>
          <a:lstStyle/>
          <a:p>
            <a:endParaRPr lang="es-CO"/>
          </a:p>
        </p:txBody>
      </p:sp>
      <p:sp>
        <p:nvSpPr>
          <p:cNvPr id="11" name="Text 9"/>
          <p:cNvSpPr/>
          <p:nvPr/>
        </p:nvSpPr>
        <p:spPr>
          <a:xfrm>
            <a:off x="6565392" y="2249424"/>
            <a:ext cx="4800600" cy="274320"/>
          </a:xfrm>
          <a:prstGeom prst="rect">
            <a:avLst/>
          </a:prstGeom>
          <a:noFill/>
          <a:ln/>
        </p:spPr>
        <p:txBody>
          <a:bodyPr wrap="square" lIns="0" tIns="0" rIns="0" bIns="0" rtlCol="0" anchor="ctr"/>
          <a:lstStyle/>
          <a:p>
            <a:pPr marL="0" indent="0">
              <a:buNone/>
            </a:pPr>
            <a:r>
              <a:rPr lang="en-US" sz="1250" b="1" kern="0" spc="80" dirty="0">
                <a:solidFill>
                  <a:srgbClr val="B07800"/>
                </a:solidFill>
                <a:latin typeface="Calibri" pitchFamily="34" charset="0"/>
                <a:ea typeface="Calibri" pitchFamily="34" charset="-122"/>
                <a:cs typeface="Calibri" pitchFamily="34" charset="-120"/>
              </a:rPr>
              <a:t>EXPLÍCITA · el dato NO cabe</a:t>
            </a:r>
            <a:endParaRPr lang="en-US" sz="1250" dirty="0"/>
          </a:p>
        </p:txBody>
      </p:sp>
      <p:sp>
        <p:nvSpPr>
          <p:cNvPr id="12" name="Text 10"/>
          <p:cNvSpPr/>
          <p:nvPr/>
        </p:nvSpPr>
        <p:spPr>
          <a:xfrm>
            <a:off x="6565392" y="2560320"/>
            <a:ext cx="4800600" cy="548640"/>
          </a:xfrm>
          <a:prstGeom prst="rect">
            <a:avLst/>
          </a:prstGeom>
          <a:noFill/>
          <a:ln/>
        </p:spPr>
        <p:txBody>
          <a:bodyPr wrap="square" lIns="0" tIns="0" rIns="0" bIns="0" rtlCol="0" anchor="t"/>
          <a:lstStyle/>
          <a:p>
            <a:pPr marL="0" indent="0">
              <a:lnSpc>
                <a:spcPts val="1600"/>
              </a:lnSpc>
              <a:buNone/>
            </a:pPr>
            <a:r>
              <a:rPr lang="en-US" sz="1250" dirty="0">
                <a:solidFill>
                  <a:srgbClr val="1A1A2E"/>
                </a:solidFill>
                <a:latin typeface="Calibri" pitchFamily="34" charset="0"/>
                <a:ea typeface="Calibri" pitchFamily="34" charset="-122"/>
                <a:cs typeface="Calibri" pitchFamily="34" charset="-120"/>
              </a:rPr>
              <a:t>De un tipo grande a uno más pequeño. Hay que pedirla escribiendo el tipo entre paréntesis, y se pierde información.</a:t>
            </a:r>
            <a:endParaRPr lang="en-US" sz="1250" dirty="0"/>
          </a:p>
        </p:txBody>
      </p:sp>
      <p:sp>
        <p:nvSpPr>
          <p:cNvPr id="13" name="Shape 11"/>
          <p:cNvSpPr/>
          <p:nvPr/>
        </p:nvSpPr>
        <p:spPr>
          <a:xfrm>
            <a:off x="6565392" y="3127248"/>
            <a:ext cx="4800600" cy="731520"/>
          </a:xfrm>
          <a:prstGeom prst="roundRect">
            <a:avLst>
              <a:gd name="adj" fmla="val 3750"/>
            </a:avLst>
          </a:prstGeom>
          <a:solidFill>
            <a:srgbClr val="0B1E33"/>
          </a:solidFill>
          <a:ln w="12700">
            <a:solidFill>
              <a:srgbClr val="0B1E33"/>
            </a:solidFill>
            <a:prstDash val="solid"/>
          </a:ln>
        </p:spPr>
        <p:txBody>
          <a:bodyPr/>
          <a:lstStyle/>
          <a:p>
            <a:endParaRPr lang="es-CO"/>
          </a:p>
        </p:txBody>
      </p:sp>
      <p:sp>
        <p:nvSpPr>
          <p:cNvPr id="14" name="Text 12"/>
          <p:cNvSpPr/>
          <p:nvPr/>
        </p:nvSpPr>
        <p:spPr>
          <a:xfrm>
            <a:off x="6821424" y="3310128"/>
            <a:ext cx="4288536" cy="365760"/>
          </a:xfrm>
          <a:prstGeom prst="rect">
            <a:avLst/>
          </a:prstGeom>
          <a:noFill/>
          <a:ln/>
        </p:spPr>
        <p:txBody>
          <a:bodyPr wrap="square" lIns="0" tIns="0" rIns="0" bIns="0" rtlCol="0" anchor="t"/>
          <a:lstStyle/>
          <a:p>
            <a:pPr marL="0" indent="0">
              <a:lnSpc>
                <a:spcPts val="1783"/>
              </a:lnSpc>
              <a:buNone/>
            </a:pPr>
            <a:r>
              <a:rPr lang="en-US" sz="1150" dirty="0">
                <a:solidFill>
                  <a:srgbClr val="E8EEF4"/>
                </a:solidFill>
                <a:latin typeface="Courier New" pitchFamily="34" charset="0"/>
                <a:ea typeface="Courier New" pitchFamily="34" charset="-122"/>
                <a:cs typeface="Courier New" pitchFamily="34" charset="-120"/>
              </a:rPr>
              <a:t>double promedio = 4.7;</a:t>
            </a:r>
            <a:endParaRPr lang="en-US" sz="1150" dirty="0"/>
          </a:p>
          <a:p>
            <a:pPr marL="0" indent="0">
              <a:lnSpc>
                <a:spcPts val="1783"/>
              </a:lnSpc>
              <a:buNone/>
            </a:pPr>
            <a:r>
              <a:rPr lang="en-US" sz="1150" b="1" dirty="0">
                <a:solidFill>
                  <a:srgbClr val="FFB100"/>
                </a:solidFill>
                <a:latin typeface="Courier New" pitchFamily="34" charset="0"/>
                <a:ea typeface="Courier New" pitchFamily="34" charset="-122"/>
                <a:cs typeface="Courier New" pitchFamily="34" charset="-120"/>
              </a:rPr>
              <a:t>int truncado = (int) promedio;</a:t>
            </a:r>
            <a:r>
              <a:rPr lang="en-US" sz="1150" dirty="0">
                <a:solidFill>
                  <a:srgbClr val="E8EEF4"/>
                </a:solidFill>
                <a:latin typeface="Courier New" pitchFamily="34" charset="0"/>
                <a:ea typeface="Courier New" pitchFamily="34" charset="-122"/>
                <a:cs typeface="Courier New" pitchFamily="34" charset="-120"/>
              </a:rPr>
              <a:t>  // 4</a:t>
            </a:r>
            <a:endParaRPr lang="en-US" sz="1150" dirty="0"/>
          </a:p>
        </p:txBody>
      </p:sp>
      <p:sp>
        <p:nvSpPr>
          <p:cNvPr id="15" name="Shape 13"/>
          <p:cNvSpPr/>
          <p:nvPr/>
        </p:nvSpPr>
        <p:spPr>
          <a:xfrm>
            <a:off x="548640" y="4096512"/>
            <a:ext cx="11091672" cy="1234440"/>
          </a:xfrm>
          <a:prstGeom prst="roundRect">
            <a:avLst>
              <a:gd name="adj" fmla="val 5926"/>
            </a:avLst>
          </a:prstGeom>
          <a:solidFill>
            <a:srgbClr val="E8EEF4"/>
          </a:solidFill>
          <a:ln w="12700">
            <a:solidFill>
              <a:srgbClr val="E8EEF4"/>
            </a:solidFill>
            <a:prstDash val="solid"/>
          </a:ln>
        </p:spPr>
        <p:txBody>
          <a:bodyPr/>
          <a:lstStyle/>
          <a:p>
            <a:endParaRPr lang="es-CO"/>
          </a:p>
        </p:txBody>
      </p:sp>
      <p:sp>
        <p:nvSpPr>
          <p:cNvPr id="16" name="Text 14"/>
          <p:cNvSpPr/>
          <p:nvPr/>
        </p:nvSpPr>
        <p:spPr>
          <a:xfrm>
            <a:off x="868680" y="4224528"/>
            <a:ext cx="10058400" cy="256032"/>
          </a:xfrm>
          <a:prstGeom prst="rect">
            <a:avLst/>
          </a:prstGeom>
          <a:noFill/>
          <a:ln/>
        </p:spPr>
        <p:txBody>
          <a:bodyPr wrap="square" lIns="0" tIns="0" rIns="0" bIns="0" rtlCol="0" anchor="ctr"/>
          <a:lstStyle/>
          <a:p>
            <a:pPr marL="0" indent="0">
              <a:buNone/>
            </a:pPr>
            <a:r>
              <a:rPr lang="en-US" sz="1100" b="1" kern="0" spc="120" dirty="0">
                <a:solidFill>
                  <a:srgbClr val="D64545"/>
                </a:solidFill>
                <a:latin typeface="Calibri" pitchFamily="34" charset="0"/>
                <a:ea typeface="Calibri" pitchFamily="34" charset="-122"/>
                <a:cs typeface="Calibri" pitchFamily="34" charset="-120"/>
              </a:rPr>
              <a:t>SI LO INTENTAS SIN PEDIRLO, EL PROGRAMA NO COMPILA</a:t>
            </a:r>
            <a:endParaRPr lang="en-US" sz="1100" dirty="0"/>
          </a:p>
        </p:txBody>
      </p:sp>
      <p:sp>
        <p:nvSpPr>
          <p:cNvPr id="17" name="Text 15"/>
          <p:cNvSpPr/>
          <p:nvPr/>
        </p:nvSpPr>
        <p:spPr>
          <a:xfrm>
            <a:off x="868680" y="4553712"/>
            <a:ext cx="10424160" cy="640080"/>
          </a:xfrm>
          <a:prstGeom prst="rect">
            <a:avLst/>
          </a:prstGeom>
          <a:noFill/>
          <a:ln/>
        </p:spPr>
        <p:txBody>
          <a:bodyPr wrap="square" lIns="0" tIns="0" rIns="0" bIns="0" rtlCol="0" anchor="t"/>
          <a:lstStyle/>
          <a:p>
            <a:pPr marL="0" indent="0">
              <a:lnSpc>
                <a:spcPts val="1900"/>
              </a:lnSpc>
              <a:buNone/>
            </a:pPr>
            <a:r>
              <a:rPr lang="en-US" sz="1350" b="1" dirty="0">
                <a:solidFill>
                  <a:srgbClr val="13294B"/>
                </a:solidFill>
                <a:latin typeface="Courier New" pitchFamily="34" charset="0"/>
                <a:ea typeface="Courier New" pitchFamily="34" charset="-122"/>
                <a:cs typeface="Courier New" pitchFamily="34" charset="-120"/>
              </a:rPr>
              <a:t>int promedio = 4.7;</a:t>
            </a:r>
            <a:r>
              <a:rPr lang="en-US" sz="1250" dirty="0">
                <a:solidFill>
                  <a:srgbClr val="1A1A2E"/>
                </a:solidFill>
                <a:latin typeface="Calibri" pitchFamily="34" charset="0"/>
                <a:ea typeface="Calibri" pitchFamily="34" charset="-122"/>
                <a:cs typeface="Calibri" pitchFamily="34" charset="-120"/>
              </a:rPr>
              <a:t>      el compilador responde:      </a:t>
            </a:r>
            <a:r>
              <a:rPr lang="en-US" sz="1200" b="1" dirty="0">
                <a:solidFill>
                  <a:srgbClr val="D64545"/>
                </a:solidFill>
                <a:latin typeface="Courier New" pitchFamily="34" charset="0"/>
                <a:ea typeface="Courier New" pitchFamily="34" charset="-122"/>
                <a:cs typeface="Courier New" pitchFamily="34" charset="-120"/>
              </a:rPr>
              <a:t>incompatible types: possible lossy conversion from double to int</a:t>
            </a:r>
            <a:endParaRPr lang="en-US" sz="1350" dirty="0"/>
          </a:p>
        </p:txBody>
      </p:sp>
      <p:sp>
        <p:nvSpPr>
          <p:cNvPr id="18" name="Shape 16"/>
          <p:cNvSpPr/>
          <p:nvPr/>
        </p:nvSpPr>
        <p:spPr>
          <a:xfrm>
            <a:off x="548640" y="5468112"/>
            <a:ext cx="11091672" cy="749808"/>
          </a:xfrm>
          <a:prstGeom prst="roundRect">
            <a:avLst>
              <a:gd name="adj" fmla="val 9756"/>
            </a:avLst>
          </a:prstGeom>
          <a:solidFill>
            <a:srgbClr val="13294B"/>
          </a:solidFill>
          <a:ln w="12700">
            <a:solidFill>
              <a:srgbClr val="13294B"/>
            </a:solidFill>
            <a:prstDash val="solid"/>
          </a:ln>
        </p:spPr>
        <p:txBody>
          <a:bodyPr/>
          <a:lstStyle/>
          <a:p>
            <a:endParaRPr lang="es-CO"/>
          </a:p>
        </p:txBody>
      </p:sp>
      <p:sp>
        <p:nvSpPr>
          <p:cNvPr id="19" name="Text 17"/>
          <p:cNvSpPr/>
          <p:nvPr/>
        </p:nvSpPr>
        <p:spPr>
          <a:xfrm>
            <a:off x="868680" y="5468112"/>
            <a:ext cx="10451592" cy="74980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LA TRAMPA MÁS FRECUENTE:  </a:t>
            </a:r>
            <a:r>
              <a:rPr lang="en-US" sz="1350" dirty="0">
                <a:solidFill>
                  <a:srgbClr val="FFFFFF"/>
                </a:solidFill>
                <a:latin typeface="Calibri" pitchFamily="34" charset="0"/>
                <a:ea typeface="Calibri" pitchFamily="34" charset="-122"/>
                <a:cs typeface="Calibri" pitchFamily="34" charset="-120"/>
              </a:rPr>
              <a:t>7 / 2 da 3, no 3.5. Si los dos números son enteros, la división también lo es. Con 7 / 2.0 el resultado sí es 3.5.</a:t>
            </a:r>
            <a:endParaRPr lang="en-US" sz="1350" dirty="0"/>
          </a:p>
        </p:txBody>
      </p:sp>
      <p:sp>
        <p:nvSpPr>
          <p:cNvPr id="20" name="Text 18"/>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16</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3 · INDIVIDUAL</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Identifica las variables y su tipo de dato</a:t>
            </a:r>
            <a:endParaRPr lang="en-US" sz="2900" dirty="0"/>
          </a:p>
        </p:txBody>
      </p:sp>
      <p:sp>
        <p:nvSpPr>
          <p:cNvPr id="4" name="Shape 2"/>
          <p:cNvSpPr/>
          <p:nvPr/>
        </p:nvSpPr>
        <p:spPr>
          <a:xfrm>
            <a:off x="548640" y="1554480"/>
            <a:ext cx="11091672" cy="777240"/>
          </a:xfrm>
          <a:prstGeom prst="roundRect">
            <a:avLst>
              <a:gd name="adj" fmla="val 9412"/>
            </a:avLst>
          </a:prstGeom>
          <a:solidFill>
            <a:srgbClr val="E8EEF4"/>
          </a:solidFill>
          <a:ln w="12700">
            <a:solidFill>
              <a:srgbClr val="E8EEF4"/>
            </a:solidFill>
            <a:prstDash val="solid"/>
          </a:ln>
        </p:spPr>
        <p:txBody>
          <a:bodyPr/>
          <a:lstStyle/>
          <a:p>
            <a:endParaRPr lang="es-CO"/>
          </a:p>
        </p:txBody>
      </p:sp>
      <p:sp>
        <p:nvSpPr>
          <p:cNvPr id="5" name="Text 3"/>
          <p:cNvSpPr/>
          <p:nvPr/>
        </p:nvSpPr>
        <p:spPr>
          <a:xfrm>
            <a:off x="868680" y="1554480"/>
            <a:ext cx="10451592" cy="777240"/>
          </a:xfrm>
          <a:prstGeom prst="rect">
            <a:avLst/>
          </a:prstGeom>
          <a:noFill/>
          <a:ln/>
        </p:spPr>
        <p:txBody>
          <a:bodyPr wrap="square" lIns="0" tIns="0" rIns="0" bIns="0" rtlCol="0" anchor="ctr"/>
          <a:lstStyle/>
          <a:p>
            <a:pPr marL="0" indent="0">
              <a:buNone/>
            </a:pPr>
            <a:r>
              <a:rPr lang="en-US" sz="1400" i="1" dirty="0">
                <a:solidFill>
                  <a:srgbClr val="13294B"/>
                </a:solidFill>
                <a:latin typeface="Calibri" pitchFamily="34" charset="0"/>
                <a:ea typeface="Calibri" pitchFamily="34" charset="-122"/>
                <a:cs typeface="Calibri" pitchFamily="34" charset="-120"/>
              </a:rPr>
              <a:t>«Una tienda registra cada venta. De cada una se conoce el nombre del producto, el precio unitario, la cantidad vendida, si el cliente está afiliado y la inicial de la sede donde se hizo. El IVA aplicado es siempre del 19%.»</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2798064"/>
        </p:xfrm>
        <a:graphic>
          <a:graphicData uri="http://schemas.openxmlformats.org/drawingml/2006/table">
            <a:tbl>
              <a:tblPr/>
              <a:tblGrid>
                <a:gridCol w="3685032">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Dato del enunciado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Identificador propuesto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Tipo de dato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¿Variable o constante?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02336">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Nombre del producto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Precio unitario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Cantidad vendida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¿El cliente está afiliado?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Inicial de la sede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IVA del 19%</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Shape 4"/>
          <p:cNvSpPr/>
          <p:nvPr/>
        </p:nvSpPr>
        <p:spPr>
          <a:xfrm>
            <a:off x="548640" y="5504688"/>
            <a:ext cx="11091672" cy="713232"/>
          </a:xfrm>
          <a:prstGeom prst="roundRect">
            <a:avLst>
              <a:gd name="adj" fmla="val 10256"/>
            </a:avLst>
          </a:prstGeom>
          <a:solidFill>
            <a:srgbClr val="13294B"/>
          </a:solidFill>
          <a:ln w="12700">
            <a:solidFill>
              <a:srgbClr val="13294B"/>
            </a:solidFill>
            <a:prstDash val="solid"/>
          </a:ln>
        </p:spPr>
        <p:txBody>
          <a:bodyPr/>
          <a:lstStyle/>
          <a:p>
            <a:endParaRPr lang="es-CO"/>
          </a:p>
        </p:txBody>
      </p:sp>
      <p:sp>
        <p:nvSpPr>
          <p:cNvPr id="8" name="Text 5"/>
          <p:cNvSpPr/>
          <p:nvPr/>
        </p:nvSpPr>
        <p:spPr>
          <a:xfrm>
            <a:off x="868680" y="5504688"/>
            <a:ext cx="10451592" cy="713232"/>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RECUERDA:  </a:t>
            </a:r>
            <a:r>
              <a:rPr lang="en-US" sz="1350" dirty="0">
                <a:solidFill>
                  <a:srgbClr val="FFFFFF"/>
                </a:solidFill>
                <a:latin typeface="Calibri" pitchFamily="34" charset="0"/>
                <a:ea typeface="Calibri" pitchFamily="34" charset="-122"/>
                <a:cs typeface="Calibri" pitchFamily="34" charset="-120"/>
              </a:rPr>
              <a:t>el identificador debe cumplir las reglas de Java y las buenas prácticas del curso. Escribe también la declaración completa de dos de ellos.</a:t>
            </a:r>
            <a:endParaRPr lang="en-US" sz="1350" dirty="0"/>
          </a:p>
        </p:txBody>
      </p:sp>
      <p:sp>
        <p:nvSpPr>
          <p:cNvPr id="9" name="Text 6"/>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17</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ACTIVIDAD 4 · EN GRUPO</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Caza de errores en las declaraciones</a:t>
            </a:r>
            <a:endParaRPr lang="en-US" sz="2900" dirty="0"/>
          </a:p>
        </p:txBody>
      </p:sp>
      <p:sp>
        <p:nvSpPr>
          <p:cNvPr id="4" name="Text 2"/>
          <p:cNvSpPr/>
          <p:nvPr/>
        </p:nvSpPr>
        <p:spPr>
          <a:xfrm>
            <a:off x="548640" y="1389888"/>
            <a:ext cx="11091672" cy="502920"/>
          </a:xfrm>
          <a:prstGeom prst="rect">
            <a:avLst/>
          </a:prstGeom>
          <a:noFill/>
          <a:ln/>
        </p:spPr>
        <p:txBody>
          <a:bodyPr wrap="square" lIns="0" tIns="0" rIns="0" bIns="0" rtlCol="0" anchor="ctr"/>
          <a:lstStyle/>
          <a:p>
            <a:pPr marL="0" indent="0">
              <a:buNone/>
            </a:pPr>
            <a:r>
              <a:rPr lang="en-US" sz="1400" i="1" dirty="0">
                <a:solidFill>
                  <a:srgbClr val="5B6B7C"/>
                </a:solidFill>
                <a:latin typeface="Calibri" pitchFamily="34" charset="0"/>
                <a:ea typeface="Calibri" pitchFamily="34" charset="-122"/>
                <a:cs typeface="Calibri" pitchFamily="34" charset="-120"/>
              </a:rPr>
              <a:t>Cada línea tiene un problema. Di cuál es, si impide compilar o si solo es una mala práctica, y reescríbela bien.</a:t>
            </a:r>
            <a:endParaRPr lang="en-US" sz="1400" dirty="0"/>
          </a:p>
        </p:txBody>
      </p:sp>
      <p:sp>
        <p:nvSpPr>
          <p:cNvPr id="5" name="Shape 3"/>
          <p:cNvSpPr/>
          <p:nvPr/>
        </p:nvSpPr>
        <p:spPr>
          <a:xfrm>
            <a:off x="548640" y="2121408"/>
            <a:ext cx="6035040" cy="2514600"/>
          </a:xfrm>
          <a:prstGeom prst="roundRect">
            <a:avLst>
              <a:gd name="adj" fmla="val 1091"/>
            </a:avLst>
          </a:prstGeom>
          <a:solidFill>
            <a:srgbClr val="0B1E33"/>
          </a:solidFill>
          <a:ln w="12700">
            <a:solidFill>
              <a:srgbClr val="0B1E33"/>
            </a:solidFill>
            <a:prstDash val="solid"/>
          </a:ln>
        </p:spPr>
        <p:txBody>
          <a:bodyPr/>
          <a:lstStyle/>
          <a:p>
            <a:endParaRPr lang="es-CO"/>
          </a:p>
        </p:txBody>
      </p:sp>
      <p:sp>
        <p:nvSpPr>
          <p:cNvPr id="6" name="Text 4"/>
          <p:cNvSpPr/>
          <p:nvPr/>
        </p:nvSpPr>
        <p:spPr>
          <a:xfrm>
            <a:off x="804672" y="2304288"/>
            <a:ext cx="5522976" cy="2148840"/>
          </a:xfrm>
          <a:prstGeom prst="rect">
            <a:avLst/>
          </a:prstGeom>
          <a:noFill/>
          <a:ln/>
        </p:spPr>
        <p:txBody>
          <a:bodyPr wrap="square" lIns="0" tIns="0" rIns="0" bIns="0" rtlCol="0" anchor="t"/>
          <a:lstStyle/>
          <a:p>
            <a:pPr marL="0" indent="0">
              <a:lnSpc>
                <a:spcPts val="2015"/>
              </a:lnSpc>
              <a:buNone/>
            </a:pPr>
            <a:r>
              <a:rPr lang="en-US" sz="1300" b="1" dirty="0">
                <a:solidFill>
                  <a:srgbClr val="FFB100"/>
                </a:solidFill>
                <a:latin typeface="Courier New" pitchFamily="34" charset="0"/>
                <a:ea typeface="Courier New" pitchFamily="34" charset="-122"/>
                <a:cs typeface="Courier New" pitchFamily="34" charset="-120"/>
              </a:rPr>
              <a:t>1  </a:t>
            </a:r>
            <a:r>
              <a:rPr lang="en-US" sz="1300" dirty="0">
                <a:solidFill>
                  <a:srgbClr val="E8EEF4"/>
                </a:solidFill>
                <a:latin typeface="Courier New" pitchFamily="34" charset="0"/>
                <a:ea typeface="Courier New" pitchFamily="34" charset="-122"/>
                <a:cs typeface="Courier New" pitchFamily="34" charset="-120"/>
              </a:rPr>
              <a:t>int 2edad = 20;</a:t>
            </a:r>
            <a:endParaRPr lang="en-US" sz="1300" dirty="0"/>
          </a:p>
          <a:p>
            <a:pPr marL="0" indent="0">
              <a:lnSpc>
                <a:spcPts val="2015"/>
              </a:lnSpc>
              <a:buNone/>
            </a:pPr>
            <a:r>
              <a:rPr lang="en-US" sz="1300" b="1" dirty="0">
                <a:solidFill>
                  <a:srgbClr val="FFB100"/>
                </a:solidFill>
                <a:latin typeface="Courier New" pitchFamily="34" charset="0"/>
                <a:ea typeface="Courier New" pitchFamily="34" charset="-122"/>
                <a:cs typeface="Courier New" pitchFamily="34" charset="-120"/>
              </a:rPr>
              <a:t>2  </a:t>
            </a:r>
            <a:r>
              <a:rPr lang="en-US" sz="1300" dirty="0">
                <a:solidFill>
                  <a:srgbClr val="E8EEF4"/>
                </a:solidFill>
                <a:latin typeface="Courier New" pitchFamily="34" charset="0"/>
                <a:ea typeface="Courier New" pitchFamily="34" charset="-122"/>
                <a:cs typeface="Courier New" pitchFamily="34" charset="-120"/>
              </a:rPr>
              <a:t>double precio unitario = 1500;</a:t>
            </a:r>
            <a:endParaRPr lang="en-US" sz="1300" dirty="0"/>
          </a:p>
          <a:p>
            <a:pPr marL="0" indent="0">
              <a:lnSpc>
                <a:spcPts val="2015"/>
              </a:lnSpc>
              <a:buNone/>
            </a:pPr>
            <a:r>
              <a:rPr lang="en-US" sz="1300" b="1" dirty="0">
                <a:solidFill>
                  <a:srgbClr val="FFB100"/>
                </a:solidFill>
                <a:latin typeface="Courier New" pitchFamily="34" charset="0"/>
                <a:ea typeface="Courier New" pitchFamily="34" charset="-122"/>
                <a:cs typeface="Courier New" pitchFamily="34" charset="-120"/>
              </a:rPr>
              <a:t>3  </a:t>
            </a:r>
            <a:r>
              <a:rPr lang="en-US" sz="1300" dirty="0">
                <a:solidFill>
                  <a:srgbClr val="E8EEF4"/>
                </a:solidFill>
                <a:latin typeface="Courier New" pitchFamily="34" charset="0"/>
                <a:ea typeface="Courier New" pitchFamily="34" charset="-122"/>
                <a:cs typeface="Courier New" pitchFamily="34" charset="-120"/>
              </a:rPr>
              <a:t>int promedio = 4.7;</a:t>
            </a:r>
            <a:endParaRPr lang="en-US" sz="1300" dirty="0"/>
          </a:p>
          <a:p>
            <a:pPr marL="0" indent="0">
              <a:lnSpc>
                <a:spcPts val="2015"/>
              </a:lnSpc>
              <a:buNone/>
            </a:pPr>
            <a:r>
              <a:rPr lang="en-US" sz="1300" b="1" dirty="0">
                <a:solidFill>
                  <a:srgbClr val="FFB100"/>
                </a:solidFill>
                <a:latin typeface="Courier New" pitchFamily="34" charset="0"/>
                <a:ea typeface="Courier New" pitchFamily="34" charset="-122"/>
                <a:cs typeface="Courier New" pitchFamily="34" charset="-120"/>
              </a:rPr>
              <a:t>4  </a:t>
            </a:r>
            <a:r>
              <a:rPr lang="en-US" sz="1300" dirty="0">
                <a:solidFill>
                  <a:srgbClr val="E8EEF4"/>
                </a:solidFill>
                <a:latin typeface="Courier New" pitchFamily="34" charset="0"/>
                <a:ea typeface="Courier New" pitchFamily="34" charset="-122"/>
                <a:cs typeface="Courier New" pitchFamily="34" charset="-120"/>
              </a:rPr>
              <a:t>boolean matriculado = "sí";</a:t>
            </a:r>
            <a:endParaRPr lang="en-US" sz="1300" dirty="0"/>
          </a:p>
          <a:p>
            <a:pPr marL="0" indent="0">
              <a:lnSpc>
                <a:spcPts val="2015"/>
              </a:lnSpc>
              <a:buNone/>
            </a:pPr>
            <a:r>
              <a:rPr lang="en-US" sz="1300" b="1" dirty="0">
                <a:solidFill>
                  <a:srgbClr val="FFB100"/>
                </a:solidFill>
                <a:latin typeface="Courier New" pitchFamily="34" charset="0"/>
                <a:ea typeface="Courier New" pitchFamily="34" charset="-122"/>
                <a:cs typeface="Courier New" pitchFamily="34" charset="-120"/>
              </a:rPr>
              <a:t>5  </a:t>
            </a:r>
            <a:r>
              <a:rPr lang="en-US" sz="1300" dirty="0">
                <a:solidFill>
                  <a:srgbClr val="E8EEF4"/>
                </a:solidFill>
                <a:latin typeface="Courier New" pitchFamily="34" charset="0"/>
                <a:ea typeface="Courier New" pitchFamily="34" charset="-122"/>
                <a:cs typeface="Courier New" pitchFamily="34" charset="-120"/>
              </a:rPr>
              <a:t>char inicial = "A";</a:t>
            </a:r>
            <a:endParaRPr lang="en-US" sz="1300" dirty="0"/>
          </a:p>
          <a:p>
            <a:pPr marL="0" indent="0">
              <a:lnSpc>
                <a:spcPts val="2015"/>
              </a:lnSpc>
              <a:buNone/>
            </a:pPr>
            <a:r>
              <a:rPr lang="en-US" sz="1300" b="1" dirty="0">
                <a:solidFill>
                  <a:srgbClr val="FFB100"/>
                </a:solidFill>
                <a:latin typeface="Courier New" pitchFamily="34" charset="0"/>
                <a:ea typeface="Courier New" pitchFamily="34" charset="-122"/>
                <a:cs typeface="Courier New" pitchFamily="34" charset="-120"/>
              </a:rPr>
              <a:t>6  </a:t>
            </a:r>
            <a:r>
              <a:rPr lang="en-US" sz="1300" dirty="0">
                <a:solidFill>
                  <a:srgbClr val="E8EEF4"/>
                </a:solidFill>
                <a:latin typeface="Courier New" pitchFamily="34" charset="0"/>
                <a:ea typeface="Courier New" pitchFamily="34" charset="-122"/>
                <a:cs typeface="Courier New" pitchFamily="34" charset="-120"/>
              </a:rPr>
              <a:t>final double iva = 0.19;</a:t>
            </a:r>
            <a:endParaRPr lang="en-US" sz="1300" dirty="0"/>
          </a:p>
        </p:txBody>
      </p:sp>
      <p:sp>
        <p:nvSpPr>
          <p:cNvPr id="7" name="Shape 5"/>
          <p:cNvSpPr/>
          <p:nvPr/>
        </p:nvSpPr>
        <p:spPr>
          <a:xfrm>
            <a:off x="6784848" y="2121408"/>
            <a:ext cx="4855464" cy="2514600"/>
          </a:xfrm>
          <a:prstGeom prst="roundRect">
            <a:avLst>
              <a:gd name="adj" fmla="val 2909"/>
            </a:avLst>
          </a:prstGeom>
          <a:solidFill>
            <a:srgbClr val="F4F7FB"/>
          </a:solidFill>
          <a:ln w="12700">
            <a:solidFill>
              <a:srgbClr val="F4F7FB"/>
            </a:solidFill>
            <a:prstDash val="solid"/>
          </a:ln>
        </p:spPr>
        <p:txBody>
          <a:bodyPr/>
          <a:lstStyle/>
          <a:p>
            <a:endParaRPr lang="es-CO"/>
          </a:p>
        </p:txBody>
      </p:sp>
      <p:sp>
        <p:nvSpPr>
          <p:cNvPr id="8" name="Text 6"/>
          <p:cNvSpPr/>
          <p:nvPr/>
        </p:nvSpPr>
        <p:spPr>
          <a:xfrm>
            <a:off x="7059168" y="2286000"/>
            <a:ext cx="4343400" cy="274320"/>
          </a:xfrm>
          <a:prstGeom prst="rect">
            <a:avLst/>
          </a:prstGeom>
          <a:noFill/>
          <a:ln/>
        </p:spPr>
        <p:txBody>
          <a:bodyPr wrap="square" lIns="0" tIns="0" rIns="0" bIns="0" rtlCol="0" anchor="ctr"/>
          <a:lstStyle/>
          <a:p>
            <a:pPr marL="0" indent="0">
              <a:buNone/>
            </a:pPr>
            <a:r>
              <a:rPr lang="en-US" sz="1150" b="1" kern="0" spc="120" dirty="0">
                <a:solidFill>
                  <a:srgbClr val="1C7293"/>
                </a:solidFill>
                <a:latin typeface="Calibri" pitchFamily="34" charset="0"/>
                <a:ea typeface="Calibri" pitchFamily="34" charset="-122"/>
                <a:cs typeface="Calibri" pitchFamily="34" charset="-120"/>
              </a:rPr>
              <a:t>CLASIFICA CADA ERROR</a:t>
            </a:r>
            <a:endParaRPr lang="en-US" sz="1150" dirty="0"/>
          </a:p>
        </p:txBody>
      </p:sp>
      <p:sp>
        <p:nvSpPr>
          <p:cNvPr id="9" name="Text 7"/>
          <p:cNvSpPr/>
          <p:nvPr/>
        </p:nvSpPr>
        <p:spPr>
          <a:xfrm>
            <a:off x="7059168" y="2615184"/>
            <a:ext cx="4343400" cy="182880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A2E"/>
                </a:solidFill>
                <a:latin typeface="Calibri" pitchFamily="34" charset="0"/>
                <a:ea typeface="Calibri" pitchFamily="34" charset="-122"/>
                <a:cs typeface="Calibri" pitchFamily="34" charset="-120"/>
              </a:rPr>
              <a:t>Identificador inválido — rompe una regla del lenguaje.</a:t>
            </a:r>
            <a:endParaRPr lang="en-US" sz="1250" dirty="0"/>
          </a:p>
          <a:p>
            <a:pPr marL="342900" indent="-342900">
              <a:spcAft>
                <a:spcPts val="900"/>
              </a:spcAft>
              <a:buSzPct val="100000"/>
              <a:buChar char="•"/>
            </a:pPr>
            <a:r>
              <a:rPr lang="en-US" sz="1250" dirty="0">
                <a:solidFill>
                  <a:srgbClr val="1A1A2E"/>
                </a:solidFill>
                <a:latin typeface="Calibri" pitchFamily="34" charset="0"/>
                <a:ea typeface="Calibri" pitchFamily="34" charset="-122"/>
                <a:cs typeface="Calibri" pitchFamily="34" charset="-120"/>
              </a:rPr>
              <a:t>Tipo incompatible — el valor no corresponde al tipo.</a:t>
            </a:r>
            <a:endParaRPr lang="en-US" sz="1250" dirty="0"/>
          </a:p>
          <a:p>
            <a:pPr marL="342900" indent="-342900">
              <a:spcAft>
                <a:spcPts val="900"/>
              </a:spcAft>
              <a:buSzPct val="100000"/>
              <a:buChar char="•"/>
            </a:pPr>
            <a:r>
              <a:rPr lang="en-US" sz="1250" dirty="0">
                <a:solidFill>
                  <a:srgbClr val="1A1A2E"/>
                </a:solidFill>
                <a:latin typeface="Calibri" pitchFamily="34" charset="0"/>
                <a:ea typeface="Calibri" pitchFamily="34" charset="-122"/>
                <a:cs typeface="Calibri" pitchFamily="34" charset="-120"/>
              </a:rPr>
              <a:t>Conversión — el valor no cabe sin pedirlo explícitamente.</a:t>
            </a:r>
            <a:endParaRPr lang="en-US" sz="1250" dirty="0"/>
          </a:p>
          <a:p>
            <a:pPr marL="342900" indent="-342900">
              <a:buSzPct val="100000"/>
              <a:buChar char="•"/>
            </a:pPr>
            <a:r>
              <a:rPr lang="en-US" sz="1250" dirty="0">
                <a:solidFill>
                  <a:srgbClr val="1A1A2E"/>
                </a:solidFill>
                <a:latin typeface="Calibri" pitchFamily="34" charset="0"/>
                <a:ea typeface="Calibri" pitchFamily="34" charset="-122"/>
                <a:cs typeface="Calibri" pitchFamily="34" charset="-120"/>
              </a:rPr>
              <a:t>Mala práctica — compila, pero no respeta la convención.</a:t>
            </a:r>
            <a:endParaRPr lang="en-US" sz="1250" dirty="0"/>
          </a:p>
        </p:txBody>
      </p:sp>
      <p:sp>
        <p:nvSpPr>
          <p:cNvPr id="12" name="Text 10"/>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18</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ACLARACIÓN CONCEPTUAL</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El algoritmo y sus lenguajes no son lo mismo</a:t>
            </a:r>
            <a:endParaRPr lang="en-US" sz="2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2596896"/>
        </p:xfrm>
        <a:graphic>
          <a:graphicData uri="http://schemas.openxmlformats.org/drawingml/2006/table">
            <a:tbl>
              <a:tblPr/>
              <a:tblGrid>
                <a:gridCol w="19202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47548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Aspecto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Algoritmo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Lenguaje algorítmico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Lenguaje de programación</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60350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Qué es</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La idea del método de solución.</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Una forma de escribir esa idea: natural, diagrama o pseudocódigo.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Un idioma que la máquina entiende, como Java.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350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Tiene sintaxis fija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Convenciones acordadas, no sintaxis obligatoria.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Sí, y estricta: un punto y coma de menos y no compila.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Se ejecuta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No: sirve para diseñar y comunicar.</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Sí.</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Ejemplo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El método para hallar un promedio.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El diagrama y el pseudocódigo que escribiste.</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Java, con su sintaxis exacta.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48640" y="4892040"/>
            <a:ext cx="11091672" cy="749808"/>
          </a:xfrm>
          <a:prstGeom prst="roundRect">
            <a:avLst>
              <a:gd name="adj" fmla="val 9756"/>
            </a:avLst>
          </a:prstGeom>
          <a:solidFill>
            <a:srgbClr val="13294B"/>
          </a:solidFill>
          <a:ln w="12700">
            <a:solidFill>
              <a:srgbClr val="13294B"/>
            </a:solidFill>
            <a:prstDash val="solid"/>
          </a:ln>
        </p:spPr>
        <p:txBody>
          <a:bodyPr/>
          <a:lstStyle/>
          <a:p>
            <a:endParaRPr lang="es-CO"/>
          </a:p>
        </p:txBody>
      </p:sp>
      <p:sp>
        <p:nvSpPr>
          <p:cNvPr id="6" name="Text 3"/>
          <p:cNvSpPr/>
          <p:nvPr/>
        </p:nvSpPr>
        <p:spPr>
          <a:xfrm>
            <a:off x="868680" y="4892040"/>
            <a:ext cx="10451592" cy="749808"/>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POR ESO EL ORDEN IMPORTA:  </a:t>
            </a:r>
            <a:r>
              <a:rPr lang="en-US" sz="1350" dirty="0">
                <a:solidFill>
                  <a:srgbClr val="FFFFFF"/>
                </a:solidFill>
                <a:latin typeface="Calibri" pitchFamily="34" charset="0"/>
                <a:ea typeface="Calibri" pitchFamily="34" charset="-122"/>
                <a:cs typeface="Calibri" pitchFamily="34" charset="-120"/>
              </a:rPr>
              <a:t>si el algoritmo está mal pensado, el programa va a estar mal aunque compile sin un solo error.</a:t>
            </a:r>
            <a:endParaRPr lang="en-US" sz="1350" dirty="0"/>
          </a:p>
        </p:txBody>
      </p:sp>
      <p:sp>
        <p:nvSpPr>
          <p:cNvPr id="7" name="Text 4"/>
          <p:cNvSpPr/>
          <p:nvPr/>
        </p:nvSpPr>
        <p:spPr>
          <a:xfrm>
            <a:off x="11185855" y="6309360"/>
            <a:ext cx="548640" cy="274320"/>
          </a:xfrm>
          <a:prstGeom prst="rect">
            <a:avLst/>
          </a:prstGeom>
          <a:noFill/>
          <a:ln/>
        </p:spPr>
        <p:txBody>
          <a:bodyPr wrap="square" lIns="0" tIns="0" rIns="0" bIns="0" rtlCol="0" anchor="ctr"/>
          <a:lstStyle/>
          <a:p>
            <a:pPr marL="0" indent="0" algn="r">
              <a:buNone/>
            </a:pPr>
            <a:r>
              <a:rPr lang="en-US" sz="1100" b="1" dirty="0">
                <a:solidFill>
                  <a:srgbClr val="E1E7EF"/>
                </a:solidFill>
                <a:latin typeface="Calibri" pitchFamily="34" charset="0"/>
                <a:ea typeface="Calibri" pitchFamily="34" charset="-122"/>
                <a:cs typeface="Calibri" pitchFamily="34" charset="-120"/>
              </a:rPr>
              <a:t>19</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EJERCICIO GUIADO · CONSTRUCCIÓN CONJUNTA</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Del pseudocódigo a la declaración en Java</a:t>
            </a:r>
            <a:endParaRPr lang="en-US" sz="2900" dirty="0"/>
          </a:p>
        </p:txBody>
      </p:sp>
      <p:sp>
        <p:nvSpPr>
          <p:cNvPr id="4" name="Shape 2"/>
          <p:cNvSpPr/>
          <p:nvPr/>
        </p:nvSpPr>
        <p:spPr>
          <a:xfrm>
            <a:off x="548640" y="1444752"/>
            <a:ext cx="11091672" cy="658368"/>
          </a:xfrm>
          <a:prstGeom prst="roundRect">
            <a:avLst>
              <a:gd name="adj" fmla="val 11111"/>
            </a:avLst>
          </a:prstGeom>
          <a:solidFill>
            <a:srgbClr val="E8EEF4"/>
          </a:solidFill>
          <a:ln w="12700">
            <a:solidFill>
              <a:srgbClr val="E8EEF4"/>
            </a:solidFill>
            <a:prstDash val="solid"/>
          </a:ln>
        </p:spPr>
        <p:txBody>
          <a:bodyPr/>
          <a:lstStyle/>
          <a:p>
            <a:endParaRPr lang="es-CO"/>
          </a:p>
        </p:txBody>
      </p:sp>
      <p:sp>
        <p:nvSpPr>
          <p:cNvPr id="5" name="Text 3"/>
          <p:cNvSpPr/>
          <p:nvPr/>
        </p:nvSpPr>
        <p:spPr>
          <a:xfrm>
            <a:off x="868680" y="1444752"/>
            <a:ext cx="10451592" cy="658368"/>
          </a:xfrm>
          <a:prstGeom prst="rect">
            <a:avLst/>
          </a:prstGeom>
          <a:noFill/>
          <a:ln/>
        </p:spPr>
        <p:txBody>
          <a:bodyPr wrap="square" lIns="0" tIns="0" rIns="0" bIns="0" rtlCol="0" anchor="ctr"/>
          <a:lstStyle/>
          <a:p>
            <a:pPr marL="0" indent="0">
              <a:buNone/>
            </a:pPr>
            <a:r>
              <a:rPr lang="en-US" sz="1400" i="1" dirty="0">
                <a:solidFill>
                  <a:srgbClr val="13294B"/>
                </a:solidFill>
                <a:latin typeface="Calibri" pitchFamily="34" charset="0"/>
                <a:ea typeface="Calibri" pitchFamily="34" charset="-122"/>
                <a:cs typeface="Calibri" pitchFamily="34" charset="-120"/>
              </a:rPr>
              <a:t>«Un parqueadero cobra por hora. De cada vehículo se conoce la placa, la cantidad de horas que estuvo y si el conductor tiene convenio. La tarifa por hora es siempre de 3.500 pesos, y al final se reporta el total a pagar.»</a:t>
            </a:r>
            <a:endParaRPr lang="en-US" sz="1400" dirty="0"/>
          </a:p>
        </p:txBody>
      </p:sp>
      <p:sp>
        <p:nvSpPr>
          <p:cNvPr id="6" name="Shape 4"/>
          <p:cNvSpPr/>
          <p:nvPr/>
        </p:nvSpPr>
        <p:spPr>
          <a:xfrm>
            <a:off x="548640" y="2194560"/>
            <a:ext cx="3520440" cy="1024128"/>
          </a:xfrm>
          <a:prstGeom prst="roundRect">
            <a:avLst>
              <a:gd name="adj" fmla="val 7143"/>
            </a:avLst>
          </a:prstGeom>
          <a:solidFill>
            <a:srgbClr val="F4F7FB"/>
          </a:solidFill>
          <a:ln w="12700">
            <a:solidFill>
              <a:srgbClr val="F4F7FB"/>
            </a:solidFill>
            <a:prstDash val="solid"/>
          </a:ln>
        </p:spPr>
        <p:txBody>
          <a:bodyPr/>
          <a:lstStyle/>
          <a:p>
            <a:endParaRPr lang="es-CO"/>
          </a:p>
        </p:txBody>
      </p:sp>
      <p:sp>
        <p:nvSpPr>
          <p:cNvPr id="7" name="Shape 5"/>
          <p:cNvSpPr/>
          <p:nvPr/>
        </p:nvSpPr>
        <p:spPr>
          <a:xfrm>
            <a:off x="804672" y="2340864"/>
            <a:ext cx="384048" cy="384048"/>
          </a:xfrm>
          <a:prstGeom prst="ellipse">
            <a:avLst/>
          </a:prstGeom>
          <a:solidFill>
            <a:srgbClr val="1C7293"/>
          </a:solidFill>
          <a:ln w="12700">
            <a:solidFill>
              <a:srgbClr val="1C7293"/>
            </a:solidFill>
            <a:prstDash val="solid"/>
          </a:ln>
        </p:spPr>
        <p:txBody>
          <a:bodyPr/>
          <a:lstStyle/>
          <a:p>
            <a:endParaRPr lang="es-CO"/>
          </a:p>
        </p:txBody>
      </p:sp>
      <p:sp>
        <p:nvSpPr>
          <p:cNvPr id="8" name="Text 6"/>
          <p:cNvSpPr/>
          <p:nvPr/>
        </p:nvSpPr>
        <p:spPr>
          <a:xfrm>
            <a:off x="804672" y="23408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298448" y="2340864"/>
            <a:ext cx="2651760" cy="38404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¿Qué representa el dato?</a:t>
            </a:r>
            <a:endParaRPr lang="en-US" sz="1300" dirty="0"/>
          </a:p>
        </p:txBody>
      </p:sp>
      <p:sp>
        <p:nvSpPr>
          <p:cNvPr id="10" name="Text 8"/>
          <p:cNvSpPr/>
          <p:nvPr/>
        </p:nvSpPr>
        <p:spPr>
          <a:xfrm>
            <a:off x="822960" y="2779776"/>
            <a:ext cx="3017520" cy="384048"/>
          </a:xfrm>
          <a:prstGeom prst="rect">
            <a:avLst/>
          </a:prstGeom>
          <a:noFill/>
          <a:ln/>
        </p:spPr>
        <p:txBody>
          <a:bodyPr wrap="square" lIns="0" tIns="0" rIns="0" bIns="0" rtlCol="0" anchor="t"/>
          <a:lstStyle/>
          <a:p>
            <a:pPr marL="0" indent="0">
              <a:lnSpc>
                <a:spcPts val="1500"/>
              </a:lnSpc>
              <a:buNone/>
            </a:pPr>
            <a:r>
              <a:rPr lang="en-US" sz="1150" dirty="0">
                <a:solidFill>
                  <a:srgbClr val="1A1A2E"/>
                </a:solidFill>
                <a:latin typeface="Calibri" pitchFamily="34" charset="0"/>
                <a:ea typeface="Calibri" pitchFamily="34" charset="-122"/>
                <a:cs typeface="Calibri" pitchFamily="34" charset="-120"/>
              </a:rPr>
              <a:t>Eso decide el tipo: un texto, un entero, un real, un lógico o un carácter.</a:t>
            </a:r>
            <a:endParaRPr lang="en-US" sz="1150" dirty="0"/>
          </a:p>
        </p:txBody>
      </p:sp>
      <p:sp>
        <p:nvSpPr>
          <p:cNvPr id="11" name="Shape 9"/>
          <p:cNvSpPr/>
          <p:nvPr/>
        </p:nvSpPr>
        <p:spPr>
          <a:xfrm>
            <a:off x="4306824" y="2194560"/>
            <a:ext cx="3520440" cy="1024128"/>
          </a:xfrm>
          <a:prstGeom prst="roundRect">
            <a:avLst>
              <a:gd name="adj" fmla="val 7143"/>
            </a:avLst>
          </a:prstGeom>
          <a:solidFill>
            <a:srgbClr val="F4F7FB"/>
          </a:solidFill>
          <a:ln w="12700">
            <a:solidFill>
              <a:srgbClr val="F4F7FB"/>
            </a:solidFill>
            <a:prstDash val="solid"/>
          </a:ln>
        </p:spPr>
        <p:txBody>
          <a:bodyPr/>
          <a:lstStyle/>
          <a:p>
            <a:endParaRPr lang="es-CO"/>
          </a:p>
        </p:txBody>
      </p:sp>
      <p:sp>
        <p:nvSpPr>
          <p:cNvPr id="12" name="Shape 10"/>
          <p:cNvSpPr/>
          <p:nvPr/>
        </p:nvSpPr>
        <p:spPr>
          <a:xfrm>
            <a:off x="4562856" y="2340864"/>
            <a:ext cx="384048" cy="384048"/>
          </a:xfrm>
          <a:prstGeom prst="ellipse">
            <a:avLst/>
          </a:prstGeom>
          <a:solidFill>
            <a:srgbClr val="13294B"/>
          </a:solidFill>
          <a:ln w="12700">
            <a:solidFill>
              <a:srgbClr val="13294B"/>
            </a:solidFill>
            <a:prstDash val="solid"/>
          </a:ln>
        </p:spPr>
        <p:txBody>
          <a:bodyPr/>
          <a:lstStyle/>
          <a:p>
            <a:endParaRPr lang="es-CO"/>
          </a:p>
        </p:txBody>
      </p:sp>
      <p:sp>
        <p:nvSpPr>
          <p:cNvPr id="13" name="Text 11"/>
          <p:cNvSpPr/>
          <p:nvPr/>
        </p:nvSpPr>
        <p:spPr>
          <a:xfrm>
            <a:off x="4562856" y="23408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5056632" y="2340864"/>
            <a:ext cx="2651760" cy="38404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¿Cambia o es una regla fija?</a:t>
            </a:r>
            <a:endParaRPr lang="en-US" sz="1300" dirty="0"/>
          </a:p>
        </p:txBody>
      </p:sp>
      <p:sp>
        <p:nvSpPr>
          <p:cNvPr id="15" name="Text 13"/>
          <p:cNvSpPr/>
          <p:nvPr/>
        </p:nvSpPr>
        <p:spPr>
          <a:xfrm>
            <a:off x="4581144" y="2779776"/>
            <a:ext cx="3017520" cy="384048"/>
          </a:xfrm>
          <a:prstGeom prst="rect">
            <a:avLst/>
          </a:prstGeom>
          <a:noFill/>
          <a:ln/>
        </p:spPr>
        <p:txBody>
          <a:bodyPr wrap="square" lIns="0" tIns="0" rIns="0" bIns="0" rtlCol="0" anchor="t"/>
          <a:lstStyle/>
          <a:p>
            <a:pPr marL="0" indent="0">
              <a:lnSpc>
                <a:spcPts val="1500"/>
              </a:lnSpc>
              <a:buNone/>
            </a:pPr>
            <a:r>
              <a:rPr lang="en-US" sz="1150" dirty="0">
                <a:solidFill>
                  <a:srgbClr val="1A1A2E"/>
                </a:solidFill>
                <a:latin typeface="Calibri" pitchFamily="34" charset="0"/>
                <a:ea typeface="Calibri" pitchFamily="34" charset="-122"/>
                <a:cs typeface="Calibri" pitchFamily="34" charset="-120"/>
              </a:rPr>
              <a:t>Si viene del enunciado como valor fijo, lleva final y va en mayúsculas.</a:t>
            </a:r>
            <a:endParaRPr lang="en-US" sz="1150" dirty="0"/>
          </a:p>
        </p:txBody>
      </p:sp>
      <p:sp>
        <p:nvSpPr>
          <p:cNvPr id="16" name="Shape 14"/>
          <p:cNvSpPr/>
          <p:nvPr/>
        </p:nvSpPr>
        <p:spPr>
          <a:xfrm>
            <a:off x="8065008" y="2194560"/>
            <a:ext cx="3520440" cy="1024128"/>
          </a:xfrm>
          <a:prstGeom prst="roundRect">
            <a:avLst>
              <a:gd name="adj" fmla="val 7143"/>
            </a:avLst>
          </a:prstGeom>
          <a:solidFill>
            <a:srgbClr val="F4F7FB"/>
          </a:solidFill>
          <a:ln w="12700">
            <a:solidFill>
              <a:srgbClr val="F4F7FB"/>
            </a:solidFill>
            <a:prstDash val="solid"/>
          </a:ln>
        </p:spPr>
        <p:txBody>
          <a:bodyPr/>
          <a:lstStyle/>
          <a:p>
            <a:endParaRPr lang="es-CO"/>
          </a:p>
        </p:txBody>
      </p:sp>
      <p:sp>
        <p:nvSpPr>
          <p:cNvPr id="17" name="Shape 15"/>
          <p:cNvSpPr/>
          <p:nvPr/>
        </p:nvSpPr>
        <p:spPr>
          <a:xfrm>
            <a:off x="8321040" y="2340864"/>
            <a:ext cx="384048" cy="384048"/>
          </a:xfrm>
          <a:prstGeom prst="ellipse">
            <a:avLst/>
          </a:prstGeom>
          <a:solidFill>
            <a:srgbClr val="2F9E58"/>
          </a:solidFill>
          <a:ln w="12700">
            <a:solidFill>
              <a:srgbClr val="2F9E58"/>
            </a:solidFill>
            <a:prstDash val="solid"/>
          </a:ln>
        </p:spPr>
        <p:txBody>
          <a:bodyPr/>
          <a:lstStyle/>
          <a:p>
            <a:endParaRPr lang="es-CO"/>
          </a:p>
        </p:txBody>
      </p:sp>
      <p:sp>
        <p:nvSpPr>
          <p:cNvPr id="18" name="Text 16"/>
          <p:cNvSpPr/>
          <p:nvPr/>
        </p:nvSpPr>
        <p:spPr>
          <a:xfrm>
            <a:off x="8321040" y="234086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8814816" y="2340864"/>
            <a:ext cx="2651760" cy="384048"/>
          </a:xfrm>
          <a:prstGeom prst="rect">
            <a:avLst/>
          </a:prstGeom>
          <a:noFill/>
          <a:ln/>
        </p:spPr>
        <p:txBody>
          <a:bodyPr wrap="square" lIns="0" tIns="0" rIns="0" bIns="0" rtlCol="0" anchor="ctr"/>
          <a:lstStyle/>
          <a:p>
            <a:pPr marL="0" indent="0">
              <a:buNone/>
            </a:pPr>
            <a:r>
              <a:rPr lang="en-US" sz="1300" b="1" dirty="0">
                <a:solidFill>
                  <a:srgbClr val="13294B"/>
                </a:solidFill>
                <a:latin typeface="Calibri" pitchFamily="34" charset="0"/>
                <a:ea typeface="Calibri" pitchFamily="34" charset="-122"/>
                <a:cs typeface="Calibri" pitchFamily="34" charset="-120"/>
              </a:rPr>
              <a:t>Escribe el identificador</a:t>
            </a:r>
            <a:endParaRPr lang="en-US" sz="1300" dirty="0"/>
          </a:p>
        </p:txBody>
      </p:sp>
      <p:sp>
        <p:nvSpPr>
          <p:cNvPr id="20" name="Text 18"/>
          <p:cNvSpPr/>
          <p:nvPr/>
        </p:nvSpPr>
        <p:spPr>
          <a:xfrm>
            <a:off x="8339328" y="2779776"/>
            <a:ext cx="3017520" cy="384048"/>
          </a:xfrm>
          <a:prstGeom prst="rect">
            <a:avLst/>
          </a:prstGeom>
          <a:noFill/>
          <a:ln/>
        </p:spPr>
        <p:txBody>
          <a:bodyPr wrap="square" lIns="0" tIns="0" rIns="0" bIns="0" rtlCol="0" anchor="t"/>
          <a:lstStyle/>
          <a:p>
            <a:pPr marL="0" indent="0">
              <a:lnSpc>
                <a:spcPts val="1500"/>
              </a:lnSpc>
              <a:buNone/>
            </a:pPr>
            <a:r>
              <a:rPr lang="en-US" sz="1150" dirty="0">
                <a:solidFill>
                  <a:srgbClr val="1A1A2E"/>
                </a:solidFill>
                <a:latin typeface="Calibri" pitchFamily="34" charset="0"/>
                <a:ea typeface="Calibri" pitchFamily="34" charset="-122"/>
                <a:cs typeface="Calibri" pitchFamily="34" charset="-120"/>
              </a:rPr>
              <a:t>camelCase para las variables. El nombre dice qué guarda.</a:t>
            </a:r>
            <a:endParaRPr lang="en-US" sz="1150" dirty="0"/>
          </a:p>
        </p:txBody>
      </p:sp>
      <p:graphicFrame>
        <p:nvGraphicFramePr>
          <p:cNvPr id="21" name="Table 0"/>
          <p:cNvGraphicFramePr>
            <a:graphicFrameLocks noGrp="1"/>
          </p:cNvGraphicFramePr>
          <p:nvPr/>
        </p:nvGraphicFramePr>
        <p:xfrm>
          <a:off x="548640" y="3310128"/>
          <a:ext cx="11091672" cy="2468880"/>
        </p:xfrm>
        <a:graphic>
          <a:graphicData uri="http://schemas.openxmlformats.org/drawingml/2006/table">
            <a:tbl>
              <a:tblPr/>
              <a:tblGrid>
                <a:gridCol w="3776472">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Dato del enunciado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En pseudocódigo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Declaración en Java</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La placa del vehículo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texto placa</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2F9E58"/>
                          </a:solidFill>
                          <a:latin typeface="Courier New" pitchFamily="34" charset="0"/>
                          <a:ea typeface="Courier New" pitchFamily="34" charset="-122"/>
                          <a:cs typeface="Courier New" pitchFamily="34" charset="-120"/>
                        </a:rPr>
                        <a:t>String placa;</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Las horas que estuvo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entero horas</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2F9E58"/>
                          </a:solidFill>
                          <a:latin typeface="Courier New" pitchFamily="34" charset="0"/>
                          <a:ea typeface="Courier New" pitchFamily="34" charset="-122"/>
                          <a:cs typeface="Courier New" pitchFamily="34" charset="-120"/>
                        </a:rPr>
                        <a:t>int horas;</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Si tiene convenio</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13294B"/>
                          </a:solidFill>
                          <a:latin typeface="Courier New" pitchFamily="34" charset="0"/>
                          <a:ea typeface="Courier New" pitchFamily="34" charset="-122"/>
                          <a:cs typeface="Courier New" pitchFamily="34" charset="-120"/>
                        </a:rPr>
                        <a:t>logico tieneConvenio</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r>
                        <a:rPr lang="en-US" sz="1150" b="1" dirty="0">
                          <a:solidFill>
                            <a:srgbClr val="2F9E58"/>
                          </a:solidFill>
                          <a:latin typeface="Courier New" pitchFamily="34" charset="0"/>
                          <a:ea typeface="Courier New" pitchFamily="34" charset="-122"/>
                          <a:cs typeface="Courier New" pitchFamily="34" charset="-120"/>
                        </a:rPr>
                        <a:t>boolean tieneConvenio;</a:t>
                      </a:r>
                      <a:endParaRPr lang="en-US" sz="1150" dirty="0">
                        <a:latin typeface="Courier New" charset="0"/>
                        <a:ea typeface="Courier New" charset="0"/>
                        <a:cs typeface="Courier New"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La tarifa por hora: 3.500</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250" dirty="0">
                          <a:solidFill>
                            <a:srgbClr val="1A1A2E"/>
                          </a:solidFill>
                          <a:latin typeface="Calibri" pitchFamily="34" charset="0"/>
                          <a:ea typeface="Calibri" pitchFamily="34" charset="-122"/>
                          <a:cs typeface="Calibri" pitchFamily="34" charset="-120"/>
                        </a:rPr>
                        <a:t>El total a pagar</a:t>
                      </a: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tc>
                  <a:txBody>
                    <a:bodyPr/>
                    <a:lstStyle/>
                    <a:p>
                      <a:pPr marL="0" indent="0">
                        <a:buNone/>
                      </a:pPr>
                      <a:endParaRPr lang="en-US" sz="1250" dirty="0">
                        <a:latin typeface="Calibri" charset="0"/>
                        <a:ea typeface="Calibri" charset="0"/>
                        <a:cs typeface="Calibri" charset="0"/>
                      </a:endParaRPr>
                    </a:p>
                  </a:txBody>
                  <a:tcPr anchor="ctr">
                    <a:lnL w="12700" cap="flat" cmpd="sng" algn="ctr">
                      <a:solidFill>
                        <a:srgbClr val="E1E7EF"/>
                      </a:solidFill>
                      <a:prstDash val="solid"/>
                      <a:round/>
                      <a:headEnd type="none" w="med" len="med"/>
                      <a:tailEnd type="none" w="med" len="med"/>
                    </a:lnL>
                    <a:lnR w="12700" cap="flat" cmpd="sng" algn="ctr">
                      <a:solidFill>
                        <a:srgbClr val="E1E7EF"/>
                      </a:solidFill>
                      <a:prstDash val="solid"/>
                      <a:round/>
                      <a:headEnd type="none" w="med" len="med"/>
                      <a:tailEnd type="none" w="med" len="med"/>
                    </a:lnR>
                    <a:lnT w="12700" cap="flat" cmpd="sng" algn="ctr">
                      <a:solidFill>
                        <a:srgbClr val="E1E7EF"/>
                      </a:solidFill>
                      <a:prstDash val="solid"/>
                      <a:round/>
                      <a:headEnd type="none" w="med" len="med"/>
                      <a:tailEnd type="none" w="med" len="med"/>
                    </a:lnT>
                    <a:lnB w="12700" cap="flat" cmpd="sng" algn="ctr">
                      <a:solidFill>
                        <a:srgbClr val="E1E7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2" name="Shape 19"/>
          <p:cNvSpPr/>
          <p:nvPr/>
        </p:nvSpPr>
        <p:spPr>
          <a:xfrm>
            <a:off x="548640" y="5760720"/>
            <a:ext cx="11091672" cy="457200"/>
          </a:xfrm>
          <a:prstGeom prst="roundRect">
            <a:avLst>
              <a:gd name="adj" fmla="val 16000"/>
            </a:avLst>
          </a:prstGeom>
          <a:solidFill>
            <a:srgbClr val="13294B"/>
          </a:solidFill>
          <a:ln w="12700">
            <a:solidFill>
              <a:srgbClr val="13294B"/>
            </a:solidFill>
            <a:prstDash val="solid"/>
          </a:ln>
        </p:spPr>
        <p:txBody>
          <a:bodyPr/>
          <a:lstStyle/>
          <a:p>
            <a:endParaRPr lang="es-CO"/>
          </a:p>
        </p:txBody>
      </p:sp>
      <p:sp>
        <p:nvSpPr>
          <p:cNvPr id="23" name="Text 20"/>
          <p:cNvSpPr/>
          <p:nvPr/>
        </p:nvSpPr>
        <p:spPr>
          <a:xfrm>
            <a:off x="868680" y="5760720"/>
            <a:ext cx="10451592" cy="457200"/>
          </a:xfrm>
          <a:prstGeom prst="rect">
            <a:avLst/>
          </a:prstGeom>
          <a:noFill/>
          <a:ln/>
        </p:spPr>
        <p:txBody>
          <a:bodyPr wrap="square" lIns="0" tIns="0" rIns="0" bIns="0" rtlCol="0" anchor="ctr"/>
          <a:lstStyle/>
          <a:p>
            <a:pPr marL="0" indent="0">
              <a:buNone/>
            </a:pPr>
            <a:r>
              <a:rPr lang="en-US" sz="1350" b="1" dirty="0">
                <a:solidFill>
                  <a:srgbClr val="FFB100"/>
                </a:solidFill>
                <a:latin typeface="Calibri" pitchFamily="34" charset="0"/>
                <a:ea typeface="Calibri" pitchFamily="34" charset="-122"/>
                <a:cs typeface="Calibri" pitchFamily="34" charset="-120"/>
              </a:rPr>
              <a:t>LAS DOS ÚLTIMAS LAS COMPLETAMOS JUNTOS:  </a:t>
            </a:r>
            <a:r>
              <a:rPr lang="en-US" sz="1350" dirty="0">
                <a:solidFill>
                  <a:srgbClr val="FFFFFF"/>
                </a:solidFill>
                <a:latin typeface="Calibri" pitchFamily="34" charset="0"/>
                <a:ea typeface="Calibri" pitchFamily="34" charset="-122"/>
                <a:cs typeface="Calibri" pitchFamily="34" charset="-120"/>
              </a:rPr>
              <a:t>una de ellas es la única constante del enunciado. ¿Cuál, y cómo se nota?</a:t>
            </a:r>
            <a:endParaRPr lang="en-US" sz="13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2"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91672" cy="274320"/>
          </a:xfrm>
          <a:prstGeom prst="rect">
            <a:avLst/>
          </a:prstGeom>
          <a:noFill/>
          <a:ln/>
        </p:spPr>
        <p:txBody>
          <a:bodyPr wrap="square" lIns="0" tIns="0" rIns="0" bIns="0" rtlCol="0" anchor="ctr"/>
          <a:lstStyle/>
          <a:p>
            <a:pPr marL="0" indent="0">
              <a:buNone/>
            </a:pPr>
            <a:r>
              <a:rPr lang="en-US" sz="1300" b="1" kern="0" spc="200" dirty="0">
                <a:solidFill>
                  <a:srgbClr val="1C7293"/>
                </a:solidFill>
                <a:latin typeface="Calibri" pitchFamily="34" charset="0"/>
                <a:ea typeface="Calibri" pitchFamily="34" charset="-122"/>
                <a:cs typeface="Calibri" pitchFamily="34" charset="-120"/>
              </a:rPr>
              <a:t>TRABAJO INDEPENDIENTE · PARTE C</a:t>
            </a:r>
            <a:endParaRPr lang="en-US" sz="1300" dirty="0"/>
          </a:p>
        </p:txBody>
      </p:sp>
      <p:sp>
        <p:nvSpPr>
          <p:cNvPr id="3" name="Text 1"/>
          <p:cNvSpPr/>
          <p:nvPr/>
        </p:nvSpPr>
        <p:spPr>
          <a:xfrm>
            <a:off x="548640" y="676656"/>
            <a:ext cx="11091672" cy="658368"/>
          </a:xfrm>
          <a:prstGeom prst="rect">
            <a:avLst/>
          </a:prstGeom>
          <a:noFill/>
          <a:ln/>
        </p:spPr>
        <p:txBody>
          <a:bodyPr wrap="square" lIns="0" tIns="0" rIns="0" bIns="0" rtlCol="0" anchor="ctr"/>
          <a:lstStyle/>
          <a:p>
            <a:pPr marL="0" indent="0">
              <a:buNone/>
            </a:pPr>
            <a:r>
              <a:rPr lang="en-US" sz="2900" b="1" dirty="0">
                <a:solidFill>
                  <a:srgbClr val="13294B"/>
                </a:solidFill>
                <a:latin typeface="Cambria" pitchFamily="34" charset="0"/>
                <a:ea typeface="Cambria" pitchFamily="34" charset="-122"/>
                <a:cs typeface="Cambria" pitchFamily="34" charset="-120"/>
              </a:rPr>
              <a:t>De la tabla de datos a la declaración en Java</a:t>
            </a:r>
            <a:endParaRPr lang="en-US" sz="2900" dirty="0"/>
          </a:p>
        </p:txBody>
      </p:sp>
      <p:sp>
        <p:nvSpPr>
          <p:cNvPr id="4" name="Shape 2"/>
          <p:cNvSpPr/>
          <p:nvPr/>
        </p:nvSpPr>
        <p:spPr>
          <a:xfrm>
            <a:off x="548640" y="1335024"/>
            <a:ext cx="11091672" cy="1024128"/>
          </a:xfrm>
          <a:prstGeom prst="roundRect">
            <a:avLst>
              <a:gd name="adj" fmla="val 9412"/>
            </a:avLst>
          </a:prstGeom>
          <a:solidFill>
            <a:srgbClr val="E8EEF4"/>
          </a:solidFill>
          <a:ln w="12700">
            <a:solidFill>
              <a:srgbClr val="E8EEF4"/>
            </a:solidFill>
            <a:prstDash val="solid"/>
          </a:ln>
        </p:spPr>
        <p:txBody>
          <a:bodyPr/>
          <a:lstStyle/>
          <a:p>
            <a:endParaRPr lang="es-CO"/>
          </a:p>
        </p:txBody>
      </p:sp>
      <p:sp>
        <p:nvSpPr>
          <p:cNvPr id="5" name="Text 3"/>
          <p:cNvSpPr/>
          <p:nvPr/>
        </p:nvSpPr>
        <p:spPr>
          <a:xfrm>
            <a:off x="868680" y="1444752"/>
            <a:ext cx="10451592" cy="777240"/>
          </a:xfrm>
          <a:prstGeom prst="rect">
            <a:avLst/>
          </a:prstGeom>
          <a:noFill/>
          <a:ln/>
        </p:spPr>
        <p:txBody>
          <a:bodyPr wrap="square" lIns="0" tIns="0" rIns="0" bIns="0" rtlCol="0" anchor="ctr"/>
          <a:lstStyle/>
          <a:p>
            <a:pPr marL="0" indent="0">
              <a:lnSpc>
                <a:spcPts val="1800"/>
              </a:lnSpc>
              <a:buNone/>
            </a:pPr>
            <a:r>
              <a:rPr lang="en-US" sz="1300" dirty="0">
                <a:solidFill>
                  <a:srgbClr val="1A1A2E"/>
                </a:solidFill>
                <a:latin typeface="Calibri" pitchFamily="34" charset="0"/>
                <a:ea typeface="Calibri" pitchFamily="34" charset="-122"/>
                <a:cs typeface="Calibri" pitchFamily="34" charset="-120"/>
              </a:rPr>
              <a:t>Para cada enunciado: construye la tabla con dato, identificador, tipo en pseudocódigo y declaración en Java. Marca cuáles son constantes y justifica en una frase por qué.
</a:t>
            </a:r>
            <a:endParaRPr lang="en-US" sz="1300" dirty="0"/>
          </a:p>
          <a:p>
            <a:pPr marL="0" indent="0">
              <a:lnSpc>
                <a:spcPts val="1800"/>
              </a:lnSpc>
              <a:buNone/>
            </a:pPr>
            <a:r>
              <a:rPr lang="en-US" sz="1300" i="1" dirty="0">
                <a:solidFill>
                  <a:srgbClr val="5B6B7C"/>
                </a:solidFill>
                <a:latin typeface="Calibri" pitchFamily="34" charset="0"/>
                <a:ea typeface="Calibri" pitchFamily="34" charset="-122"/>
                <a:cs typeface="Calibri" pitchFamily="34" charset="-120"/>
              </a:rPr>
              <a:t>Aplica los tres pasos del ejercicio guiado: qué representa el dato, si cambia o es una regla fija, y cómo se escribe el identificador.</a:t>
            </a:r>
            <a:endParaRPr lang="en-US" sz="1300" dirty="0"/>
          </a:p>
        </p:txBody>
      </p:sp>
      <p:sp>
        <p:nvSpPr>
          <p:cNvPr id="6" name="Shape 4"/>
          <p:cNvSpPr/>
          <p:nvPr/>
        </p:nvSpPr>
        <p:spPr>
          <a:xfrm>
            <a:off x="548640" y="2395728"/>
            <a:ext cx="5349240" cy="3822192"/>
          </a:xfrm>
          <a:prstGeom prst="roundRect">
            <a:avLst>
              <a:gd name="adj" fmla="val 1914"/>
            </a:avLst>
          </a:prstGeom>
          <a:solidFill>
            <a:srgbClr val="F4F7FB"/>
          </a:solidFill>
          <a:ln w="12700">
            <a:solidFill>
              <a:srgbClr val="F4F7FB"/>
            </a:solidFill>
            <a:prstDash val="solid"/>
          </a:ln>
        </p:spPr>
        <p:txBody>
          <a:bodyPr/>
          <a:lstStyle/>
          <a:p>
            <a:endParaRPr lang="es-CO"/>
          </a:p>
        </p:txBody>
      </p:sp>
      <p:sp>
        <p:nvSpPr>
          <p:cNvPr id="7" name="Shape 5"/>
          <p:cNvSpPr/>
          <p:nvPr/>
        </p:nvSpPr>
        <p:spPr>
          <a:xfrm>
            <a:off x="822960" y="2596896"/>
            <a:ext cx="420624" cy="420624"/>
          </a:xfrm>
          <a:prstGeom prst="ellipse">
            <a:avLst/>
          </a:prstGeom>
          <a:solidFill>
            <a:srgbClr val="1C7293"/>
          </a:solidFill>
          <a:ln w="12700">
            <a:solidFill>
              <a:srgbClr val="1C7293"/>
            </a:solidFill>
            <a:prstDash val="solid"/>
          </a:ln>
        </p:spPr>
        <p:txBody>
          <a:bodyPr/>
          <a:lstStyle/>
          <a:p>
            <a:endParaRPr lang="es-CO"/>
          </a:p>
        </p:txBody>
      </p:sp>
      <p:sp>
        <p:nvSpPr>
          <p:cNvPr id="8" name="Text 6"/>
          <p:cNvSpPr/>
          <p:nvPr/>
        </p:nvSpPr>
        <p:spPr>
          <a:xfrm>
            <a:off x="822960" y="259689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89888" y="2596896"/>
            <a:ext cx="4206240" cy="420624"/>
          </a:xfrm>
          <a:prstGeom prst="rect">
            <a:avLst/>
          </a:prstGeom>
          <a:noFill/>
          <a:ln/>
        </p:spPr>
        <p:txBody>
          <a:bodyPr wrap="square" lIns="0" tIns="0" rIns="0" bIns="0" rtlCol="0" anchor="ctr"/>
          <a:lstStyle/>
          <a:p>
            <a:pPr marL="0" indent="0">
              <a:buNone/>
            </a:pPr>
            <a:r>
              <a:rPr lang="en-US" sz="1600" b="1" dirty="0">
                <a:solidFill>
                  <a:srgbClr val="13294B"/>
                </a:solidFill>
                <a:latin typeface="Cambria" pitchFamily="34" charset="0"/>
                <a:ea typeface="Cambria" pitchFamily="34" charset="-122"/>
                <a:cs typeface="Cambria" pitchFamily="34" charset="-120"/>
              </a:rPr>
              <a:t>La cafetería</a:t>
            </a:r>
            <a:endParaRPr lang="en-US" sz="1600" dirty="0"/>
          </a:p>
        </p:txBody>
      </p:sp>
      <p:sp>
        <p:nvSpPr>
          <p:cNvPr id="10" name="Shape 8"/>
          <p:cNvSpPr/>
          <p:nvPr/>
        </p:nvSpPr>
        <p:spPr>
          <a:xfrm>
            <a:off x="822960" y="3145536"/>
            <a:ext cx="4800600" cy="1371600"/>
          </a:xfrm>
          <a:prstGeom prst="roundRect">
            <a:avLst>
              <a:gd name="adj" fmla="val 4000"/>
            </a:avLst>
          </a:prstGeom>
          <a:solidFill>
            <a:srgbClr val="FFFFFF"/>
          </a:solidFill>
          <a:ln w="12700">
            <a:solidFill>
              <a:srgbClr val="D5DFEA"/>
            </a:solidFill>
            <a:prstDash val="solid"/>
          </a:ln>
        </p:spPr>
        <p:txBody>
          <a:bodyPr/>
          <a:lstStyle/>
          <a:p>
            <a:endParaRPr lang="es-CO"/>
          </a:p>
        </p:txBody>
      </p:sp>
      <p:sp>
        <p:nvSpPr>
          <p:cNvPr id="11" name="Text 9"/>
          <p:cNvSpPr/>
          <p:nvPr/>
        </p:nvSpPr>
        <p:spPr>
          <a:xfrm>
            <a:off x="1005840" y="3145536"/>
            <a:ext cx="4434840" cy="1371600"/>
          </a:xfrm>
          <a:prstGeom prst="rect">
            <a:avLst/>
          </a:prstGeom>
          <a:noFill/>
          <a:ln/>
        </p:spPr>
        <p:txBody>
          <a:bodyPr wrap="square" lIns="0" tIns="0" rIns="0" bIns="0" rtlCol="0" anchor="ctr"/>
          <a:lstStyle/>
          <a:p>
            <a:pPr marL="0" indent="0">
              <a:lnSpc>
                <a:spcPts val="1700"/>
              </a:lnSpc>
              <a:buNone/>
            </a:pPr>
            <a:r>
              <a:rPr lang="en-US" sz="1250" i="1" dirty="0">
                <a:solidFill>
                  <a:srgbClr val="13294B"/>
                </a:solidFill>
                <a:latin typeface="Calibri" pitchFamily="34" charset="0"/>
                <a:ea typeface="Calibri" pitchFamily="34" charset="-122"/>
                <a:cs typeface="Calibri" pitchFamily="34" charset="-120"/>
              </a:rPr>
              <a:t>«Una cafetería registra cada pedido. De cada uno se conoce el nombre del cliente, la cantidad de cafés pedidos, el tamaño del vaso —P, M o G— y si el pedido es para llevar. El precio de cada café es siempre de 4.200 pesos.»</a:t>
            </a:r>
            <a:endParaRPr lang="en-US" sz="1250" dirty="0"/>
          </a:p>
        </p:txBody>
      </p:sp>
      <p:sp>
        <p:nvSpPr>
          <p:cNvPr id="12" name="Text 10"/>
          <p:cNvSpPr/>
          <p:nvPr/>
        </p:nvSpPr>
        <p:spPr>
          <a:xfrm>
            <a:off x="822960" y="4663440"/>
            <a:ext cx="4800600" cy="256032"/>
          </a:xfrm>
          <a:prstGeom prst="rect">
            <a:avLst/>
          </a:prstGeom>
          <a:noFill/>
          <a:ln/>
        </p:spPr>
        <p:txBody>
          <a:bodyPr wrap="square" lIns="0" tIns="0" rIns="0" bIns="0" rtlCol="0" anchor="ctr"/>
          <a:lstStyle/>
          <a:p>
            <a:pPr marL="0" indent="0">
              <a:buNone/>
            </a:pPr>
            <a:r>
              <a:rPr lang="en-US" sz="1050" b="1" kern="0" spc="120" dirty="0">
                <a:solidFill>
                  <a:srgbClr val="1C7293"/>
                </a:solidFill>
                <a:latin typeface="Calibri" pitchFamily="34" charset="0"/>
                <a:ea typeface="Calibri" pitchFamily="34" charset="-122"/>
                <a:cs typeface="Calibri" pitchFamily="34" charset="-120"/>
              </a:rPr>
              <a:t>QUÉ SE ENTREGA</a:t>
            </a:r>
            <a:endParaRPr lang="en-US" sz="1050" dirty="0"/>
          </a:p>
        </p:txBody>
      </p:sp>
      <p:sp>
        <p:nvSpPr>
          <p:cNvPr id="13" name="Text 11"/>
          <p:cNvSpPr/>
          <p:nvPr/>
        </p:nvSpPr>
        <p:spPr>
          <a:xfrm>
            <a:off x="822960" y="4956048"/>
            <a:ext cx="4800600" cy="11430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La tabla completa con los cinco datos.</a:t>
            </a:r>
            <a:endParaRPr lang="en-US" sz="1200" dirty="0"/>
          </a:p>
          <a:p>
            <a:pPr marL="342900" indent="-342900">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Explica por qué el tamaño del vaso no se guarda como texto.</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Escribe las cinco declaraciones de Java, una por línea.</a:t>
            </a:r>
            <a:endParaRPr lang="en-US" sz="1200" dirty="0"/>
          </a:p>
        </p:txBody>
      </p:sp>
      <p:sp>
        <p:nvSpPr>
          <p:cNvPr id="14" name="Shape 12"/>
          <p:cNvSpPr/>
          <p:nvPr/>
        </p:nvSpPr>
        <p:spPr>
          <a:xfrm>
            <a:off x="6291072" y="2395728"/>
            <a:ext cx="5349240" cy="3822192"/>
          </a:xfrm>
          <a:prstGeom prst="roundRect">
            <a:avLst>
              <a:gd name="adj" fmla="val 1914"/>
            </a:avLst>
          </a:prstGeom>
          <a:solidFill>
            <a:srgbClr val="FFF4DE"/>
          </a:solidFill>
          <a:ln w="12700">
            <a:solidFill>
              <a:srgbClr val="FFF4DE"/>
            </a:solidFill>
            <a:prstDash val="solid"/>
          </a:ln>
        </p:spPr>
        <p:txBody>
          <a:bodyPr/>
          <a:lstStyle/>
          <a:p>
            <a:endParaRPr lang="es-CO"/>
          </a:p>
        </p:txBody>
      </p:sp>
      <p:sp>
        <p:nvSpPr>
          <p:cNvPr id="15" name="Shape 13"/>
          <p:cNvSpPr/>
          <p:nvPr/>
        </p:nvSpPr>
        <p:spPr>
          <a:xfrm>
            <a:off x="6565392" y="2596896"/>
            <a:ext cx="420624" cy="420624"/>
          </a:xfrm>
          <a:prstGeom prst="ellipse">
            <a:avLst/>
          </a:prstGeom>
          <a:solidFill>
            <a:srgbClr val="FFB100"/>
          </a:solidFill>
          <a:ln w="12700">
            <a:solidFill>
              <a:srgbClr val="FFB100"/>
            </a:solidFill>
            <a:prstDash val="solid"/>
          </a:ln>
        </p:spPr>
        <p:txBody>
          <a:bodyPr/>
          <a:lstStyle/>
          <a:p>
            <a:endParaRPr lang="es-CO"/>
          </a:p>
        </p:txBody>
      </p:sp>
      <p:sp>
        <p:nvSpPr>
          <p:cNvPr id="16" name="Text 14"/>
          <p:cNvSpPr/>
          <p:nvPr/>
        </p:nvSpPr>
        <p:spPr>
          <a:xfrm>
            <a:off x="6565392" y="2596896"/>
            <a:ext cx="420624" cy="420624"/>
          </a:xfrm>
          <a:prstGeom prst="rect">
            <a:avLst/>
          </a:prstGeom>
          <a:noFill/>
          <a:ln/>
        </p:spPr>
        <p:txBody>
          <a:bodyPr wrap="square" lIns="0" tIns="0" rIns="0" bIns="0" rtlCol="0" anchor="ctr"/>
          <a:lstStyle/>
          <a:p>
            <a:pPr marL="0" indent="0" algn="ctr">
              <a:buNone/>
            </a:pPr>
            <a:r>
              <a:rPr lang="en-US" sz="1500" b="1" dirty="0">
                <a:solidFill>
                  <a:srgbClr val="13294B"/>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7132320" y="2596896"/>
            <a:ext cx="4206240" cy="420624"/>
          </a:xfrm>
          <a:prstGeom prst="rect">
            <a:avLst/>
          </a:prstGeom>
          <a:noFill/>
          <a:ln/>
        </p:spPr>
        <p:txBody>
          <a:bodyPr wrap="square" lIns="0" tIns="0" rIns="0" bIns="0" rtlCol="0" anchor="ctr"/>
          <a:lstStyle/>
          <a:p>
            <a:pPr marL="0" indent="0">
              <a:buNone/>
            </a:pPr>
            <a:r>
              <a:rPr lang="en-US" sz="1600" b="1" dirty="0">
                <a:solidFill>
                  <a:srgbClr val="13294B"/>
                </a:solidFill>
                <a:latin typeface="Cambria" pitchFamily="34" charset="0"/>
                <a:ea typeface="Cambria" pitchFamily="34" charset="-122"/>
                <a:cs typeface="Cambria" pitchFamily="34" charset="-120"/>
              </a:rPr>
              <a:t>El taller de reparaciones</a:t>
            </a:r>
            <a:endParaRPr lang="en-US" sz="1600" dirty="0"/>
          </a:p>
        </p:txBody>
      </p:sp>
      <p:sp>
        <p:nvSpPr>
          <p:cNvPr id="18" name="Shape 16"/>
          <p:cNvSpPr/>
          <p:nvPr/>
        </p:nvSpPr>
        <p:spPr>
          <a:xfrm>
            <a:off x="6565392" y="3145536"/>
            <a:ext cx="4800600" cy="1371600"/>
          </a:xfrm>
          <a:prstGeom prst="roundRect">
            <a:avLst>
              <a:gd name="adj" fmla="val 4000"/>
            </a:avLst>
          </a:prstGeom>
          <a:solidFill>
            <a:srgbClr val="FFFFFF"/>
          </a:solidFill>
          <a:ln w="12700">
            <a:solidFill>
              <a:srgbClr val="E4D3A8"/>
            </a:solidFill>
            <a:prstDash val="solid"/>
          </a:ln>
        </p:spPr>
        <p:txBody>
          <a:bodyPr/>
          <a:lstStyle/>
          <a:p>
            <a:endParaRPr lang="es-CO"/>
          </a:p>
        </p:txBody>
      </p:sp>
      <p:sp>
        <p:nvSpPr>
          <p:cNvPr id="19" name="Text 17"/>
          <p:cNvSpPr/>
          <p:nvPr/>
        </p:nvSpPr>
        <p:spPr>
          <a:xfrm>
            <a:off x="6748272" y="3145536"/>
            <a:ext cx="4434840" cy="1371600"/>
          </a:xfrm>
          <a:prstGeom prst="rect">
            <a:avLst/>
          </a:prstGeom>
          <a:noFill/>
          <a:ln/>
        </p:spPr>
        <p:txBody>
          <a:bodyPr wrap="square" lIns="0" tIns="0" rIns="0" bIns="0" rtlCol="0" anchor="ctr"/>
          <a:lstStyle/>
          <a:p>
            <a:pPr marL="0" indent="0">
              <a:lnSpc>
                <a:spcPts val="1600"/>
              </a:lnSpc>
              <a:buNone/>
            </a:pPr>
            <a:r>
              <a:rPr lang="en-US" sz="1200" i="1" dirty="0">
                <a:solidFill>
                  <a:srgbClr val="13294B"/>
                </a:solidFill>
                <a:latin typeface="Calibri" pitchFamily="34" charset="0"/>
                <a:ea typeface="Calibri" pitchFamily="34" charset="-122"/>
                <a:cs typeface="Calibri" pitchFamily="34" charset="-120"/>
              </a:rPr>
              <a:t>«Un taller cobra la mano de obra por minutos trabajados. De cada reparación se conoce el número de orden, los minutos empleados, la inicial del técnico y si quedó cubierta por la garantía. El valor del minuto es siempre de 950 pesos. El taller también quiere registrar las horas completas trabajadas, sin decimales.»</a:t>
            </a:r>
            <a:endParaRPr lang="en-US" sz="1200" dirty="0"/>
          </a:p>
        </p:txBody>
      </p:sp>
      <p:sp>
        <p:nvSpPr>
          <p:cNvPr id="20" name="Text 18"/>
          <p:cNvSpPr/>
          <p:nvPr/>
        </p:nvSpPr>
        <p:spPr>
          <a:xfrm>
            <a:off x="6565392" y="4663440"/>
            <a:ext cx="4800600" cy="256032"/>
          </a:xfrm>
          <a:prstGeom prst="rect">
            <a:avLst/>
          </a:prstGeom>
          <a:noFill/>
          <a:ln/>
        </p:spPr>
        <p:txBody>
          <a:bodyPr wrap="square" lIns="0" tIns="0" rIns="0" bIns="0" rtlCol="0" anchor="ctr"/>
          <a:lstStyle/>
          <a:p>
            <a:pPr marL="0" indent="0">
              <a:buNone/>
            </a:pPr>
            <a:r>
              <a:rPr lang="en-US" sz="1050" b="1" kern="0" spc="120" dirty="0">
                <a:solidFill>
                  <a:srgbClr val="B07800"/>
                </a:solidFill>
                <a:latin typeface="Calibri" pitchFamily="34" charset="0"/>
                <a:ea typeface="Calibri" pitchFamily="34" charset="-122"/>
                <a:cs typeface="Calibri" pitchFamily="34" charset="-120"/>
              </a:rPr>
              <a:t>QUÉ SE ENTREGA</a:t>
            </a:r>
            <a:endParaRPr lang="en-US" sz="1050" dirty="0"/>
          </a:p>
        </p:txBody>
      </p:sp>
      <p:sp>
        <p:nvSpPr>
          <p:cNvPr id="21" name="Text 19"/>
          <p:cNvSpPr/>
          <p:nvPr/>
        </p:nvSpPr>
        <p:spPr>
          <a:xfrm>
            <a:off x="6565392" y="4956048"/>
            <a:ext cx="4800600" cy="11430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La tabla completa con los seis datos.</a:t>
            </a:r>
            <a:endParaRPr lang="en-US" sz="1200" dirty="0"/>
          </a:p>
          <a:p>
            <a:pPr marL="342900" indent="-342900">
              <a:spcAft>
                <a:spcPts val="700"/>
              </a:spcAft>
              <a:buSzPct val="100000"/>
              <a:buChar char="•"/>
            </a:pPr>
            <a:r>
              <a:rPr lang="en-US" sz="1200" dirty="0">
                <a:solidFill>
                  <a:srgbClr val="1A1A2E"/>
                </a:solidFill>
                <a:latin typeface="Calibri" pitchFamily="34" charset="0"/>
                <a:ea typeface="Calibri" pitchFamily="34" charset="-122"/>
                <a:cs typeface="Calibri" pitchFamily="34" charset="-120"/>
              </a:rPr>
              <a:t>El número de orden es «OR-1045»: explica qué tipo le corresponde.</a:t>
            </a:r>
            <a:endParaRPr lang="en-US" sz="1200" dirty="0"/>
          </a:p>
          <a:p>
            <a:pPr marL="342900" indent="-342900">
              <a:buSzPct val="100000"/>
              <a:buChar char="•"/>
            </a:pPr>
            <a:r>
              <a:rPr lang="en-US" sz="1200" dirty="0">
                <a:solidFill>
                  <a:srgbClr val="1A1A2E"/>
                </a:solidFill>
                <a:latin typeface="Calibri" pitchFamily="34" charset="0"/>
                <a:ea typeface="Calibri" pitchFamily="34" charset="-122"/>
                <a:cs typeface="Calibri" pitchFamily="34" charset="-120"/>
              </a:rPr>
              <a:t>Las horas completas salen de dividir los minutos entre 60. ¿Qué conversión hace falta y por qué?</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5457</Words>
  <Application>Microsoft Office PowerPoint</Application>
  <PresentationFormat>Panorámica</PresentationFormat>
  <Paragraphs>513</Paragraphs>
  <Slides>23</Slides>
  <Notes>23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5 · Estructuras secuenciales</dc:title>
  <dc:subject>PptxGenJS Presentation</dc:subject>
  <dc:creator>Sebastián Montoya Villada</dc:creator>
  <cp:lastModifiedBy>SEBASTIAN MONTOYA VILLADA</cp:lastModifiedBy>
  <cp:revision>3</cp:revision>
  <dcterms:created xsi:type="dcterms:W3CDTF">2026-08-14T17:06:27Z</dcterms:created>
  <dcterms:modified xsi:type="dcterms:W3CDTF">2026-08-14T20:56:21Z</dcterms:modified>
</cp:coreProperties>
</file>