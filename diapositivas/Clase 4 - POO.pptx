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3" r:id="rId13"/>
    <p:sldId id="270" r:id="rId14"/>
    <p:sldId id="271" r:id="rId15"/>
    <p:sldId id="273" r:id="rId16"/>
    <p:sldId id="274" r:id="rId17"/>
    <p:sldId id="275" r:id="rId18"/>
    <p:sldId id="272" r:id="rId19"/>
    <p:sldId id="284" r:id="rId20"/>
    <p:sldId id="282" r:id="rId21"/>
    <p:sldId id="285" r:id="rId22"/>
    <p:sldId id="287" r:id="rId23"/>
    <p:sldId id="288" r:id="rId24"/>
    <p:sldId id="281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[Facilitación]</a:t>
            </a:r>
          </a:p>
          <a:p>
            <a:r>
              <a:t>Define paradigma como una forma general de pensar y organizar la solución. El propósito es reconocer estructurado, funcional y POO, sin profundizar todavía en la programación funcional.</a:t>
            </a:r>
          </a:p>
          <a:p>
            <a:r>
              <a:t>[Sources]</a:t>
            </a:r>
          </a:p>
          <a:p>
            <a:r>
              <a:t>- Compromiso académico de la sesión 4, suministrado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[Facilitación]</a:t>
            </a:r>
          </a:p>
          <a:p>
            <a:r>
              <a:t>Aclara que Java permite otros estilos, pero en este curso lo leeremos y construiremos principalmente mediante clases y objetos. No pidas memorizar palabras reservadas.</a:t>
            </a:r>
          </a:p>
          <a:p>
            <a:r>
              <a:t>[Sources]</a:t>
            </a:r>
          </a:p>
          <a:p>
            <a:r>
              <a:t>- Masterclass POO Completa(1).pptx, material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[Facilitación]</a:t>
            </a:r>
          </a:p>
          <a:p>
            <a:r>
              <a:t>Estado significa el conjunto de valores que describe al objeto en un momento; comportamiento significa las acciones que puede realizar mediante métodos. Mantén ambos conceptos ligados al ejemplo Libro.</a:t>
            </a:r>
          </a:p>
          <a:p>
            <a:r>
              <a:t>[Sources]</a:t>
            </a:r>
          </a:p>
          <a:p>
            <a:r>
              <a:t>- Masterclass POO Completa(1).pptx, material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7FA8-FA39-F1E8-737D-4F4FFB27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6018E-B4E7-DF46-42B7-1B5744B17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44651-75E3-B61C-674D-196A85D96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[Facilitación]</a:t>
            </a:r>
          </a:p>
          <a:p>
            <a:r>
              <a:t>Lee el ejemplo como un mapa visual: a la izquierda está la información y a la derecha las acciones. Explica que todo aparece dentro de una clase, sin evaluar aún declaraciones.</a:t>
            </a:r>
          </a:p>
          <a:p>
            <a:r>
              <a:t>[Sources]</a:t>
            </a:r>
          </a:p>
          <a:p>
            <a:r>
              <a:t>- Masterclass POO Completa(1).pptx, material del usuario.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567E7-B1E5-FB64-A480-4977F682B75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1618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[Facilitación]</a:t>
            </a:r>
          </a:p>
          <a:p>
            <a:r>
              <a:t>Presenta int, double, boolean y char como primitivos. Explica únicamente que String es una clase y que Libro o Usuario también podrán funcionar como tipos; no introduzcas memoria, referencias, new ni null.</a:t>
            </a:r>
          </a:p>
          <a:p>
            <a:r>
              <a:t>[Sources]</a:t>
            </a:r>
          </a:p>
          <a:p>
            <a:r>
              <a:t>- Masterclass POO Completa(1).pptx, material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[Facilitación]</a:t>
            </a:r>
          </a:p>
          <a:p>
            <a:r>
              <a:t>Compara el significado de cada atributo. Señala que los decimales en Java usan punto y que boolean se expresa como true o false, pero no evalúes todavía la escritura.</a:t>
            </a:r>
          </a:p>
          <a:p>
            <a:r>
              <a:t>[Sources]</a:t>
            </a:r>
          </a:p>
          <a:p>
            <a:r>
              <a:t>- Compromiso académico de la sesión 4, suministrado por el usuario.</a:t>
            </a:r>
          </a:p>
          <a:p>
            <a:r>
              <a:t>- Masterclass POO Completa(1).pptx, material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[Facilitación]</a:t>
            </a:r>
          </a:p>
          <a:p>
            <a:r>
              <a:t>Lee String titulo; de izquierda a derecha. Es una declaración de atributo dentro de la clase; por ahora basta reconocer tipo, nombre y punto y coma. La práctica formal de variables se realizará después.</a:t>
            </a:r>
          </a:p>
          <a:p>
            <a:r>
              <a:t>[Sources]</a:t>
            </a:r>
          </a:p>
          <a:p>
            <a:r>
              <a:t>- Masterclass POO Completa(1).pptx, material del usuario.</a:t>
            </a:r>
          </a:p>
          <a:p>
            <a:r>
              <a:t>- CLASE2_MEJORADA_90_MIN.pptx, progresión pedagógica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Facilitación</a:t>
            </a:r>
            <a:r>
              <a:rPr dirty="0"/>
              <a:t>]</a:t>
            </a:r>
          </a:p>
          <a:p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tipo</a:t>
            </a:r>
            <a:r>
              <a:rPr dirty="0"/>
              <a:t> no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etiqueta</a:t>
            </a:r>
            <a:r>
              <a:rPr dirty="0"/>
              <a:t> </a:t>
            </a:r>
            <a:r>
              <a:rPr dirty="0" err="1"/>
              <a:t>decorativa</a:t>
            </a:r>
            <a:r>
              <a:rPr dirty="0"/>
              <a:t>: </a:t>
            </a:r>
            <a:r>
              <a:rPr dirty="0" err="1"/>
              <a:t>delimita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, </a:t>
            </a:r>
            <a:r>
              <a:rPr dirty="0" err="1"/>
              <a:t>operaciones</a:t>
            </a:r>
            <a:r>
              <a:rPr dirty="0"/>
              <a:t> y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posibles</a:t>
            </a:r>
            <a:r>
              <a:rPr dirty="0"/>
              <a:t>. Usa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orales</a:t>
            </a:r>
            <a:r>
              <a:rPr dirty="0"/>
              <a:t> y no </a:t>
            </a:r>
            <a:r>
              <a:rPr dirty="0" err="1"/>
              <a:t>pidas</a:t>
            </a:r>
            <a:r>
              <a:rPr dirty="0"/>
              <a:t> </a:t>
            </a:r>
            <a:r>
              <a:rPr dirty="0" err="1"/>
              <a:t>escribir</a:t>
            </a:r>
            <a:r>
              <a:rPr dirty="0"/>
              <a:t> </a:t>
            </a:r>
            <a:r>
              <a:rPr dirty="0" err="1"/>
              <a:t>declaraciones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Compromiso</a:t>
            </a:r>
            <a:r>
              <a:rPr dirty="0"/>
              <a:t> </a:t>
            </a:r>
            <a:r>
              <a:rPr dirty="0" err="1"/>
              <a:t>académico</a:t>
            </a:r>
            <a:r>
              <a:rPr dirty="0"/>
              <a:t> de la </a:t>
            </a:r>
            <a:r>
              <a:rPr dirty="0" err="1"/>
              <a:t>sesión</a:t>
            </a:r>
            <a:r>
              <a:rPr dirty="0"/>
              <a:t> 4, </a:t>
            </a:r>
            <a:r>
              <a:rPr dirty="0" err="1"/>
              <a:t>suministrado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usuario</a:t>
            </a:r>
            <a:r>
              <a:rPr dirty="0"/>
              <a:t>.</a:t>
            </a:r>
          </a:p>
          <a:p>
            <a:r>
              <a:rPr dirty="0"/>
              <a:t>- Masterclass POO Completa(1).pptx, material del </a:t>
            </a:r>
            <a:r>
              <a:rPr dirty="0" err="1"/>
              <a:t>usuario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0C1A-356B-C0FD-ED5F-91BF0D8B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BF9D7-039C-7E00-26D9-B9F511E50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D9133-4CEB-82AC-B979-83BBAB158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[Facilitación]</a:t>
            </a:r>
          </a:p>
          <a:p>
            <a:r>
              <a:t>Lee String titulo; de izquierda a derecha. Es una declaración de atributo dentro de la clase; por ahora basta reconocer tipo, nombre y punto y coma. La práctica formal de variables se realizará después.</a:t>
            </a:r>
          </a:p>
          <a:p>
            <a:r>
              <a:t>[Sources]</a:t>
            </a:r>
          </a:p>
          <a:p>
            <a:r>
              <a:t>- Masterclass POO Completa(1).pptx, material del usuario.</a:t>
            </a:r>
          </a:p>
          <a:p>
            <a:r>
              <a:t>- CLASE2_MEJORADA_90_MIN.pptx, progresión pedagógica del usuario.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EC37F-E3FD-E063-2452-82441EB006A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71711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A58DF-844D-0B70-993B-72547ACF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E12B1-963B-EB48-E8F2-BD4198A67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D5B89-1AB1-5313-09E7-A145434AB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3D06F-8150-1229-60F1-A07F02CD6E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94012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96AC-8E6B-49C9-2234-53CFE254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EE911-34A4-D372-BFB7-FC0006EBA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B9E33-B541-AEAB-27DA-CF6F891FB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58D0A-6603-C512-488C-F9B6BAB2510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64262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24B6-62CA-4938-8148-5CACEFA2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5B67D-3B70-DE32-84A1-DC074CA84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2008A-30EF-4875-1365-727019E03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AB901-9236-D001-E33C-3C41075E4F6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2490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06C8-363D-6128-5848-1136B9F5D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AA793-1AE1-4707-F049-BC31A87EB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04A23-02A6-BD86-B5FD-50A72D2EC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C195E-E125-B23C-C770-3FA00034E72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076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>
            <a:extLst>
              <a:ext uri="{FF2B5EF4-FFF2-40B4-BE49-F238E27FC236}">
                <a16:creationId xmlns:a16="http://schemas.microsoft.com/office/drawing/2014/main" id="{B502D6A7-70B8-41FA-A8FC-124514DD0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sz="5400" b="0" u="non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sz="5400" b="0" u="non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Título</a:t>
            </a: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EAFC3CD-D7EA-4B56-AC01-A8F538E57BA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PlaceHolder 3">
            <a:extLst>
              <a:ext uri="{FF2B5EF4-FFF2-40B4-BE49-F238E27FC236}">
                <a16:creationId xmlns:a16="http://schemas.microsoft.com/office/drawing/2014/main" id="{76486D6F-D9CC-437E-97C9-B5267F822448}"/>
              </a:ext>
            </a:extLst>
          </p:cNvPr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6" name="PlaceHolder 4">
            <a:extLst>
              <a:ext uri="{FF2B5EF4-FFF2-40B4-BE49-F238E27FC236}">
                <a16:creationId xmlns:a16="http://schemas.microsoft.com/office/drawing/2014/main" id="{69144A02-ED8D-4B04-9187-7029FD0F1369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52F5AE-35B8-407D-A371-1014AD37563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>
            <a:extLst>
              <a:ext uri="{FF2B5EF4-FFF2-40B4-BE49-F238E27FC236}">
                <a16:creationId xmlns:a16="http://schemas.microsoft.com/office/drawing/2014/main" id="{06CC3EA5-7C32-4181-84C1-BA15A69E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37CCBE3B-F45F-4C9C-8AFB-55E65775B2B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10" name="PlaceHolder 3">
            <a:extLst>
              <a:ext uri="{FF2B5EF4-FFF2-40B4-BE49-F238E27FC236}">
                <a16:creationId xmlns:a16="http://schemas.microsoft.com/office/drawing/2014/main" id="{2D6156DB-F296-4079-A420-67BF49239A59}"/>
              </a:ext>
            </a:extLst>
          </p:cNvPr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PlaceHolder 4">
            <a:extLst>
              <a:ext uri="{FF2B5EF4-FFF2-40B4-BE49-F238E27FC236}">
                <a16:creationId xmlns:a16="http://schemas.microsoft.com/office/drawing/2014/main" id="{8317B456-D867-4DBC-BFAC-CE27C1F801A0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2" name="PlaceHolder 5">
            <a:extLst>
              <a:ext uri="{FF2B5EF4-FFF2-40B4-BE49-F238E27FC236}">
                <a16:creationId xmlns:a16="http://schemas.microsoft.com/office/drawing/2014/main" id="{EDFE35D6-18B0-4B21-968F-139A6B5E0E19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933C9C-2C73-4ED6-9606-658804B8CB6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1">
            <a:extLst>
              <a:ext uri="{FF2B5EF4-FFF2-40B4-BE49-F238E27FC236}">
                <a16:creationId xmlns:a16="http://schemas.microsoft.com/office/drawing/2014/main" id="{A8D3882A-70EF-4319-AE79-FA14C9E0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15" name="PlaceHolder 2">
            <a:extLst>
              <a:ext uri="{FF2B5EF4-FFF2-40B4-BE49-F238E27FC236}">
                <a16:creationId xmlns:a16="http://schemas.microsoft.com/office/drawing/2014/main" id="{3A7A74C3-FB61-402A-BEE5-1CFE21E0C43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16" name="PlaceHolder 3">
            <a:extLst>
              <a:ext uri="{FF2B5EF4-FFF2-40B4-BE49-F238E27FC236}">
                <a16:creationId xmlns:a16="http://schemas.microsoft.com/office/drawing/2014/main" id="{BB75DB8F-9AA3-4BE8-9209-2D8DE8A66B41}"/>
              </a:ext>
            </a:extLst>
          </p:cNvPr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PlaceHolder 4">
            <a:extLst>
              <a:ext uri="{FF2B5EF4-FFF2-40B4-BE49-F238E27FC236}">
                <a16:creationId xmlns:a16="http://schemas.microsoft.com/office/drawing/2014/main" id="{9EA1A979-6326-4684-B397-FF6DE209E22E}"/>
              </a:ext>
            </a:extLst>
          </p:cNvPr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8" name="PlaceHolder 5">
            <a:extLst>
              <a:ext uri="{FF2B5EF4-FFF2-40B4-BE49-F238E27FC236}">
                <a16:creationId xmlns:a16="http://schemas.microsoft.com/office/drawing/2014/main" id="{04A746A9-D5F0-45FE-89D9-F13B40005978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300934-CCB8-4815-B89B-7C2C9836CCC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seño personalizad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>
            <a:extLst>
              <a:ext uri="{FF2B5EF4-FFF2-40B4-BE49-F238E27FC236}">
                <a16:creationId xmlns:a16="http://schemas.microsoft.com/office/drawing/2014/main" id="{1CC7605F-2FA3-4921-81D5-3504A06FA1F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3AE03F63-BC61-44DA-91DA-6669C41E9E9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2" name="PlaceHolder 3">
            <a:extLst>
              <a:ext uri="{FF2B5EF4-FFF2-40B4-BE49-F238E27FC236}">
                <a16:creationId xmlns:a16="http://schemas.microsoft.com/office/drawing/2014/main" id="{1526B053-4BA0-439F-A0FE-AD58E5DE03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94977-2102-437E-BCBC-A3EDAF9E582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>
            <a:extLst>
              <a:ext uri="{FF2B5EF4-FFF2-40B4-BE49-F238E27FC236}">
                <a16:creationId xmlns:a16="http://schemas.microsoft.com/office/drawing/2014/main" id="{1060DFB6-0272-43FA-A256-B2380BEF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25" name="PlaceHolder 2">
            <a:extLst>
              <a:ext uri="{FF2B5EF4-FFF2-40B4-BE49-F238E27FC236}">
                <a16:creationId xmlns:a16="http://schemas.microsoft.com/office/drawing/2014/main" id="{32453697-EE7D-4051-8877-D3597B02E26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26" name="PlaceHolder 3">
            <a:extLst>
              <a:ext uri="{FF2B5EF4-FFF2-40B4-BE49-F238E27FC236}">
                <a16:creationId xmlns:a16="http://schemas.microsoft.com/office/drawing/2014/main" id="{177FB45B-5A19-4405-ACB2-44DC642C8624}"/>
              </a:ext>
            </a:extLst>
          </p:cNvPr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PlaceHolder 4">
            <a:extLst>
              <a:ext uri="{FF2B5EF4-FFF2-40B4-BE49-F238E27FC236}">
                <a16:creationId xmlns:a16="http://schemas.microsoft.com/office/drawing/2014/main" id="{24B0B83A-C85F-471A-8FAD-5B71FE2B0134}"/>
              </a:ext>
            </a:extLst>
          </p:cNvPr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8" name="PlaceHolder 5">
            <a:extLst>
              <a:ext uri="{FF2B5EF4-FFF2-40B4-BE49-F238E27FC236}">
                <a16:creationId xmlns:a16="http://schemas.microsoft.com/office/drawing/2014/main" id="{C393CF1F-4055-413D-AC3B-9D9C488F5BBF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3A6C14-8C57-44FA-A0C6-EB971C2D96E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cabezado de secció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1">
            <a:extLst>
              <a:ext uri="{FF2B5EF4-FFF2-40B4-BE49-F238E27FC236}">
                <a16:creationId xmlns:a16="http://schemas.microsoft.com/office/drawing/2014/main" id="{19523ED1-D13E-437F-862F-55575B6E8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60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60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31" name="PlaceHolder 2">
            <a:extLst>
              <a:ext uri="{FF2B5EF4-FFF2-40B4-BE49-F238E27FC236}">
                <a16:creationId xmlns:a16="http://schemas.microsoft.com/office/drawing/2014/main" id="{A75C41E6-4AEB-446D-933C-2A816499C01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</p:txBody>
      </p:sp>
      <p:sp>
        <p:nvSpPr>
          <p:cNvPr id="32" name="PlaceHolder 3">
            <a:extLst>
              <a:ext uri="{FF2B5EF4-FFF2-40B4-BE49-F238E27FC236}">
                <a16:creationId xmlns:a16="http://schemas.microsoft.com/office/drawing/2014/main" id="{7BCFE8FC-19AD-409B-96B2-9F044BBF2B99}"/>
              </a:ext>
            </a:extLst>
          </p:cNvPr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" name="PlaceHolder 4">
            <a:extLst>
              <a:ext uri="{FF2B5EF4-FFF2-40B4-BE49-F238E27FC236}">
                <a16:creationId xmlns:a16="http://schemas.microsoft.com/office/drawing/2014/main" id="{9F999339-F2E5-4FDE-8F0F-5EBE7761F289}"/>
              </a:ext>
            </a:extLst>
          </p:cNvPr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4" name="PlaceHolder 5">
            <a:extLst>
              <a:ext uri="{FF2B5EF4-FFF2-40B4-BE49-F238E27FC236}">
                <a16:creationId xmlns:a16="http://schemas.microsoft.com/office/drawing/2014/main" id="{DE9377CE-64B8-43C4-99B5-86A28EE87E49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DD9D9B-6496-4153-9968-F666545101D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>
            <a:extLst>
              <a:ext uri="{FF2B5EF4-FFF2-40B4-BE49-F238E27FC236}">
                <a16:creationId xmlns:a16="http://schemas.microsoft.com/office/drawing/2014/main" id="{9BA77547-EF3D-4855-87FE-FD046A15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37" name="PlaceHolder 2">
            <a:extLst>
              <a:ext uri="{FF2B5EF4-FFF2-40B4-BE49-F238E27FC236}">
                <a16:creationId xmlns:a16="http://schemas.microsoft.com/office/drawing/2014/main" id="{37262717-7C8C-404D-BCE8-13A56FE206E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38" name="PlaceHolder 3">
            <a:extLst>
              <a:ext uri="{FF2B5EF4-FFF2-40B4-BE49-F238E27FC236}">
                <a16:creationId xmlns:a16="http://schemas.microsoft.com/office/drawing/2014/main" id="{84DD3CE7-9830-4E7D-8803-67820FC0BC8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39" name="PlaceHolder 4">
            <a:extLst>
              <a:ext uri="{FF2B5EF4-FFF2-40B4-BE49-F238E27FC236}">
                <a16:creationId xmlns:a16="http://schemas.microsoft.com/office/drawing/2014/main" id="{8103DD47-1997-4C60-9B4E-AEF3CD65AB72}"/>
              </a:ext>
            </a:extLst>
          </p:cNvPr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PlaceHolder 5">
            <a:extLst>
              <a:ext uri="{FF2B5EF4-FFF2-40B4-BE49-F238E27FC236}">
                <a16:creationId xmlns:a16="http://schemas.microsoft.com/office/drawing/2014/main" id="{2F6A7305-F51C-4E48-81EF-D01882735D63}"/>
              </a:ext>
            </a:extLst>
          </p:cNvPr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1" name="PlaceHolder 6">
            <a:extLst>
              <a:ext uri="{FF2B5EF4-FFF2-40B4-BE49-F238E27FC236}">
                <a16:creationId xmlns:a16="http://schemas.microsoft.com/office/drawing/2014/main" id="{49BE058E-5C34-4E10-B5E6-68F9F37F6231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1B98E4-C2F8-4E6A-BFEA-A944489A317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ció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>
            <a:extLst>
              <a:ext uri="{FF2B5EF4-FFF2-40B4-BE49-F238E27FC236}">
                <a16:creationId xmlns:a16="http://schemas.microsoft.com/office/drawing/2014/main" id="{A25CDC9E-8F1E-4E66-994C-DB3D716C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44" name="PlaceHolder 2">
            <a:extLst>
              <a:ext uri="{FF2B5EF4-FFF2-40B4-BE49-F238E27FC236}">
                <a16:creationId xmlns:a16="http://schemas.microsoft.com/office/drawing/2014/main" id="{E2C551A0-5551-47E7-B4AE-50E8E215199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PlaceHolder 3">
            <a:extLst>
              <a:ext uri="{FF2B5EF4-FFF2-40B4-BE49-F238E27FC236}">
                <a16:creationId xmlns:a16="http://schemas.microsoft.com/office/drawing/2014/main" id="{25D48157-AF99-407E-9A82-BA7D98FE29E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46" name="PlaceHolder 4">
            <a:extLst>
              <a:ext uri="{FF2B5EF4-FFF2-40B4-BE49-F238E27FC236}">
                <a16:creationId xmlns:a16="http://schemas.microsoft.com/office/drawing/2014/main" id="{93107B48-5AC9-4AD1-8B4F-23AB0D5D02F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PlaceHolder 5">
            <a:extLst>
              <a:ext uri="{FF2B5EF4-FFF2-40B4-BE49-F238E27FC236}">
                <a16:creationId xmlns:a16="http://schemas.microsoft.com/office/drawing/2014/main" id="{82454995-F7BF-462E-98F7-5EBEA7EED0F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48" name="PlaceHolder 6">
            <a:extLst>
              <a:ext uri="{FF2B5EF4-FFF2-40B4-BE49-F238E27FC236}">
                <a16:creationId xmlns:a16="http://schemas.microsoft.com/office/drawing/2014/main" id="{C069ED6E-FF32-4753-98E6-B866AB4B83CB}"/>
              </a:ext>
            </a:extLst>
          </p:cNvPr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" name="PlaceHolder 7">
            <a:extLst>
              <a:ext uri="{FF2B5EF4-FFF2-40B4-BE49-F238E27FC236}">
                <a16:creationId xmlns:a16="http://schemas.microsoft.com/office/drawing/2014/main" id="{C48F0FF6-684E-4CCC-8C69-49EB84E20F56}"/>
              </a:ext>
            </a:extLst>
          </p:cNvPr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50" name="PlaceHolder 8">
            <a:extLst>
              <a:ext uri="{FF2B5EF4-FFF2-40B4-BE49-F238E27FC236}">
                <a16:creationId xmlns:a16="http://schemas.microsoft.com/office/drawing/2014/main" id="{A6D7333C-C660-4487-8FB3-F62B87D4DEDD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8C9B4E-4B4B-4A9E-A782-A53341973FFB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>
            <a:extLst>
              <a:ext uri="{FF2B5EF4-FFF2-40B4-BE49-F238E27FC236}">
                <a16:creationId xmlns:a16="http://schemas.microsoft.com/office/drawing/2014/main" id="{243A801E-FC13-4D50-8B34-2157BF64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53" name="PlaceHolder 2">
            <a:extLst>
              <a:ext uri="{FF2B5EF4-FFF2-40B4-BE49-F238E27FC236}">
                <a16:creationId xmlns:a16="http://schemas.microsoft.com/office/drawing/2014/main" id="{EECF5D35-53E4-483D-ADF2-E64813642852}"/>
              </a:ext>
            </a:extLst>
          </p:cNvPr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PlaceHolder 3">
            <a:extLst>
              <a:ext uri="{FF2B5EF4-FFF2-40B4-BE49-F238E27FC236}">
                <a16:creationId xmlns:a16="http://schemas.microsoft.com/office/drawing/2014/main" id="{0578A2B2-5530-4809-A6F6-F181EEEF1867}"/>
              </a:ext>
            </a:extLst>
          </p:cNvPr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55" name="PlaceHolder 4">
            <a:extLst>
              <a:ext uri="{FF2B5EF4-FFF2-40B4-BE49-F238E27FC236}">
                <a16:creationId xmlns:a16="http://schemas.microsoft.com/office/drawing/2014/main" id="{20FD4314-C715-48CF-BE51-342029D18180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C171C2-DA18-4E87-891A-514229BDA52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>
            <a:extLst>
              <a:ext uri="{FF2B5EF4-FFF2-40B4-BE49-F238E27FC236}">
                <a16:creationId xmlns:a16="http://schemas.microsoft.com/office/drawing/2014/main" id="{EB5A3B30-F15B-4F65-B8BC-BBB9DFC66DD9}"/>
              </a:ext>
            </a:extLst>
          </p:cNvPr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8" name="PlaceHolder 2">
            <a:extLst>
              <a:ext uri="{FF2B5EF4-FFF2-40B4-BE49-F238E27FC236}">
                <a16:creationId xmlns:a16="http://schemas.microsoft.com/office/drawing/2014/main" id="{C9EA82DB-0414-49CD-8DD5-F012DFCB20FA}"/>
              </a:ext>
            </a:extLst>
          </p:cNvPr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59" name="PlaceHolder 3">
            <a:extLst>
              <a:ext uri="{FF2B5EF4-FFF2-40B4-BE49-F238E27FC236}">
                <a16:creationId xmlns:a16="http://schemas.microsoft.com/office/drawing/2014/main" id="{37470A9E-5C1C-4085-82A2-F6816CEDBE8E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D9CDE9-FEF8-47AA-B220-6A0606587EC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4">
            <a:extLst>
              <a:ext uri="{FF2B5EF4-FFF2-40B4-BE49-F238E27FC236}">
                <a16:creationId xmlns:a16="http://schemas.microsoft.com/office/drawing/2014/main" id="{04C70655-34C7-4521-BE65-5A073BEC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the title text format</a:t>
            </a:r>
          </a:p>
        </p:txBody>
      </p:sp>
      <p:sp>
        <p:nvSpPr>
          <p:cNvPr id="61" name="PlaceHolder 5">
            <a:extLst>
              <a:ext uri="{FF2B5EF4-FFF2-40B4-BE49-F238E27FC236}">
                <a16:creationId xmlns:a16="http://schemas.microsoft.com/office/drawing/2014/main" id="{9B65B08B-37F0-4AB4-9C65-3EF6425ECE0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ido con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63" name="PlaceHolder 1">
            <a:extLst>
              <a:ext uri="{FF2B5EF4-FFF2-40B4-BE49-F238E27FC236}">
                <a16:creationId xmlns:a16="http://schemas.microsoft.com/office/drawing/2014/main" id="{ECB69424-1562-4763-95FC-C76CBD5AB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64" name="PlaceHolder 2">
            <a:extLst>
              <a:ext uri="{FF2B5EF4-FFF2-40B4-BE49-F238E27FC236}">
                <a16:creationId xmlns:a16="http://schemas.microsoft.com/office/drawing/2014/main" id="{5A6EAAA2-D67E-437E-9247-A9695238DB0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65" name="PlaceHolder 3">
            <a:extLst>
              <a:ext uri="{FF2B5EF4-FFF2-40B4-BE49-F238E27FC236}">
                <a16:creationId xmlns:a16="http://schemas.microsoft.com/office/drawing/2014/main" id="{3230ECA1-273E-444B-B0C6-81AD1684C2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</p:txBody>
      </p:sp>
      <p:sp>
        <p:nvSpPr>
          <p:cNvPr id="66" name="PlaceHolder 4">
            <a:extLst>
              <a:ext uri="{FF2B5EF4-FFF2-40B4-BE49-F238E27FC236}">
                <a16:creationId xmlns:a16="http://schemas.microsoft.com/office/drawing/2014/main" id="{BF3D10F8-74D1-4E18-B0E6-0521EF54FBD9}"/>
              </a:ext>
            </a:extLst>
          </p:cNvPr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7" name="PlaceHolder 5">
            <a:extLst>
              <a:ext uri="{FF2B5EF4-FFF2-40B4-BE49-F238E27FC236}">
                <a16:creationId xmlns:a16="http://schemas.microsoft.com/office/drawing/2014/main" id="{B130DD3E-3989-4DA5-8225-25A3BAB0EB16}"/>
              </a:ext>
            </a:extLst>
          </p:cNvPr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68" name="PlaceHolder 6">
            <a:extLst>
              <a:ext uri="{FF2B5EF4-FFF2-40B4-BE49-F238E27FC236}">
                <a16:creationId xmlns:a16="http://schemas.microsoft.com/office/drawing/2014/main" id="{644AA495-68C8-4B80-9567-C979D2CC620C}"/>
              </a:ext>
            </a:extLst>
          </p:cNvPr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554267-52B0-4D80-8A7F-A6AB552FDEE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con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0" name="PlaceHolder 1">
            <a:extLst>
              <a:ext uri="{FF2B5EF4-FFF2-40B4-BE49-F238E27FC236}">
                <a16:creationId xmlns:a16="http://schemas.microsoft.com/office/drawing/2014/main" id="{B1C83465-B7F5-44C0-82A6-1A5BAF48E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71" name="PlaceHolder 2">
            <a:extLst>
              <a:ext uri="{FF2B5EF4-FFF2-40B4-BE49-F238E27FC236}">
                <a16:creationId xmlns:a16="http://schemas.microsoft.com/office/drawing/2014/main" id="{63E5BAB3-1B90-4C53-9434-04D5478BDA3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  <p:sp>
        <p:nvSpPr>
          <p:cNvPr id="72" name="PlaceHolder 3">
            <a:extLst>
              <a:ext uri="{FF2B5EF4-FFF2-40B4-BE49-F238E27FC236}">
                <a16:creationId xmlns:a16="http://schemas.microsoft.com/office/drawing/2014/main" id="{7DF67788-51DA-41EC-AF80-A3E4C227C0B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</p:txBody>
      </p:sp>
      <p:sp>
        <p:nvSpPr>
          <p:cNvPr id="73" name="PlaceHolder 4">
            <a:extLst>
              <a:ext uri="{FF2B5EF4-FFF2-40B4-BE49-F238E27FC236}">
                <a16:creationId xmlns:a16="http://schemas.microsoft.com/office/drawing/2014/main" id="{85F338AE-0B45-4646-A26A-004B887F7F61}"/>
              </a:ext>
            </a:extLst>
          </p:cNvPr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PlaceHolder 5">
            <a:extLst>
              <a:ext uri="{FF2B5EF4-FFF2-40B4-BE49-F238E27FC236}">
                <a16:creationId xmlns:a16="http://schemas.microsoft.com/office/drawing/2014/main" id="{5CC549A9-F1B9-4ADE-9305-EFAB85D18727}"/>
              </a:ext>
            </a:extLst>
          </p:cNvPr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75" name="PlaceHolder 6">
            <a:extLst>
              <a:ext uri="{FF2B5EF4-FFF2-40B4-BE49-F238E27FC236}">
                <a16:creationId xmlns:a16="http://schemas.microsoft.com/office/drawing/2014/main" id="{F4F654DF-E2FF-48E7-8C49-0EAF910DE5FC}"/>
              </a:ext>
            </a:extLst>
          </p:cNvPr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4F274B-1C34-4E0A-B525-C4094DA5142F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1">
            <a:extLst>
              <a:ext uri="{FF2B5EF4-FFF2-40B4-BE49-F238E27FC236}">
                <a16:creationId xmlns:a16="http://schemas.microsoft.com/office/drawing/2014/main" id="{C308B10A-C9AB-4185-AAFF-93793DB75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sz="5400" b="0" u="non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sz="5400" b="0" u="non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Título</a:t>
            </a:r>
          </a:p>
        </p:txBody>
      </p:sp>
      <p:sp>
        <p:nvSpPr>
          <p:cNvPr id="78" name="PlaceHolder 2">
            <a:extLst>
              <a:ext uri="{FF2B5EF4-FFF2-40B4-BE49-F238E27FC236}">
                <a16:creationId xmlns:a16="http://schemas.microsoft.com/office/drawing/2014/main" id="{11D51576-DEF9-4878-BC9E-DD8B392B203C}"/>
              </a:ext>
            </a:extLst>
          </p:cNvPr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9" name="PlaceHolder 3">
            <a:extLst>
              <a:ext uri="{FF2B5EF4-FFF2-40B4-BE49-F238E27FC236}">
                <a16:creationId xmlns:a16="http://schemas.microsoft.com/office/drawing/2014/main" id="{97959385-A197-402B-8CA9-0B43D91972CB}"/>
              </a:ext>
            </a:extLst>
          </p:cNvPr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80" name="PlaceHolder 4">
            <a:extLst>
              <a:ext uri="{FF2B5EF4-FFF2-40B4-BE49-F238E27FC236}">
                <a16:creationId xmlns:a16="http://schemas.microsoft.com/office/drawing/2014/main" id="{EA1A727C-40E7-44CB-8E59-788199DE6047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747E00-B495-4420-8314-FF6946A1D927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82" name="PlaceHolder 1">
            <a:extLst>
              <a:ext uri="{FF2B5EF4-FFF2-40B4-BE49-F238E27FC236}">
                <a16:creationId xmlns:a16="http://schemas.microsoft.com/office/drawing/2014/main" id="{89ED8550-968E-4A92-B90B-CFE700BD4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83" name="PlaceHolder 2">
            <a:extLst>
              <a:ext uri="{FF2B5EF4-FFF2-40B4-BE49-F238E27FC236}">
                <a16:creationId xmlns:a16="http://schemas.microsoft.com/office/drawing/2014/main" id="{DB291731-EA2E-4076-ACBE-F2B4B13B8C2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84" name="PlaceHolder 3">
            <a:extLst>
              <a:ext uri="{FF2B5EF4-FFF2-40B4-BE49-F238E27FC236}">
                <a16:creationId xmlns:a16="http://schemas.microsoft.com/office/drawing/2014/main" id="{6871799E-A7D8-414D-A285-8B3820F53272}"/>
              </a:ext>
            </a:extLst>
          </p:cNvPr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5" name="PlaceHolder 4">
            <a:extLst>
              <a:ext uri="{FF2B5EF4-FFF2-40B4-BE49-F238E27FC236}">
                <a16:creationId xmlns:a16="http://schemas.microsoft.com/office/drawing/2014/main" id="{82624426-5C8B-489D-A73E-AF77FFF2A50F}"/>
              </a:ext>
            </a:extLst>
          </p:cNvPr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86" name="PlaceHolder 5">
            <a:extLst>
              <a:ext uri="{FF2B5EF4-FFF2-40B4-BE49-F238E27FC236}">
                <a16:creationId xmlns:a16="http://schemas.microsoft.com/office/drawing/2014/main" id="{468B37CB-E09F-49A6-9A73-A6FA254B6A24}"/>
              </a:ext>
            </a:extLst>
          </p:cNvPr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2E859-BFBE-458B-9B32-DB35F78D8DDC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>
            <a:extLst>
              <a:ext uri="{FF2B5EF4-FFF2-40B4-BE49-F238E27FC236}">
                <a16:creationId xmlns:a16="http://schemas.microsoft.com/office/drawing/2014/main" id="{97E73DDF-7918-485A-A73C-1AFE13A68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37C8A656-D3E1-42B5-82B5-D53DA4183D8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90" name="PlaceHolder 3">
            <a:extLst>
              <a:ext uri="{FF2B5EF4-FFF2-40B4-BE49-F238E27FC236}">
                <a16:creationId xmlns:a16="http://schemas.microsoft.com/office/drawing/2014/main" id="{34C98190-A06A-4C1D-8760-BB0CB8C5163F}"/>
              </a:ext>
            </a:extLst>
          </p:cNvPr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1" name="PlaceHolder 4">
            <a:extLst>
              <a:ext uri="{FF2B5EF4-FFF2-40B4-BE49-F238E27FC236}">
                <a16:creationId xmlns:a16="http://schemas.microsoft.com/office/drawing/2014/main" id="{32A5FC16-08C4-48AF-90D0-84CA20D96DAB}"/>
              </a:ext>
            </a:extLst>
          </p:cNvPr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92" name="PlaceHolder 5">
            <a:extLst>
              <a:ext uri="{FF2B5EF4-FFF2-40B4-BE49-F238E27FC236}">
                <a16:creationId xmlns:a16="http://schemas.microsoft.com/office/drawing/2014/main" id="{A24093F5-47E2-491A-AC0D-D62273B47074}"/>
              </a:ext>
            </a:extLst>
          </p:cNvPr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D9E4C6-7E81-487E-B4A6-11AD766B100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94" name="PlaceHolder 1">
            <a:extLst>
              <a:ext uri="{FF2B5EF4-FFF2-40B4-BE49-F238E27FC236}">
                <a16:creationId xmlns:a16="http://schemas.microsoft.com/office/drawing/2014/main" id="{456DDBEE-0174-4627-B39F-D9E71732A87F}"/>
              </a:ext>
            </a:extLst>
          </p:cNvPr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5" name="PlaceHolder 2">
            <a:extLst>
              <a:ext uri="{FF2B5EF4-FFF2-40B4-BE49-F238E27FC236}">
                <a16:creationId xmlns:a16="http://schemas.microsoft.com/office/drawing/2014/main" id="{8F6F3639-FEE6-4EBA-8550-5FF664F8F9D7}"/>
              </a:ext>
            </a:extLst>
          </p:cNvPr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96" name="PlaceHolder 3">
            <a:extLst>
              <a:ext uri="{FF2B5EF4-FFF2-40B4-BE49-F238E27FC236}">
                <a16:creationId xmlns:a16="http://schemas.microsoft.com/office/drawing/2014/main" id="{46F47443-586C-4777-8358-29967D288F23}"/>
              </a:ext>
            </a:extLst>
          </p:cNvPr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26FC1B-2391-484A-A5A5-F8F8D07AC5C7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4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>
            <a:extLst>
              <a:ext uri="{FF2B5EF4-FFF2-40B4-BE49-F238E27FC236}">
                <a16:creationId xmlns:a16="http://schemas.microsoft.com/office/drawing/2014/main" id="{CE7746F4-514C-4AD9-A1F6-77DE00AD5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99" name="PlaceHolder 2">
            <a:extLst>
              <a:ext uri="{FF2B5EF4-FFF2-40B4-BE49-F238E27FC236}">
                <a16:creationId xmlns:a16="http://schemas.microsoft.com/office/drawing/2014/main" id="{2AE56707-646B-4E3E-A3E6-3A263F01D2D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100" name="PlaceHolder 3">
            <a:extLst>
              <a:ext uri="{FF2B5EF4-FFF2-40B4-BE49-F238E27FC236}">
                <a16:creationId xmlns:a16="http://schemas.microsoft.com/office/drawing/2014/main" id="{E96911CF-B588-451E-9650-EF951677AA95}"/>
              </a:ext>
            </a:extLst>
          </p:cNvPr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1" name="PlaceHolder 4">
            <a:extLst>
              <a:ext uri="{FF2B5EF4-FFF2-40B4-BE49-F238E27FC236}">
                <a16:creationId xmlns:a16="http://schemas.microsoft.com/office/drawing/2014/main" id="{4AF9AA6A-D130-4042-813A-AD08185AE0D6}"/>
              </a:ext>
            </a:extLst>
          </p:cNvPr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02" name="PlaceHolder 5">
            <a:extLst>
              <a:ext uri="{FF2B5EF4-FFF2-40B4-BE49-F238E27FC236}">
                <a16:creationId xmlns:a16="http://schemas.microsoft.com/office/drawing/2014/main" id="{7205A427-555E-4821-8D42-5308D51AEE00}"/>
              </a:ext>
            </a:extLst>
          </p:cNvPr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E25128-2F9E-4E00-94AA-894885BB108C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5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04" name="PlaceHolder 1">
            <a:extLst>
              <a:ext uri="{FF2B5EF4-FFF2-40B4-BE49-F238E27FC236}">
                <a16:creationId xmlns:a16="http://schemas.microsoft.com/office/drawing/2014/main" id="{ECBE7C7E-5755-4AFB-ACF5-936023850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60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60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105" name="PlaceHolder 2">
            <a:extLst>
              <a:ext uri="{FF2B5EF4-FFF2-40B4-BE49-F238E27FC236}">
                <a16:creationId xmlns:a16="http://schemas.microsoft.com/office/drawing/2014/main" id="{C7729505-C158-47D4-9226-6853F5F0AF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</p:txBody>
      </p:sp>
      <p:sp>
        <p:nvSpPr>
          <p:cNvPr id="106" name="PlaceHolder 3">
            <a:extLst>
              <a:ext uri="{FF2B5EF4-FFF2-40B4-BE49-F238E27FC236}">
                <a16:creationId xmlns:a16="http://schemas.microsoft.com/office/drawing/2014/main" id="{29699EE1-7D77-4EED-AA43-2854BE9860C6}"/>
              </a:ext>
            </a:extLst>
          </p:cNvPr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7" name="PlaceHolder 4">
            <a:extLst>
              <a:ext uri="{FF2B5EF4-FFF2-40B4-BE49-F238E27FC236}">
                <a16:creationId xmlns:a16="http://schemas.microsoft.com/office/drawing/2014/main" id="{C15E5B98-5236-459A-AEAD-1463642EA939}"/>
              </a:ext>
            </a:extLst>
          </p:cNvPr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08" name="PlaceHolder 5">
            <a:extLst>
              <a:ext uri="{FF2B5EF4-FFF2-40B4-BE49-F238E27FC236}">
                <a16:creationId xmlns:a16="http://schemas.microsoft.com/office/drawing/2014/main" id="{20D51E8B-C587-4015-838B-609FDA8F1C5D}"/>
              </a:ext>
            </a:extLst>
          </p:cNvPr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3F977F-B750-41DA-8983-6D1A661DDF0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6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1">
            <a:extLst>
              <a:ext uri="{FF2B5EF4-FFF2-40B4-BE49-F238E27FC236}">
                <a16:creationId xmlns:a16="http://schemas.microsoft.com/office/drawing/2014/main" id="{31FCA867-9888-4ABA-922A-304DC4E57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111" name="PlaceHolder 2">
            <a:extLst>
              <a:ext uri="{FF2B5EF4-FFF2-40B4-BE49-F238E27FC236}">
                <a16:creationId xmlns:a16="http://schemas.microsoft.com/office/drawing/2014/main" id="{A06F002E-44F6-4C55-ADA6-37AF64F8A5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112" name="PlaceHolder 3">
            <a:extLst>
              <a:ext uri="{FF2B5EF4-FFF2-40B4-BE49-F238E27FC236}">
                <a16:creationId xmlns:a16="http://schemas.microsoft.com/office/drawing/2014/main" id="{AF8A98EF-BCFE-4D2F-9CA7-837369D2DEE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113" name="PlaceHolder 4">
            <a:extLst>
              <a:ext uri="{FF2B5EF4-FFF2-40B4-BE49-F238E27FC236}">
                <a16:creationId xmlns:a16="http://schemas.microsoft.com/office/drawing/2014/main" id="{099F1189-DABE-4843-A198-59422F080D90}"/>
              </a:ext>
            </a:extLst>
          </p:cNvPr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4" name="PlaceHolder 5">
            <a:extLst>
              <a:ext uri="{FF2B5EF4-FFF2-40B4-BE49-F238E27FC236}">
                <a16:creationId xmlns:a16="http://schemas.microsoft.com/office/drawing/2014/main" id="{C809E7B2-2291-45F0-BD84-E25702AAA125}"/>
              </a:ext>
            </a:extLst>
          </p:cNvPr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15" name="PlaceHolder 6">
            <a:extLst>
              <a:ext uri="{FF2B5EF4-FFF2-40B4-BE49-F238E27FC236}">
                <a16:creationId xmlns:a16="http://schemas.microsoft.com/office/drawing/2014/main" id="{CCA02350-5A0E-4E33-B5EE-37C0BF3084AF}"/>
              </a:ext>
            </a:extLst>
          </p:cNvPr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713208-829D-4117-B116-2E3922FD713F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7" name="PlaceHolder 1">
            <a:extLst>
              <a:ext uri="{FF2B5EF4-FFF2-40B4-BE49-F238E27FC236}">
                <a16:creationId xmlns:a16="http://schemas.microsoft.com/office/drawing/2014/main" id="{92DD29E3-C825-480F-B090-23D8AF5F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118" name="PlaceHolder 2">
            <a:extLst>
              <a:ext uri="{FF2B5EF4-FFF2-40B4-BE49-F238E27FC236}">
                <a16:creationId xmlns:a16="http://schemas.microsoft.com/office/drawing/2014/main" id="{13124539-57F0-4807-994E-E03C8E4FC6F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PlaceHolder 3">
            <a:extLst>
              <a:ext uri="{FF2B5EF4-FFF2-40B4-BE49-F238E27FC236}">
                <a16:creationId xmlns:a16="http://schemas.microsoft.com/office/drawing/2014/main" id="{282EFF55-C3FF-40E3-A457-04146E59B13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120" name="PlaceHolder 4">
            <a:extLst>
              <a:ext uri="{FF2B5EF4-FFF2-40B4-BE49-F238E27FC236}">
                <a16:creationId xmlns:a16="http://schemas.microsoft.com/office/drawing/2014/main" id="{DD34EDEE-3839-4DC7-82B6-6FEBC6703D2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PlaceHolder 5">
            <a:extLst>
              <a:ext uri="{FF2B5EF4-FFF2-40B4-BE49-F238E27FC236}">
                <a16:creationId xmlns:a16="http://schemas.microsoft.com/office/drawing/2014/main" id="{97D7E2A5-AD55-4F40-9AD0-1C88572BB15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122" name="PlaceHolder 6">
            <a:extLst>
              <a:ext uri="{FF2B5EF4-FFF2-40B4-BE49-F238E27FC236}">
                <a16:creationId xmlns:a16="http://schemas.microsoft.com/office/drawing/2014/main" id="{10CC45B7-5174-4F52-9EFB-92D2EA8CFE72}"/>
              </a:ext>
            </a:extLst>
          </p:cNvPr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3" name="PlaceHolder 7">
            <a:extLst>
              <a:ext uri="{FF2B5EF4-FFF2-40B4-BE49-F238E27FC236}">
                <a16:creationId xmlns:a16="http://schemas.microsoft.com/office/drawing/2014/main" id="{A79B808B-09D7-426D-989E-0FC2497E3B1B}"/>
              </a:ext>
            </a:extLst>
          </p:cNvPr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24" name="PlaceHolder 8">
            <a:extLst>
              <a:ext uri="{FF2B5EF4-FFF2-40B4-BE49-F238E27FC236}">
                <a16:creationId xmlns:a16="http://schemas.microsoft.com/office/drawing/2014/main" id="{FCB83083-2513-4055-8400-6A6967B9BF82}"/>
              </a:ext>
            </a:extLst>
          </p:cNvPr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2EFE55-290D-4B46-AD2C-6CEA22BEF07E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>
            <a:extLst>
              <a:ext uri="{FF2B5EF4-FFF2-40B4-BE49-F238E27FC236}">
                <a16:creationId xmlns:a16="http://schemas.microsoft.com/office/drawing/2014/main" id="{D1805E97-F6D8-4F6C-83E6-260CCE27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127" name="PlaceHolder 2">
            <a:extLst>
              <a:ext uri="{FF2B5EF4-FFF2-40B4-BE49-F238E27FC236}">
                <a16:creationId xmlns:a16="http://schemas.microsoft.com/office/drawing/2014/main" id="{2C712684-0620-4318-803C-3A5064CD8369}"/>
              </a:ext>
            </a:extLst>
          </p:cNvPr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8" name="PlaceHolder 3">
            <a:extLst>
              <a:ext uri="{FF2B5EF4-FFF2-40B4-BE49-F238E27FC236}">
                <a16:creationId xmlns:a16="http://schemas.microsoft.com/office/drawing/2014/main" id="{A0A697F3-7404-47A8-BBD9-7843C005CEA7}"/>
              </a:ext>
            </a:extLst>
          </p:cNvPr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29" name="PlaceHolder 4">
            <a:extLst>
              <a:ext uri="{FF2B5EF4-FFF2-40B4-BE49-F238E27FC236}">
                <a16:creationId xmlns:a16="http://schemas.microsoft.com/office/drawing/2014/main" id="{BF73757E-B0DF-46AF-B3E7-448D80E3FBFD}"/>
              </a:ext>
            </a:extLst>
          </p:cNvPr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BB2024-4171-423B-B583-EBCE55D71BD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31" name="PlaceHolder 1">
            <a:extLst>
              <a:ext uri="{FF2B5EF4-FFF2-40B4-BE49-F238E27FC236}">
                <a16:creationId xmlns:a16="http://schemas.microsoft.com/office/drawing/2014/main" id="{5AE5E08F-8796-4476-863E-197922115DC2}"/>
              </a:ext>
            </a:extLst>
          </p:cNvPr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2" name="PlaceHolder 2">
            <a:extLst>
              <a:ext uri="{FF2B5EF4-FFF2-40B4-BE49-F238E27FC236}">
                <a16:creationId xmlns:a16="http://schemas.microsoft.com/office/drawing/2014/main" id="{289048FF-36B2-4382-ACE7-C8E6F8595769}"/>
              </a:ext>
            </a:extLst>
          </p:cNvPr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33" name="PlaceHolder 3">
            <a:extLst>
              <a:ext uri="{FF2B5EF4-FFF2-40B4-BE49-F238E27FC236}">
                <a16:creationId xmlns:a16="http://schemas.microsoft.com/office/drawing/2014/main" id="{25E47A15-2CD0-496D-8782-22CEF388B7E4}"/>
              </a:ext>
            </a:extLst>
          </p:cNvPr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32D521-397C-42E2-A28B-854B4504F9F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0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35" name="PlaceHolder 1">
            <a:extLst>
              <a:ext uri="{FF2B5EF4-FFF2-40B4-BE49-F238E27FC236}">
                <a16:creationId xmlns:a16="http://schemas.microsoft.com/office/drawing/2014/main" id="{B177EF30-6BD0-4106-8438-3B6B75FA7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136" name="PlaceHolder 2">
            <a:extLst>
              <a:ext uri="{FF2B5EF4-FFF2-40B4-BE49-F238E27FC236}">
                <a16:creationId xmlns:a16="http://schemas.microsoft.com/office/drawing/2014/main" id="{028FED8D-6167-4658-A22A-DB99D2D781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Segundo nivel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Tercer nivel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Cuarto nivel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Quinto nivel</a:t>
            </a:r>
          </a:p>
        </p:txBody>
      </p:sp>
      <p:sp>
        <p:nvSpPr>
          <p:cNvPr id="137" name="PlaceHolder 3">
            <a:extLst>
              <a:ext uri="{FF2B5EF4-FFF2-40B4-BE49-F238E27FC236}">
                <a16:creationId xmlns:a16="http://schemas.microsoft.com/office/drawing/2014/main" id="{74E0D04B-4C46-4287-837D-B033ABBC620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</p:txBody>
      </p:sp>
      <p:sp>
        <p:nvSpPr>
          <p:cNvPr id="138" name="PlaceHolder 4">
            <a:extLst>
              <a:ext uri="{FF2B5EF4-FFF2-40B4-BE49-F238E27FC236}">
                <a16:creationId xmlns:a16="http://schemas.microsoft.com/office/drawing/2014/main" id="{5CB62BC0-27ED-4CE1-978B-3C945A4EBF9C}"/>
              </a:ext>
            </a:extLst>
          </p:cNvPr>
          <p:cNvSpPr>
            <a:spLocks noGrp="1"/>
          </p:cNvSpPr>
          <p:nvPr>
            <p:ph type="dt" idx="6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9" name="PlaceHolder 5">
            <a:extLst>
              <a:ext uri="{FF2B5EF4-FFF2-40B4-BE49-F238E27FC236}">
                <a16:creationId xmlns:a16="http://schemas.microsoft.com/office/drawing/2014/main" id="{75121949-7A1B-42B3-8406-65DF2CB925F6}"/>
              </a:ext>
            </a:extLst>
          </p:cNvPr>
          <p:cNvSpPr>
            <a:spLocks noGrp="1"/>
          </p:cNvSpPr>
          <p:nvPr>
            <p:ph type="ftr" idx="6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40" name="PlaceHolder 6">
            <a:extLst>
              <a:ext uri="{FF2B5EF4-FFF2-40B4-BE49-F238E27FC236}">
                <a16:creationId xmlns:a16="http://schemas.microsoft.com/office/drawing/2014/main" id="{9A682A24-F837-423E-9BDC-62675850758F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B70BE9-AE1B-46B8-85D2-FD44012519F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n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42" name="PlaceHolder 1">
            <a:extLst>
              <a:ext uri="{FF2B5EF4-FFF2-40B4-BE49-F238E27FC236}">
                <a16:creationId xmlns:a16="http://schemas.microsoft.com/office/drawing/2014/main" id="{82CCD588-B49C-4324-9C41-DCFC8DF94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0" u="non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Haga clic para modificar el estilo de título del patrón</a:t>
            </a:r>
          </a:p>
        </p:txBody>
      </p:sp>
      <p:sp>
        <p:nvSpPr>
          <p:cNvPr id="143" name="PlaceHolder 2">
            <a:extLst>
              <a:ext uri="{FF2B5EF4-FFF2-40B4-BE49-F238E27FC236}">
                <a16:creationId xmlns:a16="http://schemas.microsoft.com/office/drawing/2014/main" id="{73D72C1D-5D73-487F-9609-4521E6751D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  <p:sp>
        <p:nvSpPr>
          <p:cNvPr id="144" name="PlaceHolder 3">
            <a:extLst>
              <a:ext uri="{FF2B5EF4-FFF2-40B4-BE49-F238E27FC236}">
                <a16:creationId xmlns:a16="http://schemas.microsoft.com/office/drawing/2014/main" id="{7BB319F4-24E6-4870-A9D8-EF3C0A2818D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Haga clic para modificar el estilo de texto del patrón</a:t>
            </a:r>
          </a:p>
        </p:txBody>
      </p:sp>
      <p:sp>
        <p:nvSpPr>
          <p:cNvPr id="145" name="PlaceHolder 4">
            <a:extLst>
              <a:ext uri="{FF2B5EF4-FFF2-40B4-BE49-F238E27FC236}">
                <a16:creationId xmlns:a16="http://schemas.microsoft.com/office/drawing/2014/main" id="{C8E19FEC-CB68-4BDC-A7CB-EB180E72EE0F}"/>
              </a:ext>
            </a:extLst>
          </p:cNvPr>
          <p:cNvSpPr>
            <a:spLocks noGrp="1"/>
          </p:cNvSpPr>
          <p:nvPr>
            <p:ph type="dt" idx="7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6" name="PlaceHolder 5">
            <a:extLst>
              <a:ext uri="{FF2B5EF4-FFF2-40B4-BE49-F238E27FC236}">
                <a16:creationId xmlns:a16="http://schemas.microsoft.com/office/drawing/2014/main" id="{BD3AB572-E6C3-45EA-95EC-CC39D4C40ECA}"/>
              </a:ext>
            </a:extLst>
          </p:cNvPr>
          <p:cNvSpPr>
            <a:spLocks noGrp="1"/>
          </p:cNvSpPr>
          <p:nvPr>
            <p:ph type="ftr" idx="7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47" name="PlaceHolder 6">
            <a:extLst>
              <a:ext uri="{FF2B5EF4-FFF2-40B4-BE49-F238E27FC236}">
                <a16:creationId xmlns:a16="http://schemas.microsoft.com/office/drawing/2014/main" id="{E62998C3-2E17-41A9-B04A-9A9E682C3950}"/>
              </a:ext>
            </a:extLst>
          </p:cNvPr>
          <p:cNvSpPr>
            <a:spLocks noGrp="1"/>
          </p:cNvSpPr>
          <p:nvPr>
            <p:ph type="sldNum" idx="7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0680E-9818-41F3-83AD-BAA89F124D7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2600"/>
            <a:ext cx="12191760" cy="6832440"/>
          </a:xfrm>
          <a:prstGeom prst="rect">
            <a:avLst/>
          </a:prstGeom>
          <a:ln w="0">
            <a:noFill/>
          </a:ln>
        </p:spPr>
      </p:pic>
      <p:sp>
        <p:nvSpPr>
          <p:cNvPr id="151" name="Rectángulo 150">
            <a:extLst>
              <a:ext uri="{FF2B5EF4-FFF2-40B4-BE49-F238E27FC236}">
                <a16:creationId xmlns:a16="http://schemas.microsoft.com/office/drawing/2014/main" id="{9A8D0FB1-7A8A-412D-BC5C-E77399778C50}"/>
              </a:ext>
            </a:extLst>
          </p:cNvPr>
          <p:cNvSpPr>
            <a:spLocks noGrp="1"/>
          </p:cNvSpPr>
          <p:nvPr/>
        </p:nvSpPr>
        <p:spPr>
          <a:xfrm>
            <a:off x="1809750" y="195262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13A8E5"/>
                </a:solidFill>
              </a:defRPr>
            </a:pPr>
            <a:r>
              <a:rPr sz="1275" b="1">
                <a:solidFill>
                  <a:srgbClr val="13A8E5"/>
                </a:solidFill>
              </a:rPr>
              <a:t>LÓGICA DE PROGRAMACIÓN Y LABORATORIO</a:t>
            </a:r>
          </a:p>
        </p:txBody>
      </p:sp>
      <p:sp>
        <p:nvSpPr>
          <p:cNvPr id="152" name="Rectángulo 151">
            <a:extLst>
              <a:ext uri="{FF2B5EF4-FFF2-40B4-BE49-F238E27FC236}">
                <a16:creationId xmlns:a16="http://schemas.microsoft.com/office/drawing/2014/main" id="{790C8F57-569D-4C6F-B351-5F4DF1EFD54C}"/>
              </a:ext>
            </a:extLst>
          </p:cNvPr>
          <p:cNvSpPr>
            <a:spLocks noGrp="1"/>
          </p:cNvSpPr>
          <p:nvPr/>
        </p:nvSpPr>
        <p:spPr>
          <a:xfrm>
            <a:off x="1428750" y="2333625"/>
            <a:ext cx="9334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Programación Orientada a Objetos</a:t>
            </a:r>
          </a:p>
        </p:txBody>
      </p:sp>
      <p:sp>
        <p:nvSpPr>
          <p:cNvPr id="153" name="Rectángulo 152">
            <a:extLst>
              <a:ext uri="{FF2B5EF4-FFF2-40B4-BE49-F238E27FC236}">
                <a16:creationId xmlns:a16="http://schemas.microsoft.com/office/drawing/2014/main" id="{05E2B827-94C3-4433-AB4A-FB7BF00C3D03}"/>
              </a:ext>
            </a:extLst>
          </p:cNvPr>
          <p:cNvSpPr>
            <a:spLocks noGrp="1"/>
          </p:cNvSpPr>
          <p:nvPr/>
        </p:nvSpPr>
        <p:spPr>
          <a:xfrm>
            <a:off x="2286000" y="3638550"/>
            <a:ext cx="762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0">
                <a:solidFill>
                  <a:srgbClr val="FFFFFF"/>
                </a:solidFill>
              </a:defRPr>
            </a:pPr>
            <a:r>
              <a:rPr sz="1800" b="0" dirty="0" err="1">
                <a:solidFill>
                  <a:srgbClr val="FFFFFF"/>
                </a:solidFill>
              </a:rPr>
              <a:t>Comprender</a:t>
            </a:r>
            <a:r>
              <a:rPr sz="1800" b="0" dirty="0">
                <a:solidFill>
                  <a:srgbClr val="FFFFFF"/>
                </a:solidFill>
              </a:rPr>
              <a:t> </a:t>
            </a:r>
            <a:r>
              <a:rPr sz="1800" b="0" dirty="0" err="1">
                <a:solidFill>
                  <a:srgbClr val="FFFFFF"/>
                </a:solidFill>
              </a:rPr>
              <a:t>cómo</a:t>
            </a:r>
            <a:r>
              <a:rPr sz="1800" b="0" dirty="0">
                <a:solidFill>
                  <a:srgbClr val="FFFFFF"/>
                </a:solidFill>
              </a:rPr>
              <a:t> se </a:t>
            </a:r>
            <a:r>
              <a:rPr sz="1800" b="0" dirty="0" err="1">
                <a:solidFill>
                  <a:srgbClr val="FFFFFF"/>
                </a:solidFill>
              </a:rPr>
              <a:t>organiza</a:t>
            </a:r>
            <a:r>
              <a:rPr sz="1800" b="0" dirty="0">
                <a:solidFill>
                  <a:srgbClr val="FFFFFF"/>
                </a:solidFill>
              </a:rPr>
              <a:t> </a:t>
            </a:r>
            <a:r>
              <a:rPr sz="1800" b="0" dirty="0" err="1">
                <a:solidFill>
                  <a:srgbClr val="FFFFFF"/>
                </a:solidFill>
              </a:rPr>
              <a:t>una</a:t>
            </a:r>
            <a:r>
              <a:rPr sz="1800" b="0" dirty="0">
                <a:solidFill>
                  <a:srgbClr val="FFFFFF"/>
                </a:solidFill>
              </a:rPr>
              <a:t> </a:t>
            </a:r>
            <a:r>
              <a:rPr sz="1800" b="0" dirty="0" err="1">
                <a:solidFill>
                  <a:srgbClr val="FFFFFF"/>
                </a:solidFill>
              </a:rPr>
              <a:t>solución</a:t>
            </a:r>
            <a:endParaRPr sz="1800" b="0" dirty="0">
              <a:solidFill>
                <a:srgbClr val="FFFFFF"/>
              </a:solidFill>
            </a:endParaRPr>
          </a:p>
        </p:txBody>
      </p:sp>
      <p:sp>
        <p:nvSpPr>
          <p:cNvPr id="154" name="Rectángulo: esquinas redondeadas 153">
            <a:extLst>
              <a:ext uri="{FF2B5EF4-FFF2-40B4-BE49-F238E27FC236}">
                <a16:creationId xmlns:a16="http://schemas.microsoft.com/office/drawing/2014/main" id="{E85B87DD-895B-4B08-BC5A-C2A69E1EB11E}"/>
              </a:ext>
            </a:extLst>
          </p:cNvPr>
          <p:cNvSpPr>
            <a:spLocks noGrp="1"/>
          </p:cNvSpPr>
          <p:nvPr/>
        </p:nvSpPr>
        <p:spPr>
          <a:xfrm>
            <a:off x="4667250" y="4495800"/>
            <a:ext cx="2857500" cy="400050"/>
          </a:xfrm>
          <a:prstGeom prst="roundRect">
            <a:avLst>
              <a:gd name="adj" fmla="val 38095"/>
            </a:avLst>
          </a:prstGeom>
          <a:solidFill>
            <a:srgbClr val="1D5BB5"/>
          </a:solidFill>
          <a:ln w="0">
            <a:solidFill>
              <a:srgbClr val="1D5BB5"/>
            </a:solidFill>
            <a:prstDash val="solid"/>
          </a:ln>
        </p:spPr>
        <p:txBody>
          <a:bodyPr anchor="ctr">
            <a:normAutofit fontScale="97636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Sesión 4 · Fundamentos conceptuales</a:t>
            </a:r>
          </a:p>
        </p:txBody>
      </p:sp>
      <p:sp>
        <p:nvSpPr>
          <p:cNvPr id="155" name="Rectángulo 154">
            <a:extLst>
              <a:ext uri="{FF2B5EF4-FFF2-40B4-BE49-F238E27FC236}">
                <a16:creationId xmlns:a16="http://schemas.microsoft.com/office/drawing/2014/main" id="{4833A843-B1E5-42D8-91E8-ED03DE603070}"/>
              </a:ext>
            </a:extLst>
          </p:cNvPr>
          <p:cNvSpPr>
            <a:spLocks noGrp="1"/>
          </p:cNvSpPr>
          <p:nvPr/>
        </p:nvSpPr>
        <p:spPr>
          <a:xfrm>
            <a:off x="3429000" y="51435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Sebastián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63121992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A5AB1CA1-3D59-451B-BFB9-6B72F86CDCA3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PROPÓSITO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86CF078B-9D17-47FD-82FD-89660C4ABFB4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¿Qué comprenderemos hoy?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72BD4F9B-C627-4223-A3AD-77327C45C9D0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B0463431-33DB-4576-9956-0E93A57F1269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57ED709A-0F8B-4DAA-9A6A-4872205AE6DD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3E6775F6-3F86-4150-8EBC-3F166DC34CD9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10439400" cy="1238250"/>
          </a:xfrm>
          <a:prstGeom prst="roundRect">
            <a:avLst>
              <a:gd name="adj" fmla="val 13846"/>
            </a:avLst>
          </a:prstGeom>
          <a:solidFill>
            <a:srgbClr val="EEF5FF"/>
          </a:solidFill>
          <a:ln w="1143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51A648F8-4E41-4955-A462-F73FE6AFA17D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114300" cy="1238250"/>
          </a:xfrm>
          <a:prstGeom prst="rect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75232A0F-9C9F-4C19-B3FB-2B76D8B9D4DC}"/>
              </a:ext>
            </a:extLst>
          </p:cNvPr>
          <p:cNvSpPr>
            <a:spLocks noGrp="1"/>
          </p:cNvSpPr>
          <p:nvPr/>
        </p:nvSpPr>
        <p:spPr>
          <a:xfrm>
            <a:off x="1285875" y="1752600"/>
            <a:ext cx="9525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2325" b="1">
                <a:solidFill>
                  <a:srgbClr val="14213D"/>
                </a:solidFill>
              </a:defRPr>
            </a:pPr>
            <a:r>
              <a:rPr sz="2325" b="1">
                <a:solidFill>
                  <a:srgbClr val="14213D"/>
                </a:solidFill>
              </a:rPr>
              <a:t>Modelar una situación con objetos y reconocer cómo esa organización aparece en Java.</a:t>
            </a:r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18285C72-04F7-429B-81F5-494EC16C4F9E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13A8E5"/>
                </a:solidFill>
              </a:defRPr>
            </a:pPr>
            <a:r>
              <a:rPr sz="1275" b="1">
                <a:solidFill>
                  <a:srgbClr val="13A8E5"/>
                </a:solidFill>
              </a:rPr>
              <a:t>01</a:t>
            </a: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91170B4E-F144-4A40-933E-1B99DB71D4C9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Reconocer</a:t>
            </a: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B82B584C-BF0B-4B19-82A2-655AE2735306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30480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A86B259A-6B58-43D8-9BC2-2C5E042C894C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Cómo cambia la forma de organizar una solución.</a:t>
            </a:r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974A29B7-9A6E-454E-A2A7-05621C50BB72}"/>
              </a:ext>
            </a:extLst>
          </p:cNvPr>
          <p:cNvSpPr>
            <a:spLocks noGrp="1"/>
          </p:cNvSpPr>
          <p:nvPr/>
        </p:nvSpPr>
        <p:spPr>
          <a:xfrm>
            <a:off x="4029075" y="3257550"/>
            <a:ext cx="19050" cy="226695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B508A64B-0248-43AE-8F59-61626D576872}"/>
              </a:ext>
            </a:extLst>
          </p:cNvPr>
          <p:cNvSpPr>
            <a:spLocks noGrp="1"/>
          </p:cNvSpPr>
          <p:nvPr/>
        </p:nvSpPr>
        <p:spPr>
          <a:xfrm>
            <a:off x="4257675" y="3219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159A72"/>
                </a:solidFill>
              </a:defRPr>
            </a:pPr>
            <a:r>
              <a:rPr sz="1275" b="1">
                <a:solidFill>
                  <a:srgbClr val="159A72"/>
                </a:solidFill>
              </a:rPr>
              <a:t>02</a:t>
            </a: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F2EA5490-FA26-453B-BD9B-BB467825EBC2}"/>
              </a:ext>
            </a:extLst>
          </p:cNvPr>
          <p:cNvSpPr>
            <a:spLocks noGrp="1"/>
          </p:cNvSpPr>
          <p:nvPr/>
        </p:nvSpPr>
        <p:spPr>
          <a:xfrm>
            <a:off x="4257675" y="36004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Modelar</a:t>
            </a:r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66168B7A-2EA1-4493-9F5A-21DA3EBE783D}"/>
              </a:ext>
            </a:extLst>
          </p:cNvPr>
          <p:cNvSpPr>
            <a:spLocks noGrp="1"/>
          </p:cNvSpPr>
          <p:nvPr/>
        </p:nvSpPr>
        <p:spPr>
          <a:xfrm>
            <a:off x="4257675" y="4219575"/>
            <a:ext cx="3048000" cy="38100"/>
          </a:xfrm>
          <a:prstGeom prst="rect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3DDF0514-B696-47E9-86EB-2D045F29E644}"/>
              </a:ext>
            </a:extLst>
          </p:cNvPr>
          <p:cNvSpPr>
            <a:spLocks noGrp="1"/>
          </p:cNvSpPr>
          <p:nvPr/>
        </p:nvSpPr>
        <p:spPr>
          <a:xfrm>
            <a:off x="4257675" y="443865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Clases y objetos con información y responsabilidades.</a:t>
            </a:r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AE260A77-C617-44E4-B8C4-44B61A177CCA}"/>
              </a:ext>
            </a:extLst>
          </p:cNvPr>
          <p:cNvSpPr>
            <a:spLocks noGrp="1"/>
          </p:cNvSpPr>
          <p:nvPr/>
        </p:nvSpPr>
        <p:spPr>
          <a:xfrm>
            <a:off x="7600950" y="3257550"/>
            <a:ext cx="19050" cy="226695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4A4B1467-4AC4-4BBE-81AE-81BF9BC47614}"/>
              </a:ext>
            </a:extLst>
          </p:cNvPr>
          <p:cNvSpPr>
            <a:spLocks noGrp="1"/>
          </p:cNvSpPr>
          <p:nvPr/>
        </p:nvSpPr>
        <p:spPr>
          <a:xfrm>
            <a:off x="7829550" y="3219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7C4DFF"/>
                </a:solidFill>
              </a:defRPr>
            </a:pPr>
            <a:r>
              <a:rPr sz="1275" b="1">
                <a:solidFill>
                  <a:srgbClr val="7C4DFF"/>
                </a:solidFill>
              </a:rPr>
              <a:t>03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1600AC50-939A-4383-A0FC-BD6FC9AE43CE}"/>
              </a:ext>
            </a:extLst>
          </p:cNvPr>
          <p:cNvSpPr>
            <a:spLocks noGrp="1"/>
          </p:cNvSpPr>
          <p:nvPr/>
        </p:nvSpPr>
        <p:spPr>
          <a:xfrm>
            <a:off x="7829550" y="36004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Conectar</a:t>
            </a: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27499B28-B455-4DC1-BCBD-08031457DAD3}"/>
              </a:ext>
            </a:extLst>
          </p:cNvPr>
          <p:cNvSpPr>
            <a:spLocks noGrp="1"/>
          </p:cNvSpPr>
          <p:nvPr/>
        </p:nvSpPr>
        <p:spPr>
          <a:xfrm>
            <a:off x="7829550" y="4219575"/>
            <a:ext cx="3048000" cy="38100"/>
          </a:xfrm>
          <a:prstGeom prst="rect">
            <a:avLst/>
          </a:prstGeom>
          <a:solidFill>
            <a:srgbClr val="7C4DFF"/>
          </a:solidFill>
          <a:ln w="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6AE13E86-E22A-46DA-8190-6C94026F432B}"/>
              </a:ext>
            </a:extLst>
          </p:cNvPr>
          <p:cNvSpPr>
            <a:spLocks noGrp="1"/>
          </p:cNvSpPr>
          <p:nvPr/>
        </p:nvSpPr>
        <p:spPr>
          <a:xfrm>
            <a:off x="7829550" y="4438650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Objetos que colaboran y código que representa el modelo.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/>
      <p:bldP spid="203" grpId="0"/>
      <p:bldP spid="204" grpId="0" animBg="1"/>
      <p:bldP spid="205" grpId="0"/>
      <p:bldP spid="207" grpId="0"/>
      <p:bldP spid="208" grpId="0"/>
      <p:bldP spid="209" grpId="0" animBg="1"/>
      <p:bldP spid="210" grpId="0"/>
      <p:bldP spid="212" grpId="0"/>
      <p:bldP spid="213" grpId="0"/>
      <p:bldP spid="214" grpId="0" animBg="1"/>
      <p:bldP spid="2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5A35F458-032C-4F90-82A8-EE12CB4A36FE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E67E22"/>
                </a:solidFill>
              </a:defRPr>
            </a:pPr>
            <a:r>
              <a:rPr sz="1125" b="1">
                <a:solidFill>
                  <a:srgbClr val="E67E22"/>
                </a:solidFill>
              </a:rPr>
              <a:t>CALENTAMIENTO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62406E73-9EE5-4D56-A423-2CD111C8E11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El molde de galletas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5DB7B24F-E403-46AF-B544-BEBE81FB4E7F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E67E22"/>
          </a:solidFill>
          <a:ln w="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EE840B03-6321-4128-BC2C-A25232241E3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079A3758-91D3-4EED-8297-A1853E65D0DD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2B8807A8-CE2A-451D-9933-9AAA383A3367}"/>
              </a:ext>
            </a:extLst>
          </p:cNvPr>
          <p:cNvSpPr>
            <a:spLocks noGrp="1"/>
          </p:cNvSpPr>
          <p:nvPr/>
        </p:nvSpPr>
        <p:spPr>
          <a:xfrm>
            <a:off x="876300" y="1543050"/>
            <a:ext cx="10439400" cy="1295400"/>
          </a:xfrm>
          <a:prstGeom prst="roundRect">
            <a:avLst>
              <a:gd name="adj" fmla="val 13235"/>
            </a:avLst>
          </a:prstGeom>
          <a:solidFill>
            <a:srgbClr val="FFF4E8"/>
          </a:solidFill>
          <a:ln w="11430">
            <a:solidFill>
              <a:srgbClr val="FFF4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411863C3-9A1C-488B-8082-C4B4DCE5FD60}"/>
              </a:ext>
            </a:extLst>
          </p:cNvPr>
          <p:cNvSpPr>
            <a:spLocks noGrp="1"/>
          </p:cNvSpPr>
          <p:nvPr/>
        </p:nvSpPr>
        <p:spPr>
          <a:xfrm>
            <a:off x="876300" y="1543050"/>
            <a:ext cx="114300" cy="1295400"/>
          </a:xfrm>
          <a:prstGeom prst="rect">
            <a:avLst/>
          </a:prstGeom>
          <a:solidFill>
            <a:srgbClr val="E67E22"/>
          </a:solidFill>
          <a:ln w="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D695D31B-806B-4443-8EAB-9BF301D43022}"/>
              </a:ext>
            </a:extLst>
          </p:cNvPr>
          <p:cNvSpPr>
            <a:spLocks noGrp="1"/>
          </p:cNvSpPr>
          <p:nvPr/>
        </p:nvSpPr>
        <p:spPr>
          <a:xfrm>
            <a:off x="1285875" y="1733550"/>
            <a:ext cx="9525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Un solo molde puede producir muchas galletas. ¿Qué cambia y qué permanece?</a:t>
            </a:r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18216A68-50A1-4E3A-B0DE-217589E52E8A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E67E22"/>
                </a:solidFill>
              </a:defRPr>
            </a:pPr>
            <a:r>
              <a:rPr sz="1275" b="1">
                <a:solidFill>
                  <a:srgbClr val="E67E22"/>
                </a:solidFill>
              </a:rPr>
              <a:t>PIENSA</a:t>
            </a: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FEADB1C6-8D19-4F4D-BB9F-3DAB8BA57F79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El molde</a:t>
            </a: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FB883291-8A9C-4C36-9B9A-2A48F73DB22A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3048000" cy="38100"/>
          </a:xfrm>
          <a:prstGeom prst="rect">
            <a:avLst/>
          </a:prstGeom>
          <a:solidFill>
            <a:srgbClr val="E67E22"/>
          </a:solidFill>
          <a:ln w="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F96DA387-8D43-4F1C-9398-4A62EF2EFD55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¿Qué define para todas las galletas?</a:t>
            </a:r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5320DA3F-1B51-48B3-A2BD-72504C5E8690}"/>
              </a:ext>
            </a:extLst>
          </p:cNvPr>
          <p:cNvSpPr>
            <a:spLocks noGrp="1"/>
          </p:cNvSpPr>
          <p:nvPr/>
        </p:nvSpPr>
        <p:spPr>
          <a:xfrm>
            <a:off x="4029075" y="3371850"/>
            <a:ext cx="19050" cy="209550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30CD728F-0970-45AB-BD76-6B7CFADC2F9A}"/>
              </a:ext>
            </a:extLst>
          </p:cNvPr>
          <p:cNvSpPr>
            <a:spLocks noGrp="1"/>
          </p:cNvSpPr>
          <p:nvPr/>
        </p:nvSpPr>
        <p:spPr>
          <a:xfrm>
            <a:off x="4257675" y="3333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13A8E5"/>
                </a:solidFill>
              </a:defRPr>
            </a:pPr>
            <a:r>
              <a:rPr sz="1275" b="1">
                <a:solidFill>
                  <a:srgbClr val="13A8E5"/>
                </a:solidFill>
              </a:rPr>
              <a:t>COMPARA</a:t>
            </a: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041D7F53-611B-48CF-9CD6-6690C76D5D95}"/>
              </a:ext>
            </a:extLst>
          </p:cNvPr>
          <p:cNvSpPr>
            <a:spLocks noGrp="1"/>
          </p:cNvSpPr>
          <p:nvPr/>
        </p:nvSpPr>
        <p:spPr>
          <a:xfrm>
            <a:off x="4257675" y="37147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La galleta</a:t>
            </a:r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46E813EF-35FA-44F8-9E06-D33025718311}"/>
              </a:ext>
            </a:extLst>
          </p:cNvPr>
          <p:cNvSpPr>
            <a:spLocks noGrp="1"/>
          </p:cNvSpPr>
          <p:nvPr/>
        </p:nvSpPr>
        <p:spPr>
          <a:xfrm>
            <a:off x="4257675" y="4333875"/>
            <a:ext cx="30480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678EC7FD-BEEF-4845-9814-4C0603E2D1B4}"/>
              </a:ext>
            </a:extLst>
          </p:cNvPr>
          <p:cNvSpPr>
            <a:spLocks noGrp="1"/>
          </p:cNvSpPr>
          <p:nvPr/>
        </p:nvSpPr>
        <p:spPr>
          <a:xfrm>
            <a:off x="4257675" y="455295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¿Qué valores propios puede tener cada una?</a:t>
            </a:r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27455DC7-980C-497C-BA1F-C268C26792F6}"/>
              </a:ext>
            </a:extLst>
          </p:cNvPr>
          <p:cNvSpPr>
            <a:spLocks noGrp="1"/>
          </p:cNvSpPr>
          <p:nvPr/>
        </p:nvSpPr>
        <p:spPr>
          <a:xfrm>
            <a:off x="7600950" y="3371850"/>
            <a:ext cx="19050" cy="209550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26BE420E-903D-4FCF-BC12-27E23B14100C}"/>
              </a:ext>
            </a:extLst>
          </p:cNvPr>
          <p:cNvSpPr>
            <a:spLocks noGrp="1"/>
          </p:cNvSpPr>
          <p:nvPr/>
        </p:nvSpPr>
        <p:spPr>
          <a:xfrm>
            <a:off x="7829550" y="3333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159A72"/>
                </a:solidFill>
              </a:defRPr>
            </a:pPr>
            <a:r>
              <a:rPr sz="1275" b="1">
                <a:solidFill>
                  <a:srgbClr val="159A72"/>
                </a:solidFill>
              </a:rPr>
              <a:t>CONECTA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224D9CAF-614E-4132-9E35-475B067F6E39}"/>
              </a:ext>
            </a:extLst>
          </p:cNvPr>
          <p:cNvSpPr>
            <a:spLocks noGrp="1"/>
          </p:cNvSpPr>
          <p:nvPr/>
        </p:nvSpPr>
        <p:spPr>
          <a:xfrm>
            <a:off x="7829550" y="37147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En software</a:t>
            </a: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A72386E3-F860-4DAB-96AC-B62B06664154}"/>
              </a:ext>
            </a:extLst>
          </p:cNvPr>
          <p:cNvSpPr>
            <a:spLocks noGrp="1"/>
          </p:cNvSpPr>
          <p:nvPr/>
        </p:nvSpPr>
        <p:spPr>
          <a:xfrm>
            <a:off x="7829550" y="4333875"/>
            <a:ext cx="3048000" cy="38100"/>
          </a:xfrm>
          <a:prstGeom prst="rect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7B1A964F-591E-4ED3-A3C7-EE736845F93A}"/>
              </a:ext>
            </a:extLst>
          </p:cNvPr>
          <p:cNvSpPr>
            <a:spLocks noGrp="1"/>
          </p:cNvSpPr>
          <p:nvPr/>
        </p:nvSpPr>
        <p:spPr>
          <a:xfrm>
            <a:off x="7829550" y="4552950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¿Cuál sería la clase y cuáles serían los objetos?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/>
      <p:bldP spid="203" grpId="0"/>
      <p:bldP spid="204" grpId="0" animBg="1"/>
      <p:bldP spid="205" grpId="0"/>
      <p:bldP spid="207" grpId="0"/>
      <p:bldP spid="208" grpId="0"/>
      <p:bldP spid="209" grpId="0" animBg="1"/>
      <p:bldP spid="210" grpId="0"/>
      <p:bldP spid="212" grpId="0"/>
      <p:bldP spid="213" grpId="0"/>
      <p:bldP spid="214" grpId="0" animBg="1"/>
      <p:bldP spid="2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0" y="36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9274B601-D710-4A33-96CC-9A8085068147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PARADIGMAS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A4A0DC40-CFA4-48A1-B8B6-A34CFD58E0C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Un problema puede organizarse de tres maneras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4AB7AA79-3692-4797-8F7C-AEBCA67CAF6B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BC77D575-BAFD-4D54-9F32-FEF690B183CE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D3213881-D54B-41C5-9EF1-BCDCCD651BCC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199" name="Rectángulo 198">
            <a:extLst>
              <a:ext uri="{FF2B5EF4-FFF2-40B4-BE49-F238E27FC236}">
                <a16:creationId xmlns:a16="http://schemas.microsoft.com/office/drawing/2014/main" id="{6EEBF249-846D-4D42-B3D2-798829985F39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E67E22"/>
                </a:solidFill>
              </a:defRPr>
            </a:pPr>
            <a:r>
              <a:rPr sz="1275" b="1">
                <a:solidFill>
                  <a:srgbClr val="E67E22"/>
                </a:solidFill>
              </a:rPr>
              <a:t>ESTRUCTURADO</a:t>
            </a: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557DC7EB-7F4E-469B-93A1-1C1A4E2D08D3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Pasos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2AD4D055-8CED-4F59-A98E-1A954CEC2AA4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3048000" cy="38100"/>
          </a:xfrm>
          <a:prstGeom prst="rect">
            <a:avLst/>
          </a:prstGeom>
          <a:solidFill>
            <a:srgbClr val="E67E22"/>
          </a:solidFill>
          <a:ln w="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DD4184E3-3437-42C0-B79B-1A4D46A14BB3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30480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Ordena pasos y decisiones.</a:t>
            </a:r>
          </a:p>
          <a:p>
            <a:endParaRPr sz="1650" b="0">
              <a:solidFill>
                <a:srgbClr val="2F3E55"/>
              </a:solidFill>
            </a:endParaRPr>
          </a:p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Pregunta: ¿qué ocurre primero?</a:t>
            </a: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524078ED-0142-40D2-B48D-D687A87C36F1}"/>
              </a:ext>
            </a:extLst>
          </p:cNvPr>
          <p:cNvSpPr>
            <a:spLocks noGrp="1"/>
          </p:cNvSpPr>
          <p:nvPr/>
        </p:nvSpPr>
        <p:spPr>
          <a:xfrm>
            <a:off x="4029075" y="1657350"/>
            <a:ext cx="19050" cy="381000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85FBD971-4C17-490A-8502-68D3CC380786}"/>
              </a:ext>
            </a:extLst>
          </p:cNvPr>
          <p:cNvSpPr>
            <a:spLocks noGrp="1"/>
          </p:cNvSpPr>
          <p:nvPr/>
        </p:nvSpPr>
        <p:spPr>
          <a:xfrm>
            <a:off x="4257675" y="1619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7C4DFF"/>
                </a:solidFill>
              </a:defRPr>
            </a:pPr>
            <a:r>
              <a:rPr sz="1275" b="1" dirty="0">
                <a:solidFill>
                  <a:srgbClr val="7C4DFF"/>
                </a:solidFill>
              </a:rPr>
              <a:t>FUNCIONAL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AD471DF9-1C6B-4EF6-9E73-DF66E97DA5E1}"/>
              </a:ext>
            </a:extLst>
          </p:cNvPr>
          <p:cNvSpPr>
            <a:spLocks noGrp="1"/>
          </p:cNvSpPr>
          <p:nvPr/>
        </p:nvSpPr>
        <p:spPr>
          <a:xfrm>
            <a:off x="4257675" y="20002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 dirty="0" err="1">
                <a:solidFill>
                  <a:srgbClr val="14213D"/>
                </a:solidFill>
              </a:rPr>
              <a:t>Transformaciones</a:t>
            </a:r>
            <a:endParaRPr sz="2025" b="1" dirty="0">
              <a:solidFill>
                <a:srgbClr val="14213D"/>
              </a:solidFill>
            </a:endParaRPr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71E5F8FB-CACE-4843-878F-7CBB4426BD3B}"/>
              </a:ext>
            </a:extLst>
          </p:cNvPr>
          <p:cNvSpPr>
            <a:spLocks noGrp="1"/>
          </p:cNvSpPr>
          <p:nvPr/>
        </p:nvSpPr>
        <p:spPr>
          <a:xfrm>
            <a:off x="4257675" y="2619375"/>
            <a:ext cx="3048000" cy="38100"/>
          </a:xfrm>
          <a:prstGeom prst="rect">
            <a:avLst/>
          </a:prstGeom>
          <a:solidFill>
            <a:srgbClr val="7C4DFF"/>
          </a:solidFill>
          <a:ln w="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0A24EDE0-E154-4705-9A34-20F79450DE41}"/>
              </a:ext>
            </a:extLst>
          </p:cNvPr>
          <p:cNvSpPr>
            <a:spLocks noGrp="1"/>
          </p:cNvSpPr>
          <p:nvPr/>
        </p:nvSpPr>
        <p:spPr>
          <a:xfrm>
            <a:off x="4257675" y="2838450"/>
            <a:ext cx="30480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 dirty="0" err="1">
                <a:solidFill>
                  <a:srgbClr val="2F3E55"/>
                </a:solidFill>
              </a:rPr>
              <a:t>Transforma</a:t>
            </a:r>
            <a:r>
              <a:rPr sz="1650" b="0" dirty="0">
                <a:solidFill>
                  <a:srgbClr val="2F3E55"/>
                </a:solidFill>
              </a:rPr>
              <a:t> </a:t>
            </a:r>
            <a:r>
              <a:rPr sz="1650" b="0" dirty="0" err="1">
                <a:solidFill>
                  <a:srgbClr val="2F3E55"/>
                </a:solidFill>
              </a:rPr>
              <a:t>información</a:t>
            </a:r>
            <a:r>
              <a:rPr sz="1650" b="0" dirty="0">
                <a:solidFill>
                  <a:srgbClr val="2F3E55"/>
                </a:solidFill>
              </a:rPr>
              <a:t> </a:t>
            </a:r>
            <a:r>
              <a:rPr sz="1650" b="0" dirty="0" err="1">
                <a:solidFill>
                  <a:srgbClr val="2F3E55"/>
                </a:solidFill>
              </a:rPr>
              <a:t>en</a:t>
            </a:r>
            <a:r>
              <a:rPr sz="1650" b="0" dirty="0">
                <a:solidFill>
                  <a:srgbClr val="2F3E55"/>
                </a:solidFill>
              </a:rPr>
              <a:t> un </a:t>
            </a:r>
            <a:r>
              <a:rPr sz="1650" b="0" dirty="0" err="1">
                <a:solidFill>
                  <a:srgbClr val="2F3E55"/>
                </a:solidFill>
              </a:rPr>
              <a:t>resultado</a:t>
            </a:r>
            <a:r>
              <a:rPr sz="1650" b="0" dirty="0">
                <a:solidFill>
                  <a:srgbClr val="2F3E55"/>
                </a:solidFill>
              </a:rPr>
              <a:t>.</a:t>
            </a:r>
          </a:p>
          <a:p>
            <a:endParaRPr sz="1650" b="0" dirty="0">
              <a:solidFill>
                <a:srgbClr val="2F3E55"/>
              </a:solidFill>
            </a:endParaRPr>
          </a:p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 dirty="0" err="1">
                <a:solidFill>
                  <a:srgbClr val="2F3E55"/>
                </a:solidFill>
              </a:rPr>
              <a:t>Pregunta</a:t>
            </a:r>
            <a:r>
              <a:rPr sz="1650" b="0" dirty="0">
                <a:solidFill>
                  <a:srgbClr val="2F3E55"/>
                </a:solidFill>
              </a:rPr>
              <a:t>: ¿</a:t>
            </a:r>
            <a:r>
              <a:rPr sz="1650" b="0" dirty="0" err="1">
                <a:solidFill>
                  <a:srgbClr val="2F3E55"/>
                </a:solidFill>
              </a:rPr>
              <a:t>qué</a:t>
            </a:r>
            <a:r>
              <a:rPr sz="1650" b="0" dirty="0">
                <a:solidFill>
                  <a:srgbClr val="2F3E55"/>
                </a:solidFill>
              </a:rPr>
              <a:t> </a:t>
            </a:r>
            <a:r>
              <a:rPr sz="1650" b="0" dirty="0" err="1">
                <a:solidFill>
                  <a:srgbClr val="2F3E55"/>
                </a:solidFill>
              </a:rPr>
              <a:t>entra</a:t>
            </a:r>
            <a:r>
              <a:rPr sz="1650" b="0" dirty="0">
                <a:solidFill>
                  <a:srgbClr val="2F3E55"/>
                </a:solidFill>
              </a:rPr>
              <a:t> y </a:t>
            </a:r>
            <a:r>
              <a:rPr sz="1650" b="0" dirty="0" err="1">
                <a:solidFill>
                  <a:srgbClr val="2F3E55"/>
                </a:solidFill>
              </a:rPr>
              <a:t>qué</a:t>
            </a:r>
            <a:r>
              <a:rPr sz="1650" b="0" dirty="0">
                <a:solidFill>
                  <a:srgbClr val="2F3E55"/>
                </a:solidFill>
              </a:rPr>
              <a:t> sale?</a:t>
            </a: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DC159290-4382-4793-A349-974C4A111AD3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19050" cy="381000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88863ECD-1072-4F23-8F1E-BACFE46392B4}"/>
              </a:ext>
            </a:extLst>
          </p:cNvPr>
          <p:cNvSpPr>
            <a:spLocks noGrp="1"/>
          </p:cNvSpPr>
          <p:nvPr/>
        </p:nvSpPr>
        <p:spPr>
          <a:xfrm>
            <a:off x="7829550" y="1619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159A72"/>
                </a:solidFill>
              </a:defRPr>
            </a:pPr>
            <a:r>
              <a:rPr sz="1275" b="1">
                <a:solidFill>
                  <a:srgbClr val="159A72"/>
                </a:solidFill>
              </a:rPr>
              <a:t>POO</a:t>
            </a:r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C9CCC4BA-5841-4C6B-A01E-6AFEEB2F6D6D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Objetos</a:t>
            </a:r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D5252271-CA19-40F7-AB4F-306F112635B6}"/>
              </a:ext>
            </a:extLst>
          </p:cNvPr>
          <p:cNvSpPr>
            <a:spLocks noGrp="1"/>
          </p:cNvSpPr>
          <p:nvPr/>
        </p:nvSpPr>
        <p:spPr>
          <a:xfrm>
            <a:off x="7829550" y="2619375"/>
            <a:ext cx="3048000" cy="38100"/>
          </a:xfrm>
          <a:prstGeom prst="rect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818A24C9-ADBC-45B6-9480-AAD99EFD0929}"/>
              </a:ext>
            </a:extLst>
          </p:cNvPr>
          <p:cNvSpPr>
            <a:spLocks noGrp="1"/>
          </p:cNvSpPr>
          <p:nvPr/>
        </p:nvSpPr>
        <p:spPr>
          <a:xfrm>
            <a:off x="7829550" y="2838450"/>
            <a:ext cx="30480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Distribuye información y responsabilidades.</a:t>
            </a:r>
          </a:p>
          <a:p>
            <a:endParaRPr sz="1650" b="0">
              <a:solidFill>
                <a:srgbClr val="2F3E55"/>
              </a:solidFill>
            </a:endParaRPr>
          </a:p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Pregunta: ¿quién sabe y quién hace?</a:t>
            </a:r>
          </a:p>
        </p:txBody>
      </p:sp>
      <p:sp>
        <p:nvSpPr>
          <p:cNvPr id="213" name="Rectángulo: esquinas redondeadas 212">
            <a:extLst>
              <a:ext uri="{FF2B5EF4-FFF2-40B4-BE49-F238E27FC236}">
                <a16:creationId xmlns:a16="http://schemas.microsoft.com/office/drawing/2014/main" id="{FC1D4E48-3962-4F23-A144-EA43FE367D50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10629900" cy="666750"/>
          </a:xfrm>
          <a:prstGeom prst="roundRect">
            <a:avLst>
              <a:gd name="adj" fmla="val 20000"/>
            </a:avLst>
          </a:prstGeom>
          <a:solidFill>
            <a:srgbClr val="EEF5FF"/>
          </a:solidFill>
          <a:ln w="1143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4" name="Rectángulo: esquinas redondeadas 213">
            <a:extLst>
              <a:ext uri="{FF2B5EF4-FFF2-40B4-BE49-F238E27FC236}">
                <a16:creationId xmlns:a16="http://schemas.microsoft.com/office/drawing/2014/main" id="{000DD57D-88D8-4A9E-9E3B-AFD9330E3CAD}"/>
              </a:ext>
            </a:extLst>
          </p:cNvPr>
          <p:cNvSpPr>
            <a:spLocks noGrp="1"/>
          </p:cNvSpPr>
          <p:nvPr/>
        </p:nvSpPr>
        <p:spPr>
          <a:xfrm>
            <a:off x="952500" y="5800725"/>
            <a:ext cx="1428750" cy="342900"/>
          </a:xfrm>
          <a:prstGeom prst="roundRect">
            <a:avLst>
              <a:gd name="adj" fmla="val 44444"/>
            </a:avLst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 anchor="ctr">
            <a:normAutofit fontScale="94598" lnSpcReduction="10000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CLAVE</a:t>
            </a: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FCD616FE-A579-4160-9A0A-2D522E5C7088}"/>
              </a:ext>
            </a:extLst>
          </p:cNvPr>
          <p:cNvSpPr>
            <a:spLocks noGrp="1"/>
          </p:cNvSpPr>
          <p:nvPr/>
        </p:nvSpPr>
        <p:spPr>
          <a:xfrm>
            <a:off x="2619375" y="5715000"/>
            <a:ext cx="8524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Paradigma = una forma de pensar y organizar una solución. Hoy profundizamos en POO.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200" grpId="0"/>
      <p:bldP spid="201" grpId="0" animBg="1"/>
      <p:bldP spid="202" grpId="0"/>
      <p:bldP spid="204" grpId="0"/>
      <p:bldP spid="205" grpId="0"/>
      <p:bldP spid="206" grpId="0" animBg="1"/>
      <p:bldP spid="207" grpId="0"/>
      <p:bldP spid="209" grpId="0"/>
      <p:bldP spid="210" grpId="0"/>
      <p:bldP spid="211" grpId="0" animBg="1"/>
      <p:bldP spid="212" grpId="0"/>
      <p:bldP spid="213" grpId="0" animBg="1"/>
      <p:bldP spid="214" grpId="0" animBg="1"/>
      <p:bldP spid="2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7E61B83E-340B-4E49-99AB-06106100535E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JAVA Y POO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F661BD95-35E7-4FB0-B1F1-18D1E00CD8D3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¿Por qué Java es orientado a objetos?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D170BF81-C21A-4163-A861-9B4586D2841D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AF28554F-7851-440D-9E75-E07168E3FEE0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A2EA8F42-355B-4FA3-84A7-508026D76FE8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199" name="Rectángulo 198">
            <a:extLst>
              <a:ext uri="{FF2B5EF4-FFF2-40B4-BE49-F238E27FC236}">
                <a16:creationId xmlns:a16="http://schemas.microsoft.com/office/drawing/2014/main" id="{E3987DAE-4F5C-4879-A113-0B007E87254B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2446B8"/>
                </a:solidFill>
              </a:defRPr>
            </a:pPr>
            <a:r>
              <a:rPr sz="1950" b="1">
                <a:solidFill>
                  <a:srgbClr val="2446B8"/>
                </a:solidFill>
              </a:rPr>
              <a:t>ORGANIZA EN CLASES</a:t>
            </a: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094AFF85-5886-4D6C-97D7-40B0564A1024}"/>
              </a:ext>
            </a:extLst>
          </p:cNvPr>
          <p:cNvSpPr>
            <a:spLocks noGrp="1"/>
          </p:cNvSpPr>
          <p:nvPr/>
        </p:nvSpPr>
        <p:spPr>
          <a:xfrm>
            <a:off x="6553200" y="16764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159A72"/>
                </a:solidFill>
              </a:defRPr>
            </a:pPr>
            <a:r>
              <a:rPr sz="1950" b="1" dirty="0">
                <a:solidFill>
                  <a:srgbClr val="159A72"/>
                </a:solidFill>
              </a:rPr>
              <a:t>CREA OBJETOS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229E0C5D-6A6A-4C7F-9143-DA88EAD0281D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4857750" cy="38100"/>
          </a:xfrm>
          <a:prstGeom prst="rect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F46C454A-86DB-4C9E-8E0E-0BE5BC45ED27}"/>
              </a:ext>
            </a:extLst>
          </p:cNvPr>
          <p:cNvSpPr>
            <a:spLocks noGrp="1"/>
          </p:cNvSpPr>
          <p:nvPr/>
        </p:nvSpPr>
        <p:spPr>
          <a:xfrm>
            <a:off x="6553200" y="2190750"/>
            <a:ext cx="4857750" cy="38100"/>
          </a:xfrm>
          <a:prstGeom prst="rect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5383E80A-1867-48A1-A9FF-C4B3208920DA}"/>
              </a:ext>
            </a:extLst>
          </p:cNvPr>
          <p:cNvSpPr>
            <a:spLocks noGrp="1"/>
          </p:cNvSpPr>
          <p:nvPr/>
        </p:nvSpPr>
        <p:spPr>
          <a:xfrm>
            <a:off x="6076950" y="1771650"/>
            <a:ext cx="19050" cy="32861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EBB5CFF5-C9F1-42F1-BC03-43A0708D55AF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4857750" cy="2581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Una clase reúne en un mismo lugar:</a:t>
            </a:r>
          </a:p>
          <a:p>
            <a:endParaRPr sz="1725" b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• información que describe el estado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• acciones que trabajan con esa información.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2DD09481-9180-4CAB-9048-869E2BDBED66}"/>
              </a:ext>
            </a:extLst>
          </p:cNvPr>
          <p:cNvSpPr>
            <a:spLocks noGrp="1"/>
          </p:cNvSpPr>
          <p:nvPr/>
        </p:nvSpPr>
        <p:spPr>
          <a:xfrm>
            <a:off x="6553200" y="2400300"/>
            <a:ext cx="4857750" cy="2581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>
                <a:solidFill>
                  <a:srgbClr val="2F3E55"/>
                </a:solidFill>
              </a:rPr>
              <a:t>Cada </a:t>
            </a:r>
            <a:r>
              <a:rPr sz="1725" b="0" dirty="0" err="1">
                <a:solidFill>
                  <a:srgbClr val="2F3E55"/>
                </a:solidFill>
              </a:rPr>
              <a:t>objeto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nace</a:t>
            </a:r>
            <a:r>
              <a:rPr sz="1725" b="0" dirty="0">
                <a:solidFill>
                  <a:srgbClr val="2F3E55"/>
                </a:solidFill>
              </a:rPr>
              <a:t> del </a:t>
            </a:r>
            <a:r>
              <a:rPr sz="1725" b="0" dirty="0" err="1">
                <a:solidFill>
                  <a:srgbClr val="2F3E55"/>
                </a:solidFill>
              </a:rPr>
              <a:t>modelo</a:t>
            </a:r>
            <a:r>
              <a:rPr sz="1725" b="0" dirty="0">
                <a:solidFill>
                  <a:srgbClr val="2F3E55"/>
                </a:solidFill>
              </a:rPr>
              <a:t> de </a:t>
            </a:r>
            <a:r>
              <a:rPr sz="1725" b="0" dirty="0" err="1">
                <a:solidFill>
                  <a:srgbClr val="2F3E55"/>
                </a:solidFill>
              </a:rPr>
              <a:t>una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clase</a:t>
            </a:r>
            <a:r>
              <a:rPr sz="1725" b="0" dirty="0">
                <a:solidFill>
                  <a:srgbClr val="2F3E55"/>
                </a:solidFill>
              </a:rPr>
              <a:t>.</a:t>
            </a:r>
          </a:p>
          <a:p>
            <a:endParaRPr sz="1725" b="0" dirty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>
                <a:solidFill>
                  <a:srgbClr val="2F3E55"/>
                </a:solidFill>
              </a:rPr>
              <a:t>Los </a:t>
            </a:r>
            <a:r>
              <a:rPr sz="1725" b="0" dirty="0" err="1">
                <a:solidFill>
                  <a:srgbClr val="2F3E55"/>
                </a:solidFill>
              </a:rPr>
              <a:t>objetos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conservan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datos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propios</a:t>
            </a:r>
            <a:r>
              <a:rPr sz="1725" b="0" dirty="0">
                <a:solidFill>
                  <a:srgbClr val="2F3E55"/>
                </a:solidFill>
              </a:rPr>
              <a:t> y </a:t>
            </a:r>
            <a:r>
              <a:rPr sz="1725" b="0" dirty="0" err="1">
                <a:solidFill>
                  <a:srgbClr val="2F3E55"/>
                </a:solidFill>
              </a:rPr>
              <a:t>colaboran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mediante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métodos</a:t>
            </a:r>
            <a:r>
              <a:rPr sz="1725" b="0" dirty="0">
                <a:solidFill>
                  <a:srgbClr val="2F3E55"/>
                </a:solidFill>
              </a:rPr>
              <a:t>.</a:t>
            </a:r>
          </a:p>
        </p:txBody>
      </p:sp>
      <p:sp>
        <p:nvSpPr>
          <p:cNvPr id="206" name="Rectángulo: esquinas redondeadas 205">
            <a:extLst>
              <a:ext uri="{FF2B5EF4-FFF2-40B4-BE49-F238E27FC236}">
                <a16:creationId xmlns:a16="http://schemas.microsoft.com/office/drawing/2014/main" id="{6320D7E4-B2F5-4E28-83B9-2222A149750B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10439400" cy="762000"/>
          </a:xfrm>
          <a:prstGeom prst="roundRect">
            <a:avLst>
              <a:gd name="adj" fmla="val 22500"/>
            </a:avLst>
          </a:prstGeom>
          <a:solidFill>
            <a:srgbClr val="EAF9FE"/>
          </a:solidFill>
          <a:ln w="11430">
            <a:solidFill>
              <a:srgbClr val="EAF9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91E20C6F-040F-4739-B4F0-34D1C0F1116F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114300" cy="7620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1CF59E5A-1FA7-47E2-B048-5C9ED6B96ADB}"/>
              </a:ext>
            </a:extLst>
          </p:cNvPr>
          <p:cNvSpPr>
            <a:spLocks noGrp="1"/>
          </p:cNvSpPr>
          <p:nvPr/>
        </p:nvSpPr>
        <p:spPr>
          <a:xfrm>
            <a:off x="1285875" y="547687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306"/>
          </a:bodyPr>
          <a:lstStyle/>
          <a:p>
            <a:pPr algn="ctr">
              <a:buNone/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Java organiza el programa con clases; los objetos guardan estado y ejecutan acciones.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200" grpId="0"/>
      <p:bldP spid="201" grpId="0" animBg="1"/>
      <p:bldP spid="202" grpId="0" animBg="1"/>
      <p:bldP spid="204" grpId="0"/>
      <p:bldP spid="205" grpId="0"/>
      <p:bldP spid="206" grpId="0" animBg="1"/>
      <p:bldP spid="207" grpId="0" animBg="1"/>
      <p:bldP spid="2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7E61B83E-340B-4E49-99AB-06106100535E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POO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F661BD95-35E7-4FB0-B1F1-18D1E00CD8D3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La pregunta cambia: ¿quién sabe y quién hace?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D170BF81-C21A-4163-A861-9B4586D2841D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AF28554F-7851-440D-9E75-E07168E3FEE0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A2EA8F42-355B-4FA3-84A7-508026D76FE8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199" name="Rectángulo 198">
            <a:extLst>
              <a:ext uri="{FF2B5EF4-FFF2-40B4-BE49-F238E27FC236}">
                <a16:creationId xmlns:a16="http://schemas.microsoft.com/office/drawing/2014/main" id="{E3987DAE-4F5C-4879-A113-0B007E87254B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2446B8"/>
                </a:solidFill>
              </a:defRPr>
            </a:pPr>
            <a:r>
              <a:rPr sz="1950" b="1">
                <a:solidFill>
                  <a:srgbClr val="2446B8"/>
                </a:solidFill>
              </a:rPr>
              <a:t>El objeto SABE</a:t>
            </a: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094AFF85-5886-4D6C-97D7-40B0564A1024}"/>
              </a:ext>
            </a:extLst>
          </p:cNvPr>
          <p:cNvSpPr>
            <a:spLocks noGrp="1"/>
          </p:cNvSpPr>
          <p:nvPr/>
        </p:nvSpPr>
        <p:spPr>
          <a:xfrm>
            <a:off x="6553200" y="16764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159A72"/>
                </a:solidFill>
              </a:defRPr>
            </a:pPr>
            <a:r>
              <a:rPr sz="1950" b="1">
                <a:solidFill>
                  <a:srgbClr val="159A72"/>
                </a:solidFill>
              </a:rPr>
              <a:t>El objeto HACE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229E0C5D-6A6A-4C7F-9143-DA88EAD0281D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4857750" cy="38100"/>
          </a:xfrm>
          <a:prstGeom prst="rect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F46C454A-86DB-4C9E-8E0E-0BE5BC45ED27}"/>
              </a:ext>
            </a:extLst>
          </p:cNvPr>
          <p:cNvSpPr>
            <a:spLocks noGrp="1"/>
          </p:cNvSpPr>
          <p:nvPr/>
        </p:nvSpPr>
        <p:spPr>
          <a:xfrm>
            <a:off x="6553200" y="2190750"/>
            <a:ext cx="4857750" cy="38100"/>
          </a:xfrm>
          <a:prstGeom prst="rect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5383E80A-1867-48A1-A9FF-C4B3208920DA}"/>
              </a:ext>
            </a:extLst>
          </p:cNvPr>
          <p:cNvSpPr>
            <a:spLocks noGrp="1"/>
          </p:cNvSpPr>
          <p:nvPr/>
        </p:nvSpPr>
        <p:spPr>
          <a:xfrm>
            <a:off x="6076950" y="1771650"/>
            <a:ext cx="19050" cy="32861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EBB5CFF5-C9F1-42F1-BC03-43A0708D55AF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4857750" cy="2581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Sus atributos guardan su estado: los valores que lo describen en un momento.</a:t>
            </a:r>
          </a:p>
          <a:p>
            <a:endParaRPr sz="1725" b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Ejemplo: título, autor y disponibilidad.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2DD09481-9180-4CAB-9048-869E2BDBED66}"/>
              </a:ext>
            </a:extLst>
          </p:cNvPr>
          <p:cNvSpPr>
            <a:spLocks noGrp="1"/>
          </p:cNvSpPr>
          <p:nvPr/>
        </p:nvSpPr>
        <p:spPr>
          <a:xfrm>
            <a:off x="6553200" y="2400300"/>
            <a:ext cx="4857750" cy="2581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Sus métodos expresan su comportamiento: acciones relacionadas con su información.</a:t>
            </a:r>
          </a:p>
          <a:p>
            <a:endParaRPr sz="1725" b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Ejemplo: prestar, devolver o mostrar sus datos.</a:t>
            </a:r>
          </a:p>
        </p:txBody>
      </p:sp>
      <p:sp>
        <p:nvSpPr>
          <p:cNvPr id="206" name="Rectángulo: esquinas redondeadas 205">
            <a:extLst>
              <a:ext uri="{FF2B5EF4-FFF2-40B4-BE49-F238E27FC236}">
                <a16:creationId xmlns:a16="http://schemas.microsoft.com/office/drawing/2014/main" id="{6320D7E4-B2F5-4E28-83B9-2222A149750B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10439400" cy="762000"/>
          </a:xfrm>
          <a:prstGeom prst="roundRect">
            <a:avLst>
              <a:gd name="adj" fmla="val 22500"/>
            </a:avLst>
          </a:prstGeom>
          <a:solidFill>
            <a:srgbClr val="EAF9FE"/>
          </a:solidFill>
          <a:ln w="11430">
            <a:solidFill>
              <a:srgbClr val="EAF9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91E20C6F-040F-4739-B4F0-34D1C0F1116F}"/>
              </a:ext>
            </a:extLst>
          </p:cNvPr>
          <p:cNvSpPr>
            <a:spLocks noGrp="1"/>
          </p:cNvSpPr>
          <p:nvPr/>
        </p:nvSpPr>
        <p:spPr>
          <a:xfrm>
            <a:off x="876300" y="5286375"/>
            <a:ext cx="114300" cy="7620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1CF59E5A-1FA7-47E2-B048-5C9ED6B96ADB}"/>
              </a:ext>
            </a:extLst>
          </p:cNvPr>
          <p:cNvSpPr>
            <a:spLocks noGrp="1"/>
          </p:cNvSpPr>
          <p:nvPr/>
        </p:nvSpPr>
        <p:spPr>
          <a:xfrm>
            <a:off x="1285875" y="547687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POO = objetos con información + responsabilidades + colaboración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200" grpId="0"/>
      <p:bldP spid="201" grpId="0" animBg="1"/>
      <p:bldP spid="202" grpId="0" animBg="1"/>
      <p:bldP spid="204" grpId="0"/>
      <p:bldP spid="205" grpId="0"/>
      <p:bldP spid="206" grpId="0" animBg="1"/>
      <p:bldP spid="207" grpId="0" animBg="1"/>
      <p:bldP spid="2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189232C9-DD2B-4871-8662-EC5086F74EAE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CONCEPTOS ESENCIALES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E861B056-B5C2-4DAF-8E2F-D4F9BB69E1A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Clase y objeto no son lo mismo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0E5A8CEB-E5E7-4618-A133-999B9BB664D9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2F5CEE71-11AD-49DF-9006-6AFA6ABA29C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FAADAB88-2734-4365-A808-347FF2BAC509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199" name="Rectángulo 198">
            <a:extLst>
              <a:ext uri="{FF2B5EF4-FFF2-40B4-BE49-F238E27FC236}">
                <a16:creationId xmlns:a16="http://schemas.microsoft.com/office/drawing/2014/main" id="{80502ED4-F395-4797-B74C-A8F6298D2B8F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2446B8"/>
                </a:solidFill>
              </a:defRPr>
            </a:pPr>
            <a:r>
              <a:rPr sz="1950" b="1">
                <a:solidFill>
                  <a:srgbClr val="2446B8"/>
                </a:solidFill>
              </a:rPr>
              <a:t>CLASE · el modelo común</a:t>
            </a: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D1A75A04-0F96-466E-8659-AF66548370C5}"/>
              </a:ext>
            </a:extLst>
          </p:cNvPr>
          <p:cNvSpPr>
            <a:spLocks noGrp="1"/>
          </p:cNvSpPr>
          <p:nvPr/>
        </p:nvSpPr>
        <p:spPr>
          <a:xfrm>
            <a:off x="6553200" y="161925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13A8E5"/>
                </a:solidFill>
              </a:defRPr>
            </a:pPr>
            <a:r>
              <a:rPr sz="1950" b="1">
                <a:solidFill>
                  <a:srgbClr val="13A8E5"/>
                </a:solidFill>
              </a:rPr>
              <a:t>OBJETO · un caso concreto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47E92F66-C048-4C3B-AF1A-3A32533CC04F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4857750" cy="38100"/>
          </a:xfrm>
          <a:prstGeom prst="rect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1428F9BC-C548-42B7-87C0-C3086EFEDE66}"/>
              </a:ext>
            </a:extLst>
          </p:cNvPr>
          <p:cNvSpPr>
            <a:spLocks noGrp="1"/>
          </p:cNvSpPr>
          <p:nvPr/>
        </p:nvSpPr>
        <p:spPr>
          <a:xfrm>
            <a:off x="6553200" y="2133600"/>
            <a:ext cx="485775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6DE44FE6-22F5-46AC-8D36-E5F6A05E8010}"/>
              </a:ext>
            </a:extLst>
          </p:cNvPr>
          <p:cNvSpPr>
            <a:spLocks noGrp="1"/>
          </p:cNvSpPr>
          <p:nvPr/>
        </p:nvSpPr>
        <p:spPr>
          <a:xfrm>
            <a:off x="6076950" y="1714500"/>
            <a:ext cx="19050" cy="342900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DADF25FE-8C22-4DA3-B05F-9D26425C8E1C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485775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Describe la estructura compartida.</a:t>
            </a:r>
          </a:p>
          <a:p>
            <a:endParaRPr sz="1650" b="0">
              <a:solidFill>
                <a:srgbClr val="2F3E55"/>
              </a:solidFill>
            </a:endParaRPr>
          </a:p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Define qué información interesa y qué acciones pueden realizar los objetos.</a:t>
            </a:r>
          </a:p>
          <a:p>
            <a:endParaRPr sz="1650" b="0">
              <a:solidFill>
                <a:srgbClr val="2F3E55"/>
              </a:solidFill>
            </a:endParaRPr>
          </a:p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Ejemplo: Libro.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A4CF04B7-1C8F-4070-AA1F-818E72962BA5}"/>
              </a:ext>
            </a:extLst>
          </p:cNvPr>
          <p:cNvSpPr>
            <a:spLocks noGrp="1"/>
          </p:cNvSpPr>
          <p:nvPr/>
        </p:nvSpPr>
        <p:spPr>
          <a:xfrm>
            <a:off x="6553200" y="2343150"/>
            <a:ext cx="485775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Tiene valores propios en un momento determinado.</a:t>
            </a:r>
          </a:p>
          <a:p>
            <a:endParaRPr sz="1650" b="0">
              <a:solidFill>
                <a:srgbClr val="2F3E55"/>
              </a:solidFill>
            </a:endParaRPr>
          </a:p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Dos objetos pueden pertenecer a la misma clase y conservar datos diferentes.</a:t>
            </a:r>
          </a:p>
          <a:p>
            <a:endParaRPr sz="1650" b="0">
              <a:solidFill>
                <a:srgbClr val="2F3E55"/>
              </a:solidFill>
            </a:endParaRPr>
          </a:p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Ejemplo: “El principito” y “1984”.</a:t>
            </a:r>
          </a:p>
        </p:txBody>
      </p:sp>
      <p:sp>
        <p:nvSpPr>
          <p:cNvPr id="206" name="Rectángulo: esquinas redondeadas 205">
            <a:extLst>
              <a:ext uri="{FF2B5EF4-FFF2-40B4-BE49-F238E27FC236}">
                <a16:creationId xmlns:a16="http://schemas.microsoft.com/office/drawing/2014/main" id="{425F20E6-CCAB-4B21-AFC6-ABF765428FD5}"/>
              </a:ext>
            </a:extLst>
          </p:cNvPr>
          <p:cNvSpPr>
            <a:spLocks noGrp="1"/>
          </p:cNvSpPr>
          <p:nvPr/>
        </p:nvSpPr>
        <p:spPr>
          <a:xfrm>
            <a:off x="3476625" y="5476875"/>
            <a:ext cx="5238750" cy="438150"/>
          </a:xfrm>
          <a:prstGeom prst="roundRect">
            <a:avLst>
              <a:gd name="adj" fmla="val 34783"/>
            </a:avLst>
          </a:prstGeom>
          <a:solidFill>
            <a:srgbClr val="EEF5FF"/>
          </a:solidFill>
          <a:ln w="0">
            <a:solidFill>
              <a:srgbClr val="EEF5FF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425" b="1">
                <a:solidFill>
                  <a:srgbClr val="2446B8"/>
                </a:solidFill>
              </a:defRPr>
            </a:pPr>
            <a:r>
              <a:rPr sz="1425" b="1">
                <a:solidFill>
                  <a:srgbClr val="2446B8"/>
                </a:solidFill>
              </a:rPr>
              <a:t>Una clase puede dar origen a muchos objetos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200" grpId="0"/>
      <p:bldP spid="201" grpId="0" animBg="1"/>
      <p:bldP spid="202" grpId="0" animBg="1"/>
      <p:bldP spid="204" grpId="0"/>
      <p:bldP spid="205" grpId="0"/>
      <p:bldP spid="20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D91D944C-CD42-4985-A2BB-BE214E8A4BF3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CONEXIÓN CON LA SESIÓN 3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8300155B-4BDF-4374-BFE6-D2D9A7A9C1B8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De entidad a clase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1DD9BFDA-508D-4A49-A1DC-F8C28E0360D4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99288F5D-CD2A-4EF0-9688-CCF982883A3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57B360CA-34D5-41D2-9653-570D3DF65331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199" name="Elipse 198">
            <a:extLst>
              <a:ext uri="{FF2B5EF4-FFF2-40B4-BE49-F238E27FC236}">
                <a16:creationId xmlns:a16="http://schemas.microsoft.com/office/drawing/2014/main" id="{A63BCEA1-65D7-49DE-B598-491E02AAE8FC}"/>
              </a:ext>
            </a:extLst>
          </p:cNvPr>
          <p:cNvSpPr>
            <a:spLocks noGrp="1"/>
          </p:cNvSpPr>
          <p:nvPr/>
        </p:nvSpPr>
        <p:spPr>
          <a:xfrm>
            <a:off x="838200" y="1562100"/>
            <a:ext cx="514350" cy="514350"/>
          </a:xfrm>
          <a:prstGeom prst="ellipse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FFA18348-1568-4219-A63C-D635D90E8713}"/>
              </a:ext>
            </a:extLst>
          </p:cNvPr>
          <p:cNvSpPr>
            <a:spLocks noGrp="1"/>
          </p:cNvSpPr>
          <p:nvPr/>
        </p:nvSpPr>
        <p:spPr>
          <a:xfrm>
            <a:off x="1619250" y="15240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2446B8"/>
                </a:solidFill>
              </a:defRPr>
            </a:pPr>
            <a:r>
              <a:rPr sz="1650" b="1">
                <a:solidFill>
                  <a:srgbClr val="2446B8"/>
                </a:solidFill>
              </a:rPr>
              <a:t>Entidad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920C202B-3A71-488A-BF4B-76ABA8877607}"/>
              </a:ext>
            </a:extLst>
          </p:cNvPr>
          <p:cNvSpPr>
            <a:spLocks noGrp="1"/>
          </p:cNvSpPr>
          <p:nvPr/>
        </p:nvSpPr>
        <p:spPr>
          <a:xfrm>
            <a:off x="4476750" y="150495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Identifica algo importante del mundo del problema.</a:t>
            </a:r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96A88454-103B-4EB8-8A60-C3AF19B2FD2A}"/>
              </a:ext>
            </a:extLst>
          </p:cNvPr>
          <p:cNvSpPr>
            <a:spLocks noGrp="1"/>
          </p:cNvSpPr>
          <p:nvPr/>
        </p:nvSpPr>
        <p:spPr>
          <a:xfrm>
            <a:off x="1619250" y="216217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3" name="Elipse 202">
            <a:extLst>
              <a:ext uri="{FF2B5EF4-FFF2-40B4-BE49-F238E27FC236}">
                <a16:creationId xmlns:a16="http://schemas.microsoft.com/office/drawing/2014/main" id="{5C76C7B2-173B-47C2-BCA2-11F9736AECEB}"/>
              </a:ext>
            </a:extLst>
          </p:cNvPr>
          <p:cNvSpPr>
            <a:spLocks noGrp="1"/>
          </p:cNvSpPr>
          <p:nvPr/>
        </p:nvSpPr>
        <p:spPr>
          <a:xfrm>
            <a:off x="838200" y="2552700"/>
            <a:ext cx="514350" cy="514350"/>
          </a:xfrm>
          <a:prstGeom prst="ellipse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FDA2019C-DF02-4343-A980-CD824035500A}"/>
              </a:ext>
            </a:extLst>
          </p:cNvPr>
          <p:cNvSpPr>
            <a:spLocks noGrp="1"/>
          </p:cNvSpPr>
          <p:nvPr/>
        </p:nvSpPr>
        <p:spPr>
          <a:xfrm>
            <a:off x="1619250" y="25146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3A8E5"/>
                </a:solidFill>
              </a:defRPr>
            </a:pPr>
            <a:r>
              <a:rPr sz="1650" b="1">
                <a:solidFill>
                  <a:srgbClr val="13A8E5"/>
                </a:solidFill>
              </a:rPr>
              <a:t>Atributos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D03B3093-B5B1-4677-82F0-591B86E3EE83}"/>
              </a:ext>
            </a:extLst>
          </p:cNvPr>
          <p:cNvSpPr>
            <a:spLocks noGrp="1"/>
          </p:cNvSpPr>
          <p:nvPr/>
        </p:nvSpPr>
        <p:spPr>
          <a:xfrm>
            <a:off x="4476750" y="249555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Selecciona únicamente la información relevante.</a:t>
            </a:r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C1D00AE0-1A71-4787-AA49-2364D124C414}"/>
              </a:ext>
            </a:extLst>
          </p:cNvPr>
          <p:cNvSpPr>
            <a:spLocks noGrp="1"/>
          </p:cNvSpPr>
          <p:nvPr/>
        </p:nvSpPr>
        <p:spPr>
          <a:xfrm>
            <a:off x="1619250" y="315277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7" name="Elipse 206">
            <a:extLst>
              <a:ext uri="{FF2B5EF4-FFF2-40B4-BE49-F238E27FC236}">
                <a16:creationId xmlns:a16="http://schemas.microsoft.com/office/drawing/2014/main" id="{ED7E1061-E2CA-43B0-B6CC-8D265E1AF7BB}"/>
              </a:ext>
            </a:extLst>
          </p:cNvPr>
          <p:cNvSpPr>
            <a:spLocks noGrp="1"/>
          </p:cNvSpPr>
          <p:nvPr/>
        </p:nvSpPr>
        <p:spPr>
          <a:xfrm>
            <a:off x="838200" y="3543300"/>
            <a:ext cx="514350" cy="514350"/>
          </a:xfrm>
          <a:prstGeom prst="ellipse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10EA3C43-ADF6-437E-9506-C1A9E468688F}"/>
              </a:ext>
            </a:extLst>
          </p:cNvPr>
          <p:cNvSpPr>
            <a:spLocks noGrp="1"/>
          </p:cNvSpPr>
          <p:nvPr/>
        </p:nvSpPr>
        <p:spPr>
          <a:xfrm>
            <a:off x="1619250" y="3505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59A72"/>
                </a:solidFill>
              </a:defRPr>
            </a:pPr>
            <a:r>
              <a:rPr sz="1650" b="1">
                <a:solidFill>
                  <a:srgbClr val="159A72"/>
                </a:solidFill>
              </a:rPr>
              <a:t>Métodos</a:t>
            </a:r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C8F1E7B1-8C5E-4C6E-874D-9AB0ED628A24}"/>
              </a:ext>
            </a:extLst>
          </p:cNvPr>
          <p:cNvSpPr>
            <a:spLocks noGrp="1"/>
          </p:cNvSpPr>
          <p:nvPr/>
        </p:nvSpPr>
        <p:spPr>
          <a:xfrm>
            <a:off x="4476750" y="348615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Asigna las acciones o responsabilidades necesarias.</a:t>
            </a:r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C82430A9-3B1C-4B6C-9C19-563FCCB45DE6}"/>
              </a:ext>
            </a:extLst>
          </p:cNvPr>
          <p:cNvSpPr>
            <a:spLocks noGrp="1"/>
          </p:cNvSpPr>
          <p:nvPr/>
        </p:nvSpPr>
        <p:spPr>
          <a:xfrm>
            <a:off x="1619250" y="414337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1" name="Elipse 210">
            <a:extLst>
              <a:ext uri="{FF2B5EF4-FFF2-40B4-BE49-F238E27FC236}">
                <a16:creationId xmlns:a16="http://schemas.microsoft.com/office/drawing/2014/main" id="{6270C4AC-C139-4CD3-A77B-913972E2811C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514350" cy="514350"/>
          </a:xfrm>
          <a:prstGeom prst="ellipse">
            <a:avLst/>
          </a:prstGeom>
          <a:solidFill>
            <a:srgbClr val="7C4DFF"/>
          </a:solidFill>
          <a:ln w="0">
            <a:solidFill>
              <a:srgbClr val="7C4DF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A2ECDEE3-7B2C-4997-84C1-A15C684F1222}"/>
              </a:ext>
            </a:extLst>
          </p:cNvPr>
          <p:cNvSpPr>
            <a:spLocks noGrp="1"/>
          </p:cNvSpPr>
          <p:nvPr/>
        </p:nvSpPr>
        <p:spPr>
          <a:xfrm>
            <a:off x="1619250" y="4495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7C4DFF"/>
                </a:solidFill>
              </a:defRPr>
            </a:pPr>
            <a:r>
              <a:rPr sz="1650" b="1">
                <a:solidFill>
                  <a:srgbClr val="7C4DFF"/>
                </a:solidFill>
              </a:rPr>
              <a:t>Clase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399618C2-655D-496B-A62F-8E5DCCE13A43}"/>
              </a:ext>
            </a:extLst>
          </p:cNvPr>
          <p:cNvSpPr>
            <a:spLocks noGrp="1"/>
          </p:cNvSpPr>
          <p:nvPr/>
        </p:nvSpPr>
        <p:spPr>
          <a:xfrm>
            <a:off x="4476750" y="447675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Reúne esa estructura en un modelo común.</a:t>
            </a:r>
          </a:p>
        </p:txBody>
      </p:sp>
      <p:sp>
        <p:nvSpPr>
          <p:cNvPr id="214" name="Rectángulo: esquinas redondeadas 213">
            <a:extLst>
              <a:ext uri="{FF2B5EF4-FFF2-40B4-BE49-F238E27FC236}">
                <a16:creationId xmlns:a16="http://schemas.microsoft.com/office/drawing/2014/main" id="{EB89E751-8455-45D3-9701-0000B8257ACD}"/>
              </a:ext>
            </a:extLst>
          </p:cNvPr>
          <p:cNvSpPr>
            <a:spLocks noGrp="1"/>
          </p:cNvSpPr>
          <p:nvPr/>
        </p:nvSpPr>
        <p:spPr>
          <a:xfrm>
            <a:off x="781050" y="5638800"/>
            <a:ext cx="10629900" cy="666750"/>
          </a:xfrm>
          <a:prstGeom prst="roundRect">
            <a:avLst>
              <a:gd name="adj" fmla="val 20000"/>
            </a:avLst>
          </a:prstGeom>
          <a:solidFill>
            <a:srgbClr val="EEF5FF"/>
          </a:solidFill>
          <a:ln w="1143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5" name="Rectángulo: esquinas redondeadas 214">
            <a:extLst>
              <a:ext uri="{FF2B5EF4-FFF2-40B4-BE49-F238E27FC236}">
                <a16:creationId xmlns:a16="http://schemas.microsoft.com/office/drawing/2014/main" id="{4D1A9B16-2391-4D1C-92DF-E13087C1C536}"/>
              </a:ext>
            </a:extLst>
          </p:cNvPr>
          <p:cNvSpPr>
            <a:spLocks noGrp="1"/>
          </p:cNvSpPr>
          <p:nvPr/>
        </p:nvSpPr>
        <p:spPr>
          <a:xfrm>
            <a:off x="952500" y="5800725"/>
            <a:ext cx="1428750" cy="342900"/>
          </a:xfrm>
          <a:prstGeom prst="roundRect">
            <a:avLst>
              <a:gd name="adj" fmla="val 44444"/>
            </a:avLst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 anchor="ctr">
            <a:normAutofit fontScale="94598" lnSpcReduction="10000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RECUERDA</a:t>
            </a: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311BC6F9-02F6-413F-810D-D3F6AD69A080}"/>
              </a:ext>
            </a:extLst>
          </p:cNvPr>
          <p:cNvSpPr>
            <a:spLocks noGrp="1"/>
          </p:cNvSpPr>
          <p:nvPr/>
        </p:nvSpPr>
        <p:spPr>
          <a:xfrm>
            <a:off x="2619375" y="5715000"/>
            <a:ext cx="8524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Modelar es elegir lo necesario para resolver el problema, no describirlo todo.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200" grpId="0"/>
      <p:bldP spid="201" grpId="0"/>
      <p:bldP spid="202" grpId="0" animBg="1"/>
      <p:bldP spid="203" grpId="0" animBg="1"/>
      <p:bldP spid="204" grpId="0"/>
      <p:bldP spid="205" grpId="0"/>
      <p:bldP spid="206" grpId="0" animBg="1"/>
      <p:bldP spid="207" grpId="0" animBg="1"/>
      <p:bldP spid="208" grpId="0"/>
      <p:bldP spid="209" grpId="0"/>
      <p:bldP spid="210" grpId="0" animBg="1"/>
      <p:bldP spid="211" grpId="0" animBg="1"/>
      <p:bldP spid="212" grpId="0"/>
      <p:bldP spid="213" grpId="0"/>
      <p:bldP spid="214" grpId="0" animBg="1"/>
      <p:bldP spid="215" grpId="0" animBg="1"/>
      <p:bldP spid="2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8F48E0CF-C2C1-454B-9C8E-58D03B632F6F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DENTRO DE UNA CLASE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542A4C93-BAE8-4FAD-9000-514CEF107013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Atributos y métodos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6F5B4CF6-A843-4B02-97FF-ECFF8F115E99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66BAE264-F14D-4334-915A-497D231831A8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8546C3D2-FEEF-4F07-924B-D9330BF29D86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199" name="Rectángulo 198">
            <a:extLst>
              <a:ext uri="{FF2B5EF4-FFF2-40B4-BE49-F238E27FC236}">
                <a16:creationId xmlns:a16="http://schemas.microsoft.com/office/drawing/2014/main" id="{2919D455-F4C7-4BFD-B1E1-7BA6725ACCA9}"/>
              </a:ext>
            </a:extLst>
          </p:cNvPr>
          <p:cNvSpPr>
            <a:spLocks noGrp="1"/>
          </p:cNvSpPr>
          <p:nvPr/>
        </p:nvSpPr>
        <p:spPr>
          <a:xfrm>
            <a:off x="781050" y="16383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13A8E5"/>
                </a:solidFill>
              </a:defRPr>
            </a:pPr>
            <a:r>
              <a:rPr sz="1950" b="1">
                <a:solidFill>
                  <a:srgbClr val="13A8E5"/>
                </a:solidFill>
              </a:rPr>
              <a:t>ATRIBUTOS · lo que sabe</a:t>
            </a: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1597A5FE-0DE0-4B44-9E8D-0A317501C38C}"/>
              </a:ext>
            </a:extLst>
          </p:cNvPr>
          <p:cNvSpPr>
            <a:spLocks noGrp="1"/>
          </p:cNvSpPr>
          <p:nvPr/>
        </p:nvSpPr>
        <p:spPr>
          <a:xfrm>
            <a:off x="6553200" y="16383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159A72"/>
                </a:solidFill>
              </a:defRPr>
            </a:pPr>
            <a:r>
              <a:rPr sz="1950" b="1">
                <a:solidFill>
                  <a:srgbClr val="159A72"/>
                </a:solidFill>
              </a:rPr>
              <a:t>MÉTODOS · lo que hace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2710070B-1B55-45D5-8FB8-44698CFC622A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85775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91D908EC-D083-42CC-8553-ED9CBF78A556}"/>
              </a:ext>
            </a:extLst>
          </p:cNvPr>
          <p:cNvSpPr>
            <a:spLocks noGrp="1"/>
          </p:cNvSpPr>
          <p:nvPr/>
        </p:nvSpPr>
        <p:spPr>
          <a:xfrm>
            <a:off x="6553200" y="2152650"/>
            <a:ext cx="4857750" cy="38100"/>
          </a:xfrm>
          <a:prstGeom prst="rect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F1D750C5-C8ED-434A-8965-425E0B5DD061}"/>
              </a:ext>
            </a:extLst>
          </p:cNvPr>
          <p:cNvSpPr>
            <a:spLocks noGrp="1"/>
          </p:cNvSpPr>
          <p:nvPr/>
        </p:nvSpPr>
        <p:spPr>
          <a:xfrm>
            <a:off x="6076950" y="1733550"/>
            <a:ext cx="19050" cy="371475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CEDFBEBE-4A4F-4A2B-B016-6B0F979A2753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4857750" cy="3009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Representan características o datos relevantes.</a:t>
            </a:r>
          </a:p>
          <a:p>
            <a:endParaRPr sz="1725" b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Libro: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• título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• autor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• páginas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• disponible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DC2404D3-996C-4F0B-BD53-6742DAB7E702}"/>
              </a:ext>
            </a:extLst>
          </p:cNvPr>
          <p:cNvSpPr>
            <a:spLocks noGrp="1"/>
          </p:cNvSpPr>
          <p:nvPr/>
        </p:nvSpPr>
        <p:spPr>
          <a:xfrm>
            <a:off x="6553200" y="2362200"/>
            <a:ext cx="4857750" cy="3009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Representan acciones o responsabilidades.</a:t>
            </a:r>
          </a:p>
          <a:p>
            <a:endParaRPr sz="1725" b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Libro: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• prestar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• devolver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• mostrar información</a:t>
            </a:r>
          </a:p>
        </p:txBody>
      </p:sp>
      <p:sp>
        <p:nvSpPr>
          <p:cNvPr id="206" name="Rectángulo: esquinas redondeadas 205">
            <a:extLst>
              <a:ext uri="{FF2B5EF4-FFF2-40B4-BE49-F238E27FC236}">
                <a16:creationId xmlns:a16="http://schemas.microsoft.com/office/drawing/2014/main" id="{6FE3B658-6434-4677-A707-B42803449DA9}"/>
              </a:ext>
            </a:extLst>
          </p:cNvPr>
          <p:cNvSpPr>
            <a:spLocks noGrp="1"/>
          </p:cNvSpPr>
          <p:nvPr/>
        </p:nvSpPr>
        <p:spPr>
          <a:xfrm>
            <a:off x="2381250" y="5658210"/>
            <a:ext cx="5993892" cy="666750"/>
          </a:xfrm>
          <a:prstGeom prst="roundRect">
            <a:avLst>
              <a:gd name="adj" fmla="val 20000"/>
            </a:avLst>
          </a:prstGeom>
          <a:solidFill>
            <a:srgbClr val="F3EEFF"/>
          </a:solidFill>
          <a:ln w="11430">
            <a:solidFill>
              <a:srgbClr val="F3E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B2A2773D-EB9D-412F-9205-C5DBAE4158FB}"/>
              </a:ext>
            </a:extLst>
          </p:cNvPr>
          <p:cNvSpPr>
            <a:spLocks noGrp="1"/>
          </p:cNvSpPr>
          <p:nvPr/>
        </p:nvSpPr>
        <p:spPr>
          <a:xfrm>
            <a:off x="2619375" y="5715000"/>
            <a:ext cx="8524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14213D"/>
                </a:solidFill>
              </a:defRPr>
            </a:pPr>
            <a:r>
              <a:rPr sz="1500" b="1" dirty="0" err="1">
                <a:solidFill>
                  <a:srgbClr val="14213D"/>
                </a:solidFill>
              </a:rPr>
              <a:t>Usaremos</a:t>
            </a:r>
            <a:r>
              <a:rPr sz="1500" b="1" dirty="0">
                <a:solidFill>
                  <a:srgbClr val="14213D"/>
                </a:solidFill>
              </a:rPr>
              <a:t> </a:t>
            </a:r>
            <a:r>
              <a:rPr sz="1500" b="1" dirty="0" err="1">
                <a:solidFill>
                  <a:srgbClr val="14213D"/>
                </a:solidFill>
              </a:rPr>
              <a:t>verbos</a:t>
            </a:r>
            <a:r>
              <a:rPr sz="1500" b="1" dirty="0">
                <a:solidFill>
                  <a:srgbClr val="14213D"/>
                </a:solidFill>
              </a:rPr>
              <a:t> para </a:t>
            </a:r>
            <a:r>
              <a:rPr sz="1500" b="1" dirty="0" err="1">
                <a:solidFill>
                  <a:srgbClr val="14213D"/>
                </a:solidFill>
              </a:rPr>
              <a:t>los</a:t>
            </a:r>
            <a:r>
              <a:rPr sz="1500" b="1" dirty="0">
                <a:solidFill>
                  <a:srgbClr val="14213D"/>
                </a:solidFill>
              </a:rPr>
              <a:t> </a:t>
            </a:r>
            <a:r>
              <a:rPr sz="1500" b="1" dirty="0" err="1">
                <a:solidFill>
                  <a:srgbClr val="14213D"/>
                </a:solidFill>
              </a:rPr>
              <a:t>métodos</a:t>
            </a:r>
            <a:r>
              <a:rPr sz="1500" b="1" dirty="0">
                <a:solidFill>
                  <a:srgbClr val="14213D"/>
                </a:solidFill>
              </a:rPr>
              <a:t> y </a:t>
            </a:r>
            <a:r>
              <a:rPr sz="1500" b="1" dirty="0" err="1">
                <a:solidFill>
                  <a:srgbClr val="14213D"/>
                </a:solidFill>
              </a:rPr>
              <a:t>nombres</a:t>
            </a:r>
            <a:r>
              <a:rPr sz="1500" b="1" dirty="0">
                <a:solidFill>
                  <a:srgbClr val="14213D"/>
                </a:solidFill>
              </a:rPr>
              <a:t> claros para </a:t>
            </a:r>
            <a:r>
              <a:rPr sz="1500" b="1" dirty="0" err="1">
                <a:solidFill>
                  <a:srgbClr val="14213D"/>
                </a:solidFill>
              </a:rPr>
              <a:t>los</a:t>
            </a:r>
            <a:r>
              <a:rPr sz="1500" b="1" dirty="0">
                <a:solidFill>
                  <a:srgbClr val="14213D"/>
                </a:solidFill>
              </a:rPr>
              <a:t> </a:t>
            </a:r>
            <a:r>
              <a:rPr sz="1500" b="1" dirty="0" err="1">
                <a:solidFill>
                  <a:srgbClr val="14213D"/>
                </a:solidFill>
              </a:rPr>
              <a:t>atributos</a:t>
            </a:r>
            <a:r>
              <a:rPr sz="1500" b="1" dirty="0">
                <a:solidFill>
                  <a:srgbClr val="14213D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200" grpId="0"/>
      <p:bldP spid="201" grpId="0" animBg="1"/>
      <p:bldP spid="202" grpId="0" animBg="1"/>
      <p:bldP spid="204" grpId="0"/>
      <p:bldP spid="205" grpId="0"/>
      <p:bldP spid="206" grpId="0" animBg="1"/>
      <p:bldP spid="20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36E07AF0-2A7C-4123-9266-ED0A6F22E206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EJEMPLO GUIADO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3459FCA1-BE2D-4B1E-9F04-A9D75B6C1937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Construimos la clase Libro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698F6867-1373-43B8-8EB1-6386F4997137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B4612C61-0DEA-4ECF-8ADA-AD3D946B4BC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7B0CCCB8-A37F-4756-A54F-24FF9E25D76F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DB9EB4B8-F967-495A-8A40-FE081F2FA688}"/>
              </a:ext>
            </a:extLst>
          </p:cNvPr>
          <p:cNvSpPr>
            <a:spLocks noGrp="1"/>
          </p:cNvSpPr>
          <p:nvPr/>
        </p:nvSpPr>
        <p:spPr>
          <a:xfrm>
            <a:off x="5238750" y="1524000"/>
            <a:ext cx="1714500" cy="381000"/>
          </a:xfrm>
          <a:prstGeom prst="roundRect">
            <a:avLst>
              <a:gd name="adj" fmla="val 40000"/>
            </a:avLst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CLASE</a:t>
            </a: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75572870-B2BA-4E14-B1B2-FC016C9FDACC}"/>
              </a:ext>
            </a:extLst>
          </p:cNvPr>
          <p:cNvSpPr>
            <a:spLocks noGrp="1"/>
          </p:cNvSpPr>
          <p:nvPr/>
        </p:nvSpPr>
        <p:spPr>
          <a:xfrm>
            <a:off x="3905250" y="1952625"/>
            <a:ext cx="438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2700" b="1">
                <a:solidFill>
                  <a:srgbClr val="14213D"/>
                </a:solidFill>
              </a:defRPr>
            </a:pPr>
            <a:r>
              <a:rPr sz="2700" b="1" dirty="0">
                <a:solidFill>
                  <a:srgbClr val="14213D"/>
                </a:solidFill>
              </a:rPr>
              <a:t>Libro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6AF157F8-9844-4E3E-9B52-01B1DC41B3F6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13A8E5"/>
                </a:solidFill>
              </a:defRPr>
            </a:pPr>
            <a:r>
              <a:rPr sz="1950" b="1">
                <a:solidFill>
                  <a:srgbClr val="13A8E5"/>
                </a:solidFill>
              </a:rPr>
              <a:t>Atributos</a:t>
            </a:r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BE74BDCE-DA1C-41EE-AC9E-4A6EC6A33575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159A72"/>
                </a:solidFill>
              </a:defRPr>
            </a:pPr>
            <a:r>
              <a:rPr sz="1950" b="1" dirty="0" err="1">
                <a:solidFill>
                  <a:srgbClr val="159A72"/>
                </a:solidFill>
              </a:rPr>
              <a:t>Métodos</a:t>
            </a:r>
            <a:endParaRPr sz="1950" b="1" dirty="0">
              <a:solidFill>
                <a:srgbClr val="159A72"/>
              </a:solidFill>
            </a:endParaRP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1ABDE2E6-6CA3-4C9E-B5A7-AA289A6FED32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485775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9231D310-BBB0-45C1-B529-A8E3068A6E25}"/>
              </a:ext>
            </a:extLst>
          </p:cNvPr>
          <p:cNvSpPr>
            <a:spLocks noGrp="1"/>
          </p:cNvSpPr>
          <p:nvPr/>
        </p:nvSpPr>
        <p:spPr>
          <a:xfrm>
            <a:off x="6553200" y="3371850"/>
            <a:ext cx="4857750" cy="38100"/>
          </a:xfrm>
          <a:prstGeom prst="rect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9F6D2406-A601-458D-9F0B-6182E87B7746}"/>
              </a:ext>
            </a:extLst>
          </p:cNvPr>
          <p:cNvSpPr>
            <a:spLocks noGrp="1"/>
          </p:cNvSpPr>
          <p:nvPr/>
        </p:nvSpPr>
        <p:spPr>
          <a:xfrm>
            <a:off x="6076950" y="2952750"/>
            <a:ext cx="19050" cy="238125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C0204332-1767-42FE-B15E-04D0E99E3636}"/>
              </a:ext>
            </a:extLst>
          </p:cNvPr>
          <p:cNvSpPr>
            <a:spLocks noGrp="1"/>
          </p:cNvSpPr>
          <p:nvPr/>
        </p:nvSpPr>
        <p:spPr>
          <a:xfrm>
            <a:off x="781050" y="3581400"/>
            <a:ext cx="4857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2F3E55"/>
                </a:solidFill>
              </a:defRPr>
            </a:pPr>
            <a:r>
              <a:rPr sz="1875" b="0" dirty="0" err="1">
                <a:solidFill>
                  <a:srgbClr val="2F3E55"/>
                </a:solidFill>
              </a:rPr>
              <a:t>título</a:t>
            </a:r>
            <a:endParaRPr sz="1875" b="0" dirty="0">
              <a:solidFill>
                <a:srgbClr val="2F3E55"/>
              </a:solidFill>
            </a:endParaRPr>
          </a:p>
          <a:p>
            <a:pPr algn="l">
              <a:buNone/>
              <a:defRPr sz="1875" b="0">
                <a:solidFill>
                  <a:srgbClr val="2F3E55"/>
                </a:solidFill>
              </a:defRPr>
            </a:pPr>
            <a:r>
              <a:rPr sz="1875" b="0" dirty="0" err="1">
                <a:solidFill>
                  <a:srgbClr val="2F3E55"/>
                </a:solidFill>
              </a:rPr>
              <a:t>autor</a:t>
            </a:r>
            <a:endParaRPr sz="1875" b="0" dirty="0">
              <a:solidFill>
                <a:srgbClr val="2F3E55"/>
              </a:solidFill>
            </a:endParaRPr>
          </a:p>
          <a:p>
            <a:pPr algn="l">
              <a:buNone/>
              <a:defRPr sz="1875" b="0">
                <a:solidFill>
                  <a:srgbClr val="2F3E55"/>
                </a:solidFill>
              </a:defRPr>
            </a:pPr>
            <a:r>
              <a:rPr sz="1875" b="0" dirty="0" err="1">
                <a:solidFill>
                  <a:srgbClr val="2F3E55"/>
                </a:solidFill>
              </a:rPr>
              <a:t>páginas</a:t>
            </a:r>
            <a:endParaRPr sz="1875" b="0" dirty="0">
              <a:solidFill>
                <a:srgbClr val="2F3E55"/>
              </a:solidFill>
            </a:endParaRPr>
          </a:p>
          <a:p>
            <a:pPr algn="l">
              <a:buNone/>
              <a:defRPr sz="1875" b="0">
                <a:solidFill>
                  <a:srgbClr val="2F3E55"/>
                </a:solidFill>
              </a:defRPr>
            </a:pPr>
            <a:r>
              <a:rPr sz="1875" b="0" dirty="0">
                <a:solidFill>
                  <a:srgbClr val="2F3E55"/>
                </a:solidFill>
              </a:rPr>
              <a:t>disponible</a:t>
            </a: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EE9A54EE-9DEE-44E5-A24B-A9D7A2138060}"/>
              </a:ext>
            </a:extLst>
          </p:cNvPr>
          <p:cNvSpPr>
            <a:spLocks noGrp="1"/>
          </p:cNvSpPr>
          <p:nvPr/>
        </p:nvSpPr>
        <p:spPr>
          <a:xfrm>
            <a:off x="6553200" y="3581400"/>
            <a:ext cx="4857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0">
                <a:solidFill>
                  <a:srgbClr val="2F3E55"/>
                </a:solidFill>
              </a:defRPr>
            </a:pPr>
            <a:r>
              <a:rPr sz="1875" b="0" dirty="0" err="1">
                <a:solidFill>
                  <a:srgbClr val="2F3E55"/>
                </a:solidFill>
              </a:rPr>
              <a:t>prestar</a:t>
            </a:r>
            <a:endParaRPr sz="1875" b="0" dirty="0">
              <a:solidFill>
                <a:srgbClr val="2F3E55"/>
              </a:solidFill>
            </a:endParaRPr>
          </a:p>
          <a:p>
            <a:pPr algn="l">
              <a:buNone/>
              <a:defRPr sz="1875" b="0">
                <a:solidFill>
                  <a:srgbClr val="2F3E55"/>
                </a:solidFill>
              </a:defRPr>
            </a:pPr>
            <a:r>
              <a:rPr sz="1875" b="0" dirty="0" err="1">
                <a:solidFill>
                  <a:srgbClr val="2F3E55"/>
                </a:solidFill>
              </a:rPr>
              <a:t>devolver</a:t>
            </a:r>
            <a:endParaRPr sz="1875" b="0" dirty="0">
              <a:solidFill>
                <a:srgbClr val="2F3E55"/>
              </a:solidFill>
            </a:endParaRPr>
          </a:p>
          <a:p>
            <a:pPr algn="l">
              <a:buNone/>
              <a:defRPr sz="1875" b="0">
                <a:solidFill>
                  <a:srgbClr val="2F3E55"/>
                </a:solidFill>
              </a:defRPr>
            </a:pPr>
            <a:r>
              <a:rPr sz="1875" b="0" dirty="0" err="1">
                <a:solidFill>
                  <a:srgbClr val="2F3E55"/>
                </a:solidFill>
              </a:rPr>
              <a:t>mostrar</a:t>
            </a:r>
            <a:r>
              <a:rPr sz="1875" b="0" dirty="0">
                <a:solidFill>
                  <a:srgbClr val="2F3E55"/>
                </a:solidFill>
              </a:rPr>
              <a:t> </a:t>
            </a:r>
            <a:r>
              <a:rPr sz="1875" b="0" dirty="0" err="1">
                <a:solidFill>
                  <a:srgbClr val="2F3E55"/>
                </a:solidFill>
              </a:rPr>
              <a:t>información</a:t>
            </a:r>
            <a:endParaRPr sz="1875" b="0" dirty="0">
              <a:solidFill>
                <a:srgbClr val="2F3E55"/>
              </a:solidFill>
            </a:endParaRP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6CA15C5B-24AA-4C20-9071-2D574B54C91C}"/>
              </a:ext>
            </a:extLst>
          </p:cNvPr>
          <p:cNvSpPr>
            <a:spLocks noGrp="1"/>
          </p:cNvSpPr>
          <p:nvPr/>
        </p:nvSpPr>
        <p:spPr>
          <a:xfrm>
            <a:off x="1143000" y="55816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00" b="1">
                <a:solidFill>
                  <a:srgbClr val="2446B8"/>
                </a:solidFill>
              </a:defRPr>
            </a:pPr>
            <a:r>
              <a:rPr sz="1500" b="1" dirty="0" err="1">
                <a:solidFill>
                  <a:srgbClr val="2446B8"/>
                </a:solidFill>
              </a:rPr>
              <a:t>Objeto</a:t>
            </a:r>
            <a:r>
              <a:rPr sz="1500" b="1" dirty="0">
                <a:solidFill>
                  <a:srgbClr val="2446B8"/>
                </a:solidFill>
              </a:rPr>
              <a:t>: “Cien </a:t>
            </a:r>
            <a:r>
              <a:rPr sz="1500" b="1" dirty="0" err="1">
                <a:solidFill>
                  <a:srgbClr val="2446B8"/>
                </a:solidFill>
              </a:rPr>
              <a:t>años</a:t>
            </a:r>
            <a:r>
              <a:rPr sz="1500" b="1" dirty="0">
                <a:solidFill>
                  <a:srgbClr val="2446B8"/>
                </a:solidFill>
              </a:rPr>
              <a:t> de </a:t>
            </a:r>
            <a:r>
              <a:rPr sz="1500" b="1" dirty="0" err="1">
                <a:solidFill>
                  <a:srgbClr val="2446B8"/>
                </a:solidFill>
              </a:rPr>
              <a:t>soledad</a:t>
            </a:r>
            <a:r>
              <a:rPr sz="1500" b="1" dirty="0">
                <a:solidFill>
                  <a:srgbClr val="2446B8"/>
                </a:solidFill>
              </a:rPr>
              <a:t>” · Gabriel García Márquez · 417 </a:t>
            </a:r>
            <a:r>
              <a:rPr sz="1500" b="1" dirty="0" err="1">
                <a:solidFill>
                  <a:srgbClr val="2446B8"/>
                </a:solidFill>
              </a:rPr>
              <a:t>páginas</a:t>
            </a:r>
            <a:r>
              <a:rPr sz="1500" b="1" dirty="0">
                <a:solidFill>
                  <a:srgbClr val="2446B8"/>
                </a:solidFill>
              </a:rPr>
              <a:t> · disponible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200" grpId="0"/>
      <p:bldP spid="201" grpId="0"/>
      <p:bldP spid="202" grpId="0"/>
      <p:bldP spid="203" grpId="0" animBg="1"/>
      <p:bldP spid="204" grpId="0" animBg="1"/>
      <p:bldP spid="206" grpId="0"/>
      <p:bldP spid="207" grpId="0"/>
      <p:bldP spid="20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B13E-E28B-2948-C6DB-B8AA2C5A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>
            <a:extLst>
              <a:ext uri="{FF2B5EF4-FFF2-40B4-BE49-F238E27FC236}">
                <a16:creationId xmlns:a16="http://schemas.microsoft.com/office/drawing/2014/main" id="{6CE560AF-A991-88D6-9FD4-B0F310986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5" name="Rectángulo 194">
            <a:extLst>
              <a:ext uri="{FF2B5EF4-FFF2-40B4-BE49-F238E27FC236}">
                <a16:creationId xmlns:a16="http://schemas.microsoft.com/office/drawing/2014/main" id="{19D4E118-E3EF-5B2C-93BD-C9A286FC0D19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defRPr sz="2925" b="1">
                <a:solidFill>
                  <a:srgbClr val="2446B8"/>
                </a:solidFill>
              </a:defRPr>
            </a:pPr>
            <a:r>
              <a:rPr lang="es-CO" sz="2925" b="1" dirty="0"/>
              <a:t>¿Clase, objeto, atributo o método?</a:t>
            </a:r>
            <a:endParaRPr sz="2925" b="1" dirty="0">
              <a:solidFill>
                <a:srgbClr val="2446B8"/>
              </a:solidFill>
            </a:endParaRP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18F633B6-388A-EA92-96C2-DBF8BFE50127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CAA3CA60-5F27-B6E5-121F-8E86FF1EEE50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8E9DDCE9-9EED-8ABE-4C47-D5A3556EC0BE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50FC7DC7-18A1-58EB-3E3B-479C50CCBC8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833104" cy="4488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1875" b="0">
                <a:solidFill>
                  <a:srgbClr val="2F3E55"/>
                </a:solidFill>
              </a:defRPr>
            </a:pPr>
            <a:r>
              <a:rPr lang="es-CO" sz="1875" dirty="0"/>
              <a:t>Clasifica cada elemento según corresponda.</a:t>
            </a:r>
            <a:endParaRPr sz="1875" b="0" dirty="0">
              <a:solidFill>
                <a:srgbClr val="2F3E55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B594A88-7F13-A0A9-FD1C-B1227BC7B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79050"/>
              </p:ext>
            </p:extLst>
          </p:nvPr>
        </p:nvGraphicFramePr>
        <p:xfrm>
          <a:off x="685800" y="2063316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5109464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42396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Elemento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¿Qué 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266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Estudiante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05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Laura Gómez · código 1025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869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nombre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704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matricularMateria()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860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Computador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818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Lenovo ThinkPad · serial A123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395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memoriaRam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227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encender()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81536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2EBFF6A-8B61-07B2-F88C-C50057D2FBA2}"/>
              </a:ext>
            </a:extLst>
          </p:cNvPr>
          <p:cNvSpPr txBox="1"/>
          <p:nvPr/>
        </p:nvSpPr>
        <p:spPr>
          <a:xfrm>
            <a:off x="8195310" y="2444443"/>
            <a:ext cx="38290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/>
              <a:t>Estudiante → clase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/>
              <a:t>Laura Gómez → objeto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/>
              <a:t>nombre → atributo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 err="1"/>
              <a:t>matricularMateria</a:t>
            </a:r>
            <a:r>
              <a:rPr lang="es-CO" dirty="0"/>
              <a:t>() → método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/>
              <a:t>Computador → clase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/>
              <a:t>Lenovo </a:t>
            </a:r>
            <a:r>
              <a:rPr lang="es-CO" dirty="0" err="1"/>
              <a:t>ThinkPad</a:t>
            </a:r>
            <a:r>
              <a:rPr lang="es-CO" dirty="0"/>
              <a:t> A123 → objeto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 err="1"/>
              <a:t>memoriaRam</a:t>
            </a:r>
            <a:r>
              <a:rPr lang="es-CO" dirty="0"/>
              <a:t> → atributo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/>
              <a:t>encender() → método</a:t>
            </a:r>
          </a:p>
        </p:txBody>
      </p:sp>
    </p:spTree>
    <p:extLst>
      <p:ext uri="{BB962C8B-B14F-4D97-AF65-F5344CB8AC3E}">
        <p14:creationId xmlns:p14="http://schemas.microsoft.com/office/powerpoint/2010/main" val="25360193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/>
      <p:bldP spid="196" grpId="0" animBg="1"/>
      <p:bldP spid="206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5" name="Rectángulo 194">
            <a:extLst>
              <a:ext uri="{FF2B5EF4-FFF2-40B4-BE49-F238E27FC236}">
                <a16:creationId xmlns:a16="http://schemas.microsoft.com/office/drawing/2014/main" id="{059EDC5F-A256-4D14-9417-5E1871CD42E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Modela la clase Usuario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DED62ECA-FDF8-4BCF-A756-C13AECCE4C1F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E67E22"/>
          </a:solidFill>
          <a:ln w="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53BB724A-7BE6-46B0-AA0C-347D996089EE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7EB44591-6C36-49C4-8D5F-1BF78F1EA0C0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45C59C92-BAFE-4C7A-88B9-96093A61707C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0439400" cy="1047750"/>
          </a:xfrm>
          <a:prstGeom prst="roundRect">
            <a:avLst>
              <a:gd name="adj" fmla="val 16364"/>
            </a:avLst>
          </a:prstGeom>
          <a:solidFill>
            <a:srgbClr val="FFF4E8"/>
          </a:solidFill>
          <a:ln w="11430">
            <a:solidFill>
              <a:srgbClr val="FFF4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A954810E-26F1-4C7C-A2EC-C27FC2B9B058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14300" cy="1047750"/>
          </a:xfrm>
          <a:prstGeom prst="rect">
            <a:avLst/>
          </a:prstGeom>
          <a:solidFill>
            <a:srgbClr val="E67E22"/>
          </a:solidFill>
          <a:ln w="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4B49808D-8BC5-4B49-953B-E9C9E6707C48}"/>
              </a:ext>
            </a:extLst>
          </p:cNvPr>
          <p:cNvSpPr>
            <a:spLocks noGrp="1"/>
          </p:cNvSpPr>
          <p:nvPr/>
        </p:nvSpPr>
        <p:spPr>
          <a:xfrm>
            <a:off x="1285875" y="1695450"/>
            <a:ext cx="952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Una biblioteca necesita registrar a las personas que solicitan libros.</a:t>
            </a:r>
          </a:p>
        </p:txBody>
      </p:sp>
      <p:sp>
        <p:nvSpPr>
          <p:cNvPr id="202" name="Elipse 201">
            <a:extLst>
              <a:ext uri="{FF2B5EF4-FFF2-40B4-BE49-F238E27FC236}">
                <a16:creationId xmlns:a16="http://schemas.microsoft.com/office/drawing/2014/main" id="{086A6AF1-FE81-46A7-BE10-3A5BA8401DB9}"/>
              </a:ext>
            </a:extLst>
          </p:cNvPr>
          <p:cNvSpPr>
            <a:spLocks noGrp="1"/>
          </p:cNvSpPr>
          <p:nvPr/>
        </p:nvSpPr>
        <p:spPr>
          <a:xfrm>
            <a:off x="838200" y="2943225"/>
            <a:ext cx="514350" cy="514350"/>
          </a:xfrm>
          <a:prstGeom prst="ellipse">
            <a:avLst/>
          </a:prstGeom>
          <a:solidFill>
            <a:srgbClr val="E67E22"/>
          </a:solidFill>
          <a:ln w="0">
            <a:solidFill>
              <a:srgbClr val="E67E2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33F7CBDB-377A-4AE1-A633-51AC3BEE9CA0}"/>
              </a:ext>
            </a:extLst>
          </p:cNvPr>
          <p:cNvSpPr>
            <a:spLocks noGrp="1"/>
          </p:cNvSpPr>
          <p:nvPr/>
        </p:nvSpPr>
        <p:spPr>
          <a:xfrm>
            <a:off x="1619250" y="3043237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E67E22"/>
                </a:solidFill>
              </a:defRPr>
            </a:pPr>
            <a:r>
              <a:rPr sz="1650" b="1" dirty="0" err="1">
                <a:solidFill>
                  <a:srgbClr val="E67E22"/>
                </a:solidFill>
              </a:rPr>
              <a:t>Nombra</a:t>
            </a:r>
            <a:endParaRPr sz="1650" b="1" dirty="0">
              <a:solidFill>
                <a:srgbClr val="E67E22"/>
              </a:solidFill>
            </a:endParaRP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C8BCC6B7-7C55-4EF2-9661-61F56EFE8246}"/>
              </a:ext>
            </a:extLst>
          </p:cNvPr>
          <p:cNvSpPr>
            <a:spLocks noGrp="1"/>
          </p:cNvSpPr>
          <p:nvPr/>
        </p:nvSpPr>
        <p:spPr>
          <a:xfrm>
            <a:off x="4476750" y="2886075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La clase que representa a una persona usuaria.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42814D81-6665-4346-9492-9CDFB7318A27}"/>
              </a:ext>
            </a:extLst>
          </p:cNvPr>
          <p:cNvSpPr>
            <a:spLocks noGrp="1"/>
          </p:cNvSpPr>
          <p:nvPr/>
        </p:nvSpPr>
        <p:spPr>
          <a:xfrm>
            <a:off x="1619250" y="3543300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6" name="Elipse 205">
            <a:extLst>
              <a:ext uri="{FF2B5EF4-FFF2-40B4-BE49-F238E27FC236}">
                <a16:creationId xmlns:a16="http://schemas.microsoft.com/office/drawing/2014/main" id="{2465139E-EE58-482C-9C42-D1682BC59338}"/>
              </a:ext>
            </a:extLst>
          </p:cNvPr>
          <p:cNvSpPr>
            <a:spLocks noGrp="1"/>
          </p:cNvSpPr>
          <p:nvPr/>
        </p:nvSpPr>
        <p:spPr>
          <a:xfrm>
            <a:off x="838200" y="3724275"/>
            <a:ext cx="514350" cy="514350"/>
          </a:xfrm>
          <a:prstGeom prst="ellipse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DFE59729-6562-48C2-9972-174E4CE0950C}"/>
              </a:ext>
            </a:extLst>
          </p:cNvPr>
          <p:cNvSpPr>
            <a:spLocks noGrp="1"/>
          </p:cNvSpPr>
          <p:nvPr/>
        </p:nvSpPr>
        <p:spPr>
          <a:xfrm>
            <a:off x="1619250" y="3800284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3A8E5"/>
                </a:solidFill>
              </a:defRPr>
            </a:pPr>
            <a:r>
              <a:rPr sz="1650" b="1" dirty="0" err="1">
                <a:solidFill>
                  <a:srgbClr val="13A8E5"/>
                </a:solidFill>
              </a:rPr>
              <a:t>Selecciona</a:t>
            </a:r>
            <a:endParaRPr sz="1650" b="1" dirty="0">
              <a:solidFill>
                <a:srgbClr val="13A8E5"/>
              </a:solidFill>
            </a:endParaRP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F61511AE-9F4B-49FD-8041-76CA0A26EC78}"/>
              </a:ext>
            </a:extLst>
          </p:cNvPr>
          <p:cNvSpPr>
            <a:spLocks noGrp="1"/>
          </p:cNvSpPr>
          <p:nvPr/>
        </p:nvSpPr>
        <p:spPr>
          <a:xfrm>
            <a:off x="4476750" y="3667125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Tres atributos relevantes para gestionar préstamos.</a:t>
            </a:r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EBFC8420-8170-4DEF-8A32-FAF185613E0E}"/>
              </a:ext>
            </a:extLst>
          </p:cNvPr>
          <p:cNvSpPr>
            <a:spLocks noGrp="1"/>
          </p:cNvSpPr>
          <p:nvPr/>
        </p:nvSpPr>
        <p:spPr>
          <a:xfrm>
            <a:off x="1619250" y="4324350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0" name="Elipse 209">
            <a:extLst>
              <a:ext uri="{FF2B5EF4-FFF2-40B4-BE49-F238E27FC236}">
                <a16:creationId xmlns:a16="http://schemas.microsoft.com/office/drawing/2014/main" id="{9CFC7547-207E-4FD1-9FC4-6150F92915AD}"/>
              </a:ext>
            </a:extLst>
          </p:cNvPr>
          <p:cNvSpPr>
            <a:spLocks noGrp="1"/>
          </p:cNvSpPr>
          <p:nvPr/>
        </p:nvSpPr>
        <p:spPr>
          <a:xfrm>
            <a:off x="838200" y="4505325"/>
            <a:ext cx="514350" cy="514350"/>
          </a:xfrm>
          <a:prstGeom prst="ellipse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9C361A96-48E1-40F4-8FCC-9A287F067F0C}"/>
              </a:ext>
            </a:extLst>
          </p:cNvPr>
          <p:cNvSpPr>
            <a:spLocks noGrp="1"/>
          </p:cNvSpPr>
          <p:nvPr/>
        </p:nvSpPr>
        <p:spPr>
          <a:xfrm>
            <a:off x="1619250" y="4618673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59A72"/>
                </a:solidFill>
              </a:defRPr>
            </a:pPr>
            <a:r>
              <a:rPr sz="1650" b="1" dirty="0" err="1">
                <a:solidFill>
                  <a:srgbClr val="159A72"/>
                </a:solidFill>
              </a:rPr>
              <a:t>Asigna</a:t>
            </a:r>
            <a:endParaRPr sz="1650" b="1" dirty="0">
              <a:solidFill>
                <a:srgbClr val="159A72"/>
              </a:solidFill>
            </a:endParaRPr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25A9D77C-BA1B-401B-87BE-0046AB85BDB5}"/>
              </a:ext>
            </a:extLst>
          </p:cNvPr>
          <p:cNvSpPr>
            <a:spLocks noGrp="1"/>
          </p:cNvSpPr>
          <p:nvPr/>
        </p:nvSpPr>
        <p:spPr>
          <a:xfrm>
            <a:off x="4476750" y="4448175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Tres acciones expresadas como responsabilidades.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200" grpId="0" animBg="1"/>
      <p:bldP spid="201" grpId="0"/>
      <p:bldP spid="202" grpId="0" animBg="1"/>
      <p:bldP spid="203" grpId="0"/>
      <p:bldP spid="204" grpId="0"/>
      <p:bldP spid="205" grpId="0" animBg="1"/>
      <p:bldP spid="206" grpId="0" animBg="1"/>
      <p:bldP spid="207" grpId="0"/>
      <p:bldP spid="208" grpId="0"/>
      <p:bldP spid="209" grpId="0" animBg="1"/>
      <p:bldP spid="210" grpId="0" animBg="1"/>
      <p:bldP spid="211" grpId="0"/>
      <p:bldP spid="2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E8B168D1-F7C4-418E-BA88-A4BF71E8687C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59A72"/>
                </a:solidFill>
              </a:defRPr>
            </a:pPr>
            <a:r>
              <a:rPr sz="1125" b="1">
                <a:solidFill>
                  <a:srgbClr val="159A72"/>
                </a:solidFill>
              </a:rPr>
              <a:t>RETROALIMENTACIÓN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8C2443F0-E0B4-4009-80C0-3B2D51A208F3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Una posible solución: Usuario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E5C1C8B4-ACE7-4E20-B689-BF8C7D20B58B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371A9CF0-B471-4EC2-B52F-901ED41BB273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D54A9595-99CF-41D7-B467-3C813E10F4A5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BC547A4D-13B7-4951-8981-2158F88E341F}"/>
              </a:ext>
            </a:extLst>
          </p:cNvPr>
          <p:cNvSpPr>
            <a:spLocks noGrp="1"/>
          </p:cNvSpPr>
          <p:nvPr/>
        </p:nvSpPr>
        <p:spPr>
          <a:xfrm>
            <a:off x="904875" y="1638300"/>
            <a:ext cx="1428750" cy="361950"/>
          </a:xfrm>
          <a:prstGeom prst="roundRect">
            <a:avLst>
              <a:gd name="adj" fmla="val 42105"/>
            </a:avLst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CLASE</a:t>
            </a: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36A8746C-A61F-447F-99C3-03C5A9F95B27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14213D"/>
                </a:solidFill>
              </a:defRPr>
            </a:pPr>
            <a:r>
              <a:rPr sz="2550" b="1">
                <a:solidFill>
                  <a:srgbClr val="14213D"/>
                </a:solidFill>
              </a:rPr>
              <a:t>Usuario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49BDA279-5E63-4F84-B676-730F32823D93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13A8E5"/>
                </a:solidFill>
              </a:defRPr>
            </a:pPr>
            <a:r>
              <a:rPr sz="1275" b="1" dirty="0">
                <a:solidFill>
                  <a:srgbClr val="13A8E5"/>
                </a:solidFill>
              </a:rPr>
              <a:t>ATRIBUTOS</a:t>
            </a:r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3ADBE5A7-E23C-4881-B811-D298174CA1DF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 dirty="0">
                <a:solidFill>
                  <a:srgbClr val="14213D"/>
                </a:solidFill>
              </a:rPr>
              <a:t>Lo </a:t>
            </a:r>
            <a:r>
              <a:rPr sz="2025" b="1" dirty="0" err="1">
                <a:solidFill>
                  <a:srgbClr val="14213D"/>
                </a:solidFill>
              </a:rPr>
              <a:t>que</a:t>
            </a:r>
            <a:r>
              <a:rPr sz="2025" b="1" dirty="0">
                <a:solidFill>
                  <a:srgbClr val="14213D"/>
                </a:solidFill>
              </a:rPr>
              <a:t> sabe</a:t>
            </a: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E969DAC0-4548-4FD3-BBD9-D1AA54513E16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0480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970E3714-C165-4D19-84F3-87475951918F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30480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 err="1">
                <a:solidFill>
                  <a:srgbClr val="2F3E55"/>
                </a:solidFill>
              </a:rPr>
              <a:t>nombre</a:t>
            </a:r>
            <a:endParaRPr sz="1725" b="0" dirty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 err="1">
                <a:solidFill>
                  <a:srgbClr val="2F3E55"/>
                </a:solidFill>
              </a:rPr>
              <a:t>tipo</a:t>
            </a:r>
            <a:endParaRPr sz="1725" b="0" dirty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 err="1">
                <a:solidFill>
                  <a:srgbClr val="2F3E55"/>
                </a:solidFill>
              </a:rPr>
              <a:t>activo</a:t>
            </a:r>
            <a:endParaRPr sz="1725" b="0" dirty="0">
              <a:solidFill>
                <a:srgbClr val="2F3E55"/>
              </a:solidFill>
            </a:endParaRP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2C7EE34D-C3ED-4058-AD5A-00748E344729}"/>
              </a:ext>
            </a:extLst>
          </p:cNvPr>
          <p:cNvSpPr>
            <a:spLocks noGrp="1"/>
          </p:cNvSpPr>
          <p:nvPr/>
        </p:nvSpPr>
        <p:spPr>
          <a:xfrm>
            <a:off x="4029075" y="2895600"/>
            <a:ext cx="19050" cy="266700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59DBDBBA-4BDD-435A-A16A-A746653E7D78}"/>
              </a:ext>
            </a:extLst>
          </p:cNvPr>
          <p:cNvSpPr>
            <a:spLocks noGrp="1"/>
          </p:cNvSpPr>
          <p:nvPr/>
        </p:nvSpPr>
        <p:spPr>
          <a:xfrm>
            <a:off x="4257675" y="2857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159A72"/>
                </a:solidFill>
              </a:defRPr>
            </a:pPr>
            <a:r>
              <a:rPr sz="1275" b="1" dirty="0">
                <a:solidFill>
                  <a:srgbClr val="159A72"/>
                </a:solidFill>
              </a:rPr>
              <a:t>MÉTODOS</a:t>
            </a: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3AD4FDFC-AD68-4FA4-82D4-D7D3214B90EB}"/>
              </a:ext>
            </a:extLst>
          </p:cNvPr>
          <p:cNvSpPr>
            <a:spLocks noGrp="1"/>
          </p:cNvSpPr>
          <p:nvPr/>
        </p:nvSpPr>
        <p:spPr>
          <a:xfrm>
            <a:off x="4257675" y="32385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 dirty="0">
                <a:solidFill>
                  <a:srgbClr val="14213D"/>
                </a:solidFill>
              </a:rPr>
              <a:t>Lo </a:t>
            </a:r>
            <a:r>
              <a:rPr sz="2025" b="1" dirty="0" err="1">
                <a:solidFill>
                  <a:srgbClr val="14213D"/>
                </a:solidFill>
              </a:rPr>
              <a:t>que</a:t>
            </a:r>
            <a:r>
              <a:rPr sz="2025" b="1" dirty="0">
                <a:solidFill>
                  <a:srgbClr val="14213D"/>
                </a:solidFill>
              </a:rPr>
              <a:t> </a:t>
            </a:r>
            <a:r>
              <a:rPr sz="2025" b="1" dirty="0" err="1">
                <a:solidFill>
                  <a:srgbClr val="14213D"/>
                </a:solidFill>
              </a:rPr>
              <a:t>hace</a:t>
            </a:r>
            <a:endParaRPr sz="2025" b="1" dirty="0">
              <a:solidFill>
                <a:srgbClr val="14213D"/>
              </a:solidFill>
            </a:endParaRP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F0B6A722-DFF6-4E27-AA74-4D2B9A2395C6}"/>
              </a:ext>
            </a:extLst>
          </p:cNvPr>
          <p:cNvSpPr>
            <a:spLocks noGrp="1"/>
          </p:cNvSpPr>
          <p:nvPr/>
        </p:nvSpPr>
        <p:spPr>
          <a:xfrm>
            <a:off x="4257675" y="3857625"/>
            <a:ext cx="3048000" cy="38100"/>
          </a:xfrm>
          <a:prstGeom prst="rect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32C273B5-01F1-4152-8785-692694B3A32E}"/>
              </a:ext>
            </a:extLst>
          </p:cNvPr>
          <p:cNvSpPr>
            <a:spLocks noGrp="1"/>
          </p:cNvSpPr>
          <p:nvPr/>
        </p:nvSpPr>
        <p:spPr>
          <a:xfrm>
            <a:off x="4257675" y="4076700"/>
            <a:ext cx="30480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 err="1">
                <a:solidFill>
                  <a:srgbClr val="2F3E55"/>
                </a:solidFill>
              </a:rPr>
              <a:t>solicitar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préstamo</a:t>
            </a:r>
            <a:endParaRPr sz="1725" b="0" dirty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 err="1">
                <a:solidFill>
                  <a:srgbClr val="2F3E55"/>
                </a:solidFill>
              </a:rPr>
              <a:t>devolver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libro</a:t>
            </a:r>
            <a:endParaRPr sz="1725" b="0" dirty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 err="1">
                <a:solidFill>
                  <a:srgbClr val="2F3E55"/>
                </a:solidFill>
              </a:rPr>
              <a:t>consultar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préstamos</a:t>
            </a:r>
            <a:endParaRPr sz="1725" b="0" dirty="0">
              <a:solidFill>
                <a:srgbClr val="2F3E55"/>
              </a:solidFill>
            </a:endParaRPr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E34FD483-4283-480C-B2D9-F2946A59B8D4}"/>
              </a:ext>
            </a:extLst>
          </p:cNvPr>
          <p:cNvSpPr>
            <a:spLocks noGrp="1"/>
          </p:cNvSpPr>
          <p:nvPr/>
        </p:nvSpPr>
        <p:spPr>
          <a:xfrm>
            <a:off x="7600950" y="2895600"/>
            <a:ext cx="19050" cy="266700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E0A85DC0-EFDB-4137-9991-E4CA1F191DCF}"/>
              </a:ext>
            </a:extLst>
          </p:cNvPr>
          <p:cNvSpPr>
            <a:spLocks noGrp="1"/>
          </p:cNvSpPr>
          <p:nvPr/>
        </p:nvSpPr>
        <p:spPr>
          <a:xfrm>
            <a:off x="7829550" y="2857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275" b="1">
                <a:solidFill>
                  <a:srgbClr val="7C4DFF"/>
                </a:solidFill>
              </a:defRPr>
            </a:pPr>
            <a:r>
              <a:rPr sz="1275" b="1" dirty="0">
                <a:solidFill>
                  <a:srgbClr val="7C4DFF"/>
                </a:solidFill>
              </a:rPr>
              <a:t>OBJETO</a:t>
            </a:r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2D3BEFDD-F9D6-402F-B85B-773BB99AF0CE}"/>
              </a:ext>
            </a:extLst>
          </p:cNvPr>
          <p:cNvSpPr>
            <a:spLocks noGrp="1"/>
          </p:cNvSpPr>
          <p:nvPr/>
        </p:nvSpPr>
        <p:spPr>
          <a:xfrm>
            <a:off x="7829550" y="32385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Caso concreto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AF332B01-AEFB-40C7-95DD-E3428D77AC5A}"/>
              </a:ext>
            </a:extLst>
          </p:cNvPr>
          <p:cNvSpPr>
            <a:spLocks noGrp="1"/>
          </p:cNvSpPr>
          <p:nvPr/>
        </p:nvSpPr>
        <p:spPr>
          <a:xfrm>
            <a:off x="7829550" y="3857625"/>
            <a:ext cx="3048000" cy="38100"/>
          </a:xfrm>
          <a:prstGeom prst="rect">
            <a:avLst/>
          </a:prstGeom>
          <a:solidFill>
            <a:srgbClr val="7C4DFF"/>
          </a:solidFill>
          <a:ln w="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67B19E10-3A87-43AA-B666-842A3E287AC3}"/>
              </a:ext>
            </a:extLst>
          </p:cNvPr>
          <p:cNvSpPr>
            <a:spLocks noGrp="1"/>
          </p:cNvSpPr>
          <p:nvPr/>
        </p:nvSpPr>
        <p:spPr>
          <a:xfrm>
            <a:off x="7829550" y="4076700"/>
            <a:ext cx="30480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>
                <a:solidFill>
                  <a:srgbClr val="2F3E55"/>
                </a:solidFill>
              </a:rPr>
              <a:t>Laura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 err="1">
                <a:solidFill>
                  <a:srgbClr val="2F3E55"/>
                </a:solidFill>
              </a:rPr>
              <a:t>estudiante</a:t>
            </a:r>
            <a:endParaRPr sz="1725" b="0" dirty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 err="1">
                <a:solidFill>
                  <a:srgbClr val="2F3E55"/>
                </a:solidFill>
              </a:rPr>
              <a:t>sí</a:t>
            </a:r>
            <a:endParaRPr sz="1725" b="0" dirty="0">
              <a:solidFill>
                <a:srgbClr val="2F3E55"/>
              </a:solidFill>
            </a:endParaRPr>
          </a:p>
        </p:txBody>
      </p:sp>
      <p:sp>
        <p:nvSpPr>
          <p:cNvPr id="215" name="Rectángulo: esquinas redondeadas 214">
            <a:extLst>
              <a:ext uri="{FF2B5EF4-FFF2-40B4-BE49-F238E27FC236}">
                <a16:creationId xmlns:a16="http://schemas.microsoft.com/office/drawing/2014/main" id="{E86C0C27-0262-4A23-B725-AF4CDF29A9DE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629900" cy="666750"/>
          </a:xfrm>
          <a:prstGeom prst="roundRect">
            <a:avLst>
              <a:gd name="adj" fmla="val 20000"/>
            </a:avLst>
          </a:prstGeom>
          <a:solidFill>
            <a:srgbClr val="EAF8F2"/>
          </a:solidFill>
          <a:ln w="11430">
            <a:solidFill>
              <a:srgbClr val="EAF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6" name="Rectángulo: esquinas redondeadas 215">
            <a:extLst>
              <a:ext uri="{FF2B5EF4-FFF2-40B4-BE49-F238E27FC236}">
                <a16:creationId xmlns:a16="http://schemas.microsoft.com/office/drawing/2014/main" id="{E626DBCA-38AC-4B4C-B83F-EDC65E613205}"/>
              </a:ext>
            </a:extLst>
          </p:cNvPr>
          <p:cNvSpPr>
            <a:spLocks noGrp="1"/>
          </p:cNvSpPr>
          <p:nvPr/>
        </p:nvSpPr>
        <p:spPr>
          <a:xfrm>
            <a:off x="952500" y="5819775"/>
            <a:ext cx="1428750" cy="342900"/>
          </a:xfrm>
          <a:prstGeom prst="roundRect">
            <a:avLst>
              <a:gd name="adj" fmla="val 44444"/>
            </a:avLst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 anchor="ctr">
            <a:normAutofit fontScale="94598" lnSpcReduction="10000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CRITERIO</a:t>
            </a:r>
          </a:p>
        </p:txBody>
      </p:sp>
      <p:sp>
        <p:nvSpPr>
          <p:cNvPr id="217" name="Rectángulo 216">
            <a:extLst>
              <a:ext uri="{FF2B5EF4-FFF2-40B4-BE49-F238E27FC236}">
                <a16:creationId xmlns:a16="http://schemas.microsoft.com/office/drawing/2014/main" id="{0758931A-6336-4E13-AC92-5FA359C50040}"/>
              </a:ext>
            </a:extLst>
          </p:cNvPr>
          <p:cNvSpPr>
            <a:spLocks noGrp="1"/>
          </p:cNvSpPr>
          <p:nvPr/>
        </p:nvSpPr>
        <p:spPr>
          <a:xfrm>
            <a:off x="2619375" y="5734050"/>
            <a:ext cx="8524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Otras respuestas son válidas si son relevantes para el problema y están bien justificadas.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/>
      <p:bldP spid="202" grpId="0"/>
      <p:bldP spid="203" grpId="0" animBg="1"/>
      <p:bldP spid="204" grpId="0"/>
      <p:bldP spid="206" grpId="0"/>
      <p:bldP spid="207" grpId="0"/>
      <p:bldP spid="208" grpId="0" animBg="1"/>
      <p:bldP spid="209" grpId="0"/>
      <p:bldP spid="211" grpId="0"/>
      <p:bldP spid="212" grpId="0"/>
      <p:bldP spid="213" grpId="0" animBg="1"/>
      <p:bldP spid="214" grpId="0"/>
      <p:bldP spid="215" grpId="0" animBg="1"/>
      <p:bldP spid="216" grpId="0" animBg="1"/>
      <p:bldP spid="2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AC38A4ED-CFF0-4C79-8FFA-FF8ACD84EDA5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TIPOS DE DATOS EN JAVA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DD70AAC6-E6F7-46F1-BA89-E3BC3E330B14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Java distingue valores simples y referencias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F1DE8416-51A5-47BA-B9C1-B06F00AF3D2D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3CF641A5-2C61-4153-9F4B-2A84C39BFF2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04EF8EFE-6FAC-4465-8B8A-719F34EA361A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</a:t>
            </a:r>
          </a:p>
        </p:txBody>
      </p:sp>
      <p:sp>
        <p:nvSpPr>
          <p:cNvPr id="199" name="Rectángulo 198">
            <a:extLst>
              <a:ext uri="{FF2B5EF4-FFF2-40B4-BE49-F238E27FC236}">
                <a16:creationId xmlns:a16="http://schemas.microsoft.com/office/drawing/2014/main" id="{4CDBA0F5-339D-47D6-B11F-0995564749A1}"/>
              </a:ext>
            </a:extLst>
          </p:cNvPr>
          <p:cNvSpPr>
            <a:spLocks noGrp="1"/>
          </p:cNvSpPr>
          <p:nvPr/>
        </p:nvSpPr>
        <p:spPr>
          <a:xfrm>
            <a:off x="781050" y="16383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13A8E5"/>
                </a:solidFill>
              </a:defRPr>
            </a:pPr>
            <a:r>
              <a:rPr sz="1950" b="1" dirty="0">
                <a:solidFill>
                  <a:srgbClr val="13A8E5"/>
                </a:solidFill>
              </a:rPr>
              <a:t>PRIMITIVOS · VALORES SIMPLES</a:t>
            </a: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77C34ACD-AC26-4669-A741-72A977C6A0E8}"/>
              </a:ext>
            </a:extLst>
          </p:cNvPr>
          <p:cNvSpPr>
            <a:spLocks noGrp="1"/>
          </p:cNvSpPr>
          <p:nvPr/>
        </p:nvSpPr>
        <p:spPr>
          <a:xfrm>
            <a:off x="6553200" y="1638300"/>
            <a:ext cx="4857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950" b="1">
                <a:solidFill>
                  <a:srgbClr val="7C4DFF"/>
                </a:solidFill>
              </a:defRPr>
            </a:pPr>
            <a:r>
              <a:rPr sz="1950" b="1" dirty="0">
                <a:solidFill>
                  <a:srgbClr val="7C4DFF"/>
                </a:solidFill>
              </a:rPr>
              <a:t>REFERENCIA · OBJETOS Y TEXTO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FAEA66C0-36E6-4A91-942C-4BE5668A44DC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85775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85ABD5E3-F3E9-41F8-B9D6-1C87AD013801}"/>
              </a:ext>
            </a:extLst>
          </p:cNvPr>
          <p:cNvSpPr>
            <a:spLocks noGrp="1"/>
          </p:cNvSpPr>
          <p:nvPr/>
        </p:nvSpPr>
        <p:spPr>
          <a:xfrm>
            <a:off x="6553200" y="2152650"/>
            <a:ext cx="4857750" cy="38100"/>
          </a:xfrm>
          <a:prstGeom prst="rect">
            <a:avLst/>
          </a:prstGeom>
          <a:solidFill>
            <a:srgbClr val="7C4DFF"/>
          </a:solidFill>
          <a:ln w="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8D23D701-0F91-433C-B361-B7CAA65C07C2}"/>
              </a:ext>
            </a:extLst>
          </p:cNvPr>
          <p:cNvSpPr>
            <a:spLocks noGrp="1"/>
          </p:cNvSpPr>
          <p:nvPr/>
        </p:nvSpPr>
        <p:spPr>
          <a:xfrm>
            <a:off x="6076950" y="1733550"/>
            <a:ext cx="19050" cy="3524250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0899C717-E07A-4A07-8FA0-B97BD5FF0D42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4857750" cy="281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int · números enteros</a:t>
            </a:r>
          </a:p>
          <a:p>
            <a:endParaRPr sz="1725" b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double · números con decimales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endParaRPr sz="1725" b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boolean · verdadero o falso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endParaRPr sz="1725" b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>
                <a:solidFill>
                  <a:srgbClr val="2F3E55"/>
                </a:solidFill>
              </a:rPr>
              <a:t>char · un solo carácter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57576864-5644-4E5F-B963-247C0E3025A2}"/>
              </a:ext>
            </a:extLst>
          </p:cNvPr>
          <p:cNvSpPr>
            <a:spLocks noGrp="1"/>
          </p:cNvSpPr>
          <p:nvPr/>
        </p:nvSpPr>
        <p:spPr>
          <a:xfrm>
            <a:off x="6553200" y="2362200"/>
            <a:ext cx="4857750" cy="281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>
                <a:solidFill>
                  <a:srgbClr val="2F3E55"/>
                </a:solidFill>
              </a:rPr>
              <a:t>String </a:t>
            </a:r>
            <a:r>
              <a:rPr sz="1725" b="0" dirty="0" err="1">
                <a:solidFill>
                  <a:srgbClr val="2F3E55"/>
                </a:solidFill>
              </a:rPr>
              <a:t>representa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texto</a:t>
            </a:r>
            <a:r>
              <a:rPr sz="1725" b="0" dirty="0">
                <a:solidFill>
                  <a:srgbClr val="2F3E55"/>
                </a:solidFill>
              </a:rPr>
              <a:t> y </a:t>
            </a:r>
            <a:r>
              <a:rPr sz="1725" b="0" dirty="0" err="1">
                <a:solidFill>
                  <a:srgbClr val="2F3E55"/>
                </a:solidFill>
              </a:rPr>
              <a:t>pertenece</a:t>
            </a:r>
            <a:r>
              <a:rPr sz="1725" b="0" dirty="0">
                <a:solidFill>
                  <a:srgbClr val="2F3E55"/>
                </a:solidFill>
              </a:rPr>
              <a:t> a </a:t>
            </a:r>
            <a:r>
              <a:rPr sz="1725" b="0" dirty="0" err="1">
                <a:solidFill>
                  <a:srgbClr val="2F3E55"/>
                </a:solidFill>
              </a:rPr>
              <a:t>una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clase</a:t>
            </a:r>
            <a:r>
              <a:rPr sz="1725" b="0" dirty="0">
                <a:solidFill>
                  <a:srgbClr val="2F3E55"/>
                </a:solidFill>
              </a:rPr>
              <a:t>.</a:t>
            </a:r>
          </a:p>
          <a:p>
            <a:endParaRPr sz="1725" b="0" dirty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>
                <a:solidFill>
                  <a:srgbClr val="2F3E55"/>
                </a:solidFill>
              </a:rPr>
              <a:t>Más </a:t>
            </a:r>
            <a:r>
              <a:rPr sz="1725" b="0" dirty="0" err="1">
                <a:solidFill>
                  <a:srgbClr val="2F3E55"/>
                </a:solidFill>
              </a:rPr>
              <a:t>adelante</a:t>
            </a:r>
            <a:r>
              <a:rPr sz="1725" b="0" dirty="0">
                <a:solidFill>
                  <a:srgbClr val="2F3E55"/>
                </a:solidFill>
              </a:rPr>
              <a:t>, Libro y </a:t>
            </a:r>
            <a:r>
              <a:rPr sz="1725" b="0" dirty="0" err="1">
                <a:solidFill>
                  <a:srgbClr val="2F3E55"/>
                </a:solidFill>
              </a:rPr>
              <a:t>Usuario</a:t>
            </a:r>
            <a:r>
              <a:rPr sz="1725" b="0" dirty="0">
                <a:solidFill>
                  <a:srgbClr val="2F3E55"/>
                </a:solidFill>
              </a:rPr>
              <a:t> también </a:t>
            </a:r>
            <a:r>
              <a:rPr sz="1725" b="0" dirty="0" err="1">
                <a:solidFill>
                  <a:srgbClr val="2F3E55"/>
                </a:solidFill>
              </a:rPr>
              <a:t>serán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tipos</a:t>
            </a:r>
            <a:r>
              <a:rPr sz="1725" b="0" dirty="0">
                <a:solidFill>
                  <a:srgbClr val="2F3E55"/>
                </a:solidFill>
              </a:rPr>
              <a:t> de </a:t>
            </a:r>
            <a:r>
              <a:rPr sz="1725" b="0" dirty="0" err="1">
                <a:solidFill>
                  <a:srgbClr val="2F3E55"/>
                </a:solidFill>
              </a:rPr>
              <a:t>referencia</a:t>
            </a:r>
            <a:r>
              <a:rPr sz="1725" b="0" dirty="0">
                <a:solidFill>
                  <a:srgbClr val="2F3E55"/>
                </a:solidFill>
              </a:rPr>
              <a:t>.</a:t>
            </a: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endParaRPr sz="1725" b="0" dirty="0">
              <a:solidFill>
                <a:srgbClr val="2F3E55"/>
              </a:solidFill>
            </a:endParaRPr>
          </a:p>
          <a:p>
            <a:pPr algn="l">
              <a:buNone/>
              <a:defRPr sz="1725" b="0">
                <a:solidFill>
                  <a:srgbClr val="2F3E55"/>
                </a:solidFill>
              </a:defRPr>
            </a:pPr>
            <a:r>
              <a:rPr sz="1725" b="0" dirty="0">
                <a:solidFill>
                  <a:srgbClr val="2F3E55"/>
                </a:solidFill>
              </a:rPr>
              <a:t>Hoy solo </a:t>
            </a:r>
            <a:r>
              <a:rPr sz="1725" b="0" dirty="0" err="1">
                <a:solidFill>
                  <a:srgbClr val="2F3E55"/>
                </a:solidFill>
              </a:rPr>
              <a:t>los</a:t>
            </a:r>
            <a:r>
              <a:rPr sz="1725" b="0" dirty="0">
                <a:solidFill>
                  <a:srgbClr val="2F3E55"/>
                </a:solidFill>
              </a:rPr>
              <a:t> </a:t>
            </a:r>
            <a:r>
              <a:rPr sz="1725" b="0" dirty="0" err="1">
                <a:solidFill>
                  <a:srgbClr val="2F3E55"/>
                </a:solidFill>
              </a:rPr>
              <a:t>reconocemos</a:t>
            </a:r>
            <a:r>
              <a:rPr sz="1725" b="0" dirty="0">
                <a:solidFill>
                  <a:srgbClr val="2F3E5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200" grpId="0"/>
      <p:bldP spid="201" grpId="0" animBg="1"/>
      <p:bldP spid="202" grpId="0" animBg="1"/>
      <p:bldP spid="204" grpId="0"/>
      <p:bldP spid="2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9BFB4778-BB19-499E-AD1A-7A8EAE178718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EJEMPLOS EN LA CLASE LIBRO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CFBE9C72-676F-4BE5-AA09-1C4B5F0B07A6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Elegimos el tipo según el significado del dato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898CED44-7C44-409B-86B5-4C9A05531181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73E1E7E8-C95E-4A0C-95D2-6B3D7C65D20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66B8507E-60BE-4F0B-BA3D-804779D58327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</a:t>
            </a:r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8CC6424D-6033-46BE-8610-1E1FE1D2578D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0439400" cy="971550"/>
          </a:xfrm>
          <a:prstGeom prst="roundRect">
            <a:avLst>
              <a:gd name="adj" fmla="val 17647"/>
            </a:avLst>
          </a:prstGeom>
          <a:solidFill>
            <a:srgbClr val="EEF5FF"/>
          </a:solidFill>
          <a:ln w="1143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9F628E7D-AFBB-463A-B043-2580277FDD38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14300" cy="971550"/>
          </a:xfrm>
          <a:prstGeom prst="rect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8D9852EA-49F8-497F-AEF9-93AB1C6757BD}"/>
              </a:ext>
            </a:extLst>
          </p:cNvPr>
          <p:cNvSpPr>
            <a:spLocks noGrp="1"/>
          </p:cNvSpPr>
          <p:nvPr/>
        </p:nvSpPr>
        <p:spPr>
          <a:xfrm>
            <a:off x="1285875" y="1695450"/>
            <a:ext cx="952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626"/>
          </a:bodyPr>
          <a:lstStyle/>
          <a:p>
            <a:pPr algn="ctr">
              <a:buNone/>
              <a:defRPr sz="1875" b="1">
                <a:solidFill>
                  <a:srgbClr val="14213D"/>
                </a:solidFill>
              </a:defRPr>
            </a:pPr>
            <a:r>
              <a:rPr sz="1875" b="1" dirty="0">
                <a:solidFill>
                  <a:srgbClr val="14213D"/>
                </a:solidFill>
              </a:rPr>
              <a:t>No </a:t>
            </a:r>
            <a:r>
              <a:rPr sz="1875" b="1" dirty="0" err="1">
                <a:solidFill>
                  <a:srgbClr val="14213D"/>
                </a:solidFill>
              </a:rPr>
              <a:t>elegimos</a:t>
            </a:r>
            <a:r>
              <a:rPr sz="1875" b="1" dirty="0">
                <a:solidFill>
                  <a:srgbClr val="14213D"/>
                </a:solidFill>
              </a:rPr>
              <a:t> </a:t>
            </a:r>
            <a:r>
              <a:rPr sz="1875" b="1" dirty="0" err="1">
                <a:solidFill>
                  <a:srgbClr val="14213D"/>
                </a:solidFill>
              </a:rPr>
              <a:t>por</a:t>
            </a:r>
            <a:r>
              <a:rPr sz="1875" b="1" dirty="0">
                <a:solidFill>
                  <a:srgbClr val="14213D"/>
                </a:solidFill>
              </a:rPr>
              <a:t> </a:t>
            </a:r>
            <a:r>
              <a:rPr sz="1875" b="1" dirty="0" err="1">
                <a:solidFill>
                  <a:srgbClr val="14213D"/>
                </a:solidFill>
              </a:rPr>
              <a:t>apariencia</a:t>
            </a:r>
            <a:r>
              <a:rPr sz="1875" b="1" dirty="0">
                <a:solidFill>
                  <a:srgbClr val="14213D"/>
                </a:solidFill>
              </a:rPr>
              <a:t>: </a:t>
            </a:r>
            <a:r>
              <a:rPr sz="1875" b="1" dirty="0" err="1">
                <a:solidFill>
                  <a:srgbClr val="14213D"/>
                </a:solidFill>
              </a:rPr>
              <a:t>preguntamos</a:t>
            </a:r>
            <a:r>
              <a:rPr sz="1875" b="1" dirty="0">
                <a:solidFill>
                  <a:srgbClr val="14213D"/>
                </a:solidFill>
              </a:rPr>
              <a:t> </a:t>
            </a:r>
            <a:r>
              <a:rPr sz="1875" b="1" dirty="0" err="1">
                <a:solidFill>
                  <a:srgbClr val="14213D"/>
                </a:solidFill>
              </a:rPr>
              <a:t>qué</a:t>
            </a:r>
            <a:r>
              <a:rPr sz="1875" b="1" dirty="0">
                <a:solidFill>
                  <a:srgbClr val="14213D"/>
                </a:solidFill>
              </a:rPr>
              <a:t> </a:t>
            </a:r>
            <a:r>
              <a:rPr sz="1875" b="1" dirty="0" err="1">
                <a:solidFill>
                  <a:srgbClr val="14213D"/>
                </a:solidFill>
              </a:rPr>
              <a:t>representa</a:t>
            </a:r>
            <a:r>
              <a:rPr sz="1875" b="1" dirty="0">
                <a:solidFill>
                  <a:srgbClr val="14213D"/>
                </a:solidFill>
              </a:rPr>
              <a:t> el </a:t>
            </a:r>
            <a:r>
              <a:rPr sz="1875" b="1" dirty="0" err="1">
                <a:solidFill>
                  <a:srgbClr val="14213D"/>
                </a:solidFill>
              </a:rPr>
              <a:t>dato</a:t>
            </a:r>
            <a:r>
              <a:rPr sz="1875" b="1" dirty="0">
                <a:solidFill>
                  <a:srgbClr val="14213D"/>
                </a:solidFill>
              </a:rPr>
              <a:t> y </a:t>
            </a:r>
            <a:r>
              <a:rPr sz="1875" b="1" dirty="0" err="1">
                <a:solidFill>
                  <a:srgbClr val="14213D"/>
                </a:solidFill>
              </a:rPr>
              <a:t>qué</a:t>
            </a:r>
            <a:r>
              <a:rPr sz="1875" b="1" dirty="0">
                <a:solidFill>
                  <a:srgbClr val="14213D"/>
                </a:solidFill>
              </a:rPr>
              <a:t> </a:t>
            </a:r>
            <a:r>
              <a:rPr sz="1875" b="1" dirty="0" err="1">
                <a:solidFill>
                  <a:srgbClr val="14213D"/>
                </a:solidFill>
              </a:rPr>
              <a:t>operaciones</a:t>
            </a:r>
            <a:r>
              <a:rPr sz="1875" b="1" dirty="0">
                <a:solidFill>
                  <a:srgbClr val="14213D"/>
                </a:solidFill>
              </a:rPr>
              <a:t> </a:t>
            </a:r>
            <a:r>
              <a:rPr sz="1875" b="1" dirty="0" err="1">
                <a:solidFill>
                  <a:srgbClr val="14213D"/>
                </a:solidFill>
              </a:rPr>
              <a:t>necesita</a:t>
            </a:r>
            <a:r>
              <a:rPr sz="1875" b="1" dirty="0">
                <a:solidFill>
                  <a:srgbClr val="14213D"/>
                </a:solidFill>
              </a:rPr>
              <a:t>.</a:t>
            </a:r>
          </a:p>
        </p:txBody>
      </p:sp>
      <p:sp>
        <p:nvSpPr>
          <p:cNvPr id="202" name="Elipse 201">
            <a:extLst>
              <a:ext uri="{FF2B5EF4-FFF2-40B4-BE49-F238E27FC236}">
                <a16:creationId xmlns:a16="http://schemas.microsoft.com/office/drawing/2014/main" id="{62C81BD8-407A-49FD-A174-00472385A633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514350" cy="514350"/>
          </a:xfrm>
          <a:prstGeom prst="ellipse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83AF730C-F92E-49E2-BE2D-03F83CE7BC35}"/>
              </a:ext>
            </a:extLst>
          </p:cNvPr>
          <p:cNvSpPr>
            <a:spLocks noGrp="1"/>
          </p:cNvSpPr>
          <p:nvPr/>
        </p:nvSpPr>
        <p:spPr>
          <a:xfrm>
            <a:off x="1692402" y="2862263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2446B8"/>
                </a:solidFill>
              </a:defRPr>
            </a:pPr>
            <a:r>
              <a:rPr sz="1650" b="1" dirty="0" err="1">
                <a:solidFill>
                  <a:srgbClr val="2446B8"/>
                </a:solidFill>
              </a:rPr>
              <a:t>páginas</a:t>
            </a:r>
            <a:r>
              <a:rPr sz="1650" b="1" dirty="0">
                <a:solidFill>
                  <a:srgbClr val="2446B8"/>
                </a:solidFill>
              </a:rPr>
              <a:t> · int</a:t>
            </a: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281DDBCB-3DC7-43A4-8CE8-EC6B66899954}"/>
              </a:ext>
            </a:extLst>
          </p:cNvPr>
          <p:cNvSpPr>
            <a:spLocks noGrp="1"/>
          </p:cNvSpPr>
          <p:nvPr/>
        </p:nvSpPr>
        <p:spPr>
          <a:xfrm>
            <a:off x="4476750" y="278130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 dirty="0" err="1">
                <a:solidFill>
                  <a:srgbClr val="2F3E55"/>
                </a:solidFill>
              </a:rPr>
              <a:t>Cantidad</a:t>
            </a:r>
            <a:r>
              <a:rPr sz="1575" b="0" dirty="0">
                <a:solidFill>
                  <a:srgbClr val="2F3E55"/>
                </a:solidFill>
              </a:rPr>
              <a:t> completa · 417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5DEF95C3-EB35-4FBF-9410-3E2A44A2C47B}"/>
              </a:ext>
            </a:extLst>
          </p:cNvPr>
          <p:cNvSpPr>
            <a:spLocks noGrp="1"/>
          </p:cNvSpPr>
          <p:nvPr/>
        </p:nvSpPr>
        <p:spPr>
          <a:xfrm>
            <a:off x="1619250" y="343852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6" name="Elipse 205">
            <a:extLst>
              <a:ext uri="{FF2B5EF4-FFF2-40B4-BE49-F238E27FC236}">
                <a16:creationId xmlns:a16="http://schemas.microsoft.com/office/drawing/2014/main" id="{42486FBF-15F6-47D3-8895-3562F0E41511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514350" cy="514350"/>
          </a:xfrm>
          <a:prstGeom prst="ellipse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46EFFB61-C31D-41BD-81B9-22D49D220A78}"/>
              </a:ext>
            </a:extLst>
          </p:cNvPr>
          <p:cNvSpPr>
            <a:spLocks noGrp="1"/>
          </p:cNvSpPr>
          <p:nvPr/>
        </p:nvSpPr>
        <p:spPr>
          <a:xfrm>
            <a:off x="1619250" y="3665199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3A8E5"/>
                </a:solidFill>
              </a:defRPr>
            </a:pPr>
            <a:r>
              <a:rPr sz="1650" b="1" dirty="0" err="1">
                <a:solidFill>
                  <a:srgbClr val="13A8E5"/>
                </a:solidFill>
              </a:rPr>
              <a:t>multa</a:t>
            </a:r>
            <a:r>
              <a:rPr sz="1650" b="1" dirty="0">
                <a:solidFill>
                  <a:srgbClr val="13A8E5"/>
                </a:solidFill>
              </a:rPr>
              <a:t> · double</a:t>
            </a: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F86F6F1F-E2E4-4780-9DF1-E36AB74DAB47}"/>
              </a:ext>
            </a:extLst>
          </p:cNvPr>
          <p:cNvSpPr>
            <a:spLocks noGrp="1"/>
          </p:cNvSpPr>
          <p:nvPr/>
        </p:nvSpPr>
        <p:spPr>
          <a:xfrm>
            <a:off x="4476750" y="350520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Cantidad con decimales · 2500.50</a:t>
            </a:r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D1DDFA27-DE67-4EB7-A4C6-E978B1415830}"/>
              </a:ext>
            </a:extLst>
          </p:cNvPr>
          <p:cNvSpPr>
            <a:spLocks noGrp="1"/>
          </p:cNvSpPr>
          <p:nvPr/>
        </p:nvSpPr>
        <p:spPr>
          <a:xfrm>
            <a:off x="1619250" y="416242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0" name="Elipse 209">
            <a:extLst>
              <a:ext uri="{FF2B5EF4-FFF2-40B4-BE49-F238E27FC236}">
                <a16:creationId xmlns:a16="http://schemas.microsoft.com/office/drawing/2014/main" id="{99928186-B1F6-4D10-BF14-282FE28060F0}"/>
              </a:ext>
            </a:extLst>
          </p:cNvPr>
          <p:cNvSpPr>
            <a:spLocks noGrp="1"/>
          </p:cNvSpPr>
          <p:nvPr/>
        </p:nvSpPr>
        <p:spPr>
          <a:xfrm>
            <a:off x="838200" y="4286250"/>
            <a:ext cx="514350" cy="514350"/>
          </a:xfrm>
          <a:prstGeom prst="ellipse">
            <a:avLst/>
          </a:prstGeom>
          <a:solidFill>
            <a:srgbClr val="7C4DFF"/>
          </a:solidFill>
          <a:ln w="0">
            <a:solidFill>
              <a:srgbClr val="7C4DF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A4972248-EBBB-4E74-8631-20D09589EA98}"/>
              </a:ext>
            </a:extLst>
          </p:cNvPr>
          <p:cNvSpPr>
            <a:spLocks noGrp="1"/>
          </p:cNvSpPr>
          <p:nvPr/>
        </p:nvSpPr>
        <p:spPr>
          <a:xfrm>
            <a:off x="1619250" y="44100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7C4DFF"/>
                </a:solidFill>
              </a:defRPr>
            </a:pPr>
            <a:r>
              <a:rPr sz="1650" b="1" dirty="0" err="1">
                <a:solidFill>
                  <a:srgbClr val="7C4DFF"/>
                </a:solidFill>
              </a:rPr>
              <a:t>título</a:t>
            </a:r>
            <a:r>
              <a:rPr sz="1650" b="1" dirty="0">
                <a:solidFill>
                  <a:srgbClr val="7C4DFF"/>
                </a:solidFill>
              </a:rPr>
              <a:t> · String</a:t>
            </a:r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ED2D047C-3B18-410A-A239-3F64790319C4}"/>
              </a:ext>
            </a:extLst>
          </p:cNvPr>
          <p:cNvSpPr>
            <a:spLocks noGrp="1"/>
          </p:cNvSpPr>
          <p:nvPr/>
        </p:nvSpPr>
        <p:spPr>
          <a:xfrm>
            <a:off x="4476750" y="422910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Texto de varios caracteres · “El principito”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71945B54-A480-430F-8FAA-E1181C1C8FA9}"/>
              </a:ext>
            </a:extLst>
          </p:cNvPr>
          <p:cNvSpPr>
            <a:spLocks noGrp="1"/>
          </p:cNvSpPr>
          <p:nvPr/>
        </p:nvSpPr>
        <p:spPr>
          <a:xfrm>
            <a:off x="1619250" y="488632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17AAE1BF-E62C-4737-B6ED-B1CDE7923FB8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514350" cy="514350"/>
          </a:xfrm>
          <a:prstGeom prst="ellipse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1A19C5A2-1629-4630-B117-853321139E39}"/>
              </a:ext>
            </a:extLst>
          </p:cNvPr>
          <p:cNvSpPr>
            <a:spLocks noGrp="1"/>
          </p:cNvSpPr>
          <p:nvPr/>
        </p:nvSpPr>
        <p:spPr>
          <a:xfrm>
            <a:off x="1619250" y="5077968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59A72"/>
                </a:solidFill>
              </a:defRPr>
            </a:pPr>
            <a:r>
              <a:rPr sz="1650" b="1" dirty="0">
                <a:solidFill>
                  <a:srgbClr val="159A72"/>
                </a:solidFill>
              </a:rPr>
              <a:t>disponible · </a:t>
            </a:r>
            <a:r>
              <a:rPr sz="1650" b="1" dirty="0" err="1">
                <a:solidFill>
                  <a:srgbClr val="159A72"/>
                </a:solidFill>
              </a:rPr>
              <a:t>boolean</a:t>
            </a:r>
            <a:endParaRPr sz="1650" b="1" dirty="0">
              <a:solidFill>
                <a:srgbClr val="159A72"/>
              </a:solidFill>
            </a:endParaRP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EB6DDA14-49BF-46EC-AE1F-2481A26D36E0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Condición lógica · true / false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200" grpId="0" animBg="1"/>
      <p:bldP spid="201" grpId="0"/>
      <p:bldP spid="202" grpId="0" animBg="1"/>
      <p:bldP spid="203" grpId="0"/>
      <p:bldP spid="204" grpId="0"/>
      <p:bldP spid="205" grpId="0" animBg="1"/>
      <p:bldP spid="206" grpId="0" animBg="1"/>
      <p:bldP spid="207" grpId="0"/>
      <p:bldP spid="208" grpId="0"/>
      <p:bldP spid="209" grpId="0" animBg="1"/>
      <p:bldP spid="210" grpId="0" animBg="1"/>
      <p:bldP spid="211" grpId="0"/>
      <p:bldP spid="212" grpId="0"/>
      <p:bldP spid="213" grpId="0" animBg="1"/>
      <p:bldP spid="214" grpId="0" animBg="1"/>
      <p:bldP spid="215" grpId="0"/>
      <p:bldP spid="2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0A1644F3-6173-483E-B068-1155AF5583FE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LECTURA DE UNA DECLARACIÓN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F17FED10-7F6C-4FBB-AAEF-166875C9D2E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Así se interpreta String titulo;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6B41FEAE-47FD-4E1F-907C-7A8E3CD999F3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6EA0E4A5-D532-4989-9500-62F1210A9BF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A45F684B-B306-4E7E-A818-02C1F9942D61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199" name="Rectángulo 198">
            <a:extLst>
              <a:ext uri="{FF2B5EF4-FFF2-40B4-BE49-F238E27FC236}">
                <a16:creationId xmlns:a16="http://schemas.microsoft.com/office/drawing/2014/main" id="{1194FBB7-C2CA-4F74-8B47-47E8886A1ED0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725" b="0">
                <a:solidFill>
                  <a:srgbClr val="64748B"/>
                </a:solidFill>
              </a:defRPr>
            </a:pPr>
            <a:r>
              <a:rPr sz="1725" b="0">
                <a:solidFill>
                  <a:srgbClr val="64748B"/>
                </a:solidFill>
              </a:rPr>
              <a:t>String titulo;</a:t>
            </a:r>
          </a:p>
        </p:txBody>
      </p:sp>
      <p:sp>
        <p:nvSpPr>
          <p:cNvPr id="200" name="Elipse 199">
            <a:extLst>
              <a:ext uri="{FF2B5EF4-FFF2-40B4-BE49-F238E27FC236}">
                <a16:creationId xmlns:a16="http://schemas.microsoft.com/office/drawing/2014/main" id="{EAF44320-5212-4C98-9409-C3C8CF5B4F51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514350" cy="514350"/>
          </a:xfrm>
          <a:prstGeom prst="ellipse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BC2FF8F8-F633-46BE-884D-7C4DCFC50732}"/>
              </a:ext>
            </a:extLst>
          </p:cNvPr>
          <p:cNvSpPr>
            <a:spLocks noGrp="1"/>
          </p:cNvSpPr>
          <p:nvPr/>
        </p:nvSpPr>
        <p:spPr>
          <a:xfrm>
            <a:off x="1619250" y="22574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2446B8"/>
                </a:solidFill>
              </a:defRPr>
            </a:pPr>
            <a:r>
              <a:rPr sz="1650" b="1" dirty="0">
                <a:solidFill>
                  <a:srgbClr val="2446B8"/>
                </a:solidFill>
              </a:rPr>
              <a:t>String</a:t>
            </a:r>
          </a:p>
        </p:txBody>
      </p:sp>
      <p:sp>
        <p:nvSpPr>
          <p:cNvPr id="202" name="Rectángulo 201">
            <a:extLst>
              <a:ext uri="{FF2B5EF4-FFF2-40B4-BE49-F238E27FC236}">
                <a16:creationId xmlns:a16="http://schemas.microsoft.com/office/drawing/2014/main" id="{B4DC561A-88AF-4140-B82D-994E17E2F01C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Es el tipo: indica que el dato representará texto.</a:t>
            </a: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B81B578A-E83A-466A-BC4D-B9B3B2DCABBC}"/>
              </a:ext>
            </a:extLst>
          </p:cNvPr>
          <p:cNvSpPr>
            <a:spLocks noGrp="1"/>
          </p:cNvSpPr>
          <p:nvPr/>
        </p:nvSpPr>
        <p:spPr>
          <a:xfrm>
            <a:off x="1619250" y="273367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4" name="Elipse 203">
            <a:extLst>
              <a:ext uri="{FF2B5EF4-FFF2-40B4-BE49-F238E27FC236}">
                <a16:creationId xmlns:a16="http://schemas.microsoft.com/office/drawing/2014/main" id="{2AF63B0F-1AB5-4117-9E50-DBF507730C52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514350" cy="514350"/>
          </a:xfrm>
          <a:prstGeom prst="ellipse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BE08E75D-8F3F-4903-976F-F546D8C3F646}"/>
              </a:ext>
            </a:extLst>
          </p:cNvPr>
          <p:cNvSpPr>
            <a:spLocks noGrp="1"/>
          </p:cNvSpPr>
          <p:nvPr/>
        </p:nvSpPr>
        <p:spPr>
          <a:xfrm>
            <a:off x="1619250" y="3107817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3A8E5"/>
                </a:solidFill>
              </a:defRPr>
            </a:pPr>
            <a:r>
              <a:rPr sz="1650" b="1" dirty="0" err="1">
                <a:solidFill>
                  <a:srgbClr val="13A8E5"/>
                </a:solidFill>
              </a:rPr>
              <a:t>titulo</a:t>
            </a:r>
            <a:endParaRPr sz="1650" b="1" dirty="0">
              <a:solidFill>
                <a:srgbClr val="13A8E5"/>
              </a:solidFill>
            </a:endParaRPr>
          </a:p>
        </p:txBody>
      </p:sp>
      <p:sp>
        <p:nvSpPr>
          <p:cNvPr id="206" name="Rectángulo 205">
            <a:extLst>
              <a:ext uri="{FF2B5EF4-FFF2-40B4-BE49-F238E27FC236}">
                <a16:creationId xmlns:a16="http://schemas.microsoft.com/office/drawing/2014/main" id="{99DAC310-2188-4567-95AB-E07240B71562}"/>
              </a:ext>
            </a:extLst>
          </p:cNvPr>
          <p:cNvSpPr>
            <a:spLocks noGrp="1"/>
          </p:cNvSpPr>
          <p:nvPr/>
        </p:nvSpPr>
        <p:spPr>
          <a:xfrm>
            <a:off x="4476750" y="295275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Es el nombre: comunica qué información se guardará.</a:t>
            </a: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ABEA4950-ECB9-4128-B46D-72FD607B0015}"/>
              </a:ext>
            </a:extLst>
          </p:cNvPr>
          <p:cNvSpPr>
            <a:spLocks noGrp="1"/>
          </p:cNvSpPr>
          <p:nvPr/>
        </p:nvSpPr>
        <p:spPr>
          <a:xfrm>
            <a:off x="1619250" y="360997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8" name="Elipse 207">
            <a:extLst>
              <a:ext uri="{FF2B5EF4-FFF2-40B4-BE49-F238E27FC236}">
                <a16:creationId xmlns:a16="http://schemas.microsoft.com/office/drawing/2014/main" id="{278C2B0B-B57F-46FE-8A82-14DCE1D68107}"/>
              </a:ext>
            </a:extLst>
          </p:cNvPr>
          <p:cNvSpPr>
            <a:spLocks noGrp="1"/>
          </p:cNvSpPr>
          <p:nvPr/>
        </p:nvSpPr>
        <p:spPr>
          <a:xfrm>
            <a:off x="838200" y="3886200"/>
            <a:ext cx="514350" cy="514350"/>
          </a:xfrm>
          <a:prstGeom prst="ellipse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A3A6504C-A990-498E-BC1D-51775453D60B}"/>
              </a:ext>
            </a:extLst>
          </p:cNvPr>
          <p:cNvSpPr>
            <a:spLocks noGrp="1"/>
          </p:cNvSpPr>
          <p:nvPr/>
        </p:nvSpPr>
        <p:spPr>
          <a:xfrm>
            <a:off x="1619250" y="39624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59A72"/>
                </a:solidFill>
              </a:defRPr>
            </a:pPr>
            <a:r>
              <a:rPr sz="1650" b="1" dirty="0">
                <a:solidFill>
                  <a:srgbClr val="159A72"/>
                </a:solidFill>
              </a:rPr>
              <a:t>;</a:t>
            </a:r>
          </a:p>
        </p:txBody>
      </p:sp>
      <p:sp>
        <p:nvSpPr>
          <p:cNvPr id="210" name="Rectángulo 209">
            <a:extLst>
              <a:ext uri="{FF2B5EF4-FFF2-40B4-BE49-F238E27FC236}">
                <a16:creationId xmlns:a16="http://schemas.microsoft.com/office/drawing/2014/main" id="{C0E001EC-EC21-497E-8393-E4817CEE2CA5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Marca el final de la declaración.</a:t>
            </a:r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1AFE6705-19DB-4829-9B6C-94FC6BAF7A1D}"/>
              </a:ext>
            </a:extLst>
          </p:cNvPr>
          <p:cNvSpPr>
            <a:spLocks noGrp="1"/>
          </p:cNvSpPr>
          <p:nvPr/>
        </p:nvSpPr>
        <p:spPr>
          <a:xfrm>
            <a:off x="1619250" y="448627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2" name="Elipse 211">
            <a:extLst>
              <a:ext uri="{FF2B5EF4-FFF2-40B4-BE49-F238E27FC236}">
                <a16:creationId xmlns:a16="http://schemas.microsoft.com/office/drawing/2014/main" id="{E6AF5664-C34C-467E-98B1-1D7A17DF1F4A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514350" cy="514350"/>
          </a:xfrm>
          <a:prstGeom prst="ellipse">
            <a:avLst/>
          </a:prstGeom>
          <a:solidFill>
            <a:srgbClr val="7C4DFF"/>
          </a:solidFill>
          <a:ln w="0">
            <a:solidFill>
              <a:srgbClr val="7C4DF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1CBB3A21-6F14-4F94-8863-80C87C159FA3}"/>
              </a:ext>
            </a:extLst>
          </p:cNvPr>
          <p:cNvSpPr>
            <a:spLocks noGrp="1"/>
          </p:cNvSpPr>
          <p:nvPr/>
        </p:nvSpPr>
        <p:spPr>
          <a:xfrm>
            <a:off x="1619250" y="4877562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7C4DFF"/>
                </a:solidFill>
              </a:defRPr>
            </a:pPr>
            <a:r>
              <a:rPr sz="1650" b="1" dirty="0">
                <a:solidFill>
                  <a:srgbClr val="7C4DFF"/>
                </a:solidFill>
              </a:rPr>
              <a:t>Sin valor </a:t>
            </a:r>
            <a:r>
              <a:rPr sz="1650" b="1" dirty="0" err="1">
                <a:solidFill>
                  <a:srgbClr val="7C4DFF"/>
                </a:solidFill>
              </a:rPr>
              <a:t>concreto</a:t>
            </a:r>
            <a:endParaRPr sz="1650" b="1" dirty="0">
              <a:solidFill>
                <a:srgbClr val="7C4DFF"/>
              </a:solidFill>
            </a:endParaRPr>
          </a:p>
        </p:txBody>
      </p:sp>
      <p:sp>
        <p:nvSpPr>
          <p:cNvPr id="214" name="Rectángulo 213">
            <a:extLst>
              <a:ext uri="{FF2B5EF4-FFF2-40B4-BE49-F238E27FC236}">
                <a16:creationId xmlns:a16="http://schemas.microsoft.com/office/drawing/2014/main" id="{8ACFDA36-2125-40C1-99AF-B75FF7654AB2}"/>
              </a:ext>
            </a:extLst>
          </p:cNvPr>
          <p:cNvSpPr>
            <a:spLocks noGrp="1"/>
          </p:cNvSpPr>
          <p:nvPr/>
        </p:nvSpPr>
        <p:spPr>
          <a:xfrm>
            <a:off x="4476750" y="470535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650" b="0">
                <a:solidFill>
                  <a:srgbClr val="2F3E55"/>
                </a:solidFill>
              </a:defRPr>
            </a:pPr>
            <a:r>
              <a:rPr sz="1650" b="0">
                <a:solidFill>
                  <a:srgbClr val="2F3E55"/>
                </a:solidFill>
              </a:rPr>
              <a:t>La línea declara el atributo, pero todavía no muestra un valor.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200" grpId="0" animBg="1"/>
      <p:bldP spid="201" grpId="0"/>
      <p:bldP spid="202" grpId="0"/>
      <p:bldP spid="203" grpId="0" animBg="1"/>
      <p:bldP spid="204" grpId="0" animBg="1"/>
      <p:bldP spid="205" grpId="0"/>
      <p:bldP spid="206" grpId="0"/>
      <p:bldP spid="207" grpId="0" animBg="1"/>
      <p:bldP spid="208" grpId="0" animBg="1"/>
      <p:bldP spid="209" grpId="0"/>
      <p:bldP spid="210" grpId="0"/>
      <p:bldP spid="211" grpId="0" animBg="1"/>
      <p:bldP spid="212" grpId="0" animBg="1"/>
      <p:bldP spid="213" grpId="0"/>
      <p:bldP spid="2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112;p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9BFB4778-BB19-499E-AD1A-7A8EAE178718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TIPOS DE DATOS EN JAVA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CFBE9C72-676F-4BE5-AA09-1C4B5F0B07A6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925" b="1">
                <a:solidFill>
                  <a:srgbClr val="2446B8"/>
                </a:solidFill>
              </a:defRPr>
            </a:pPr>
            <a:r>
              <a:rPr sz="2925" b="1">
                <a:solidFill>
                  <a:srgbClr val="2446B8"/>
                </a:solidFill>
              </a:rPr>
              <a:t>El tipo define qué valores y operaciones tienen sentido</a:t>
            </a: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898CED44-7C44-409B-86B5-4C9A05531181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73E1E7E8-C95E-4A0C-95D2-6B3D7C65D204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66B8507E-60BE-4F0B-BA3D-804779D58327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199" name="Rectángulo: esquinas redondeadas 198">
            <a:extLst>
              <a:ext uri="{FF2B5EF4-FFF2-40B4-BE49-F238E27FC236}">
                <a16:creationId xmlns:a16="http://schemas.microsoft.com/office/drawing/2014/main" id="{8CC6424D-6033-46BE-8610-1E1FE1D2578D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0439400" cy="971550"/>
          </a:xfrm>
          <a:prstGeom prst="roundRect">
            <a:avLst>
              <a:gd name="adj" fmla="val 17647"/>
            </a:avLst>
          </a:prstGeom>
          <a:solidFill>
            <a:srgbClr val="EEF5FF"/>
          </a:solidFill>
          <a:ln w="1143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9F628E7D-AFBB-463A-B043-2580277FDD38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114300" cy="971550"/>
          </a:xfrm>
          <a:prstGeom prst="rect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1" name="Rectángulo 200">
            <a:extLst>
              <a:ext uri="{FF2B5EF4-FFF2-40B4-BE49-F238E27FC236}">
                <a16:creationId xmlns:a16="http://schemas.microsoft.com/office/drawing/2014/main" id="{8D9852EA-49F8-497F-AEF9-93AB1C6757BD}"/>
              </a:ext>
            </a:extLst>
          </p:cNvPr>
          <p:cNvSpPr>
            <a:spLocks noGrp="1"/>
          </p:cNvSpPr>
          <p:nvPr/>
        </p:nvSpPr>
        <p:spPr>
          <a:xfrm>
            <a:off x="1285875" y="1695450"/>
            <a:ext cx="952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626"/>
          </a:bodyPr>
          <a:lstStyle/>
          <a:p>
            <a:pPr algn="ctr">
              <a:buNone/>
              <a:defRPr sz="1875" b="1">
                <a:solidFill>
                  <a:srgbClr val="14213D"/>
                </a:solidFill>
              </a:defRPr>
            </a:pPr>
            <a:r>
              <a:rPr sz="1875" b="1" dirty="0">
                <a:solidFill>
                  <a:srgbClr val="14213D"/>
                </a:solidFill>
              </a:rPr>
              <a:t>Antes de </a:t>
            </a:r>
            <a:r>
              <a:rPr sz="1875" b="1" dirty="0" err="1">
                <a:solidFill>
                  <a:srgbClr val="14213D"/>
                </a:solidFill>
              </a:rPr>
              <a:t>escribir</a:t>
            </a:r>
            <a:r>
              <a:rPr sz="1875" b="1" dirty="0">
                <a:solidFill>
                  <a:srgbClr val="14213D"/>
                </a:solidFill>
              </a:rPr>
              <a:t> </a:t>
            </a:r>
            <a:r>
              <a:rPr sz="1875" b="1" dirty="0" err="1">
                <a:solidFill>
                  <a:srgbClr val="14213D"/>
                </a:solidFill>
              </a:rPr>
              <a:t>una</a:t>
            </a:r>
            <a:r>
              <a:rPr sz="1875" b="1" dirty="0">
                <a:solidFill>
                  <a:srgbClr val="14213D"/>
                </a:solidFill>
              </a:rPr>
              <a:t> variable, Java </a:t>
            </a:r>
            <a:r>
              <a:rPr sz="1875" b="1" dirty="0" err="1">
                <a:solidFill>
                  <a:srgbClr val="14213D"/>
                </a:solidFill>
              </a:rPr>
              <a:t>necesita</a:t>
            </a:r>
            <a:r>
              <a:rPr sz="1875" b="1" dirty="0">
                <a:solidFill>
                  <a:srgbClr val="14213D"/>
                </a:solidFill>
              </a:rPr>
              <a:t> saber </a:t>
            </a:r>
            <a:r>
              <a:rPr sz="1875" b="1" dirty="0" err="1">
                <a:solidFill>
                  <a:srgbClr val="14213D"/>
                </a:solidFill>
              </a:rPr>
              <a:t>qué</a:t>
            </a:r>
            <a:r>
              <a:rPr sz="1875" b="1" dirty="0">
                <a:solidFill>
                  <a:srgbClr val="14213D"/>
                </a:solidFill>
              </a:rPr>
              <a:t> </a:t>
            </a:r>
            <a:r>
              <a:rPr sz="1875" b="1" dirty="0" err="1">
                <a:solidFill>
                  <a:srgbClr val="14213D"/>
                </a:solidFill>
              </a:rPr>
              <a:t>clase</a:t>
            </a:r>
            <a:r>
              <a:rPr sz="1875" b="1" dirty="0">
                <a:solidFill>
                  <a:srgbClr val="14213D"/>
                </a:solidFill>
              </a:rPr>
              <a:t> de </a:t>
            </a:r>
            <a:r>
              <a:rPr sz="1875" b="1" dirty="0" err="1">
                <a:solidFill>
                  <a:srgbClr val="14213D"/>
                </a:solidFill>
              </a:rPr>
              <a:t>información</a:t>
            </a:r>
            <a:r>
              <a:rPr sz="1875" b="1" dirty="0">
                <a:solidFill>
                  <a:srgbClr val="14213D"/>
                </a:solidFill>
              </a:rPr>
              <a:t> </a:t>
            </a:r>
            <a:r>
              <a:rPr sz="1875" b="1" dirty="0" err="1">
                <a:solidFill>
                  <a:srgbClr val="14213D"/>
                </a:solidFill>
              </a:rPr>
              <a:t>representará</a:t>
            </a:r>
            <a:r>
              <a:rPr sz="1875" b="1" dirty="0">
                <a:solidFill>
                  <a:srgbClr val="14213D"/>
                </a:solidFill>
              </a:rPr>
              <a:t>.</a:t>
            </a:r>
          </a:p>
        </p:txBody>
      </p:sp>
      <p:sp>
        <p:nvSpPr>
          <p:cNvPr id="202" name="Elipse 201">
            <a:extLst>
              <a:ext uri="{FF2B5EF4-FFF2-40B4-BE49-F238E27FC236}">
                <a16:creationId xmlns:a16="http://schemas.microsoft.com/office/drawing/2014/main" id="{62C81BD8-407A-49FD-A174-00472385A633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514350" cy="514350"/>
          </a:xfrm>
          <a:prstGeom prst="ellipse">
            <a:avLst/>
          </a:prstGeom>
          <a:solidFill>
            <a:srgbClr val="2446B8"/>
          </a:solidFill>
          <a:ln w="0">
            <a:solidFill>
              <a:srgbClr val="2446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Rectángulo 202">
            <a:extLst>
              <a:ext uri="{FF2B5EF4-FFF2-40B4-BE49-F238E27FC236}">
                <a16:creationId xmlns:a16="http://schemas.microsoft.com/office/drawing/2014/main" id="{83AF730C-F92E-49E2-BE2D-03F83CE7BC35}"/>
              </a:ext>
            </a:extLst>
          </p:cNvPr>
          <p:cNvSpPr>
            <a:spLocks noGrp="1"/>
          </p:cNvSpPr>
          <p:nvPr/>
        </p:nvSpPr>
        <p:spPr>
          <a:xfrm>
            <a:off x="1619250" y="29241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2446B8"/>
                </a:solidFill>
              </a:defRPr>
            </a:pPr>
            <a:r>
              <a:rPr sz="1650" b="1" dirty="0">
                <a:solidFill>
                  <a:srgbClr val="2446B8"/>
                </a:solidFill>
              </a:rPr>
              <a:t>Valores </a:t>
            </a:r>
            <a:r>
              <a:rPr sz="1650" b="1" dirty="0" err="1">
                <a:solidFill>
                  <a:srgbClr val="2446B8"/>
                </a:solidFill>
              </a:rPr>
              <a:t>válidos</a:t>
            </a:r>
            <a:endParaRPr sz="1650" b="1" dirty="0">
              <a:solidFill>
                <a:srgbClr val="2446B8"/>
              </a:solidFill>
            </a:endParaRP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281DDBCB-3DC7-43A4-8CE8-EC6B66899954}"/>
              </a:ext>
            </a:extLst>
          </p:cNvPr>
          <p:cNvSpPr>
            <a:spLocks noGrp="1"/>
          </p:cNvSpPr>
          <p:nvPr/>
        </p:nvSpPr>
        <p:spPr>
          <a:xfrm>
            <a:off x="4476750" y="278130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Evita guardar texto donde se espera una cantidad.</a:t>
            </a:r>
          </a:p>
        </p:txBody>
      </p:sp>
      <p:sp>
        <p:nvSpPr>
          <p:cNvPr id="205" name="Rectángulo 204">
            <a:extLst>
              <a:ext uri="{FF2B5EF4-FFF2-40B4-BE49-F238E27FC236}">
                <a16:creationId xmlns:a16="http://schemas.microsoft.com/office/drawing/2014/main" id="{5DEF95C3-EB35-4FBF-9410-3E2A44A2C47B}"/>
              </a:ext>
            </a:extLst>
          </p:cNvPr>
          <p:cNvSpPr>
            <a:spLocks noGrp="1"/>
          </p:cNvSpPr>
          <p:nvPr/>
        </p:nvSpPr>
        <p:spPr>
          <a:xfrm>
            <a:off x="1619250" y="343852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6" name="Elipse 205">
            <a:extLst>
              <a:ext uri="{FF2B5EF4-FFF2-40B4-BE49-F238E27FC236}">
                <a16:creationId xmlns:a16="http://schemas.microsoft.com/office/drawing/2014/main" id="{42486FBF-15F6-47D3-8895-3562F0E41511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514350" cy="514350"/>
          </a:xfrm>
          <a:prstGeom prst="ellipse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7" name="Rectángulo 206">
            <a:extLst>
              <a:ext uri="{FF2B5EF4-FFF2-40B4-BE49-F238E27FC236}">
                <a16:creationId xmlns:a16="http://schemas.microsoft.com/office/drawing/2014/main" id="{46EFFB61-C31D-41BD-81B9-22D49D220A78}"/>
              </a:ext>
            </a:extLst>
          </p:cNvPr>
          <p:cNvSpPr>
            <a:spLocks noGrp="1"/>
          </p:cNvSpPr>
          <p:nvPr/>
        </p:nvSpPr>
        <p:spPr>
          <a:xfrm>
            <a:off x="1619250" y="36480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3A8E5"/>
                </a:solidFill>
              </a:defRPr>
            </a:pPr>
            <a:r>
              <a:rPr sz="1650" b="1" dirty="0" err="1">
                <a:solidFill>
                  <a:srgbClr val="13A8E5"/>
                </a:solidFill>
              </a:rPr>
              <a:t>Operaciones</a:t>
            </a:r>
            <a:r>
              <a:rPr sz="1650" b="1" dirty="0">
                <a:solidFill>
                  <a:srgbClr val="13A8E5"/>
                </a:solidFill>
              </a:rPr>
              <a:t> </a:t>
            </a:r>
            <a:r>
              <a:rPr sz="1650" b="1" dirty="0" err="1">
                <a:solidFill>
                  <a:srgbClr val="13A8E5"/>
                </a:solidFill>
              </a:rPr>
              <a:t>posibles</a:t>
            </a:r>
            <a:endParaRPr sz="1650" b="1" dirty="0">
              <a:solidFill>
                <a:srgbClr val="13A8E5"/>
              </a:solidFill>
            </a:endParaRPr>
          </a:p>
        </p:txBody>
      </p:sp>
      <p:sp>
        <p:nvSpPr>
          <p:cNvPr id="208" name="Rectángulo 207">
            <a:extLst>
              <a:ext uri="{FF2B5EF4-FFF2-40B4-BE49-F238E27FC236}">
                <a16:creationId xmlns:a16="http://schemas.microsoft.com/office/drawing/2014/main" id="{F86F6F1F-E2E4-4780-9DF1-E36AB74DAB47}"/>
              </a:ext>
            </a:extLst>
          </p:cNvPr>
          <p:cNvSpPr>
            <a:spLocks noGrp="1"/>
          </p:cNvSpPr>
          <p:nvPr/>
        </p:nvSpPr>
        <p:spPr>
          <a:xfrm>
            <a:off x="4476750" y="350520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Permite sumar números, evaluar condiciones o trabajar con texto.</a:t>
            </a:r>
          </a:p>
        </p:txBody>
      </p:sp>
      <p:sp>
        <p:nvSpPr>
          <p:cNvPr id="209" name="Rectángulo 208">
            <a:extLst>
              <a:ext uri="{FF2B5EF4-FFF2-40B4-BE49-F238E27FC236}">
                <a16:creationId xmlns:a16="http://schemas.microsoft.com/office/drawing/2014/main" id="{D1DDFA27-DE67-4EB7-A4C6-E978B1415830}"/>
              </a:ext>
            </a:extLst>
          </p:cNvPr>
          <p:cNvSpPr>
            <a:spLocks noGrp="1"/>
          </p:cNvSpPr>
          <p:nvPr/>
        </p:nvSpPr>
        <p:spPr>
          <a:xfrm>
            <a:off x="1619250" y="416242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0" name="Elipse 209">
            <a:extLst>
              <a:ext uri="{FF2B5EF4-FFF2-40B4-BE49-F238E27FC236}">
                <a16:creationId xmlns:a16="http://schemas.microsoft.com/office/drawing/2014/main" id="{99928186-B1F6-4D10-BF14-282FE28060F0}"/>
              </a:ext>
            </a:extLst>
          </p:cNvPr>
          <p:cNvSpPr>
            <a:spLocks noGrp="1"/>
          </p:cNvSpPr>
          <p:nvPr/>
        </p:nvSpPr>
        <p:spPr>
          <a:xfrm>
            <a:off x="838200" y="4286250"/>
            <a:ext cx="514350" cy="514350"/>
          </a:xfrm>
          <a:prstGeom prst="ellipse">
            <a:avLst/>
          </a:prstGeom>
          <a:solidFill>
            <a:srgbClr val="7C4DFF"/>
          </a:solidFill>
          <a:ln w="0">
            <a:solidFill>
              <a:srgbClr val="7C4DFF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1" name="Rectángulo 210">
            <a:extLst>
              <a:ext uri="{FF2B5EF4-FFF2-40B4-BE49-F238E27FC236}">
                <a16:creationId xmlns:a16="http://schemas.microsoft.com/office/drawing/2014/main" id="{A4972248-EBBB-4E74-8631-20D09589EA98}"/>
              </a:ext>
            </a:extLst>
          </p:cNvPr>
          <p:cNvSpPr>
            <a:spLocks noGrp="1"/>
          </p:cNvSpPr>
          <p:nvPr/>
        </p:nvSpPr>
        <p:spPr>
          <a:xfrm>
            <a:off x="1619250" y="43719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7C4DFF"/>
                </a:solidFill>
              </a:defRPr>
            </a:pPr>
            <a:r>
              <a:rPr sz="1650" b="1">
                <a:solidFill>
                  <a:srgbClr val="7C4DFF"/>
                </a:solidFill>
              </a:rPr>
              <a:t>Errores tempranos</a:t>
            </a:r>
          </a:p>
        </p:txBody>
      </p:sp>
      <p:sp>
        <p:nvSpPr>
          <p:cNvPr id="212" name="Rectángulo 211">
            <a:extLst>
              <a:ext uri="{FF2B5EF4-FFF2-40B4-BE49-F238E27FC236}">
                <a16:creationId xmlns:a16="http://schemas.microsoft.com/office/drawing/2014/main" id="{ED2D047C-3B18-410A-A239-3F64790319C4}"/>
              </a:ext>
            </a:extLst>
          </p:cNvPr>
          <p:cNvSpPr>
            <a:spLocks noGrp="1"/>
          </p:cNvSpPr>
          <p:nvPr/>
        </p:nvSpPr>
        <p:spPr>
          <a:xfrm>
            <a:off x="4476750" y="422910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Ayuda a detectar combinaciones incompatibles antes de ejecutar.</a:t>
            </a:r>
          </a:p>
        </p:txBody>
      </p:sp>
      <p:sp>
        <p:nvSpPr>
          <p:cNvPr id="213" name="Rectángulo 212">
            <a:extLst>
              <a:ext uri="{FF2B5EF4-FFF2-40B4-BE49-F238E27FC236}">
                <a16:creationId xmlns:a16="http://schemas.microsoft.com/office/drawing/2014/main" id="{71945B54-A480-430F-8FAA-E1181C1C8FA9}"/>
              </a:ext>
            </a:extLst>
          </p:cNvPr>
          <p:cNvSpPr>
            <a:spLocks noGrp="1"/>
          </p:cNvSpPr>
          <p:nvPr/>
        </p:nvSpPr>
        <p:spPr>
          <a:xfrm>
            <a:off x="1619250" y="4886325"/>
            <a:ext cx="962025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D9E3E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4" name="Elipse 213">
            <a:extLst>
              <a:ext uri="{FF2B5EF4-FFF2-40B4-BE49-F238E27FC236}">
                <a16:creationId xmlns:a16="http://schemas.microsoft.com/office/drawing/2014/main" id="{17AAE1BF-E62C-4737-B6ED-B1CDE7923FB8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514350" cy="514350"/>
          </a:xfrm>
          <a:prstGeom prst="ellipse">
            <a:avLst/>
          </a:prstGeom>
          <a:solidFill>
            <a:srgbClr val="159A72"/>
          </a:solidFill>
          <a:ln w="0">
            <a:solidFill>
              <a:srgbClr val="159A72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5" name="Rectángulo 214">
            <a:extLst>
              <a:ext uri="{FF2B5EF4-FFF2-40B4-BE49-F238E27FC236}">
                <a16:creationId xmlns:a16="http://schemas.microsoft.com/office/drawing/2014/main" id="{1A19C5A2-1629-4630-B117-853321139E39}"/>
              </a:ext>
            </a:extLst>
          </p:cNvPr>
          <p:cNvSpPr>
            <a:spLocks noGrp="1"/>
          </p:cNvSpPr>
          <p:nvPr/>
        </p:nvSpPr>
        <p:spPr>
          <a:xfrm>
            <a:off x="1619250" y="50958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9924" lnSpcReduction="10000"/>
          </a:bodyPr>
          <a:lstStyle/>
          <a:p>
            <a:pPr algn="l">
              <a:buNone/>
              <a:defRPr sz="1650" b="1">
                <a:solidFill>
                  <a:srgbClr val="159A72"/>
                </a:solidFill>
              </a:defRPr>
            </a:pPr>
            <a:r>
              <a:rPr sz="1650" b="1">
                <a:solidFill>
                  <a:srgbClr val="159A72"/>
                </a:solidFill>
              </a:rPr>
              <a:t>Lectura del código</a:t>
            </a:r>
          </a:p>
        </p:txBody>
      </p:sp>
      <p:sp>
        <p:nvSpPr>
          <p:cNvPr id="216" name="Rectángulo 215">
            <a:extLst>
              <a:ext uri="{FF2B5EF4-FFF2-40B4-BE49-F238E27FC236}">
                <a16:creationId xmlns:a16="http://schemas.microsoft.com/office/drawing/2014/main" id="{EB6DDA14-49BF-46EC-AE1F-2481A26D36E0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676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0">
                <a:solidFill>
                  <a:srgbClr val="2F3E55"/>
                </a:solidFill>
              </a:defRPr>
            </a:pPr>
            <a:r>
              <a:rPr sz="1575" b="0">
                <a:solidFill>
                  <a:srgbClr val="2F3E55"/>
                </a:solidFill>
              </a:rPr>
              <a:t>Aclara qué representa cada atributo de una clase.</a:t>
            </a:r>
          </a:p>
        </p:txBody>
      </p:sp>
    </p:spTree>
    <p:extLst>
      <p:ext uri="{BB962C8B-B14F-4D97-AF65-F5344CB8AC3E}">
        <p14:creationId xmlns:p14="http://schemas.microsoft.com/office/powerpoint/2010/main" val="15450919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200" grpId="0" animBg="1"/>
      <p:bldP spid="201" grpId="0"/>
      <p:bldP spid="202" grpId="0" animBg="1"/>
      <p:bldP spid="203" grpId="0"/>
      <p:bldP spid="204" grpId="0"/>
      <p:bldP spid="205" grpId="0" animBg="1"/>
      <p:bldP spid="206" grpId="0" animBg="1"/>
      <p:bldP spid="207" grpId="0"/>
      <p:bldP spid="208" grpId="0"/>
      <p:bldP spid="209" grpId="0" animBg="1"/>
      <p:bldP spid="210" grpId="0" animBg="1"/>
      <p:bldP spid="211" grpId="0"/>
      <p:bldP spid="212" grpId="0"/>
      <p:bldP spid="213" grpId="0" animBg="1"/>
      <p:bldP spid="214" grpId="0" animBg="1"/>
      <p:bldP spid="215" grpId="0"/>
      <p:bldP spid="2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0D2C3-C00E-18DF-0274-9E0BBD47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112;p15">
            <a:extLst>
              <a:ext uri="{FF2B5EF4-FFF2-40B4-BE49-F238E27FC236}">
                <a16:creationId xmlns:a16="http://schemas.microsoft.com/office/drawing/2014/main" id="{6AB0D2CE-D73D-1D70-0908-AEA30E4F7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9016F105-4D76-4AC7-8D2B-D805B4B94D9A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LECTURA DE UNA DECLARACIÓN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4EAB6219-3EFD-BF56-8F1B-29EF312522B7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defRPr sz="2925" b="1">
                <a:solidFill>
                  <a:srgbClr val="2446B8"/>
                </a:solidFill>
              </a:defRPr>
            </a:pPr>
            <a:r>
              <a:rPr lang="es-CO" sz="2925" b="1" dirty="0"/>
              <a:t>DE LA DECLARACIÓN AL VALOR</a:t>
            </a:r>
            <a:endParaRPr sz="2925" b="1" dirty="0">
              <a:solidFill>
                <a:srgbClr val="2446B8"/>
              </a:solidFill>
            </a:endParaRP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AD1FACC4-C881-334F-CFBA-97DBABE48F53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933F40C2-9D86-2509-46E1-E61B9648446D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10327498-FC98-383A-F3B0-AAB566B1482F}"/>
              </a:ext>
            </a:extLst>
          </p:cNvPr>
          <p:cNvSpPr>
            <a:spLocks noGrp="1"/>
          </p:cNvSpPr>
          <p:nvPr/>
        </p:nvSpPr>
        <p:spPr>
          <a:xfrm>
            <a:off x="10839450" y="648652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199" name="Rectángulo 198">
            <a:extLst>
              <a:ext uri="{FF2B5EF4-FFF2-40B4-BE49-F238E27FC236}">
                <a16:creationId xmlns:a16="http://schemas.microsoft.com/office/drawing/2014/main" id="{2E069005-862E-7A2D-A0D3-AF734C9C8151}"/>
              </a:ext>
            </a:extLst>
          </p:cNvPr>
          <p:cNvSpPr>
            <a:spLocks noGrp="1"/>
          </p:cNvSpPr>
          <p:nvPr/>
        </p:nvSpPr>
        <p:spPr>
          <a:xfrm>
            <a:off x="952500" y="1456551"/>
            <a:ext cx="615848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buNone/>
              <a:defRPr sz="1725" b="0">
                <a:solidFill>
                  <a:srgbClr val="64748B"/>
                </a:solidFill>
              </a:defRPr>
            </a:pPr>
            <a:r>
              <a:rPr lang="es-CO" b="1" dirty="0"/>
              <a:t>1. Declarar</a:t>
            </a:r>
            <a:endParaRPr sz="1725" b="0" dirty="0">
              <a:solidFill>
                <a:srgbClr val="64748B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41561C1-2E8D-183C-7F24-C16C56CD3B85}"/>
              </a:ext>
            </a:extLst>
          </p:cNvPr>
          <p:cNvSpPr txBox="1"/>
          <p:nvPr/>
        </p:nvSpPr>
        <p:spPr>
          <a:xfrm>
            <a:off x="952500" y="1851064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String nombre;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A7DC950-8FE6-2B3B-4134-6E462CB4AB07}"/>
              </a:ext>
            </a:extLst>
          </p:cNvPr>
          <p:cNvSpPr txBox="1"/>
          <p:nvPr/>
        </p:nvSpPr>
        <p:spPr>
          <a:xfrm>
            <a:off x="952500" y="2286149"/>
            <a:ext cx="9087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¿Qué significa?</a:t>
            </a:r>
            <a:endParaRPr lang="es-CO" dirty="0"/>
          </a:p>
          <a:p>
            <a:pPr>
              <a:buNone/>
            </a:pPr>
            <a:r>
              <a:rPr lang="es-CO" dirty="0"/>
              <a:t>Reservamos un nombre para almacenar información de tipo texto.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9F8F6C1-347F-AFF9-52AF-C68D04552094}"/>
              </a:ext>
            </a:extLst>
          </p:cNvPr>
          <p:cNvSpPr>
            <a:spLocks noGrp="1"/>
          </p:cNvSpPr>
          <p:nvPr/>
        </p:nvSpPr>
        <p:spPr>
          <a:xfrm>
            <a:off x="952500" y="2998233"/>
            <a:ext cx="615848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buNone/>
              <a:defRPr sz="1725" b="0">
                <a:solidFill>
                  <a:srgbClr val="64748B"/>
                </a:solidFill>
              </a:defRPr>
            </a:pPr>
            <a:r>
              <a:rPr lang="es-CO" b="1" dirty="0"/>
              <a:t>2. Asignar</a:t>
            </a:r>
            <a:endParaRPr sz="1725" b="0" dirty="0">
              <a:solidFill>
                <a:srgbClr val="64748B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6B68964-ADE0-BF20-C6DA-D8122C42E130}"/>
              </a:ext>
            </a:extLst>
          </p:cNvPr>
          <p:cNvSpPr txBox="1"/>
          <p:nvPr/>
        </p:nvSpPr>
        <p:spPr>
          <a:xfrm>
            <a:off x="952500" y="3392746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String nombre;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0A2104-C974-6368-EF29-E37191445F1B}"/>
              </a:ext>
            </a:extLst>
          </p:cNvPr>
          <p:cNvSpPr txBox="1"/>
          <p:nvPr/>
        </p:nvSpPr>
        <p:spPr>
          <a:xfrm>
            <a:off x="952500" y="3827831"/>
            <a:ext cx="9087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¿Qué significa?</a:t>
            </a:r>
            <a:endParaRPr lang="es-CO" dirty="0"/>
          </a:p>
          <a:p>
            <a:r>
              <a:rPr lang="es-CO" dirty="0"/>
              <a:t>Guardamos el valor "Laura" en nombre.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337628D-5B90-9216-35D0-009A92B9A747}"/>
              </a:ext>
            </a:extLst>
          </p:cNvPr>
          <p:cNvSpPr>
            <a:spLocks noGrp="1"/>
          </p:cNvSpPr>
          <p:nvPr/>
        </p:nvSpPr>
        <p:spPr>
          <a:xfrm>
            <a:off x="952500" y="4706124"/>
            <a:ext cx="615848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buNone/>
              <a:defRPr sz="1725" b="0">
                <a:solidFill>
                  <a:srgbClr val="64748B"/>
                </a:solidFill>
              </a:defRPr>
            </a:pPr>
            <a:r>
              <a:rPr lang="es-CO" b="1" dirty="0"/>
              <a:t>3. Declarar y asignar</a:t>
            </a:r>
            <a:endParaRPr sz="1725" b="0" dirty="0">
              <a:solidFill>
                <a:srgbClr val="64748B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593F203-CC3E-CD7E-CC19-4CFFDE8A2FC8}"/>
              </a:ext>
            </a:extLst>
          </p:cNvPr>
          <p:cNvSpPr txBox="1"/>
          <p:nvPr/>
        </p:nvSpPr>
        <p:spPr>
          <a:xfrm>
            <a:off x="1204722" y="5050278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String nombre = "Laura";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2B2A237-421E-123F-79F1-99AB525DBC17}"/>
              </a:ext>
            </a:extLst>
          </p:cNvPr>
          <p:cNvSpPr txBox="1"/>
          <p:nvPr/>
        </p:nvSpPr>
        <p:spPr>
          <a:xfrm>
            <a:off x="1204722" y="5487858"/>
            <a:ext cx="6158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b="1" dirty="0"/>
              <a:t>¿Qué ocurrió?</a:t>
            </a:r>
            <a:endParaRPr lang="es-CO" dirty="0"/>
          </a:p>
          <a:p>
            <a:pPr>
              <a:buNone/>
            </a:pPr>
            <a:r>
              <a:rPr lang="es-CO" dirty="0"/>
              <a:t>Indicamos el tipo, creamos el nombre y asignamos un valor.</a:t>
            </a:r>
          </a:p>
        </p:txBody>
      </p:sp>
    </p:spTree>
    <p:extLst>
      <p:ext uri="{BB962C8B-B14F-4D97-AF65-F5344CB8AC3E}">
        <p14:creationId xmlns:p14="http://schemas.microsoft.com/office/powerpoint/2010/main" val="307109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/>
      <p:bldP spid="3" grpId="0"/>
      <p:bldP spid="5" grpId="0"/>
      <p:bldP spid="6" grpId="0"/>
      <p:bldP spid="7" grpId="0"/>
      <p:bldP spid="8" grpId="0"/>
      <p:bldP spid="9" grpId="0"/>
      <p:bldP spid="11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CB15D-0971-AFA9-A067-1F6AA036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>
            <a:extLst>
              <a:ext uri="{FF2B5EF4-FFF2-40B4-BE49-F238E27FC236}">
                <a16:creationId xmlns:a16="http://schemas.microsoft.com/office/drawing/2014/main" id="{25BBCB18-A3B4-A1B2-0DB2-F03555076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4" name="Rectángulo 193">
            <a:extLst>
              <a:ext uri="{FF2B5EF4-FFF2-40B4-BE49-F238E27FC236}">
                <a16:creationId xmlns:a16="http://schemas.microsoft.com/office/drawing/2014/main" id="{EB783053-8250-06D2-6B04-0276670BB36D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125" b="1">
                <a:solidFill>
                  <a:srgbClr val="13A8E5"/>
                </a:solidFill>
              </a:defRPr>
            </a:pPr>
            <a:r>
              <a:rPr sz="1125" b="1">
                <a:solidFill>
                  <a:srgbClr val="13A8E5"/>
                </a:solidFill>
              </a:rPr>
              <a:t>DENTRO DE UNA CLASE</a:t>
            </a:r>
          </a:p>
        </p:txBody>
      </p:sp>
      <p:sp>
        <p:nvSpPr>
          <p:cNvPr id="195" name="Rectángulo 194">
            <a:extLst>
              <a:ext uri="{FF2B5EF4-FFF2-40B4-BE49-F238E27FC236}">
                <a16:creationId xmlns:a16="http://schemas.microsoft.com/office/drawing/2014/main" id="{660C16F9-D6A7-2489-71F7-431F835A0C4E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defRPr sz="2925" b="1">
                <a:solidFill>
                  <a:srgbClr val="2446B8"/>
                </a:solidFill>
              </a:defRPr>
            </a:pPr>
            <a:r>
              <a:rPr lang="es-CO" sz="2925" b="1" dirty="0"/>
              <a:t>Actividad: ¿Qué tipo de dato usarías?</a:t>
            </a:r>
            <a:endParaRPr sz="2925" b="1" dirty="0">
              <a:solidFill>
                <a:srgbClr val="2446B8"/>
              </a:solidFill>
            </a:endParaRP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C45F6616-0373-4CDF-263A-774D90A576FE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2560D41F-737C-73F9-2CBA-00FE15ADD46E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C2C5058E-4DFE-7249-CA2C-1818FFE8E1B9}"/>
              </a:ext>
            </a:extLst>
          </p:cNvPr>
          <p:cNvSpPr>
            <a:spLocks noGrp="1"/>
          </p:cNvSpPr>
          <p:nvPr/>
        </p:nvSpPr>
        <p:spPr>
          <a:xfrm>
            <a:off x="685800" y="1560386"/>
            <a:ext cx="4857750" cy="3009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1725" b="0">
                <a:solidFill>
                  <a:srgbClr val="2F3E55"/>
                </a:solidFill>
              </a:defRPr>
            </a:pPr>
            <a:r>
              <a:rPr lang="es-CO" sz="1725" dirty="0"/>
              <a:t>Selecciona el tipo de dato más apropiado</a:t>
            </a:r>
            <a:endParaRPr sz="1725" b="0" dirty="0">
              <a:solidFill>
                <a:srgbClr val="2F3E55"/>
              </a:solidFill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FA031AD-8A07-0684-3883-EF1A5DE47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38650"/>
              </p:ext>
            </p:extLst>
          </p:nvPr>
        </p:nvGraphicFramePr>
        <p:xfrm>
          <a:off x="833437" y="2171700"/>
          <a:ext cx="6066984" cy="2926080"/>
        </p:xfrm>
        <a:graphic>
          <a:graphicData uri="http://schemas.openxmlformats.org/drawingml/2006/table">
            <a:tbl>
              <a:tblPr/>
              <a:tblGrid>
                <a:gridCol w="3033492">
                  <a:extLst>
                    <a:ext uri="{9D8B030D-6E8A-4147-A177-3AD203B41FA5}">
                      <a16:colId xmlns:a16="http://schemas.microsoft.com/office/drawing/2014/main" val="3213109888"/>
                    </a:ext>
                  </a:extLst>
                </a:gridCol>
                <a:gridCol w="3033492">
                  <a:extLst>
                    <a:ext uri="{9D8B030D-6E8A-4147-A177-3AD203B41FA5}">
                      <a16:colId xmlns:a16="http://schemas.microsoft.com/office/drawing/2014/main" val="3418525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Información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000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Edad de un estudiante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650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Nombre completo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334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Promedio académico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883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¿Está matriculado?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597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Inicial del segundo apellido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005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Número de materias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695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Precio de un computador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854642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80609736-1EC5-FCDA-1721-24C51EECFFCA}"/>
              </a:ext>
            </a:extLst>
          </p:cNvPr>
          <p:cNvSpPr txBox="1"/>
          <p:nvPr/>
        </p:nvSpPr>
        <p:spPr>
          <a:xfrm>
            <a:off x="7011162" y="2538961"/>
            <a:ext cx="61584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 err="1">
                <a:latin typeface="Courier New" panose="02070309020205020404" pitchFamily="49" charset="0"/>
              </a:rPr>
              <a:t>int</a:t>
            </a:r>
            <a:r>
              <a:rPr lang="es-CO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>
                <a:latin typeface="Courier New" panose="02070309020205020404" pitchFamily="49" charset="0"/>
              </a:rPr>
              <a:t>String</a:t>
            </a:r>
            <a:r>
              <a:rPr lang="es-CO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 err="1">
                <a:latin typeface="Courier New" panose="02070309020205020404" pitchFamily="49" charset="0"/>
              </a:rPr>
              <a:t>double</a:t>
            </a:r>
            <a:r>
              <a:rPr lang="es-CO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 err="1">
                <a:latin typeface="Courier New" panose="02070309020205020404" pitchFamily="49" charset="0"/>
              </a:rPr>
              <a:t>boolean</a:t>
            </a:r>
            <a:r>
              <a:rPr lang="es-CO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 err="1">
                <a:latin typeface="Courier New" panose="02070309020205020404" pitchFamily="49" charset="0"/>
              </a:rPr>
              <a:t>char</a:t>
            </a:r>
            <a:r>
              <a:rPr lang="es-CO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 err="1">
                <a:latin typeface="Courier New" panose="02070309020205020404" pitchFamily="49" charset="0"/>
              </a:rPr>
              <a:t>int</a:t>
            </a:r>
            <a:r>
              <a:rPr lang="es-CO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dirty="0" err="1">
                <a:latin typeface="Courier New" panose="02070309020205020404" pitchFamily="49" charset="0"/>
              </a:rPr>
              <a:t>double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677935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DB46-5125-DCF1-7AAB-303C1AD1B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>
            <a:extLst>
              <a:ext uri="{FF2B5EF4-FFF2-40B4-BE49-F238E27FC236}">
                <a16:creationId xmlns:a16="http://schemas.microsoft.com/office/drawing/2014/main" id="{A0BC3D17-2E11-EB23-8241-E75028439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5" name="Rectángulo 194">
            <a:extLst>
              <a:ext uri="{FF2B5EF4-FFF2-40B4-BE49-F238E27FC236}">
                <a16:creationId xmlns:a16="http://schemas.microsoft.com/office/drawing/2014/main" id="{9765E7E5-A958-8065-07E2-A69F7A65BA97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defRPr sz="2925" b="1">
                <a:solidFill>
                  <a:srgbClr val="2446B8"/>
                </a:solidFill>
              </a:defRPr>
            </a:pPr>
            <a:r>
              <a:rPr lang="es-CO" sz="2925" b="1" dirty="0"/>
              <a:t>PREDICE: ¿Java aceptaría esto?</a:t>
            </a:r>
            <a:endParaRPr sz="2925" b="1" dirty="0">
              <a:solidFill>
                <a:srgbClr val="2446B8"/>
              </a:solidFill>
            </a:endParaRP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90363756-A4CA-DC7D-86F9-ACCF3B5A3083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E4D44EA1-8E9A-186D-F666-B79DC4C1D499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257EF64D-8C79-82B8-FF40-16943F28A908}"/>
              </a:ext>
            </a:extLst>
          </p:cNvPr>
          <p:cNvSpPr>
            <a:spLocks noGrp="1"/>
          </p:cNvSpPr>
          <p:nvPr/>
        </p:nvSpPr>
        <p:spPr>
          <a:xfrm>
            <a:off x="685800" y="1560386"/>
            <a:ext cx="4857750" cy="3009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1725" b="0">
                <a:solidFill>
                  <a:srgbClr val="2F3E55"/>
                </a:solidFill>
              </a:defRPr>
            </a:pPr>
            <a:r>
              <a:rPr lang="es-CO" sz="1725" dirty="0"/>
              <a:t>Selecciona el tipo de dato más apropiado</a:t>
            </a:r>
            <a:endParaRPr sz="1725" b="0" dirty="0">
              <a:solidFill>
                <a:srgbClr val="2F3E55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030545-2053-416D-AB3D-826E6C52B5C7}"/>
              </a:ext>
            </a:extLst>
          </p:cNvPr>
          <p:cNvSpPr txBox="1"/>
          <p:nvPr/>
        </p:nvSpPr>
        <p:spPr>
          <a:xfrm>
            <a:off x="685800" y="2065745"/>
            <a:ext cx="61584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int</a:t>
            </a:r>
            <a:r>
              <a:rPr lang="es-CO" dirty="0"/>
              <a:t> edad = 18;</a:t>
            </a:r>
          </a:p>
          <a:p>
            <a:endParaRPr lang="es-CO" dirty="0"/>
          </a:p>
          <a:p>
            <a:r>
              <a:rPr lang="es-CO" dirty="0"/>
              <a:t>String nombre = "Laura";</a:t>
            </a:r>
          </a:p>
          <a:p>
            <a:endParaRPr lang="es-CO" dirty="0"/>
          </a:p>
          <a:p>
            <a:r>
              <a:rPr lang="es-CO" dirty="0" err="1"/>
              <a:t>double</a:t>
            </a:r>
            <a:r>
              <a:rPr lang="es-CO" dirty="0"/>
              <a:t> promedio = 4.5;</a:t>
            </a:r>
          </a:p>
          <a:p>
            <a:endParaRPr lang="es-CO" dirty="0"/>
          </a:p>
          <a:p>
            <a:r>
              <a:rPr lang="es-CO" dirty="0" err="1"/>
              <a:t>boolean</a:t>
            </a:r>
            <a:r>
              <a:rPr lang="es-CO" dirty="0"/>
              <a:t> matriculado = "sí";</a:t>
            </a:r>
          </a:p>
          <a:p>
            <a:endParaRPr lang="es-CO" dirty="0"/>
          </a:p>
          <a:p>
            <a:r>
              <a:rPr lang="es-CO" dirty="0" err="1"/>
              <a:t>int</a:t>
            </a:r>
            <a:r>
              <a:rPr lang="es-CO" dirty="0"/>
              <a:t> ciudad = "Medellín";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9620F67-48EA-3058-6E96-B3A02F11779F}"/>
              </a:ext>
            </a:extLst>
          </p:cNvPr>
          <p:cNvSpPr txBox="1"/>
          <p:nvPr/>
        </p:nvSpPr>
        <p:spPr>
          <a:xfrm>
            <a:off x="685800" y="5200356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El valor debe ser compatible con el tipo de dato.</a:t>
            </a:r>
          </a:p>
        </p:txBody>
      </p:sp>
    </p:spTree>
    <p:extLst>
      <p:ext uri="{BB962C8B-B14F-4D97-AF65-F5344CB8AC3E}">
        <p14:creationId xmlns:p14="http://schemas.microsoft.com/office/powerpoint/2010/main" val="20582191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/>
      <p:bldP spid="5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B8BC-3627-7BEA-4846-8D8540C0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>
            <a:extLst>
              <a:ext uri="{FF2B5EF4-FFF2-40B4-BE49-F238E27FC236}">
                <a16:creationId xmlns:a16="http://schemas.microsoft.com/office/drawing/2014/main" id="{D0849276-7F19-743B-C6BB-64323345E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5" name="Rectángulo 194">
            <a:extLst>
              <a:ext uri="{FF2B5EF4-FFF2-40B4-BE49-F238E27FC236}">
                <a16:creationId xmlns:a16="http://schemas.microsoft.com/office/drawing/2014/main" id="{E2FC9BAA-B21C-3E7A-4587-E89C6C97FED8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defRPr sz="2925" b="1">
                <a:solidFill>
                  <a:srgbClr val="2446B8"/>
                </a:solidFill>
              </a:defRPr>
            </a:pPr>
            <a:r>
              <a:rPr lang="es-CO" sz="2925" b="1" dirty="0"/>
              <a:t>RETO</a:t>
            </a:r>
            <a:endParaRPr sz="2925" b="1" dirty="0">
              <a:solidFill>
                <a:srgbClr val="2446B8"/>
              </a:solidFill>
            </a:endParaRP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C5E4B356-7D08-00CD-DE72-A47C5E26C9C6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9CEB6748-8FE4-1F5B-FB7F-D14EC64EDB0C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630ECD78-7393-4C4A-118C-0BE1826FCC67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396728" cy="3009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es-CO" sz="2400" dirty="0"/>
              <a:t>Una empresa está desarrollando una aplicación para controlar </a:t>
            </a:r>
            <a:r>
              <a:rPr lang="es-CO" sz="2400" b="1" dirty="0"/>
              <a:t>patinetas eléctricas</a:t>
            </a:r>
            <a:r>
              <a:rPr lang="es-CO" sz="2400" dirty="0"/>
              <a:t>.</a:t>
            </a:r>
          </a:p>
          <a:p>
            <a:endParaRPr lang="es-CO" sz="2400" dirty="0"/>
          </a:p>
          <a:p>
            <a:r>
              <a:rPr lang="es-CO" sz="2400" dirty="0"/>
              <a:t>De cada patineta necesita conocer: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2400" dirty="0"/>
              <a:t>su marca,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2400" dirty="0"/>
              <a:t>el porcentaje de batería,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2400" dirty="0"/>
              <a:t>la velocidad máxima,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2400" dirty="0"/>
              <a:t>y si se encuentra encendida o apagada. </a:t>
            </a:r>
          </a:p>
          <a:p>
            <a:endParaRPr lang="es-CO" sz="2400" b="1" dirty="0"/>
          </a:p>
          <a:p>
            <a:endParaRPr lang="es-CO" sz="2400" b="1" dirty="0"/>
          </a:p>
          <a:p>
            <a:r>
              <a:rPr lang="es-CO" sz="2400" b="1" dirty="0"/>
              <a:t>¿Cómo podríamos representar una patineta mediante una clase en Java?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872735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631D9-2646-F266-DE14-D4714DE6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2;p15">
            <a:extLst>
              <a:ext uri="{FF2B5EF4-FFF2-40B4-BE49-F238E27FC236}">
                <a16:creationId xmlns:a16="http://schemas.microsoft.com/office/drawing/2014/main" id="{58A2D58D-01CF-B26D-DFD3-3CAF82442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0" y="36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95" name="Rectángulo 194">
            <a:extLst>
              <a:ext uri="{FF2B5EF4-FFF2-40B4-BE49-F238E27FC236}">
                <a16:creationId xmlns:a16="http://schemas.microsoft.com/office/drawing/2014/main" id="{B04A4ABA-F2AB-504A-604B-02EC5635BE75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>
              <a:defRPr sz="2925" b="1">
                <a:solidFill>
                  <a:srgbClr val="2446B8"/>
                </a:solidFill>
              </a:defRPr>
            </a:pPr>
            <a:r>
              <a:rPr lang="es-CO" sz="2925" b="1" dirty="0"/>
              <a:t>RETO</a:t>
            </a:r>
            <a:endParaRPr sz="2925" b="1" dirty="0">
              <a:solidFill>
                <a:srgbClr val="2446B8"/>
              </a:solidFill>
            </a:endParaRPr>
          </a:p>
        </p:txBody>
      </p:sp>
      <p:sp>
        <p:nvSpPr>
          <p:cNvPr id="196" name="Rectángulo 195">
            <a:extLst>
              <a:ext uri="{FF2B5EF4-FFF2-40B4-BE49-F238E27FC236}">
                <a16:creationId xmlns:a16="http://schemas.microsoft.com/office/drawing/2014/main" id="{EC6DDCB8-4A4D-31F6-DB3E-13BE183DA108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10820400" cy="38100"/>
          </a:xfrm>
          <a:prstGeom prst="rect">
            <a:avLst/>
          </a:prstGeom>
          <a:solidFill>
            <a:srgbClr val="13A8E5"/>
          </a:solidFill>
          <a:ln w="0">
            <a:solidFill>
              <a:srgbClr val="13A8E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7" name="Rectángulo 196">
            <a:extLst>
              <a:ext uri="{FF2B5EF4-FFF2-40B4-BE49-F238E27FC236}">
                <a16:creationId xmlns:a16="http://schemas.microsoft.com/office/drawing/2014/main" id="{B6B762AD-2FE6-0998-9AB4-DFD35F135751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987" lnSpcReduction="10000"/>
          </a:bodyPr>
          <a:lstStyle/>
          <a:p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Lógica de Programación · Sesión 4</a:t>
            </a:r>
          </a:p>
        </p:txBody>
      </p:sp>
      <p:sp>
        <p:nvSpPr>
          <p:cNvPr id="204" name="Rectángulo 203">
            <a:extLst>
              <a:ext uri="{FF2B5EF4-FFF2-40B4-BE49-F238E27FC236}">
                <a16:creationId xmlns:a16="http://schemas.microsoft.com/office/drawing/2014/main" id="{B3FF9175-E7CE-FD73-92CC-5B8AD0CAF0DB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396728" cy="5680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es-CO" sz="2400" b="1" dirty="0"/>
              <a:t>Modela un videojuego</a:t>
            </a:r>
          </a:p>
          <a:p>
            <a:r>
              <a:rPr lang="es-CO" sz="2400" dirty="0"/>
              <a:t>Una empresa quiere representar los </a:t>
            </a:r>
            <a:r>
              <a:rPr lang="es-CO" sz="2400" b="1" dirty="0"/>
              <a:t>videojuegos</a:t>
            </a:r>
            <a:r>
              <a:rPr lang="es-CO" sz="2400" dirty="0"/>
              <a:t> disponibles en su plataforma.</a:t>
            </a:r>
          </a:p>
          <a:p>
            <a:r>
              <a:rPr lang="es-CO" sz="2400" dirty="0"/>
              <a:t>De cada videojuego necesita conocer: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2400" dirty="0"/>
              <a:t>el nombre,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2400" dirty="0"/>
              <a:t>el precio,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2400" dirty="0"/>
              <a:t>la cantidad de jugadores permitidos,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sz="2400" dirty="0"/>
              <a:t>y si está disponible para jugar.</a:t>
            </a:r>
          </a:p>
          <a:p>
            <a:endParaRPr lang="es-CO" sz="2400" b="1" dirty="0"/>
          </a:p>
          <a:p>
            <a:r>
              <a:rPr lang="es-CO" sz="2400" b="1" dirty="0"/>
              <a:t>Lo que deben hacer</a:t>
            </a:r>
          </a:p>
          <a:p>
            <a:pPr marL="457200" lvl="0" indent="-457200">
              <a:buFont typeface="+mj-lt"/>
              <a:buAutoNum type="arabicPeriod"/>
            </a:pPr>
            <a:r>
              <a:rPr lang="es-CO" sz="2400" dirty="0"/>
              <a:t>Identificar el nombre de la clase.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s-CO" sz="2400" dirty="0"/>
              <a:t>Identificar los atributos.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s-CO" sz="2400" dirty="0"/>
              <a:t>Elegir el tipo de dato adecuado para cada atributo.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s-CO" sz="2400" dirty="0"/>
              <a:t>Escribir la estructura de la clase en Java.</a:t>
            </a:r>
          </a:p>
          <a:p>
            <a:pPr marL="457200" lvl="0" indent="-457200">
              <a:buFont typeface="+mj-lt"/>
              <a:buAutoNum type="arabicPeriod"/>
            </a:pPr>
            <a:r>
              <a:rPr lang="es-CO" sz="2400" dirty="0"/>
              <a:t>Qué posibles métodos podríamos agregar?</a:t>
            </a:r>
          </a:p>
        </p:txBody>
      </p:sp>
    </p:spTree>
    <p:extLst>
      <p:ext uri="{BB962C8B-B14F-4D97-AF65-F5344CB8AC3E}">
        <p14:creationId xmlns:p14="http://schemas.microsoft.com/office/powerpoint/2010/main" val="41333743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2600"/>
            <a:ext cx="12191760" cy="6832440"/>
          </a:xfrm>
          <a:prstGeom prst="rect">
            <a:avLst/>
          </a:prstGeom>
          <a:ln w="0">
            <a:noFill/>
          </a:ln>
        </p:spPr>
      </p:pic>
      <p:sp>
        <p:nvSpPr>
          <p:cNvPr id="151" name="Rectángulo 150">
            <a:extLst>
              <a:ext uri="{FF2B5EF4-FFF2-40B4-BE49-F238E27FC236}">
                <a16:creationId xmlns:a16="http://schemas.microsoft.com/office/drawing/2014/main" id="{5ED74319-FCB8-4AFF-B67C-BFF326587080}"/>
              </a:ext>
            </a:extLst>
          </p:cNvPr>
          <p:cNvSpPr>
            <a:spLocks noGrp="1"/>
          </p:cNvSpPr>
          <p:nvPr/>
        </p:nvSpPr>
        <p:spPr>
          <a:xfrm>
            <a:off x="1809750" y="195262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13A8E5"/>
                </a:solidFill>
              </a:defRPr>
            </a:pPr>
            <a:r>
              <a:rPr sz="1275" b="1">
                <a:solidFill>
                  <a:srgbClr val="13A8E5"/>
                </a:solidFill>
              </a:rPr>
              <a:t>CIERRE</a:t>
            </a:r>
          </a:p>
        </p:txBody>
      </p:sp>
      <p:sp>
        <p:nvSpPr>
          <p:cNvPr id="152" name="Rectángulo 151">
            <a:extLst>
              <a:ext uri="{FF2B5EF4-FFF2-40B4-BE49-F238E27FC236}">
                <a16:creationId xmlns:a16="http://schemas.microsoft.com/office/drawing/2014/main" id="{9876E714-9654-49F9-B3E4-89832942D446}"/>
              </a:ext>
            </a:extLst>
          </p:cNvPr>
          <p:cNvSpPr>
            <a:spLocks noGrp="1"/>
          </p:cNvSpPr>
          <p:nvPr/>
        </p:nvSpPr>
        <p:spPr>
          <a:xfrm>
            <a:off x="1428750" y="2333625"/>
            <a:ext cx="9334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3150" b="1">
                <a:solidFill>
                  <a:srgbClr val="FFFFFF"/>
                </a:solidFill>
              </a:defRPr>
            </a:pPr>
            <a:r>
              <a:rPr sz="3150" b="1" dirty="0">
                <a:solidFill>
                  <a:srgbClr val="FFFFFF"/>
                </a:solidFill>
              </a:rPr>
              <a:t>Ya </a:t>
            </a:r>
            <a:r>
              <a:rPr sz="3150" b="1" dirty="0" err="1">
                <a:solidFill>
                  <a:srgbClr val="FFFFFF"/>
                </a:solidFill>
              </a:rPr>
              <a:t>reconoces</a:t>
            </a:r>
            <a:r>
              <a:rPr sz="3150" b="1" dirty="0">
                <a:solidFill>
                  <a:srgbClr val="FFFFFF"/>
                </a:solidFill>
              </a:rPr>
              <a:t> el </a:t>
            </a:r>
            <a:r>
              <a:rPr sz="3150" b="1" dirty="0" err="1">
                <a:solidFill>
                  <a:srgbClr val="FFFFFF"/>
                </a:solidFill>
              </a:rPr>
              <a:t>modelo</a:t>
            </a:r>
            <a:r>
              <a:rPr sz="3150" b="1" dirty="0">
                <a:solidFill>
                  <a:srgbClr val="FFFFFF"/>
                </a:solidFill>
              </a:rPr>
              <a:t> </a:t>
            </a:r>
            <a:r>
              <a:rPr sz="3150" b="1" dirty="0" err="1">
                <a:solidFill>
                  <a:srgbClr val="FFFFFF"/>
                </a:solidFill>
              </a:rPr>
              <a:t>detrás</a:t>
            </a:r>
            <a:r>
              <a:rPr sz="3150" b="1" dirty="0">
                <a:solidFill>
                  <a:srgbClr val="FFFFFF"/>
                </a:solidFill>
              </a:rPr>
              <a:t> de Java</a:t>
            </a:r>
          </a:p>
        </p:txBody>
      </p:sp>
      <p:sp>
        <p:nvSpPr>
          <p:cNvPr id="153" name="Rectángulo 152">
            <a:extLst>
              <a:ext uri="{FF2B5EF4-FFF2-40B4-BE49-F238E27FC236}">
                <a16:creationId xmlns:a16="http://schemas.microsoft.com/office/drawing/2014/main" id="{23CBD56A-3DD3-4F4E-9DDE-4F488183FAEC}"/>
              </a:ext>
            </a:extLst>
          </p:cNvPr>
          <p:cNvSpPr>
            <a:spLocks noGrp="1"/>
          </p:cNvSpPr>
          <p:nvPr/>
        </p:nvSpPr>
        <p:spPr>
          <a:xfrm>
            <a:off x="2286000" y="3638550"/>
            <a:ext cx="762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Siguiente paso: convertir la colaboración en pseudocódigo</a:t>
            </a:r>
          </a:p>
        </p:txBody>
      </p:sp>
      <p:sp>
        <p:nvSpPr>
          <p:cNvPr id="154" name="Rectángulo: esquinas redondeadas 153">
            <a:extLst>
              <a:ext uri="{FF2B5EF4-FFF2-40B4-BE49-F238E27FC236}">
                <a16:creationId xmlns:a16="http://schemas.microsoft.com/office/drawing/2014/main" id="{BBEB1A4A-957F-4C64-A823-484D46A1CB9E}"/>
              </a:ext>
            </a:extLst>
          </p:cNvPr>
          <p:cNvSpPr>
            <a:spLocks noGrp="1"/>
          </p:cNvSpPr>
          <p:nvPr/>
        </p:nvSpPr>
        <p:spPr>
          <a:xfrm>
            <a:off x="4667250" y="4495800"/>
            <a:ext cx="2857500" cy="400050"/>
          </a:xfrm>
          <a:prstGeom prst="roundRect">
            <a:avLst>
              <a:gd name="adj" fmla="val 38095"/>
            </a:avLst>
          </a:prstGeom>
          <a:solidFill>
            <a:srgbClr val="1D5BB5"/>
          </a:solidFill>
          <a:ln w="0">
            <a:solidFill>
              <a:srgbClr val="1D5BB5"/>
            </a:solidFill>
            <a:prstDash val="solid"/>
          </a:ln>
        </p:spPr>
        <p:txBody>
          <a:bodyPr anchor="ctr">
            <a:normAutofit fontScale="60805" lnSpcReduction="2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 dirty="0" err="1">
                <a:solidFill>
                  <a:srgbClr val="FFFFFF"/>
                </a:solidFill>
              </a:rPr>
              <a:t>Próxima</a:t>
            </a:r>
            <a:r>
              <a:rPr sz="1350" b="1" dirty="0">
                <a:solidFill>
                  <a:srgbClr val="FFFFFF"/>
                </a:solidFill>
              </a:rPr>
              <a:t> </a:t>
            </a:r>
            <a:r>
              <a:rPr sz="1350" b="1" dirty="0" err="1">
                <a:solidFill>
                  <a:srgbClr val="FFFFFF"/>
                </a:solidFill>
              </a:rPr>
              <a:t>sesión</a:t>
            </a:r>
            <a:r>
              <a:rPr sz="1350" b="1" dirty="0">
                <a:solidFill>
                  <a:srgbClr val="FFFFFF"/>
                </a:solidFill>
              </a:rPr>
              <a:t> · Laboratorio de </a:t>
            </a:r>
            <a:r>
              <a:rPr sz="1350" b="1" dirty="0" err="1">
                <a:solidFill>
                  <a:srgbClr val="FFFFFF"/>
                </a:solidFill>
              </a:rPr>
              <a:t>algoritmos</a:t>
            </a:r>
            <a:r>
              <a:rPr sz="1350" b="1" dirty="0">
                <a:solidFill>
                  <a:srgbClr val="FFFFFF"/>
                </a:solidFill>
              </a:rPr>
              <a:t> y </a:t>
            </a:r>
            <a:r>
              <a:rPr sz="1350" b="1" dirty="0" err="1">
                <a:solidFill>
                  <a:srgbClr val="FFFFFF"/>
                </a:solidFill>
              </a:rPr>
              <a:t>pseudocódigo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155" name="Rectángulo 154">
            <a:extLst>
              <a:ext uri="{FF2B5EF4-FFF2-40B4-BE49-F238E27FC236}">
                <a16:creationId xmlns:a16="http://schemas.microsoft.com/office/drawing/2014/main" id="{6D15BFF0-68F7-4C80-97B9-E88DF45B5FF3}"/>
              </a:ext>
            </a:extLst>
          </p:cNvPr>
          <p:cNvSpPr>
            <a:spLocks noGrp="1"/>
          </p:cNvSpPr>
          <p:nvPr/>
        </p:nvSpPr>
        <p:spPr>
          <a:xfrm>
            <a:off x="3429000" y="51435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Sebastián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63121992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3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2045</Words>
  <Application>Microsoft Office PowerPoint</Application>
  <DocSecurity>0</DocSecurity>
  <PresentationFormat>Panorámica</PresentationFormat>
  <Paragraphs>416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SEBASTIAN MONTOYA VILLADA</cp:lastModifiedBy>
  <cp:revision>2</cp:revision>
  <dcterms:created xsi:type="dcterms:W3CDTF">2026-08-11T20:21:38Z</dcterms:created>
  <dcterms:modified xsi:type="dcterms:W3CDTF">2026-08-13T20:08:05Z</dcterms:modified>
</cp:coreProperties>
</file>