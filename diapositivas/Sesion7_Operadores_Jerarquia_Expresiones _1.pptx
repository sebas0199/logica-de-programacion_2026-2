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7" r:id="rId21"/>
    <p:sldId id="278" r:id="rId22"/>
    <p:sldId id="279"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0" autoAdjust="0"/>
    <p:restoredTop sz="94610"/>
  </p:normalViewPr>
  <p:slideViewPr>
    <p:cSldViewPr snapToGrid="0" snapToObjects="1">
      <p:cViewPr>
        <p:scale>
          <a:sx n="75" d="100"/>
          <a:sy n="75" d="100"/>
        </p:scale>
        <p:origin x="540"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2374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Abre recordando el cierre de la sesión anterior: que un programa compile no significa que el resultado esté bien. Esta sesión es exactamente sobre eso.
El tema tiene mala fama de aburrido; se sostiene si lo tratas como una cacería de errores silenciosos, no como una lista de reglas.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Ritmo previsto, para tu control y sin proyectarlo: apertura y arranque 8 · operadores 6 · división y residuo 8 · actividad 1 ocho · jerarquía y traza 9 · paréntesis 4 · actividad 2 diez · errores 4 · reglas de traducción 6 · Math 4 · actividad 3 doce · caso guía 8 · actividad 4 quince · cierre 5. Da 107 minutos.
Si la sesión es de 90, los recortes en orden: la tabla de Math se entrega como referencia sin explicarla (−4), la actividad 3 baja a dos fórmulas de las cuatro (−6), y el caso guía se lee ya resuelto en vez de construirlo (−5). Quedan 92.
Lo que no se recorta: la actividad 2 y la actividad 4. Son las que cubren el saber de la semana.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Este saber es el que sostiene toda la programación que viene: si la expresión está mal armada, el resto del programa no importa.
La columna izquierda no es relleno: hoy vas a apoyarte en cada punto, sobre todo en la asignación y en la lectura de datos.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Proyecta la diapositiva sin los resultados si prefieres: pregunta primero qué creen que imprime cada línea y deja que discutan un minuto.
El caso 1 es la promesa que quedó pendiente en la sesión 5 con el paréntesis del promedio. El caso 2 es nuevo y sorprende más, porque la variable es double y aun así el resultado sale entero.
No expliques todavía el porqué; anúncialo como las dos preguntas que la sesión responde.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Detente en el signo por: en el cuaderno escriben 3a o 3·a, y en Java eso no existe. Siempre 3 * a.
El residuo suele ser nuevo para ellos con este nombre; no lo expliques aquí, la diapositiva siguiente lo hace con dibujo.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La cuarta fila es la que más cuesta. Escríbela en el tablero y pregunta en voz alta: ¿qué pasa primero, la división o la asignación? La respuesta está en la escalera de jerarquía que viene más adelante.
Si preguntan por dividir entre cero: con enteros el programa se detiene con un error en ejecución; con reales entrega Infinity. Menciónalo solo si sale la pregunta.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Haz el dibujo en el tablero con la cantidad que ellos propongan. Es más convincente que el ejemplo impreso.
El patrón n / 10 % 10 conviene leerlo despacio: primero quita la última cifra, después toma la última de lo que quedó. Ese orden ya es jerarquía, y lo van a ver formalizado en tres diapositivas.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Insiste en que primero escriban y después ejecuten. Si abren el computador de una, la actividad pierde todo el valor.
Las que más fallan son c, d y f. La f sorprende porque nadie duda de la resta hasta que aparece dos veces seguidas.
Al cerrar, pide levantar la mano por cada literal fallado y cuenta en voz alta: el conteo público baja la vergüenza de haberse equivocado.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Recorre la escalera de arriba hacia abajo una sola vez y pasa rápido a la traza. La escalera sola no se aprende; se aprende usándola.
El nivel 5, la asignación, explica la trampa de double x = 7 / 2 que quedó abierta.
Si alguien pregunta por otros operadores del lenguaje: la escalera es más larga, y esos niveles se agregan cuando los necesitemos.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Haz la traza en el tablero antes de mostrar la diapositiva completa, con ellos dictándote qué se resuelve en cada paso.
El 18 / 2 % 4 es el punto interesante: división y residuo están en el mismo nivel, así que manda el orden de izquierda a derecha.
Deja la diapositiva proyectada durante la actividad 2: es el modelo de entrega.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El tercer caso junta los dos temas de la sesión: el paréntesis cambia el orden y, además, aparece la división entera. Vale la pena detenerse ahí treinta segundos.
Pregunta qué habría que cambiar para que el tercer caso dé 1.33. Basta con un 8.0 o un casting; que lo digan ellos.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Bloque de trabajo supervisado. Circula revisando las trazas, no los resultados: el resultado correcto con una traza saltada no sirve.
La d es la que más discusión genera, porque 12 / 4 % 3 obliga a aplicar izquierda a derecha. La e cae en división entera con paréntesis.
Respuestas para tu control: a 21 · b 36 · c 16 · d 8 · e 20.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El segundo merece un aparte: en Java el símbolo ^ existe, pero hace otra cosa completamente distinta. Por eso a veces compila y entrega un número sin sentido.
El quinto es el más sutil y es el que aparece en los ejercicios de conversión de unidades del trabajo independiente.
Este bloque anticipa el tema de la próxima sesión: los casos de prueba.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La regla 5 es la que más silencio produce, porque contradice la intuición: escribir 1/2 en un programa no vale un medio.
Pide que anoten las cinco reglas; son el instrumento de la actividad 3 y del trabajo independiente.
Regla 2: recuérdales que en la calculadora del celular tampoco existe la multiplicación implícita.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Lee de izquierda a derecha: fórmula, pseudocódigo, Java. El pseudocódigo del curso admite raiz( ) y pot( ), que se traducen directo a Math.sqrt y Math.pow.
En la tercera, el 0.5 en vez de 1/2 es la regla 5 aplicada. Señálalo.
La cuarta está partida en dos renglones a propósito: en Java una instrucción puede ocupar varias líneas y termina donde está el punto y coma.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Si vas ajustado de tiempo, esta es la diapositiva que se entrega sin explicar: basta con señalar pow y sqrt, que son las dos que usa la actividad 3.
Math.round entrega un entero de tipo long; si alguien lo asigna a un int el compilador se queja. Menciónalo solo si aparece.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Bloque de trabajo supervisado, el más largo de la sesión. Si el tiempo aprieta, deja solo A y D: A tiene la trampa de la división entera y D obliga a usar raíz y fracción a la vez.
En A, con B=10, b=7 y h=5 la expresión con enteros da 42 en vez de 42.5. Es exactamente el error que se busca.
En C el exponente es una variable, así que Math.pow es obligatorio; no sirve multiplicar.
Respuestas para tu control: A (10+7)*5/2.0 · B Math.PI*Math.pow(r,2)*h · C c*Math.pow(1+i,n) · D Math.sqrt(2.0*h/g).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Muestra las dos columnas al tiempo y recorre línea por línea, señalando el par. Es el mismo ejercicio de traducción de la sesión anterior, ahora con una expresión difícil.
Si hay tiempo, ejecútalo en vivo con 2 3 10 9 y después con 0 0 3 4, que da 5.0.
El programa de la diapositiva omite los mensajes de la lectura para que quepa; el archivo que se entrega sí los trae.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Este es el bloque de laboratorio propiamente dicho y el que no se recorta.
El orden de entrega importa: quien empieza escribiendo Java sin haber hecho el análisis casi siempre se enreda con el resto de 3600.
Si alguien termina temprano, pídele que agregue el caso 86399 y compruebe que da 23 59 59.
Solución para tu control: horas = t / 3600 · resto = t % 3600 · minutos = resto / 60 · segundos = resto % 60.</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Esta parte responde literalmente al trabajo independiente que pide el compromiso para esta semana: ejercicios de expresiones.
En A2 la trampa de la c y la d es que ni siquiera compilan; la b y la e compilan y entregan un resultado equivocado. Vale la pena que se den cuenta solos de la diferencia.
Respuestas de A1 para tu control: a 6 · b 3 · c 42 · d 3 · e 2 · f 4.</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Son los tres que más se parecen a los ejercicios que ya conocen de la plataforma anterior, para que el cambio de herramienta no se sienta como un cambio de dificultad.
El tercero tiene la trampa de la división entera: 50000 / 20 da un entero y hay que forzar el real para que las horas salgan con decimales.
El segundo se resuelve con una sola expresión, sin condicionales.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El cuarto es el más exigente de los seis: obliga a combinar división y residuo cuatro veces seguidas. Es también el más satisfactorio cuando sale.
En el sexto conviene aclarar que el valor siempre es múltiplo de 100 en los casos de prueba; los otros casos se tratan cuando veamos condicionales.
Si quieres reducir la carga, pide obligatorios el 1, el 2 y el 4, y deja los otros tres como opcionales con punto adicional.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4B"/>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206240" cy="4206240"/>
          </a:xfrm>
          <a:prstGeom prst="ellipse">
            <a:avLst/>
          </a:prstGeom>
          <a:solidFill>
            <a:srgbClr val="1C7293">
              <a:alpha val="22000"/>
            </a:srgbClr>
          </a:solidFill>
          <a:ln w="12700">
            <a:solidFill>
              <a:srgbClr val="1C7293">
                <a:alpha val="0"/>
              </a:srgbClr>
            </a:solidFill>
            <a:prstDash val="solid"/>
          </a:ln>
        </p:spPr>
        <p:txBody>
          <a:bodyPr/>
          <a:lstStyle/>
          <a:p>
            <a:endParaRPr lang="es-CO"/>
          </a:p>
        </p:txBody>
      </p:sp>
      <p:sp>
        <p:nvSpPr>
          <p:cNvPr id="3" name="Shape 1"/>
          <p:cNvSpPr/>
          <p:nvPr/>
        </p:nvSpPr>
        <p:spPr>
          <a:xfrm>
            <a:off x="-1280160" y="4206240"/>
            <a:ext cx="3840480" cy="3840480"/>
          </a:xfrm>
          <a:prstGeom prst="ellipse">
            <a:avLst/>
          </a:prstGeom>
          <a:solidFill>
            <a:srgbClr val="FFB100">
              <a:alpha val="12000"/>
            </a:srgbClr>
          </a:solidFill>
          <a:ln w="12700">
            <a:solidFill>
              <a:srgbClr val="FFB100">
                <a:alpha val="0"/>
              </a:srgbClr>
            </a:solidFill>
            <a:prstDash val="solid"/>
          </a:ln>
        </p:spPr>
        <p:txBody>
          <a:bodyPr/>
          <a:lstStyle/>
          <a:p>
            <a:endParaRPr lang="es-CO"/>
          </a:p>
        </p:txBody>
      </p:sp>
      <p:sp>
        <p:nvSpPr>
          <p:cNvPr id="4" name="Text 2"/>
          <p:cNvSpPr/>
          <p:nvPr/>
        </p:nvSpPr>
        <p:spPr>
          <a:xfrm>
            <a:off x="548640" y="1481328"/>
            <a:ext cx="10058400" cy="365760"/>
          </a:xfrm>
          <a:prstGeom prst="rect">
            <a:avLst/>
          </a:prstGeom>
          <a:noFill/>
          <a:ln/>
        </p:spPr>
        <p:txBody>
          <a:bodyPr wrap="square" lIns="0" tIns="0" rIns="0" bIns="0" rtlCol="0" anchor="ctr"/>
          <a:lstStyle/>
          <a:p>
            <a:pPr marL="0" indent="0">
              <a:buNone/>
            </a:pPr>
            <a:r>
              <a:rPr lang="en-US" sz="1400" b="1" kern="0" spc="200" dirty="0">
                <a:solidFill>
                  <a:srgbClr val="CADCFC"/>
                </a:solidFill>
                <a:latin typeface="Calibri" pitchFamily="34" charset="0"/>
                <a:ea typeface="Calibri" pitchFamily="34" charset="-122"/>
                <a:cs typeface="Calibri" pitchFamily="34" charset="-120"/>
              </a:rPr>
              <a:t>LÓGICA DE PROGRAMACIÓN Y LABORATORIO</a:t>
            </a:r>
            <a:endParaRPr lang="en-US" sz="1400" dirty="0"/>
          </a:p>
        </p:txBody>
      </p:sp>
      <p:sp>
        <p:nvSpPr>
          <p:cNvPr id="5" name="Text 3"/>
          <p:cNvSpPr/>
          <p:nvPr/>
        </p:nvSpPr>
        <p:spPr>
          <a:xfrm>
            <a:off x="548640" y="1901952"/>
            <a:ext cx="10058400" cy="502920"/>
          </a:xfrm>
          <a:prstGeom prst="rect">
            <a:avLst/>
          </a:prstGeom>
          <a:noFill/>
          <a:ln/>
        </p:spPr>
        <p:txBody>
          <a:bodyPr wrap="square" lIns="0" tIns="0" rIns="0" bIns="0" rtlCol="0" anchor="ctr"/>
          <a:lstStyle/>
          <a:p>
            <a:pPr marL="0" indent="0">
              <a:buNone/>
            </a:pPr>
            <a:r>
              <a:rPr lang="en-US" sz="2000" b="1" dirty="0">
                <a:solidFill>
                  <a:srgbClr val="FFB100"/>
                </a:solidFill>
                <a:latin typeface="Calibri" pitchFamily="34" charset="0"/>
                <a:ea typeface="Calibri" pitchFamily="34" charset="-122"/>
                <a:cs typeface="Calibri" pitchFamily="34" charset="-120"/>
              </a:rPr>
              <a:t>Semana 3 · Sesión 7</a:t>
            </a:r>
            <a:endParaRPr lang="en-US" sz="2000" dirty="0"/>
          </a:p>
        </p:txBody>
      </p:sp>
      <p:sp>
        <p:nvSpPr>
          <p:cNvPr id="6" name="Text 4"/>
          <p:cNvSpPr/>
          <p:nvPr/>
        </p:nvSpPr>
        <p:spPr>
          <a:xfrm>
            <a:off x="548640" y="2450592"/>
            <a:ext cx="10515600" cy="1737360"/>
          </a:xfrm>
          <a:prstGeom prst="rect">
            <a:avLst/>
          </a:prstGeom>
          <a:noFill/>
          <a:ln/>
        </p:spPr>
        <p:txBody>
          <a:bodyPr wrap="square" lIns="0" tIns="0" rIns="0" bIns="0" rtlCol="0" anchor="ctr"/>
          <a:lstStyle/>
          <a:p>
            <a:pPr marL="0" indent="0">
              <a:lnSpc>
                <a:spcPts val="4600"/>
              </a:lnSpc>
              <a:buNone/>
            </a:pPr>
            <a:r>
              <a:rPr lang="en-US" sz="4400" b="1" dirty="0">
                <a:solidFill>
                  <a:srgbClr val="FFFFFF"/>
                </a:solidFill>
                <a:latin typeface="Cambria" pitchFamily="34" charset="0"/>
                <a:ea typeface="Cambria" pitchFamily="34" charset="-122"/>
                <a:cs typeface="Cambria" pitchFamily="34" charset="-120"/>
              </a:rPr>
              <a:t>Operadores, jerarquía</a:t>
            </a:r>
            <a:endParaRPr lang="en-US" sz="4400" dirty="0"/>
          </a:p>
          <a:p>
            <a:pPr marL="0" indent="0">
              <a:lnSpc>
                <a:spcPts val="4600"/>
              </a:lnSpc>
              <a:buNone/>
            </a:pPr>
            <a:r>
              <a:rPr lang="en-US" sz="4400" b="1" dirty="0">
                <a:solidFill>
                  <a:srgbClr val="FFFFFF"/>
                </a:solidFill>
                <a:latin typeface="Cambria" pitchFamily="34" charset="0"/>
                <a:ea typeface="Cambria" pitchFamily="34" charset="-122"/>
                <a:cs typeface="Cambria" pitchFamily="34" charset="-120"/>
              </a:rPr>
              <a:t>y expresiones</a:t>
            </a:r>
            <a:endParaRPr lang="en-US" sz="4400" dirty="0"/>
          </a:p>
        </p:txBody>
      </p:sp>
      <p:sp>
        <p:nvSpPr>
          <p:cNvPr id="7" name="Text 5"/>
          <p:cNvSpPr/>
          <p:nvPr/>
        </p:nvSpPr>
        <p:spPr>
          <a:xfrm>
            <a:off x="548640" y="4297680"/>
            <a:ext cx="10241280" cy="45720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Dos programas que compilan pueden entregar resultados distintos. La diferencia está en el orden y en el tipo.</a:t>
            </a:r>
            <a:endParaRPr lang="en-US" sz="1500" dirty="0"/>
          </a:p>
        </p:txBody>
      </p:sp>
      <p:sp>
        <p:nvSpPr>
          <p:cNvPr id="8" name="Shape 6"/>
          <p:cNvSpPr/>
          <p:nvPr/>
        </p:nvSpPr>
        <p:spPr>
          <a:xfrm>
            <a:off x="548640" y="4937760"/>
            <a:ext cx="2011680" cy="0"/>
          </a:xfrm>
          <a:prstGeom prst="line">
            <a:avLst/>
          </a:prstGeom>
          <a:noFill/>
          <a:ln w="31750">
            <a:solidFill>
              <a:srgbClr val="FFB100"/>
            </a:solidFill>
            <a:prstDash val="solid"/>
          </a:ln>
        </p:spPr>
        <p:txBody>
          <a:bodyPr/>
          <a:lstStyle/>
          <a:p>
            <a:endParaRPr lang="es-CO"/>
          </a:p>
        </p:txBody>
      </p:sp>
      <p:sp>
        <p:nvSpPr>
          <p:cNvPr id="9" name="Text 7"/>
          <p:cNvSpPr/>
          <p:nvPr/>
        </p:nvSpPr>
        <p:spPr>
          <a:xfrm>
            <a:off x="548640" y="5175504"/>
            <a:ext cx="10058400" cy="320040"/>
          </a:xfrm>
          <a:prstGeom prst="rect">
            <a:avLst/>
          </a:prstGeom>
          <a:noFill/>
          <a:ln/>
        </p:spPr>
        <p:txBody>
          <a:bodyPr wrap="square" lIns="0" tIns="0" rIns="0" bIns="0" rtlCol="0" anchor="ctr"/>
          <a:lstStyle/>
          <a:p>
            <a:pPr marL="0" indent="0">
              <a:buNone/>
            </a:pPr>
            <a:r>
              <a:rPr lang="en-US" sz="1200" dirty="0">
                <a:solidFill>
                  <a:srgbClr val="8FA6C4"/>
                </a:solidFill>
                <a:latin typeface="Calibri" pitchFamily="34" charset="0"/>
                <a:ea typeface="Calibri" pitchFamily="34" charset="-122"/>
                <a:cs typeface="Calibri" pitchFamily="34" charset="-120"/>
              </a:rPr>
              <a:t>Institución Universitaria ITM  ·  Tecnología en Desarrollo de Software  ·  Grupo 27</a:t>
            </a:r>
            <a:endParaRPr lang="en-US" sz="1200" dirty="0"/>
          </a:p>
        </p:txBody>
      </p:sp>
      <p:sp>
        <p:nvSpPr>
          <p:cNvPr id="10" name="Text 8"/>
          <p:cNvSpPr/>
          <p:nvPr/>
        </p:nvSpPr>
        <p:spPr>
          <a:xfrm>
            <a:off x="548640" y="5495544"/>
            <a:ext cx="10058400" cy="320040"/>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Sebastián Montoya Villada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SESIÓN 7</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Objetivo y ruta de la sesión</a:t>
            </a:r>
            <a:endParaRPr lang="en-US" sz="2900" dirty="0"/>
          </a:p>
        </p:txBody>
      </p:sp>
      <p:sp>
        <p:nvSpPr>
          <p:cNvPr id="4" name="Shape 2"/>
          <p:cNvSpPr/>
          <p:nvPr/>
        </p:nvSpPr>
        <p:spPr>
          <a:xfrm>
            <a:off x="548640" y="1444752"/>
            <a:ext cx="11091672" cy="1088136"/>
          </a:xfrm>
          <a:prstGeom prst="roundRect">
            <a:avLst>
              <a:gd name="adj" fmla="val 7273"/>
            </a:avLst>
          </a:prstGeom>
          <a:solidFill>
            <a:srgbClr val="F4F7FB"/>
          </a:solidFill>
          <a:ln w="12700">
            <a:solidFill>
              <a:srgbClr val="F4F7FB"/>
            </a:solidFill>
            <a:prstDash val="solid"/>
          </a:ln>
        </p:spPr>
        <p:txBody>
          <a:bodyPr/>
          <a:lstStyle/>
          <a:p>
            <a:endParaRPr lang="es-CO"/>
          </a:p>
        </p:txBody>
      </p:sp>
      <p:sp>
        <p:nvSpPr>
          <p:cNvPr id="5" name="Text 3"/>
          <p:cNvSpPr/>
          <p:nvPr/>
        </p:nvSpPr>
        <p:spPr>
          <a:xfrm>
            <a:off x="822960" y="1554480"/>
            <a:ext cx="10543032" cy="822960"/>
          </a:xfrm>
          <a:prstGeom prst="rect">
            <a:avLst/>
          </a:prstGeom>
          <a:noFill/>
          <a:ln/>
        </p:spPr>
        <p:txBody>
          <a:bodyPr wrap="square" lIns="0" tIns="0" rIns="0" bIns="0" rtlCol="0" anchor="t"/>
          <a:lstStyle/>
          <a:p>
            <a:pPr marL="0" indent="0">
              <a:lnSpc>
                <a:spcPts val="1900"/>
              </a:lnSpc>
              <a:buNone/>
            </a:pPr>
            <a:r>
              <a:rPr lang="en-US" sz="1500" b="1" dirty="0">
                <a:solidFill>
                  <a:srgbClr val="13294B"/>
                </a:solidFill>
                <a:latin typeface="Calibri" pitchFamily="34" charset="0"/>
                <a:ea typeface="Calibri" pitchFamily="34" charset="-122"/>
                <a:cs typeface="Calibri" pitchFamily="34" charset="-120"/>
              </a:rPr>
              <a:t>Objetivo de aprendizaje
</a:t>
            </a:r>
            <a:endParaRPr lang="en-US" sz="1500" dirty="0"/>
          </a:p>
          <a:p>
            <a:pPr marL="0" indent="0">
              <a:lnSpc>
                <a:spcPts val="1900"/>
              </a:lnSpc>
              <a:buNone/>
            </a:pPr>
            <a:r>
              <a:rPr lang="en-US" sz="1400" dirty="0">
                <a:solidFill>
                  <a:srgbClr val="1A1A2E"/>
                </a:solidFill>
                <a:latin typeface="Calibri" pitchFamily="34" charset="0"/>
                <a:ea typeface="Calibri" pitchFamily="34" charset="-122"/>
                <a:cs typeface="Calibri" pitchFamily="34" charset="-120"/>
              </a:rPr>
              <a:t>Construir expresiones aritméticas correctas en pseudocódigo y en Java, aplicando la jerarquía de operadores y convirtiendo fórmulas algebraicas en expresiones algorítmicas.</a:t>
            </a:r>
            <a:endParaRPr lang="en-US" sz="1500" dirty="0"/>
          </a:p>
        </p:txBody>
      </p:sp>
      <p:sp>
        <p:nvSpPr>
          <p:cNvPr id="6" name="Shape 4"/>
          <p:cNvSpPr/>
          <p:nvPr/>
        </p:nvSpPr>
        <p:spPr>
          <a:xfrm>
            <a:off x="548640" y="2670048"/>
            <a:ext cx="365760" cy="365760"/>
          </a:xfrm>
          <a:prstGeom prst="ellipse">
            <a:avLst/>
          </a:prstGeom>
          <a:solidFill>
            <a:srgbClr val="1C7293"/>
          </a:solidFill>
          <a:ln w="12700">
            <a:solidFill>
              <a:srgbClr val="1C7293"/>
            </a:solidFill>
            <a:prstDash val="solid"/>
          </a:ln>
        </p:spPr>
        <p:txBody>
          <a:bodyPr/>
          <a:lstStyle/>
          <a:p>
            <a:endParaRPr lang="es-CO"/>
          </a:p>
        </p:txBody>
      </p:sp>
      <p:sp>
        <p:nvSpPr>
          <p:cNvPr id="7" name="Text 5"/>
          <p:cNvSpPr/>
          <p:nvPr/>
        </p:nvSpPr>
        <p:spPr>
          <a:xfrm>
            <a:off x="548640" y="26700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097280" y="2624328"/>
            <a:ext cx="8686800" cy="237744"/>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Los operadores aritméticos</a:t>
            </a:r>
            <a:endParaRPr lang="en-US" sz="1350" dirty="0"/>
          </a:p>
        </p:txBody>
      </p:sp>
      <p:sp>
        <p:nvSpPr>
          <p:cNvPr id="9" name="Text 7"/>
          <p:cNvSpPr/>
          <p:nvPr/>
        </p:nvSpPr>
        <p:spPr>
          <a:xfrm>
            <a:off x="1097280" y="2834640"/>
            <a:ext cx="9692640" cy="237744"/>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Los cinco que usarás todo el semestre, con su símbolo en Java</a:t>
            </a:r>
            <a:endParaRPr lang="en-US" sz="1150" dirty="0"/>
          </a:p>
        </p:txBody>
      </p:sp>
      <p:sp>
        <p:nvSpPr>
          <p:cNvPr id="10" name="Shape 8"/>
          <p:cNvSpPr/>
          <p:nvPr/>
        </p:nvSpPr>
        <p:spPr>
          <a:xfrm>
            <a:off x="548640" y="3127248"/>
            <a:ext cx="365760" cy="365760"/>
          </a:xfrm>
          <a:prstGeom prst="ellipse">
            <a:avLst/>
          </a:prstGeom>
          <a:solidFill>
            <a:srgbClr val="1C7293"/>
          </a:solidFill>
          <a:ln w="12700">
            <a:solidFill>
              <a:srgbClr val="1C7293"/>
            </a:solidFill>
            <a:prstDash val="solid"/>
          </a:ln>
        </p:spPr>
        <p:txBody>
          <a:bodyPr/>
          <a:lstStyle/>
          <a:p>
            <a:endParaRPr lang="es-CO"/>
          </a:p>
        </p:txBody>
      </p:sp>
      <p:sp>
        <p:nvSpPr>
          <p:cNvPr id="11" name="Text 9"/>
          <p:cNvSpPr/>
          <p:nvPr/>
        </p:nvSpPr>
        <p:spPr>
          <a:xfrm>
            <a:off x="548640" y="31272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097280" y="3081528"/>
            <a:ext cx="8686800" cy="237744"/>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La división y el residuo</a:t>
            </a:r>
            <a:endParaRPr lang="en-US" sz="1350" dirty="0"/>
          </a:p>
        </p:txBody>
      </p:sp>
      <p:sp>
        <p:nvSpPr>
          <p:cNvPr id="13" name="Text 11"/>
          <p:cNvSpPr/>
          <p:nvPr/>
        </p:nvSpPr>
        <p:spPr>
          <a:xfrm>
            <a:off x="1097280" y="3291840"/>
            <a:ext cx="9692640" cy="237744"/>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Por qué 7 / 2 da 3 y para qué sirve lo que sobra</a:t>
            </a:r>
            <a:endParaRPr lang="en-US" sz="1150" dirty="0"/>
          </a:p>
        </p:txBody>
      </p:sp>
      <p:sp>
        <p:nvSpPr>
          <p:cNvPr id="14" name="Shape 12"/>
          <p:cNvSpPr/>
          <p:nvPr/>
        </p:nvSpPr>
        <p:spPr>
          <a:xfrm>
            <a:off x="548640" y="3584448"/>
            <a:ext cx="365760" cy="365760"/>
          </a:xfrm>
          <a:prstGeom prst="ellipse">
            <a:avLst/>
          </a:prstGeom>
          <a:solidFill>
            <a:srgbClr val="1C7293"/>
          </a:solidFill>
          <a:ln w="12700">
            <a:solidFill>
              <a:srgbClr val="1C7293"/>
            </a:solidFill>
            <a:prstDash val="solid"/>
          </a:ln>
        </p:spPr>
        <p:txBody>
          <a:bodyPr/>
          <a:lstStyle/>
          <a:p>
            <a:endParaRPr lang="es-CO"/>
          </a:p>
        </p:txBody>
      </p:sp>
      <p:sp>
        <p:nvSpPr>
          <p:cNvPr id="15" name="Text 13"/>
          <p:cNvSpPr/>
          <p:nvPr/>
        </p:nvSpPr>
        <p:spPr>
          <a:xfrm>
            <a:off x="548640" y="35844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097280" y="3538728"/>
            <a:ext cx="8686800" cy="237744"/>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Actividad 1 · ¿Qué imprime?</a:t>
            </a:r>
            <a:endParaRPr lang="en-US" sz="1350" dirty="0"/>
          </a:p>
        </p:txBody>
      </p:sp>
      <p:sp>
        <p:nvSpPr>
          <p:cNvPr id="17" name="Text 15"/>
          <p:cNvSpPr/>
          <p:nvPr/>
        </p:nvSpPr>
        <p:spPr>
          <a:xfrm>
            <a:off x="1097280" y="3749040"/>
            <a:ext cx="9692640" cy="237744"/>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Predecir el resultado antes de ejecutar</a:t>
            </a:r>
            <a:endParaRPr lang="en-US" sz="1150" dirty="0"/>
          </a:p>
        </p:txBody>
      </p:sp>
      <p:sp>
        <p:nvSpPr>
          <p:cNvPr id="18" name="Shape 16"/>
          <p:cNvSpPr/>
          <p:nvPr/>
        </p:nvSpPr>
        <p:spPr>
          <a:xfrm>
            <a:off x="548640" y="4041648"/>
            <a:ext cx="365760" cy="365760"/>
          </a:xfrm>
          <a:prstGeom prst="ellipse">
            <a:avLst/>
          </a:prstGeom>
          <a:solidFill>
            <a:srgbClr val="1C7293"/>
          </a:solidFill>
          <a:ln w="12700">
            <a:solidFill>
              <a:srgbClr val="1C7293"/>
            </a:solidFill>
            <a:prstDash val="solid"/>
          </a:ln>
        </p:spPr>
        <p:txBody>
          <a:bodyPr/>
          <a:lstStyle/>
          <a:p>
            <a:endParaRPr lang="es-CO"/>
          </a:p>
        </p:txBody>
      </p:sp>
      <p:sp>
        <p:nvSpPr>
          <p:cNvPr id="19" name="Text 17"/>
          <p:cNvSpPr/>
          <p:nvPr/>
        </p:nvSpPr>
        <p:spPr>
          <a:xfrm>
            <a:off x="548640" y="40416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8"/>
          <p:cNvSpPr/>
          <p:nvPr/>
        </p:nvSpPr>
        <p:spPr>
          <a:xfrm>
            <a:off x="1097280" y="3995928"/>
            <a:ext cx="8686800" cy="237744"/>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La jerarquía de operadores</a:t>
            </a:r>
            <a:endParaRPr lang="en-US" sz="1350" dirty="0"/>
          </a:p>
        </p:txBody>
      </p:sp>
      <p:sp>
        <p:nvSpPr>
          <p:cNvPr id="21" name="Text 19"/>
          <p:cNvSpPr/>
          <p:nvPr/>
        </p:nvSpPr>
        <p:spPr>
          <a:xfrm>
            <a:off x="1097280" y="4206240"/>
            <a:ext cx="9692640" cy="237744"/>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El orden en que se resuelve una expresión</a:t>
            </a:r>
            <a:endParaRPr lang="en-US" sz="1150" dirty="0"/>
          </a:p>
        </p:txBody>
      </p:sp>
      <p:sp>
        <p:nvSpPr>
          <p:cNvPr id="22" name="Shape 20"/>
          <p:cNvSpPr/>
          <p:nvPr/>
        </p:nvSpPr>
        <p:spPr>
          <a:xfrm>
            <a:off x="548640" y="4498848"/>
            <a:ext cx="365760" cy="365760"/>
          </a:xfrm>
          <a:prstGeom prst="ellipse">
            <a:avLst/>
          </a:prstGeom>
          <a:solidFill>
            <a:srgbClr val="1C7293"/>
          </a:solidFill>
          <a:ln w="12700">
            <a:solidFill>
              <a:srgbClr val="1C7293"/>
            </a:solidFill>
            <a:prstDash val="solid"/>
          </a:ln>
        </p:spPr>
        <p:txBody>
          <a:bodyPr/>
          <a:lstStyle/>
          <a:p>
            <a:endParaRPr lang="es-CO"/>
          </a:p>
        </p:txBody>
      </p:sp>
      <p:sp>
        <p:nvSpPr>
          <p:cNvPr id="23" name="Text 21"/>
          <p:cNvSpPr/>
          <p:nvPr/>
        </p:nvSpPr>
        <p:spPr>
          <a:xfrm>
            <a:off x="548640" y="44988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2"/>
          <p:cNvSpPr/>
          <p:nvPr/>
        </p:nvSpPr>
        <p:spPr>
          <a:xfrm>
            <a:off x="1097280" y="4453128"/>
            <a:ext cx="8686800" cy="237744"/>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Actividad 2 · Evaluar paso a paso</a:t>
            </a:r>
            <a:endParaRPr lang="en-US" sz="1350" dirty="0"/>
          </a:p>
        </p:txBody>
      </p:sp>
      <p:sp>
        <p:nvSpPr>
          <p:cNvPr id="25" name="Text 23"/>
          <p:cNvSpPr/>
          <p:nvPr/>
        </p:nvSpPr>
        <p:spPr>
          <a:xfrm>
            <a:off x="1097280" y="4663440"/>
            <a:ext cx="9692640" cy="237744"/>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Escribir la traza completa de cinco expresiones</a:t>
            </a:r>
            <a:endParaRPr lang="en-US" sz="1150" dirty="0"/>
          </a:p>
        </p:txBody>
      </p:sp>
      <p:sp>
        <p:nvSpPr>
          <p:cNvPr id="26" name="Shape 24"/>
          <p:cNvSpPr/>
          <p:nvPr/>
        </p:nvSpPr>
        <p:spPr>
          <a:xfrm>
            <a:off x="548640" y="4956048"/>
            <a:ext cx="365760" cy="365760"/>
          </a:xfrm>
          <a:prstGeom prst="ellipse">
            <a:avLst/>
          </a:prstGeom>
          <a:solidFill>
            <a:srgbClr val="1C7293"/>
          </a:solidFill>
          <a:ln w="12700">
            <a:solidFill>
              <a:srgbClr val="1C7293"/>
            </a:solidFill>
            <a:prstDash val="solid"/>
          </a:ln>
        </p:spPr>
        <p:txBody>
          <a:bodyPr/>
          <a:lstStyle/>
          <a:p>
            <a:endParaRPr lang="es-CO"/>
          </a:p>
        </p:txBody>
      </p:sp>
      <p:sp>
        <p:nvSpPr>
          <p:cNvPr id="27" name="Text 25"/>
          <p:cNvSpPr/>
          <p:nvPr/>
        </p:nvSpPr>
        <p:spPr>
          <a:xfrm>
            <a:off x="548640" y="49560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Text 26"/>
          <p:cNvSpPr/>
          <p:nvPr/>
        </p:nvSpPr>
        <p:spPr>
          <a:xfrm>
            <a:off x="1097280" y="4910328"/>
            <a:ext cx="8686800" cy="237744"/>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De la fórmula al programa</a:t>
            </a:r>
            <a:endParaRPr lang="en-US" sz="1350" dirty="0"/>
          </a:p>
        </p:txBody>
      </p:sp>
      <p:sp>
        <p:nvSpPr>
          <p:cNvPr id="29" name="Text 27"/>
          <p:cNvSpPr/>
          <p:nvPr/>
        </p:nvSpPr>
        <p:spPr>
          <a:xfrm>
            <a:off x="1097280" y="5120640"/>
            <a:ext cx="9692640" cy="237744"/>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Fracciones, potencias y raíces en una sola línea</a:t>
            </a:r>
            <a:endParaRPr lang="en-US" sz="1150" dirty="0"/>
          </a:p>
        </p:txBody>
      </p:sp>
      <p:sp>
        <p:nvSpPr>
          <p:cNvPr id="30" name="Shape 28"/>
          <p:cNvSpPr/>
          <p:nvPr/>
        </p:nvSpPr>
        <p:spPr>
          <a:xfrm>
            <a:off x="548640" y="5413248"/>
            <a:ext cx="365760" cy="365760"/>
          </a:xfrm>
          <a:prstGeom prst="ellipse">
            <a:avLst/>
          </a:prstGeom>
          <a:solidFill>
            <a:srgbClr val="1C7293"/>
          </a:solidFill>
          <a:ln w="12700">
            <a:solidFill>
              <a:srgbClr val="1C7293"/>
            </a:solidFill>
            <a:prstDash val="solid"/>
          </a:ln>
        </p:spPr>
        <p:txBody>
          <a:bodyPr/>
          <a:lstStyle/>
          <a:p>
            <a:endParaRPr lang="es-CO"/>
          </a:p>
        </p:txBody>
      </p:sp>
      <p:sp>
        <p:nvSpPr>
          <p:cNvPr id="31" name="Text 29"/>
          <p:cNvSpPr/>
          <p:nvPr/>
        </p:nvSpPr>
        <p:spPr>
          <a:xfrm>
            <a:off x="548640" y="54132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2" name="Text 30"/>
          <p:cNvSpPr/>
          <p:nvPr/>
        </p:nvSpPr>
        <p:spPr>
          <a:xfrm>
            <a:off x="1097280" y="5367528"/>
            <a:ext cx="8686800" cy="237744"/>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Actividad 3 · De la fórmula al código</a:t>
            </a:r>
            <a:endParaRPr lang="en-US" sz="1350" dirty="0"/>
          </a:p>
        </p:txBody>
      </p:sp>
      <p:sp>
        <p:nvSpPr>
          <p:cNvPr id="33" name="Text 31"/>
          <p:cNvSpPr/>
          <p:nvPr/>
        </p:nvSpPr>
        <p:spPr>
          <a:xfrm>
            <a:off x="1097280" y="5577840"/>
            <a:ext cx="9692640" cy="237744"/>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Cuatro fórmulas, en pseudocódigo y en Java</a:t>
            </a:r>
            <a:endParaRPr lang="en-US" sz="1150" dirty="0"/>
          </a:p>
        </p:txBody>
      </p:sp>
      <p:sp>
        <p:nvSpPr>
          <p:cNvPr id="34" name="Shape 32"/>
          <p:cNvSpPr/>
          <p:nvPr/>
        </p:nvSpPr>
        <p:spPr>
          <a:xfrm>
            <a:off x="548640" y="5870448"/>
            <a:ext cx="365760" cy="365760"/>
          </a:xfrm>
          <a:prstGeom prst="ellipse">
            <a:avLst/>
          </a:prstGeom>
          <a:solidFill>
            <a:srgbClr val="1C7293"/>
          </a:solidFill>
          <a:ln w="12700">
            <a:solidFill>
              <a:srgbClr val="1C7293"/>
            </a:solidFill>
            <a:prstDash val="solid"/>
          </a:ln>
        </p:spPr>
        <p:txBody>
          <a:bodyPr/>
          <a:lstStyle/>
          <a:p>
            <a:endParaRPr lang="es-CO"/>
          </a:p>
        </p:txBody>
      </p:sp>
      <p:sp>
        <p:nvSpPr>
          <p:cNvPr id="35" name="Text 33"/>
          <p:cNvSpPr/>
          <p:nvPr/>
        </p:nvSpPr>
        <p:spPr>
          <a:xfrm>
            <a:off x="548640" y="58704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6" name="Text 34"/>
          <p:cNvSpPr/>
          <p:nvPr/>
        </p:nvSpPr>
        <p:spPr>
          <a:xfrm>
            <a:off x="1097280" y="5824728"/>
            <a:ext cx="8686800" cy="237744"/>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Caso guía y Actividad 4</a:t>
            </a:r>
            <a:endParaRPr lang="en-US" sz="1350" dirty="0"/>
          </a:p>
        </p:txBody>
      </p:sp>
      <p:sp>
        <p:nvSpPr>
          <p:cNvPr id="37" name="Text 35"/>
          <p:cNvSpPr/>
          <p:nvPr/>
        </p:nvSpPr>
        <p:spPr>
          <a:xfrm>
            <a:off x="1097280" y="6035040"/>
            <a:ext cx="9692640" cy="237744"/>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Un programa completo desde el enunciado</a:t>
            </a:r>
            <a:endParaRPr lang="en-US" sz="1150" dirty="0"/>
          </a:p>
        </p:txBody>
      </p:sp>
      <p:sp>
        <p:nvSpPr>
          <p:cNvPr id="38" name="Text 36"/>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02</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DÓNDE ESTAMOS</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Semana 3 · el saber que estamos construyendo</a:t>
            </a:r>
            <a:endParaRPr lang="en-US" sz="2900" dirty="0"/>
          </a:p>
        </p:txBody>
      </p:sp>
      <p:sp>
        <p:nvSpPr>
          <p:cNvPr id="4" name="Shape 2"/>
          <p:cNvSpPr/>
          <p:nvPr/>
        </p:nvSpPr>
        <p:spPr>
          <a:xfrm>
            <a:off x="548640" y="1408176"/>
            <a:ext cx="11091672" cy="1115568"/>
          </a:xfrm>
          <a:prstGeom prst="roundRect">
            <a:avLst>
              <a:gd name="adj" fmla="val 7273"/>
            </a:avLst>
          </a:prstGeom>
          <a:solidFill>
            <a:srgbClr val="E8EEF4"/>
          </a:solidFill>
          <a:ln w="12700">
            <a:solidFill>
              <a:srgbClr val="E8EEF4"/>
            </a:solidFill>
            <a:prstDash val="solid"/>
          </a:ln>
        </p:spPr>
        <p:txBody>
          <a:bodyPr/>
          <a:lstStyle/>
          <a:p>
            <a:endParaRPr lang="es-CO"/>
          </a:p>
        </p:txBody>
      </p:sp>
      <p:sp>
        <p:nvSpPr>
          <p:cNvPr id="5" name="Text 3"/>
          <p:cNvSpPr/>
          <p:nvPr/>
        </p:nvSpPr>
        <p:spPr>
          <a:xfrm>
            <a:off x="868680" y="1499616"/>
            <a:ext cx="10451592" cy="841248"/>
          </a:xfrm>
          <a:prstGeom prst="rect">
            <a:avLst/>
          </a:prstGeom>
          <a:noFill/>
          <a:ln/>
        </p:spPr>
        <p:txBody>
          <a:bodyPr wrap="square" lIns="0" tIns="0" rIns="0" bIns="0" rtlCol="0" anchor="t"/>
          <a:lstStyle/>
          <a:p>
            <a:pPr marL="0" indent="0">
              <a:lnSpc>
                <a:spcPts val="1900"/>
              </a:lnSpc>
              <a:buNone/>
            </a:pPr>
            <a:r>
              <a:rPr lang="en-US" sz="1100" b="1" kern="0" spc="120" dirty="0">
                <a:solidFill>
                  <a:srgbClr val="1C7293"/>
                </a:solidFill>
                <a:latin typeface="Calibri" pitchFamily="34" charset="0"/>
                <a:ea typeface="Calibri" pitchFamily="34" charset="-122"/>
                <a:cs typeface="Calibri" pitchFamily="34" charset="-120"/>
              </a:rPr>
              <a:t>COMPROMISO ACADÉMICO · SEMANA 3
</a:t>
            </a:r>
            <a:endParaRPr lang="en-US" sz="1100" dirty="0"/>
          </a:p>
          <a:p>
            <a:pPr marL="0" indent="0">
              <a:lnSpc>
                <a:spcPts val="1900"/>
              </a:lnSpc>
              <a:buNone/>
            </a:pPr>
            <a:r>
              <a:rPr lang="en-US" sz="1350" i="1" dirty="0">
                <a:solidFill>
                  <a:srgbClr val="13294B"/>
                </a:solidFill>
                <a:latin typeface="Calibri" pitchFamily="34" charset="0"/>
                <a:ea typeface="Calibri" pitchFamily="34" charset="-122"/>
                <a:cs typeface="Calibri" pitchFamily="34" charset="-120"/>
              </a:rPr>
              <a:t>«Describe los elementos básicos de un algoritmo, operadores, jerarquía de operadores y expresiones», mediante la definición de los operadores aritméticos y su jerarquía, y la conversión de expresiones algebraicas a expresiones algorítmicas.</a:t>
            </a:r>
            <a:endParaRPr lang="en-US" sz="1100" dirty="0"/>
          </a:p>
        </p:txBody>
      </p:sp>
      <p:sp>
        <p:nvSpPr>
          <p:cNvPr id="6" name="Shape 4"/>
          <p:cNvSpPr/>
          <p:nvPr/>
        </p:nvSpPr>
        <p:spPr>
          <a:xfrm>
            <a:off x="548640" y="2688336"/>
            <a:ext cx="5349240" cy="2761488"/>
          </a:xfrm>
          <a:prstGeom prst="roundRect">
            <a:avLst>
              <a:gd name="adj" fmla="val 2500"/>
            </a:avLst>
          </a:prstGeom>
          <a:solidFill>
            <a:srgbClr val="F4F7FB"/>
          </a:solidFill>
          <a:ln w="12700">
            <a:solidFill>
              <a:srgbClr val="F4F7FB"/>
            </a:solidFill>
            <a:prstDash val="solid"/>
          </a:ln>
        </p:spPr>
        <p:txBody>
          <a:bodyPr/>
          <a:lstStyle/>
          <a:p>
            <a:endParaRPr lang="es-CO"/>
          </a:p>
        </p:txBody>
      </p:sp>
      <p:sp>
        <p:nvSpPr>
          <p:cNvPr id="7" name="Text 5"/>
          <p:cNvSpPr/>
          <p:nvPr/>
        </p:nvSpPr>
        <p:spPr>
          <a:xfrm>
            <a:off x="841248" y="2688336"/>
            <a:ext cx="4754880" cy="274320"/>
          </a:xfrm>
          <a:prstGeom prst="rect">
            <a:avLst/>
          </a:prstGeom>
          <a:noFill/>
          <a:ln/>
        </p:spPr>
        <p:txBody>
          <a:bodyPr wrap="square" lIns="0" tIns="0" rIns="0" bIns="0" rtlCol="0" anchor="ctr"/>
          <a:lstStyle/>
          <a:p>
            <a:pPr marL="0" indent="0">
              <a:buNone/>
            </a:pPr>
            <a:r>
              <a:rPr lang="en-US" sz="1100" b="1" kern="0" spc="120" dirty="0">
                <a:solidFill>
                  <a:srgbClr val="13294B"/>
                </a:solidFill>
                <a:latin typeface="Calibri" pitchFamily="34" charset="0"/>
                <a:ea typeface="Calibri" pitchFamily="34" charset="-122"/>
                <a:cs typeface="Calibri" pitchFamily="34" charset="-120"/>
              </a:rPr>
              <a:t>LO QUE TRAEMOS DE LA SESIÓN 6</a:t>
            </a:r>
            <a:endParaRPr lang="en-US" sz="1100" dirty="0"/>
          </a:p>
        </p:txBody>
      </p:sp>
      <p:sp>
        <p:nvSpPr>
          <p:cNvPr id="8" name="Text 6"/>
          <p:cNvSpPr/>
          <p:nvPr/>
        </p:nvSpPr>
        <p:spPr>
          <a:xfrm>
            <a:off x="841248" y="3017520"/>
            <a:ext cx="4754880" cy="2286000"/>
          </a:xfrm>
          <a:prstGeom prst="rect">
            <a:avLst/>
          </a:prstGeom>
          <a:noFill/>
          <a:ln/>
        </p:spPr>
        <p:txBody>
          <a:bodyPr wrap="square" lIns="0" tIns="0" rIns="0" bIns="0" rtlCol="0" anchor="t"/>
          <a:lstStyle/>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La clase y el método principal</a:t>
            </a:r>
            <a:endParaRPr lang="en-US" sz="1300" dirty="0"/>
          </a:p>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La lectura de datos con Scanner</a:t>
            </a:r>
            <a:endParaRPr lang="en-US" sz="1300" dirty="0"/>
          </a:p>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La asignación con el signo igual</a:t>
            </a:r>
            <a:endParaRPr lang="en-US" sz="1300" dirty="0"/>
          </a:p>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La escritura con System.out.println</a:t>
            </a:r>
            <a:endParaRPr lang="en-US" sz="1300" dirty="0"/>
          </a:p>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El pseudocódigo traducido a Java</a:t>
            </a:r>
            <a:endParaRPr lang="en-US" sz="1300" dirty="0"/>
          </a:p>
        </p:txBody>
      </p:sp>
      <p:sp>
        <p:nvSpPr>
          <p:cNvPr id="9" name="Shape 7"/>
          <p:cNvSpPr/>
          <p:nvPr/>
        </p:nvSpPr>
        <p:spPr>
          <a:xfrm>
            <a:off x="6291072" y="2688336"/>
            <a:ext cx="5349240" cy="2761488"/>
          </a:xfrm>
          <a:prstGeom prst="roundRect">
            <a:avLst>
              <a:gd name="adj" fmla="val 2500"/>
            </a:avLst>
          </a:prstGeom>
          <a:solidFill>
            <a:srgbClr val="FFF4DE"/>
          </a:solidFill>
          <a:ln w="12700">
            <a:solidFill>
              <a:srgbClr val="FFF4DE"/>
            </a:solidFill>
            <a:prstDash val="solid"/>
          </a:ln>
        </p:spPr>
        <p:txBody>
          <a:bodyPr/>
          <a:lstStyle/>
          <a:p>
            <a:endParaRPr lang="es-CO"/>
          </a:p>
        </p:txBody>
      </p:sp>
      <p:sp>
        <p:nvSpPr>
          <p:cNvPr id="10" name="Text 8"/>
          <p:cNvSpPr/>
          <p:nvPr/>
        </p:nvSpPr>
        <p:spPr>
          <a:xfrm>
            <a:off x="6583680" y="2688336"/>
            <a:ext cx="4754880" cy="274320"/>
          </a:xfrm>
          <a:prstGeom prst="rect">
            <a:avLst/>
          </a:prstGeom>
          <a:noFill/>
          <a:ln/>
        </p:spPr>
        <p:txBody>
          <a:bodyPr wrap="square" lIns="0" tIns="0" rIns="0" bIns="0" rtlCol="0" anchor="ctr"/>
          <a:lstStyle/>
          <a:p>
            <a:pPr marL="0" indent="0">
              <a:buNone/>
            </a:pPr>
            <a:r>
              <a:rPr lang="en-US" sz="1100" b="1" kern="0" spc="120" dirty="0">
                <a:solidFill>
                  <a:srgbClr val="B07800"/>
                </a:solidFill>
                <a:latin typeface="Calibri" pitchFamily="34" charset="0"/>
                <a:ea typeface="Calibri" pitchFamily="34" charset="-122"/>
                <a:cs typeface="Calibri" pitchFamily="34" charset="-120"/>
              </a:rPr>
              <a:t>LO QUE CONSTRUIMOS EN ESTA SESIÓN</a:t>
            </a:r>
            <a:endParaRPr lang="en-US" sz="1100" dirty="0"/>
          </a:p>
        </p:txBody>
      </p:sp>
      <p:sp>
        <p:nvSpPr>
          <p:cNvPr id="11" name="Text 9"/>
          <p:cNvSpPr/>
          <p:nvPr/>
        </p:nvSpPr>
        <p:spPr>
          <a:xfrm>
            <a:off x="6583680" y="3017520"/>
            <a:ext cx="4754880" cy="2286000"/>
          </a:xfrm>
          <a:prstGeom prst="rect">
            <a:avLst/>
          </a:prstGeom>
          <a:noFill/>
          <a:ln/>
        </p:spPr>
        <p:txBody>
          <a:bodyPr wrap="square" lIns="0" tIns="0" rIns="0" bIns="0" rtlCol="0" anchor="t"/>
          <a:lstStyle/>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Los cinco operadores aritméticos</a:t>
            </a:r>
            <a:endParaRPr lang="en-US" sz="1300" dirty="0"/>
          </a:p>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La división entera y el residuo</a:t>
            </a:r>
            <a:endParaRPr lang="en-US" sz="1300" dirty="0"/>
          </a:p>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La jerarquía y el uso del paréntesis</a:t>
            </a:r>
            <a:endParaRPr lang="en-US" sz="1300" dirty="0"/>
          </a:p>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La traducción de fórmulas algebraicas</a:t>
            </a:r>
            <a:endParaRPr lang="en-US" sz="1300" dirty="0"/>
          </a:p>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Expresiones que entregan el valor correcto</a:t>
            </a:r>
            <a:endParaRPr lang="en-US" sz="1300" dirty="0"/>
          </a:p>
        </p:txBody>
      </p:sp>
      <p:sp>
        <p:nvSpPr>
          <p:cNvPr id="12" name="Shape 10"/>
          <p:cNvSpPr/>
          <p:nvPr/>
        </p:nvSpPr>
        <p:spPr>
          <a:xfrm>
            <a:off x="548640" y="5559552"/>
            <a:ext cx="11091672" cy="685800"/>
          </a:xfrm>
          <a:prstGeom prst="roundRect">
            <a:avLst>
              <a:gd name="adj" fmla="val 10667"/>
            </a:avLst>
          </a:prstGeom>
          <a:solidFill>
            <a:srgbClr val="13294B"/>
          </a:solidFill>
          <a:ln w="12700">
            <a:solidFill>
              <a:srgbClr val="13294B"/>
            </a:solidFill>
            <a:prstDash val="solid"/>
          </a:ln>
        </p:spPr>
        <p:txBody>
          <a:bodyPr/>
          <a:lstStyle/>
          <a:p>
            <a:endParaRPr lang="es-CO"/>
          </a:p>
        </p:txBody>
      </p:sp>
      <p:sp>
        <p:nvSpPr>
          <p:cNvPr id="13" name="Text 11"/>
          <p:cNvSpPr/>
          <p:nvPr/>
        </p:nvSpPr>
        <p:spPr>
          <a:xfrm>
            <a:off x="868680" y="5559552"/>
            <a:ext cx="10451592" cy="685800"/>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LA IDEA DE HOY:  </a:t>
            </a:r>
            <a:r>
              <a:rPr lang="en-US" sz="1350" dirty="0">
                <a:solidFill>
                  <a:srgbClr val="FFFFFF"/>
                </a:solidFill>
                <a:latin typeface="Calibri" pitchFamily="34" charset="0"/>
                <a:ea typeface="Calibri" pitchFamily="34" charset="-122"/>
                <a:cs typeface="Calibri" pitchFamily="34" charset="-120"/>
              </a:rPr>
              <a:t>el computador no interpreta lo que quisiste escribir. Resuelve lo que escribiste, en el orden en que lo escribiste.</a:t>
            </a:r>
            <a:endParaRPr lang="en-US" sz="1350" dirty="0"/>
          </a:p>
        </p:txBody>
      </p:sp>
      <p:sp>
        <p:nvSpPr>
          <p:cNvPr id="14" name="Text 12"/>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03</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PARA ARRANCAR</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El mismo enunciado, dos resultados</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Los cuatro programas compilan y ejecutan sin ningún error. Solo dos responden la pregunta.</a:t>
            </a:r>
            <a:endParaRPr lang="en-US" sz="1400" dirty="0"/>
          </a:p>
        </p:txBody>
      </p:sp>
      <p:sp>
        <p:nvSpPr>
          <p:cNvPr id="5" name="Shape 3"/>
          <p:cNvSpPr/>
          <p:nvPr/>
        </p:nvSpPr>
        <p:spPr>
          <a:xfrm>
            <a:off x="548640" y="2011680"/>
            <a:ext cx="11091672" cy="1700784"/>
          </a:xfrm>
          <a:prstGeom prst="roundRect">
            <a:avLst>
              <a:gd name="adj" fmla="val 4301"/>
            </a:avLst>
          </a:prstGeom>
          <a:solidFill>
            <a:srgbClr val="F4F7FB"/>
          </a:solidFill>
          <a:ln w="12700">
            <a:solidFill>
              <a:srgbClr val="F4F7FB"/>
            </a:solidFill>
            <a:prstDash val="solid"/>
          </a:ln>
        </p:spPr>
        <p:txBody>
          <a:bodyPr/>
          <a:lstStyle/>
          <a:p>
            <a:endParaRPr lang="es-CO"/>
          </a:p>
        </p:txBody>
      </p:sp>
      <p:sp>
        <p:nvSpPr>
          <p:cNvPr id="6" name="Text 4"/>
          <p:cNvSpPr/>
          <p:nvPr/>
        </p:nvSpPr>
        <p:spPr>
          <a:xfrm>
            <a:off x="841248" y="2121408"/>
            <a:ext cx="5486400" cy="256032"/>
          </a:xfrm>
          <a:prstGeom prst="rect">
            <a:avLst/>
          </a:prstGeom>
          <a:noFill/>
          <a:ln/>
        </p:spPr>
        <p:txBody>
          <a:bodyPr wrap="square" lIns="0" tIns="0" rIns="0" bIns="0" rtlCol="0" anchor="ctr"/>
          <a:lstStyle/>
          <a:p>
            <a:pPr marL="0" indent="0">
              <a:buNone/>
            </a:pPr>
            <a:r>
              <a:rPr lang="en-US" sz="1050" b="1" kern="0" spc="120" dirty="0">
                <a:solidFill>
                  <a:srgbClr val="1C7293"/>
                </a:solidFill>
                <a:latin typeface="Calibri" pitchFamily="34" charset="0"/>
                <a:ea typeface="Calibri" pitchFamily="34" charset="-122"/>
                <a:cs typeface="Calibri" pitchFamily="34" charset="-120"/>
              </a:rPr>
              <a:t>CASO 1 · EL PROMEDIO DE DOS NOTAS   ·   a = 4.0   b = 3.0</a:t>
            </a:r>
            <a:endParaRPr lang="en-US" sz="1050" dirty="0"/>
          </a:p>
        </p:txBody>
      </p:sp>
      <p:sp>
        <p:nvSpPr>
          <p:cNvPr id="7" name="Shape 5"/>
          <p:cNvSpPr/>
          <p:nvPr/>
        </p:nvSpPr>
        <p:spPr>
          <a:xfrm>
            <a:off x="841248" y="2468880"/>
            <a:ext cx="4983480" cy="1060704"/>
          </a:xfrm>
          <a:prstGeom prst="roundRect">
            <a:avLst>
              <a:gd name="adj" fmla="val 4310"/>
            </a:avLst>
          </a:prstGeom>
          <a:solidFill>
            <a:srgbClr val="FFFFFF"/>
          </a:solidFill>
          <a:ln w="12700">
            <a:solidFill>
              <a:srgbClr val="E1E7EF"/>
            </a:solidFill>
            <a:prstDash val="solid"/>
          </a:ln>
        </p:spPr>
        <p:txBody>
          <a:bodyPr/>
          <a:lstStyle/>
          <a:p>
            <a:endParaRPr lang="es-CO"/>
          </a:p>
        </p:txBody>
      </p:sp>
      <p:sp>
        <p:nvSpPr>
          <p:cNvPr id="8" name="Text 6"/>
          <p:cNvSpPr/>
          <p:nvPr/>
        </p:nvSpPr>
        <p:spPr>
          <a:xfrm>
            <a:off x="1060704" y="2578608"/>
            <a:ext cx="4480560" cy="310896"/>
          </a:xfrm>
          <a:prstGeom prst="rect">
            <a:avLst/>
          </a:prstGeom>
          <a:noFill/>
          <a:ln/>
        </p:spPr>
        <p:txBody>
          <a:bodyPr wrap="square" lIns="0" tIns="0" rIns="0" bIns="0" rtlCol="0" anchor="ctr"/>
          <a:lstStyle/>
          <a:p>
            <a:pPr marL="0" indent="0">
              <a:buNone/>
            </a:pPr>
            <a:r>
              <a:rPr lang="en-US" sz="1300" b="1" dirty="0">
                <a:solidFill>
                  <a:srgbClr val="13294B"/>
                </a:solidFill>
                <a:latin typeface="Courier New" pitchFamily="34" charset="0"/>
                <a:ea typeface="Courier New" pitchFamily="34" charset="-122"/>
                <a:cs typeface="Courier New" pitchFamily="34" charset="-120"/>
              </a:rPr>
              <a:t>promedio = a + b / 2;</a:t>
            </a:r>
            <a:endParaRPr lang="en-US" sz="1300" dirty="0"/>
          </a:p>
        </p:txBody>
      </p:sp>
      <p:sp>
        <p:nvSpPr>
          <p:cNvPr id="9" name="Text 7"/>
          <p:cNvSpPr/>
          <p:nvPr/>
        </p:nvSpPr>
        <p:spPr>
          <a:xfrm>
            <a:off x="1060704" y="2962656"/>
            <a:ext cx="4480560" cy="384048"/>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imprime   </a:t>
            </a:r>
            <a:r>
              <a:rPr lang="en-US" sz="1500" b="1" dirty="0">
                <a:solidFill>
                  <a:srgbClr val="D64545"/>
                </a:solidFill>
                <a:latin typeface="Courier New" pitchFamily="34" charset="0"/>
                <a:ea typeface="Courier New" pitchFamily="34" charset="-122"/>
                <a:cs typeface="Courier New" pitchFamily="34" charset="-120"/>
              </a:rPr>
              <a:t>5.5</a:t>
            </a:r>
            <a:endParaRPr lang="en-US" sz="1150" dirty="0"/>
          </a:p>
        </p:txBody>
      </p:sp>
      <p:sp>
        <p:nvSpPr>
          <p:cNvPr id="10" name="Shape 8"/>
          <p:cNvSpPr/>
          <p:nvPr/>
        </p:nvSpPr>
        <p:spPr>
          <a:xfrm>
            <a:off x="6099048" y="2468880"/>
            <a:ext cx="4983480" cy="1060704"/>
          </a:xfrm>
          <a:prstGeom prst="roundRect">
            <a:avLst>
              <a:gd name="adj" fmla="val 4310"/>
            </a:avLst>
          </a:prstGeom>
          <a:solidFill>
            <a:srgbClr val="FFFFFF"/>
          </a:solidFill>
          <a:ln w="12700">
            <a:solidFill>
              <a:srgbClr val="E1E7EF"/>
            </a:solidFill>
            <a:prstDash val="solid"/>
          </a:ln>
        </p:spPr>
        <p:txBody>
          <a:bodyPr/>
          <a:lstStyle/>
          <a:p>
            <a:endParaRPr lang="es-CO"/>
          </a:p>
        </p:txBody>
      </p:sp>
      <p:sp>
        <p:nvSpPr>
          <p:cNvPr id="11" name="Text 9"/>
          <p:cNvSpPr/>
          <p:nvPr/>
        </p:nvSpPr>
        <p:spPr>
          <a:xfrm>
            <a:off x="6318504" y="2578608"/>
            <a:ext cx="4480560" cy="310896"/>
          </a:xfrm>
          <a:prstGeom prst="rect">
            <a:avLst/>
          </a:prstGeom>
          <a:noFill/>
          <a:ln/>
        </p:spPr>
        <p:txBody>
          <a:bodyPr wrap="square" lIns="0" tIns="0" rIns="0" bIns="0" rtlCol="0" anchor="ctr"/>
          <a:lstStyle/>
          <a:p>
            <a:pPr marL="0" indent="0">
              <a:buNone/>
            </a:pPr>
            <a:r>
              <a:rPr lang="en-US" sz="1300" b="1" dirty="0">
                <a:solidFill>
                  <a:srgbClr val="13294B"/>
                </a:solidFill>
                <a:latin typeface="Courier New" pitchFamily="34" charset="0"/>
                <a:ea typeface="Courier New" pitchFamily="34" charset="-122"/>
                <a:cs typeface="Courier New" pitchFamily="34" charset="-120"/>
              </a:rPr>
              <a:t>promedio = (a + b) / 2;</a:t>
            </a:r>
            <a:endParaRPr lang="en-US" sz="1300" dirty="0"/>
          </a:p>
        </p:txBody>
      </p:sp>
      <p:sp>
        <p:nvSpPr>
          <p:cNvPr id="12" name="Text 10"/>
          <p:cNvSpPr/>
          <p:nvPr/>
        </p:nvSpPr>
        <p:spPr>
          <a:xfrm>
            <a:off x="6318504" y="2962656"/>
            <a:ext cx="4480560" cy="384048"/>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imprime   </a:t>
            </a:r>
            <a:r>
              <a:rPr lang="en-US" sz="1500" b="1" dirty="0">
                <a:solidFill>
                  <a:srgbClr val="2F9E58"/>
                </a:solidFill>
                <a:latin typeface="Courier New" pitchFamily="34" charset="0"/>
                <a:ea typeface="Courier New" pitchFamily="34" charset="-122"/>
                <a:cs typeface="Courier New" pitchFamily="34" charset="-120"/>
              </a:rPr>
              <a:t>3.5</a:t>
            </a:r>
            <a:endParaRPr lang="en-US" sz="1150" dirty="0"/>
          </a:p>
        </p:txBody>
      </p:sp>
      <p:sp>
        <p:nvSpPr>
          <p:cNvPr id="13" name="Shape 11"/>
          <p:cNvSpPr/>
          <p:nvPr/>
        </p:nvSpPr>
        <p:spPr>
          <a:xfrm>
            <a:off x="548640" y="3858768"/>
            <a:ext cx="11091672" cy="1700784"/>
          </a:xfrm>
          <a:prstGeom prst="roundRect">
            <a:avLst>
              <a:gd name="adj" fmla="val 4301"/>
            </a:avLst>
          </a:prstGeom>
          <a:solidFill>
            <a:srgbClr val="F4F7FB"/>
          </a:solidFill>
          <a:ln w="12700">
            <a:solidFill>
              <a:srgbClr val="F4F7FB"/>
            </a:solidFill>
            <a:prstDash val="solid"/>
          </a:ln>
        </p:spPr>
        <p:txBody>
          <a:bodyPr/>
          <a:lstStyle/>
          <a:p>
            <a:endParaRPr lang="es-CO"/>
          </a:p>
        </p:txBody>
      </p:sp>
      <p:sp>
        <p:nvSpPr>
          <p:cNvPr id="14" name="Text 12"/>
          <p:cNvSpPr/>
          <p:nvPr/>
        </p:nvSpPr>
        <p:spPr>
          <a:xfrm>
            <a:off x="841248" y="3968496"/>
            <a:ext cx="7315200" cy="256032"/>
          </a:xfrm>
          <a:prstGeom prst="rect">
            <a:avLst/>
          </a:prstGeom>
          <a:noFill/>
          <a:ln/>
        </p:spPr>
        <p:txBody>
          <a:bodyPr wrap="square" lIns="0" tIns="0" rIns="0" bIns="0" rtlCol="0" anchor="ctr"/>
          <a:lstStyle/>
          <a:p>
            <a:pPr marL="0" indent="0">
              <a:buNone/>
            </a:pPr>
            <a:r>
              <a:rPr lang="en-US" sz="1050" b="1" kern="0" spc="120" dirty="0">
                <a:solidFill>
                  <a:srgbClr val="1C7293"/>
                </a:solidFill>
                <a:latin typeface="Calibri" pitchFamily="34" charset="0"/>
                <a:ea typeface="Calibri" pitchFamily="34" charset="-122"/>
                <a:cs typeface="Calibri" pitchFamily="34" charset="-120"/>
              </a:rPr>
              <a:t>CASO 2 · EL RENDIMIENTO DEL CARRO   ·   320 km   con   25 litros</a:t>
            </a:r>
            <a:endParaRPr lang="en-US" sz="1050" dirty="0"/>
          </a:p>
        </p:txBody>
      </p:sp>
      <p:sp>
        <p:nvSpPr>
          <p:cNvPr id="15" name="Shape 13"/>
          <p:cNvSpPr/>
          <p:nvPr/>
        </p:nvSpPr>
        <p:spPr>
          <a:xfrm>
            <a:off x="841248" y="4315968"/>
            <a:ext cx="4983480" cy="1060704"/>
          </a:xfrm>
          <a:prstGeom prst="roundRect">
            <a:avLst>
              <a:gd name="adj" fmla="val 4310"/>
            </a:avLst>
          </a:prstGeom>
          <a:solidFill>
            <a:srgbClr val="FFFFFF"/>
          </a:solidFill>
          <a:ln w="12700">
            <a:solidFill>
              <a:srgbClr val="E1E7EF"/>
            </a:solidFill>
            <a:prstDash val="solid"/>
          </a:ln>
        </p:spPr>
        <p:txBody>
          <a:bodyPr/>
          <a:lstStyle/>
          <a:p>
            <a:endParaRPr lang="es-CO"/>
          </a:p>
        </p:txBody>
      </p:sp>
      <p:sp>
        <p:nvSpPr>
          <p:cNvPr id="16" name="Text 14"/>
          <p:cNvSpPr/>
          <p:nvPr/>
        </p:nvSpPr>
        <p:spPr>
          <a:xfrm>
            <a:off x="1060704" y="4425696"/>
            <a:ext cx="4572000" cy="310896"/>
          </a:xfrm>
          <a:prstGeom prst="rect">
            <a:avLst/>
          </a:prstGeom>
          <a:noFill/>
          <a:ln/>
        </p:spPr>
        <p:txBody>
          <a:bodyPr wrap="square" lIns="0" tIns="0" rIns="0" bIns="0" rtlCol="0" anchor="ctr"/>
          <a:lstStyle/>
          <a:p>
            <a:pPr marL="0" indent="0">
              <a:buNone/>
            </a:pPr>
            <a:r>
              <a:rPr lang="en-US" sz="1200" b="1" dirty="0">
                <a:solidFill>
                  <a:srgbClr val="13294B"/>
                </a:solidFill>
                <a:latin typeface="Courier New" pitchFamily="34" charset="0"/>
                <a:ea typeface="Courier New" pitchFamily="34" charset="-122"/>
                <a:cs typeface="Courier New" pitchFamily="34" charset="-120"/>
              </a:rPr>
              <a:t>rendimiento = km / litros;</a:t>
            </a:r>
            <a:endParaRPr lang="en-US" sz="1200" dirty="0"/>
          </a:p>
        </p:txBody>
      </p:sp>
      <p:sp>
        <p:nvSpPr>
          <p:cNvPr id="17" name="Text 15"/>
          <p:cNvSpPr/>
          <p:nvPr/>
        </p:nvSpPr>
        <p:spPr>
          <a:xfrm>
            <a:off x="1060704" y="4809744"/>
            <a:ext cx="4480560" cy="384048"/>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imprime   </a:t>
            </a:r>
            <a:r>
              <a:rPr lang="en-US" sz="1500" b="1" dirty="0">
                <a:solidFill>
                  <a:srgbClr val="D64545"/>
                </a:solidFill>
                <a:latin typeface="Courier New" pitchFamily="34" charset="0"/>
                <a:ea typeface="Courier New" pitchFamily="34" charset="-122"/>
                <a:cs typeface="Courier New" pitchFamily="34" charset="-120"/>
              </a:rPr>
              <a:t>12.0</a:t>
            </a:r>
            <a:endParaRPr lang="en-US" sz="1150" dirty="0"/>
          </a:p>
        </p:txBody>
      </p:sp>
      <p:sp>
        <p:nvSpPr>
          <p:cNvPr id="18" name="Shape 16"/>
          <p:cNvSpPr/>
          <p:nvPr/>
        </p:nvSpPr>
        <p:spPr>
          <a:xfrm>
            <a:off x="6099048" y="4315968"/>
            <a:ext cx="4983480" cy="1060704"/>
          </a:xfrm>
          <a:prstGeom prst="roundRect">
            <a:avLst>
              <a:gd name="adj" fmla="val 4310"/>
            </a:avLst>
          </a:prstGeom>
          <a:solidFill>
            <a:srgbClr val="FFFFFF"/>
          </a:solidFill>
          <a:ln w="12700">
            <a:solidFill>
              <a:srgbClr val="E1E7EF"/>
            </a:solidFill>
            <a:prstDash val="solid"/>
          </a:ln>
        </p:spPr>
        <p:txBody>
          <a:bodyPr/>
          <a:lstStyle/>
          <a:p>
            <a:endParaRPr lang="es-CO"/>
          </a:p>
        </p:txBody>
      </p:sp>
      <p:sp>
        <p:nvSpPr>
          <p:cNvPr id="19" name="Text 17"/>
          <p:cNvSpPr/>
          <p:nvPr/>
        </p:nvSpPr>
        <p:spPr>
          <a:xfrm>
            <a:off x="6318504" y="4425696"/>
            <a:ext cx="4572000" cy="310896"/>
          </a:xfrm>
          <a:prstGeom prst="rect">
            <a:avLst/>
          </a:prstGeom>
          <a:noFill/>
          <a:ln/>
        </p:spPr>
        <p:txBody>
          <a:bodyPr wrap="square" lIns="0" tIns="0" rIns="0" bIns="0" rtlCol="0" anchor="ctr"/>
          <a:lstStyle/>
          <a:p>
            <a:pPr marL="0" indent="0">
              <a:buNone/>
            </a:pPr>
            <a:r>
              <a:rPr lang="en-US" sz="1200" b="1" dirty="0">
                <a:solidFill>
                  <a:srgbClr val="13294B"/>
                </a:solidFill>
                <a:latin typeface="Courier New" pitchFamily="34" charset="0"/>
                <a:ea typeface="Courier New" pitchFamily="34" charset="-122"/>
                <a:cs typeface="Courier New" pitchFamily="34" charset="-120"/>
              </a:rPr>
              <a:t>rendimiento = (double) km / litros;</a:t>
            </a:r>
            <a:endParaRPr lang="en-US" sz="1200" dirty="0"/>
          </a:p>
        </p:txBody>
      </p:sp>
      <p:sp>
        <p:nvSpPr>
          <p:cNvPr id="20" name="Text 18"/>
          <p:cNvSpPr/>
          <p:nvPr/>
        </p:nvSpPr>
        <p:spPr>
          <a:xfrm>
            <a:off x="6318504" y="4809744"/>
            <a:ext cx="4480560" cy="384048"/>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imprime   </a:t>
            </a:r>
            <a:r>
              <a:rPr lang="en-US" sz="1500" b="1" dirty="0">
                <a:solidFill>
                  <a:srgbClr val="2F9E58"/>
                </a:solidFill>
                <a:latin typeface="Courier New" pitchFamily="34" charset="0"/>
                <a:ea typeface="Courier New" pitchFamily="34" charset="-122"/>
                <a:cs typeface="Courier New" pitchFamily="34" charset="-120"/>
              </a:rPr>
              <a:t>12.8</a:t>
            </a:r>
            <a:endParaRPr lang="en-US" sz="1150" dirty="0"/>
          </a:p>
        </p:txBody>
      </p:sp>
      <p:sp>
        <p:nvSpPr>
          <p:cNvPr id="21" name="Shape 19"/>
          <p:cNvSpPr/>
          <p:nvPr/>
        </p:nvSpPr>
        <p:spPr>
          <a:xfrm>
            <a:off x="548640" y="5687568"/>
            <a:ext cx="11091672" cy="566928"/>
          </a:xfrm>
          <a:prstGeom prst="roundRect">
            <a:avLst>
              <a:gd name="adj" fmla="val 12903"/>
            </a:avLst>
          </a:prstGeom>
          <a:solidFill>
            <a:srgbClr val="13294B"/>
          </a:solidFill>
          <a:ln w="12700">
            <a:solidFill>
              <a:srgbClr val="13294B"/>
            </a:solidFill>
            <a:prstDash val="solid"/>
          </a:ln>
        </p:spPr>
        <p:txBody>
          <a:bodyPr/>
          <a:lstStyle/>
          <a:p>
            <a:endParaRPr lang="es-CO"/>
          </a:p>
        </p:txBody>
      </p:sp>
      <p:sp>
        <p:nvSpPr>
          <p:cNvPr id="22" name="Text 20"/>
          <p:cNvSpPr/>
          <p:nvPr/>
        </p:nvSpPr>
        <p:spPr>
          <a:xfrm>
            <a:off x="868680" y="5687568"/>
            <a:ext cx="10451592" cy="566928"/>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LAS DOS PREGUNTAS DE HOY:  </a:t>
            </a:r>
            <a:r>
              <a:rPr lang="en-US" sz="1350" dirty="0">
                <a:solidFill>
                  <a:srgbClr val="FFFFFF"/>
                </a:solidFill>
                <a:latin typeface="Calibri" pitchFamily="34" charset="0"/>
                <a:ea typeface="Calibri" pitchFamily="34" charset="-122"/>
                <a:cs typeface="Calibri" pitchFamily="34" charset="-120"/>
              </a:rPr>
              <a:t>¿en qué orden se resuelve una expresión?  ·  ¿de qué tipo es el resultado de cada operación?</a:t>
            </a:r>
            <a:endParaRPr lang="en-US" sz="1350" dirty="0"/>
          </a:p>
        </p:txBody>
      </p:sp>
      <p:sp>
        <p:nvSpPr>
          <p:cNvPr id="23" name="Text 21"/>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04</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OPERADORES ARITMÉTICOS</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Los cinco que usarás todo el semestre</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En el pseudocódigo del curso se escriben igual que en Java. Solo cambia cómo se leen en voz alta.</a:t>
            </a:r>
            <a:endParaRPr lang="en-US" sz="1400" dirty="0"/>
          </a:p>
        </p:txBody>
      </p:sp>
      <p:sp>
        <p:nvSpPr>
          <p:cNvPr id="5" name="Shape 3"/>
          <p:cNvSpPr/>
          <p:nvPr/>
        </p:nvSpPr>
        <p:spPr>
          <a:xfrm>
            <a:off x="548640" y="2048256"/>
            <a:ext cx="5349240" cy="859536"/>
          </a:xfrm>
          <a:prstGeom prst="roundRect">
            <a:avLst>
              <a:gd name="adj" fmla="val 8511"/>
            </a:avLst>
          </a:prstGeom>
          <a:solidFill>
            <a:srgbClr val="F4F7FB"/>
          </a:solidFill>
          <a:ln w="12700">
            <a:solidFill>
              <a:srgbClr val="F4F7FB"/>
            </a:solidFill>
            <a:prstDash val="solid"/>
          </a:ln>
        </p:spPr>
        <p:txBody>
          <a:bodyPr/>
          <a:lstStyle/>
          <a:p>
            <a:endParaRPr lang="es-CO"/>
          </a:p>
        </p:txBody>
      </p:sp>
      <p:sp>
        <p:nvSpPr>
          <p:cNvPr id="6" name="Shape 4"/>
          <p:cNvSpPr/>
          <p:nvPr/>
        </p:nvSpPr>
        <p:spPr>
          <a:xfrm>
            <a:off x="713232" y="2212848"/>
            <a:ext cx="713232" cy="530352"/>
          </a:xfrm>
          <a:prstGeom prst="roundRect">
            <a:avLst>
              <a:gd name="adj" fmla="val 10345"/>
            </a:avLst>
          </a:prstGeom>
          <a:solidFill>
            <a:srgbClr val="13294B"/>
          </a:solidFill>
          <a:ln w="12700">
            <a:solidFill>
              <a:srgbClr val="13294B"/>
            </a:solidFill>
            <a:prstDash val="solid"/>
          </a:ln>
        </p:spPr>
        <p:txBody>
          <a:bodyPr/>
          <a:lstStyle/>
          <a:p>
            <a:endParaRPr lang="es-CO"/>
          </a:p>
        </p:txBody>
      </p:sp>
      <p:sp>
        <p:nvSpPr>
          <p:cNvPr id="7" name="Text 5"/>
          <p:cNvSpPr/>
          <p:nvPr/>
        </p:nvSpPr>
        <p:spPr>
          <a:xfrm>
            <a:off x="713232" y="2212848"/>
            <a:ext cx="713232" cy="530352"/>
          </a:xfrm>
          <a:prstGeom prst="rect">
            <a:avLst/>
          </a:prstGeom>
          <a:noFill/>
          <a:ln/>
        </p:spPr>
        <p:txBody>
          <a:bodyPr wrap="square" lIns="0" tIns="0" rIns="0" bIns="0" rtlCol="0" anchor="ctr"/>
          <a:lstStyle/>
          <a:p>
            <a:pPr marL="0" indent="0" algn="ctr">
              <a:buNone/>
            </a:pPr>
            <a:r>
              <a:rPr lang="en-US" sz="2000" b="1" dirty="0">
                <a:solidFill>
                  <a:srgbClr val="FFB100"/>
                </a:solidFill>
                <a:latin typeface="Courier New" pitchFamily="34" charset="0"/>
                <a:ea typeface="Courier New" pitchFamily="34" charset="-122"/>
                <a:cs typeface="Courier New" pitchFamily="34" charset="-120"/>
              </a:rPr>
              <a:t>+</a:t>
            </a:r>
            <a:endParaRPr lang="en-US" sz="2000" dirty="0"/>
          </a:p>
        </p:txBody>
      </p:sp>
      <p:sp>
        <p:nvSpPr>
          <p:cNvPr id="8" name="Text 6"/>
          <p:cNvSpPr/>
          <p:nvPr/>
        </p:nvSpPr>
        <p:spPr>
          <a:xfrm>
            <a:off x="1554480" y="2231136"/>
            <a:ext cx="4160520" cy="274320"/>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Suma</a:t>
            </a:r>
            <a:endParaRPr lang="en-US" sz="1300" dirty="0"/>
          </a:p>
        </p:txBody>
      </p:sp>
      <p:sp>
        <p:nvSpPr>
          <p:cNvPr id="9" name="Text 7"/>
          <p:cNvSpPr/>
          <p:nvPr/>
        </p:nvSpPr>
        <p:spPr>
          <a:xfrm>
            <a:off x="1554480" y="2523744"/>
            <a:ext cx="4160520" cy="274320"/>
          </a:xfrm>
          <a:prstGeom prst="rect">
            <a:avLst/>
          </a:prstGeom>
          <a:noFill/>
          <a:ln/>
        </p:spPr>
        <p:txBody>
          <a:bodyPr wrap="square" lIns="0" tIns="0" rIns="0" bIns="0" rtlCol="0" anchor="ctr"/>
          <a:lstStyle/>
          <a:p>
            <a:pPr marL="0" indent="0">
              <a:buNone/>
            </a:pPr>
            <a:r>
              <a:rPr lang="en-US" sz="1200" b="1" dirty="0">
                <a:solidFill>
                  <a:srgbClr val="1C7293"/>
                </a:solidFill>
                <a:latin typeface="Courier New" pitchFamily="34" charset="0"/>
                <a:ea typeface="Courier New" pitchFamily="34" charset="-122"/>
                <a:cs typeface="Courier New" pitchFamily="34" charset="-120"/>
              </a:rPr>
              <a:t>7 + 2</a:t>
            </a:r>
            <a:r>
              <a:rPr lang="en-US" sz="1100" dirty="0">
                <a:solidFill>
                  <a:srgbClr val="5B6B7C"/>
                </a:solidFill>
                <a:latin typeface="Calibri" pitchFamily="34" charset="0"/>
                <a:ea typeface="Calibri" pitchFamily="34" charset="-122"/>
                <a:cs typeface="Calibri" pitchFamily="34" charset="-120"/>
              </a:rPr>
              <a:t>   →   </a:t>
            </a:r>
            <a:r>
              <a:rPr lang="en-US" sz="1200" b="1" dirty="0">
                <a:solidFill>
                  <a:srgbClr val="B07800"/>
                </a:solidFill>
                <a:latin typeface="Courier New" pitchFamily="34" charset="0"/>
                <a:ea typeface="Courier New" pitchFamily="34" charset="-122"/>
                <a:cs typeface="Courier New" pitchFamily="34" charset="-120"/>
              </a:rPr>
              <a:t>9</a:t>
            </a:r>
            <a:endParaRPr lang="en-US" sz="1200" dirty="0"/>
          </a:p>
        </p:txBody>
      </p:sp>
      <p:sp>
        <p:nvSpPr>
          <p:cNvPr id="10" name="Shape 8"/>
          <p:cNvSpPr/>
          <p:nvPr/>
        </p:nvSpPr>
        <p:spPr>
          <a:xfrm>
            <a:off x="548640" y="2980944"/>
            <a:ext cx="5349240" cy="859536"/>
          </a:xfrm>
          <a:prstGeom prst="roundRect">
            <a:avLst>
              <a:gd name="adj" fmla="val 8511"/>
            </a:avLst>
          </a:prstGeom>
          <a:solidFill>
            <a:srgbClr val="F4F7FB"/>
          </a:solidFill>
          <a:ln w="12700">
            <a:solidFill>
              <a:srgbClr val="F4F7FB"/>
            </a:solidFill>
            <a:prstDash val="solid"/>
          </a:ln>
        </p:spPr>
        <p:txBody>
          <a:bodyPr/>
          <a:lstStyle/>
          <a:p>
            <a:endParaRPr lang="es-CO"/>
          </a:p>
        </p:txBody>
      </p:sp>
      <p:sp>
        <p:nvSpPr>
          <p:cNvPr id="11" name="Shape 9"/>
          <p:cNvSpPr/>
          <p:nvPr/>
        </p:nvSpPr>
        <p:spPr>
          <a:xfrm>
            <a:off x="713232" y="3145536"/>
            <a:ext cx="713232" cy="530352"/>
          </a:xfrm>
          <a:prstGeom prst="roundRect">
            <a:avLst>
              <a:gd name="adj" fmla="val 10345"/>
            </a:avLst>
          </a:prstGeom>
          <a:solidFill>
            <a:srgbClr val="13294B"/>
          </a:solidFill>
          <a:ln w="12700">
            <a:solidFill>
              <a:srgbClr val="13294B"/>
            </a:solidFill>
            <a:prstDash val="solid"/>
          </a:ln>
        </p:spPr>
        <p:txBody>
          <a:bodyPr/>
          <a:lstStyle/>
          <a:p>
            <a:endParaRPr lang="es-CO"/>
          </a:p>
        </p:txBody>
      </p:sp>
      <p:sp>
        <p:nvSpPr>
          <p:cNvPr id="12" name="Text 10"/>
          <p:cNvSpPr/>
          <p:nvPr/>
        </p:nvSpPr>
        <p:spPr>
          <a:xfrm>
            <a:off x="713232" y="3145536"/>
            <a:ext cx="713232" cy="530352"/>
          </a:xfrm>
          <a:prstGeom prst="rect">
            <a:avLst/>
          </a:prstGeom>
          <a:noFill/>
          <a:ln/>
        </p:spPr>
        <p:txBody>
          <a:bodyPr wrap="square" lIns="0" tIns="0" rIns="0" bIns="0" rtlCol="0" anchor="ctr"/>
          <a:lstStyle/>
          <a:p>
            <a:pPr marL="0" indent="0" algn="ctr">
              <a:buNone/>
            </a:pPr>
            <a:r>
              <a:rPr lang="en-US" sz="2000" b="1" dirty="0">
                <a:solidFill>
                  <a:srgbClr val="FFB100"/>
                </a:solidFill>
                <a:latin typeface="Courier New" pitchFamily="34" charset="0"/>
                <a:ea typeface="Courier New" pitchFamily="34" charset="-122"/>
                <a:cs typeface="Courier New" pitchFamily="34" charset="-120"/>
              </a:rPr>
              <a:t>-</a:t>
            </a:r>
            <a:endParaRPr lang="en-US" sz="2000" dirty="0"/>
          </a:p>
        </p:txBody>
      </p:sp>
      <p:sp>
        <p:nvSpPr>
          <p:cNvPr id="13" name="Text 11"/>
          <p:cNvSpPr/>
          <p:nvPr/>
        </p:nvSpPr>
        <p:spPr>
          <a:xfrm>
            <a:off x="1554480" y="3163824"/>
            <a:ext cx="4160520" cy="274320"/>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Resta</a:t>
            </a:r>
            <a:endParaRPr lang="en-US" sz="1300" dirty="0"/>
          </a:p>
        </p:txBody>
      </p:sp>
      <p:sp>
        <p:nvSpPr>
          <p:cNvPr id="14" name="Text 12"/>
          <p:cNvSpPr/>
          <p:nvPr/>
        </p:nvSpPr>
        <p:spPr>
          <a:xfrm>
            <a:off x="1554480" y="3456432"/>
            <a:ext cx="4160520" cy="274320"/>
          </a:xfrm>
          <a:prstGeom prst="rect">
            <a:avLst/>
          </a:prstGeom>
          <a:noFill/>
          <a:ln/>
        </p:spPr>
        <p:txBody>
          <a:bodyPr wrap="square" lIns="0" tIns="0" rIns="0" bIns="0" rtlCol="0" anchor="ctr"/>
          <a:lstStyle/>
          <a:p>
            <a:pPr marL="0" indent="0">
              <a:buNone/>
            </a:pPr>
            <a:r>
              <a:rPr lang="en-US" sz="1200" b="1" dirty="0">
                <a:solidFill>
                  <a:srgbClr val="1C7293"/>
                </a:solidFill>
                <a:latin typeface="Courier New" pitchFamily="34" charset="0"/>
                <a:ea typeface="Courier New" pitchFamily="34" charset="-122"/>
                <a:cs typeface="Courier New" pitchFamily="34" charset="-120"/>
              </a:rPr>
              <a:t>7 - 2</a:t>
            </a:r>
            <a:r>
              <a:rPr lang="en-US" sz="1100" dirty="0">
                <a:solidFill>
                  <a:srgbClr val="5B6B7C"/>
                </a:solidFill>
                <a:latin typeface="Calibri" pitchFamily="34" charset="0"/>
                <a:ea typeface="Calibri" pitchFamily="34" charset="-122"/>
                <a:cs typeface="Calibri" pitchFamily="34" charset="-120"/>
              </a:rPr>
              <a:t>   →   </a:t>
            </a:r>
            <a:r>
              <a:rPr lang="en-US" sz="1200" b="1" dirty="0">
                <a:solidFill>
                  <a:srgbClr val="B07800"/>
                </a:solidFill>
                <a:latin typeface="Courier New" pitchFamily="34" charset="0"/>
                <a:ea typeface="Courier New" pitchFamily="34" charset="-122"/>
                <a:cs typeface="Courier New" pitchFamily="34" charset="-120"/>
              </a:rPr>
              <a:t>5</a:t>
            </a:r>
            <a:endParaRPr lang="en-US" sz="1200" dirty="0"/>
          </a:p>
        </p:txBody>
      </p:sp>
      <p:sp>
        <p:nvSpPr>
          <p:cNvPr id="15" name="Shape 13"/>
          <p:cNvSpPr/>
          <p:nvPr/>
        </p:nvSpPr>
        <p:spPr>
          <a:xfrm>
            <a:off x="548640" y="3913632"/>
            <a:ext cx="5349240" cy="859536"/>
          </a:xfrm>
          <a:prstGeom prst="roundRect">
            <a:avLst>
              <a:gd name="adj" fmla="val 8511"/>
            </a:avLst>
          </a:prstGeom>
          <a:solidFill>
            <a:srgbClr val="F4F7FB"/>
          </a:solidFill>
          <a:ln w="12700">
            <a:solidFill>
              <a:srgbClr val="F4F7FB"/>
            </a:solidFill>
            <a:prstDash val="solid"/>
          </a:ln>
        </p:spPr>
        <p:txBody>
          <a:bodyPr/>
          <a:lstStyle/>
          <a:p>
            <a:endParaRPr lang="es-CO"/>
          </a:p>
        </p:txBody>
      </p:sp>
      <p:sp>
        <p:nvSpPr>
          <p:cNvPr id="16" name="Shape 14"/>
          <p:cNvSpPr/>
          <p:nvPr/>
        </p:nvSpPr>
        <p:spPr>
          <a:xfrm>
            <a:off x="713232" y="4078224"/>
            <a:ext cx="713232" cy="530352"/>
          </a:xfrm>
          <a:prstGeom prst="roundRect">
            <a:avLst>
              <a:gd name="adj" fmla="val 10345"/>
            </a:avLst>
          </a:prstGeom>
          <a:solidFill>
            <a:srgbClr val="13294B"/>
          </a:solidFill>
          <a:ln w="12700">
            <a:solidFill>
              <a:srgbClr val="13294B"/>
            </a:solidFill>
            <a:prstDash val="solid"/>
          </a:ln>
        </p:spPr>
        <p:txBody>
          <a:bodyPr/>
          <a:lstStyle/>
          <a:p>
            <a:endParaRPr lang="es-CO"/>
          </a:p>
        </p:txBody>
      </p:sp>
      <p:sp>
        <p:nvSpPr>
          <p:cNvPr id="17" name="Text 15"/>
          <p:cNvSpPr/>
          <p:nvPr/>
        </p:nvSpPr>
        <p:spPr>
          <a:xfrm>
            <a:off x="713232" y="4078224"/>
            <a:ext cx="713232" cy="530352"/>
          </a:xfrm>
          <a:prstGeom prst="rect">
            <a:avLst/>
          </a:prstGeom>
          <a:noFill/>
          <a:ln/>
        </p:spPr>
        <p:txBody>
          <a:bodyPr wrap="square" lIns="0" tIns="0" rIns="0" bIns="0" rtlCol="0" anchor="ctr"/>
          <a:lstStyle/>
          <a:p>
            <a:pPr marL="0" indent="0" algn="ctr">
              <a:buNone/>
            </a:pPr>
            <a:r>
              <a:rPr lang="en-US" sz="2000" b="1" dirty="0">
                <a:solidFill>
                  <a:srgbClr val="FFB100"/>
                </a:solidFill>
                <a:latin typeface="Courier New" pitchFamily="34" charset="0"/>
                <a:ea typeface="Courier New" pitchFamily="34" charset="-122"/>
                <a:cs typeface="Courier New" pitchFamily="34" charset="-120"/>
              </a:rPr>
              <a:t>*</a:t>
            </a:r>
            <a:endParaRPr lang="en-US" sz="2000" dirty="0"/>
          </a:p>
        </p:txBody>
      </p:sp>
      <p:sp>
        <p:nvSpPr>
          <p:cNvPr id="18" name="Text 16"/>
          <p:cNvSpPr/>
          <p:nvPr/>
        </p:nvSpPr>
        <p:spPr>
          <a:xfrm>
            <a:off x="1554480" y="4096512"/>
            <a:ext cx="4160520" cy="274320"/>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Multiplicación</a:t>
            </a:r>
            <a:endParaRPr lang="en-US" sz="1300" dirty="0"/>
          </a:p>
        </p:txBody>
      </p:sp>
      <p:sp>
        <p:nvSpPr>
          <p:cNvPr id="19" name="Text 17"/>
          <p:cNvSpPr/>
          <p:nvPr/>
        </p:nvSpPr>
        <p:spPr>
          <a:xfrm>
            <a:off x="1554480" y="4389120"/>
            <a:ext cx="4160520" cy="274320"/>
          </a:xfrm>
          <a:prstGeom prst="rect">
            <a:avLst/>
          </a:prstGeom>
          <a:noFill/>
          <a:ln/>
        </p:spPr>
        <p:txBody>
          <a:bodyPr wrap="square" lIns="0" tIns="0" rIns="0" bIns="0" rtlCol="0" anchor="ctr"/>
          <a:lstStyle/>
          <a:p>
            <a:pPr marL="0" indent="0">
              <a:buNone/>
            </a:pPr>
            <a:r>
              <a:rPr lang="en-US" sz="1200" b="1" dirty="0">
                <a:solidFill>
                  <a:srgbClr val="1C7293"/>
                </a:solidFill>
                <a:latin typeface="Courier New" pitchFamily="34" charset="0"/>
                <a:ea typeface="Courier New" pitchFamily="34" charset="-122"/>
                <a:cs typeface="Courier New" pitchFamily="34" charset="-120"/>
              </a:rPr>
              <a:t>7 * 2</a:t>
            </a:r>
            <a:r>
              <a:rPr lang="en-US" sz="1100" dirty="0">
                <a:solidFill>
                  <a:srgbClr val="5B6B7C"/>
                </a:solidFill>
                <a:latin typeface="Calibri" pitchFamily="34" charset="0"/>
                <a:ea typeface="Calibri" pitchFamily="34" charset="-122"/>
                <a:cs typeface="Calibri" pitchFamily="34" charset="-120"/>
              </a:rPr>
              <a:t>   →   </a:t>
            </a:r>
            <a:r>
              <a:rPr lang="en-US" sz="1200" b="1" dirty="0">
                <a:solidFill>
                  <a:srgbClr val="B07800"/>
                </a:solidFill>
                <a:latin typeface="Courier New" pitchFamily="34" charset="0"/>
                <a:ea typeface="Courier New" pitchFamily="34" charset="-122"/>
                <a:cs typeface="Courier New" pitchFamily="34" charset="-120"/>
              </a:rPr>
              <a:t>14</a:t>
            </a:r>
            <a:endParaRPr lang="en-US" sz="1200" dirty="0"/>
          </a:p>
        </p:txBody>
      </p:sp>
      <p:sp>
        <p:nvSpPr>
          <p:cNvPr id="20" name="Shape 18"/>
          <p:cNvSpPr/>
          <p:nvPr/>
        </p:nvSpPr>
        <p:spPr>
          <a:xfrm>
            <a:off x="6291072" y="2048256"/>
            <a:ext cx="5349240" cy="859536"/>
          </a:xfrm>
          <a:prstGeom prst="roundRect">
            <a:avLst>
              <a:gd name="adj" fmla="val 8511"/>
            </a:avLst>
          </a:prstGeom>
          <a:solidFill>
            <a:srgbClr val="F4F7FB"/>
          </a:solidFill>
          <a:ln w="12700">
            <a:solidFill>
              <a:srgbClr val="F4F7FB"/>
            </a:solidFill>
            <a:prstDash val="solid"/>
          </a:ln>
        </p:spPr>
        <p:txBody>
          <a:bodyPr/>
          <a:lstStyle/>
          <a:p>
            <a:endParaRPr lang="es-CO"/>
          </a:p>
        </p:txBody>
      </p:sp>
      <p:sp>
        <p:nvSpPr>
          <p:cNvPr id="21" name="Shape 19"/>
          <p:cNvSpPr/>
          <p:nvPr/>
        </p:nvSpPr>
        <p:spPr>
          <a:xfrm>
            <a:off x="6455664" y="2212848"/>
            <a:ext cx="713232" cy="530352"/>
          </a:xfrm>
          <a:prstGeom prst="roundRect">
            <a:avLst>
              <a:gd name="adj" fmla="val 10345"/>
            </a:avLst>
          </a:prstGeom>
          <a:solidFill>
            <a:srgbClr val="13294B"/>
          </a:solidFill>
          <a:ln w="12700">
            <a:solidFill>
              <a:srgbClr val="13294B"/>
            </a:solidFill>
            <a:prstDash val="solid"/>
          </a:ln>
        </p:spPr>
        <p:txBody>
          <a:bodyPr/>
          <a:lstStyle/>
          <a:p>
            <a:endParaRPr lang="es-CO"/>
          </a:p>
        </p:txBody>
      </p:sp>
      <p:sp>
        <p:nvSpPr>
          <p:cNvPr id="22" name="Text 20"/>
          <p:cNvSpPr/>
          <p:nvPr/>
        </p:nvSpPr>
        <p:spPr>
          <a:xfrm>
            <a:off x="6455664" y="2212848"/>
            <a:ext cx="713232" cy="530352"/>
          </a:xfrm>
          <a:prstGeom prst="rect">
            <a:avLst/>
          </a:prstGeom>
          <a:noFill/>
          <a:ln/>
        </p:spPr>
        <p:txBody>
          <a:bodyPr wrap="square" lIns="0" tIns="0" rIns="0" bIns="0" rtlCol="0" anchor="ctr"/>
          <a:lstStyle/>
          <a:p>
            <a:pPr marL="0" indent="0" algn="ctr">
              <a:buNone/>
            </a:pPr>
            <a:r>
              <a:rPr lang="en-US" sz="2000" b="1" dirty="0">
                <a:solidFill>
                  <a:srgbClr val="FFB100"/>
                </a:solidFill>
                <a:latin typeface="Courier New" pitchFamily="34" charset="0"/>
                <a:ea typeface="Courier New" pitchFamily="34" charset="-122"/>
                <a:cs typeface="Courier New" pitchFamily="34" charset="-120"/>
              </a:rPr>
              <a:t>/</a:t>
            </a:r>
            <a:endParaRPr lang="en-US" sz="2000" dirty="0"/>
          </a:p>
        </p:txBody>
      </p:sp>
      <p:sp>
        <p:nvSpPr>
          <p:cNvPr id="23" name="Text 21"/>
          <p:cNvSpPr/>
          <p:nvPr/>
        </p:nvSpPr>
        <p:spPr>
          <a:xfrm>
            <a:off x="7296912" y="2231136"/>
            <a:ext cx="4160520" cy="274320"/>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División</a:t>
            </a:r>
            <a:endParaRPr lang="en-US" sz="1300" dirty="0"/>
          </a:p>
        </p:txBody>
      </p:sp>
      <p:sp>
        <p:nvSpPr>
          <p:cNvPr id="24" name="Text 22"/>
          <p:cNvSpPr/>
          <p:nvPr/>
        </p:nvSpPr>
        <p:spPr>
          <a:xfrm>
            <a:off x="7296912" y="2523744"/>
            <a:ext cx="4160520" cy="274320"/>
          </a:xfrm>
          <a:prstGeom prst="rect">
            <a:avLst/>
          </a:prstGeom>
          <a:noFill/>
          <a:ln/>
        </p:spPr>
        <p:txBody>
          <a:bodyPr wrap="square" lIns="0" tIns="0" rIns="0" bIns="0" rtlCol="0" anchor="ctr"/>
          <a:lstStyle/>
          <a:p>
            <a:pPr marL="0" indent="0">
              <a:buNone/>
            </a:pPr>
            <a:r>
              <a:rPr lang="en-US" sz="1200" b="1" dirty="0">
                <a:solidFill>
                  <a:srgbClr val="1C7293"/>
                </a:solidFill>
                <a:latin typeface="Courier New" pitchFamily="34" charset="0"/>
                <a:ea typeface="Courier New" pitchFamily="34" charset="-122"/>
                <a:cs typeface="Courier New" pitchFamily="34" charset="-120"/>
              </a:rPr>
              <a:t>7 / 2</a:t>
            </a:r>
            <a:r>
              <a:rPr lang="en-US" sz="1100" dirty="0">
                <a:solidFill>
                  <a:srgbClr val="5B6B7C"/>
                </a:solidFill>
                <a:latin typeface="Calibri" pitchFamily="34" charset="0"/>
                <a:ea typeface="Calibri" pitchFamily="34" charset="-122"/>
                <a:cs typeface="Calibri" pitchFamily="34" charset="-120"/>
              </a:rPr>
              <a:t>   →   </a:t>
            </a:r>
            <a:r>
              <a:rPr lang="en-US" sz="1200" b="1" dirty="0">
                <a:solidFill>
                  <a:srgbClr val="B07800"/>
                </a:solidFill>
                <a:latin typeface="Courier New" pitchFamily="34" charset="0"/>
                <a:ea typeface="Courier New" pitchFamily="34" charset="-122"/>
                <a:cs typeface="Courier New" pitchFamily="34" charset="-120"/>
              </a:rPr>
              <a:t>3</a:t>
            </a:r>
            <a:endParaRPr lang="en-US" sz="1200" dirty="0"/>
          </a:p>
        </p:txBody>
      </p:sp>
      <p:sp>
        <p:nvSpPr>
          <p:cNvPr id="25" name="Shape 23"/>
          <p:cNvSpPr/>
          <p:nvPr/>
        </p:nvSpPr>
        <p:spPr>
          <a:xfrm>
            <a:off x="6291072" y="2980944"/>
            <a:ext cx="5349240" cy="859536"/>
          </a:xfrm>
          <a:prstGeom prst="roundRect">
            <a:avLst>
              <a:gd name="adj" fmla="val 8511"/>
            </a:avLst>
          </a:prstGeom>
          <a:solidFill>
            <a:srgbClr val="F4F7FB"/>
          </a:solidFill>
          <a:ln w="12700">
            <a:solidFill>
              <a:srgbClr val="F4F7FB"/>
            </a:solidFill>
            <a:prstDash val="solid"/>
          </a:ln>
        </p:spPr>
        <p:txBody>
          <a:bodyPr/>
          <a:lstStyle/>
          <a:p>
            <a:endParaRPr lang="es-CO"/>
          </a:p>
        </p:txBody>
      </p:sp>
      <p:sp>
        <p:nvSpPr>
          <p:cNvPr id="26" name="Shape 24"/>
          <p:cNvSpPr/>
          <p:nvPr/>
        </p:nvSpPr>
        <p:spPr>
          <a:xfrm>
            <a:off x="6455664" y="3145536"/>
            <a:ext cx="713232" cy="530352"/>
          </a:xfrm>
          <a:prstGeom prst="roundRect">
            <a:avLst>
              <a:gd name="adj" fmla="val 10345"/>
            </a:avLst>
          </a:prstGeom>
          <a:solidFill>
            <a:srgbClr val="13294B"/>
          </a:solidFill>
          <a:ln w="12700">
            <a:solidFill>
              <a:srgbClr val="13294B"/>
            </a:solidFill>
            <a:prstDash val="solid"/>
          </a:ln>
        </p:spPr>
        <p:txBody>
          <a:bodyPr/>
          <a:lstStyle/>
          <a:p>
            <a:endParaRPr lang="es-CO"/>
          </a:p>
        </p:txBody>
      </p:sp>
      <p:sp>
        <p:nvSpPr>
          <p:cNvPr id="27" name="Text 25"/>
          <p:cNvSpPr/>
          <p:nvPr/>
        </p:nvSpPr>
        <p:spPr>
          <a:xfrm>
            <a:off x="6455664" y="3145536"/>
            <a:ext cx="713232" cy="530352"/>
          </a:xfrm>
          <a:prstGeom prst="rect">
            <a:avLst/>
          </a:prstGeom>
          <a:noFill/>
          <a:ln/>
        </p:spPr>
        <p:txBody>
          <a:bodyPr wrap="square" lIns="0" tIns="0" rIns="0" bIns="0" rtlCol="0" anchor="ctr"/>
          <a:lstStyle/>
          <a:p>
            <a:pPr marL="0" indent="0" algn="ctr">
              <a:buNone/>
            </a:pPr>
            <a:r>
              <a:rPr lang="en-US" sz="2000" b="1" dirty="0">
                <a:solidFill>
                  <a:srgbClr val="FFB100"/>
                </a:solidFill>
                <a:latin typeface="Courier New" pitchFamily="34" charset="0"/>
                <a:ea typeface="Courier New" pitchFamily="34" charset="-122"/>
                <a:cs typeface="Courier New" pitchFamily="34" charset="-120"/>
              </a:rPr>
              <a:t>%</a:t>
            </a:r>
            <a:endParaRPr lang="en-US" sz="2000" dirty="0"/>
          </a:p>
        </p:txBody>
      </p:sp>
      <p:sp>
        <p:nvSpPr>
          <p:cNvPr id="28" name="Text 26"/>
          <p:cNvSpPr/>
          <p:nvPr/>
        </p:nvSpPr>
        <p:spPr>
          <a:xfrm>
            <a:off x="7296912" y="3163824"/>
            <a:ext cx="4160520" cy="274320"/>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Residuo</a:t>
            </a:r>
            <a:endParaRPr lang="en-US" sz="1300" dirty="0"/>
          </a:p>
        </p:txBody>
      </p:sp>
      <p:sp>
        <p:nvSpPr>
          <p:cNvPr id="29" name="Text 27"/>
          <p:cNvSpPr/>
          <p:nvPr/>
        </p:nvSpPr>
        <p:spPr>
          <a:xfrm>
            <a:off x="7296912" y="3456432"/>
            <a:ext cx="4160520" cy="274320"/>
          </a:xfrm>
          <a:prstGeom prst="rect">
            <a:avLst/>
          </a:prstGeom>
          <a:noFill/>
          <a:ln/>
        </p:spPr>
        <p:txBody>
          <a:bodyPr wrap="square" lIns="0" tIns="0" rIns="0" bIns="0" rtlCol="0" anchor="ctr"/>
          <a:lstStyle/>
          <a:p>
            <a:pPr marL="0" indent="0">
              <a:buNone/>
            </a:pPr>
            <a:r>
              <a:rPr lang="en-US" sz="1200" b="1" dirty="0">
                <a:solidFill>
                  <a:srgbClr val="1C7293"/>
                </a:solidFill>
                <a:latin typeface="Courier New" pitchFamily="34" charset="0"/>
                <a:ea typeface="Courier New" pitchFamily="34" charset="-122"/>
                <a:cs typeface="Courier New" pitchFamily="34" charset="-120"/>
              </a:rPr>
              <a:t>7 % 2</a:t>
            </a:r>
            <a:r>
              <a:rPr lang="en-US" sz="1100" dirty="0">
                <a:solidFill>
                  <a:srgbClr val="5B6B7C"/>
                </a:solidFill>
                <a:latin typeface="Calibri" pitchFamily="34" charset="0"/>
                <a:ea typeface="Calibri" pitchFamily="34" charset="-122"/>
                <a:cs typeface="Calibri" pitchFamily="34" charset="-120"/>
              </a:rPr>
              <a:t>   →   </a:t>
            </a:r>
            <a:r>
              <a:rPr lang="en-US" sz="1200" b="1" dirty="0">
                <a:solidFill>
                  <a:srgbClr val="B07800"/>
                </a:solidFill>
                <a:latin typeface="Courier New" pitchFamily="34" charset="0"/>
                <a:ea typeface="Courier New" pitchFamily="34" charset="-122"/>
                <a:cs typeface="Courier New" pitchFamily="34" charset="-120"/>
              </a:rPr>
              <a:t>1</a:t>
            </a:r>
            <a:endParaRPr lang="en-US" sz="1200" dirty="0"/>
          </a:p>
        </p:txBody>
      </p:sp>
      <p:sp>
        <p:nvSpPr>
          <p:cNvPr id="30" name="Shape 28"/>
          <p:cNvSpPr/>
          <p:nvPr/>
        </p:nvSpPr>
        <p:spPr>
          <a:xfrm>
            <a:off x="6291072" y="3913632"/>
            <a:ext cx="5349240" cy="1481328"/>
          </a:xfrm>
          <a:prstGeom prst="roundRect">
            <a:avLst>
              <a:gd name="adj" fmla="val 4938"/>
            </a:avLst>
          </a:prstGeom>
          <a:solidFill>
            <a:srgbClr val="FFF4DE"/>
          </a:solidFill>
          <a:ln w="12700">
            <a:solidFill>
              <a:srgbClr val="FFF4DE"/>
            </a:solidFill>
            <a:prstDash val="solid"/>
          </a:ln>
        </p:spPr>
        <p:txBody>
          <a:bodyPr/>
          <a:lstStyle/>
          <a:p>
            <a:endParaRPr lang="es-CO"/>
          </a:p>
        </p:txBody>
      </p:sp>
      <p:sp>
        <p:nvSpPr>
          <p:cNvPr id="31" name="Text 29"/>
          <p:cNvSpPr/>
          <p:nvPr/>
        </p:nvSpPr>
        <p:spPr>
          <a:xfrm>
            <a:off x="6583680" y="4041648"/>
            <a:ext cx="4754880" cy="256032"/>
          </a:xfrm>
          <a:prstGeom prst="rect">
            <a:avLst/>
          </a:prstGeom>
          <a:noFill/>
          <a:ln/>
        </p:spPr>
        <p:txBody>
          <a:bodyPr wrap="square" lIns="0" tIns="0" rIns="0" bIns="0" rtlCol="0" anchor="ctr"/>
          <a:lstStyle/>
          <a:p>
            <a:pPr marL="0" indent="0">
              <a:buNone/>
            </a:pPr>
            <a:r>
              <a:rPr lang="en-US" sz="1050" b="1" kern="0" spc="120" dirty="0">
                <a:solidFill>
                  <a:srgbClr val="B07800"/>
                </a:solidFill>
                <a:latin typeface="Calibri" pitchFamily="34" charset="0"/>
                <a:ea typeface="Calibri" pitchFamily="34" charset="-122"/>
                <a:cs typeface="Calibri" pitchFamily="34" charset="-120"/>
              </a:rPr>
              <a:t>CÓMO SE LEEN</a:t>
            </a:r>
            <a:endParaRPr lang="en-US" sz="1050" dirty="0"/>
          </a:p>
        </p:txBody>
      </p:sp>
      <p:sp>
        <p:nvSpPr>
          <p:cNvPr id="32" name="Text 30"/>
          <p:cNvSpPr/>
          <p:nvPr/>
        </p:nvSpPr>
        <p:spPr>
          <a:xfrm>
            <a:off x="6583680" y="4334256"/>
            <a:ext cx="4800600" cy="914400"/>
          </a:xfrm>
          <a:prstGeom prst="rect">
            <a:avLst/>
          </a:prstGeom>
          <a:noFill/>
          <a:ln/>
        </p:spPr>
        <p:txBody>
          <a:bodyPr wrap="square" lIns="0" tIns="0" rIns="0" bIns="0" rtlCol="0" anchor="t"/>
          <a:lstStyle/>
          <a:p>
            <a:pPr marL="0" indent="0">
              <a:lnSpc>
                <a:spcPts val="1600"/>
              </a:lnSpc>
              <a:buNone/>
            </a:pPr>
            <a:r>
              <a:rPr lang="en-US" sz="1250" dirty="0">
                <a:solidFill>
                  <a:srgbClr val="1A1A2E"/>
                </a:solidFill>
                <a:latin typeface="Calibri" pitchFamily="34" charset="0"/>
                <a:ea typeface="Calibri" pitchFamily="34" charset="-122"/>
                <a:cs typeface="Calibri" pitchFamily="34" charset="-120"/>
              </a:rPr>
              <a:t>«siete más dos», «siete por dos», «siete entre dos», «siete módulo dos». Decirlo en voz alta mientras se escribe evita la mitad de los errores de tipeo.</a:t>
            </a:r>
            <a:endParaRPr lang="en-US" sz="1250" dirty="0"/>
          </a:p>
        </p:txBody>
      </p:sp>
      <p:sp>
        <p:nvSpPr>
          <p:cNvPr id="33" name="Shape 31"/>
          <p:cNvSpPr/>
          <p:nvPr/>
        </p:nvSpPr>
        <p:spPr>
          <a:xfrm>
            <a:off x="548640" y="5559552"/>
            <a:ext cx="11091672" cy="685800"/>
          </a:xfrm>
          <a:prstGeom prst="roundRect">
            <a:avLst>
              <a:gd name="adj" fmla="val 10667"/>
            </a:avLst>
          </a:prstGeom>
          <a:solidFill>
            <a:srgbClr val="13294B"/>
          </a:solidFill>
          <a:ln w="12700">
            <a:solidFill>
              <a:srgbClr val="13294B"/>
            </a:solidFill>
            <a:prstDash val="solid"/>
          </a:ln>
        </p:spPr>
        <p:txBody>
          <a:bodyPr/>
          <a:lstStyle/>
          <a:p>
            <a:endParaRPr lang="es-CO"/>
          </a:p>
        </p:txBody>
      </p:sp>
      <p:sp>
        <p:nvSpPr>
          <p:cNvPr id="34" name="Text 32"/>
          <p:cNvSpPr/>
          <p:nvPr/>
        </p:nvSpPr>
        <p:spPr>
          <a:xfrm>
            <a:off x="868680" y="5559552"/>
            <a:ext cx="10451592" cy="685800"/>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OJO CON LOS DOS ÚLTIMOS:  </a:t>
            </a:r>
            <a:r>
              <a:rPr lang="en-US" sz="1350" dirty="0">
                <a:solidFill>
                  <a:srgbClr val="FFFFFF"/>
                </a:solidFill>
                <a:latin typeface="Calibri" pitchFamily="34" charset="0"/>
                <a:ea typeface="Calibri" pitchFamily="34" charset="-122"/>
                <a:cs typeface="Calibri" pitchFamily="34" charset="-120"/>
              </a:rPr>
              <a:t>la división y el residuo son la pareja que más resultados equivocados produce en los primeros programas.</a:t>
            </a:r>
            <a:endParaRPr lang="en-US" sz="1350" dirty="0"/>
          </a:p>
        </p:txBody>
      </p:sp>
      <p:sp>
        <p:nvSpPr>
          <p:cNvPr id="35" name="Text 33"/>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05</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LA DIVISIÓN</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El tipo del resultado lo deciden los operandos</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No es un error del lenguaje: es una regla, y se puede usar a favor.</a:t>
            </a:r>
            <a:endParaRPr lang="en-US" sz="1400" dirty="0"/>
          </a:p>
        </p:txBody>
      </p:sp>
      <p:sp>
        <p:nvSpPr>
          <p:cNvPr id="5" name="Shape 3"/>
          <p:cNvSpPr/>
          <p:nvPr/>
        </p:nvSpPr>
        <p:spPr>
          <a:xfrm>
            <a:off x="548640" y="2011680"/>
            <a:ext cx="5349240" cy="1005840"/>
          </a:xfrm>
          <a:prstGeom prst="roundRect">
            <a:avLst>
              <a:gd name="adj" fmla="val 7273"/>
            </a:avLst>
          </a:prstGeom>
          <a:solidFill>
            <a:srgbClr val="E8EEF4"/>
          </a:solidFill>
          <a:ln w="12700">
            <a:solidFill>
              <a:srgbClr val="E8EEF4"/>
            </a:solidFill>
            <a:prstDash val="solid"/>
          </a:ln>
        </p:spPr>
        <p:txBody>
          <a:bodyPr/>
          <a:lstStyle/>
          <a:p>
            <a:endParaRPr lang="es-CO"/>
          </a:p>
        </p:txBody>
      </p:sp>
      <p:sp>
        <p:nvSpPr>
          <p:cNvPr id="6" name="Text 4"/>
          <p:cNvSpPr/>
          <p:nvPr/>
        </p:nvSpPr>
        <p:spPr>
          <a:xfrm>
            <a:off x="841248" y="2011680"/>
            <a:ext cx="4754880" cy="1005840"/>
          </a:xfrm>
          <a:prstGeom prst="rect">
            <a:avLst/>
          </a:prstGeom>
          <a:noFill/>
          <a:ln/>
        </p:spPr>
        <p:txBody>
          <a:bodyPr wrap="square" lIns="0" tIns="0" rIns="0" bIns="0" rtlCol="0" anchor="ctr"/>
          <a:lstStyle/>
          <a:p>
            <a:pPr marL="0" indent="0">
              <a:buNone/>
            </a:pPr>
            <a:r>
              <a:rPr lang="en-US" sz="1500" b="1" dirty="0">
                <a:solidFill>
                  <a:srgbClr val="13294B"/>
                </a:solidFill>
                <a:latin typeface="Courier New" pitchFamily="34" charset="0"/>
                <a:ea typeface="Courier New" pitchFamily="34" charset="-122"/>
                <a:cs typeface="Courier New" pitchFamily="34" charset="-120"/>
              </a:rPr>
              <a:t>entero  /  entero   →   entero</a:t>
            </a:r>
            <a:endParaRPr lang="en-US" sz="1500" dirty="0"/>
          </a:p>
        </p:txBody>
      </p:sp>
      <p:sp>
        <p:nvSpPr>
          <p:cNvPr id="7" name="Shape 5"/>
          <p:cNvSpPr/>
          <p:nvPr/>
        </p:nvSpPr>
        <p:spPr>
          <a:xfrm>
            <a:off x="6291072" y="2011680"/>
            <a:ext cx="5349240" cy="1005840"/>
          </a:xfrm>
          <a:prstGeom prst="roundRect">
            <a:avLst>
              <a:gd name="adj" fmla="val 7273"/>
            </a:avLst>
          </a:prstGeom>
          <a:solidFill>
            <a:srgbClr val="FFF4DE"/>
          </a:solidFill>
          <a:ln w="12700">
            <a:solidFill>
              <a:srgbClr val="FFF4DE"/>
            </a:solidFill>
            <a:prstDash val="solid"/>
          </a:ln>
        </p:spPr>
        <p:txBody>
          <a:bodyPr/>
          <a:lstStyle/>
          <a:p>
            <a:endParaRPr lang="es-CO"/>
          </a:p>
        </p:txBody>
      </p:sp>
      <p:sp>
        <p:nvSpPr>
          <p:cNvPr id="8" name="Text 6"/>
          <p:cNvSpPr/>
          <p:nvPr/>
        </p:nvSpPr>
        <p:spPr>
          <a:xfrm>
            <a:off x="6583680" y="2011680"/>
            <a:ext cx="4754880" cy="1005840"/>
          </a:xfrm>
          <a:prstGeom prst="rect">
            <a:avLst/>
          </a:prstGeom>
          <a:noFill/>
          <a:ln/>
        </p:spPr>
        <p:txBody>
          <a:bodyPr wrap="square" lIns="0" tIns="0" rIns="0" bIns="0" rtlCol="0" anchor="ctr"/>
          <a:lstStyle/>
          <a:p>
            <a:pPr marL="0" indent="0">
              <a:buNone/>
            </a:pPr>
            <a:r>
              <a:rPr lang="en-US" sz="1500" b="1" dirty="0">
                <a:solidFill>
                  <a:srgbClr val="B07800"/>
                </a:solidFill>
                <a:latin typeface="Courier New" pitchFamily="34" charset="0"/>
                <a:ea typeface="Courier New" pitchFamily="34" charset="-122"/>
                <a:cs typeface="Courier New" pitchFamily="34" charset="-120"/>
              </a:rPr>
              <a:t>si uno es real  →   real</a:t>
            </a:r>
            <a:endParaRPr lang="en-US" sz="1500" dirty="0"/>
          </a:p>
        </p:txBody>
      </p:sp>
      <p:sp>
        <p:nvSpPr>
          <p:cNvPr id="9" name="Shape 7"/>
          <p:cNvSpPr/>
          <p:nvPr/>
        </p:nvSpPr>
        <p:spPr>
          <a:xfrm>
            <a:off x="548640" y="3200400"/>
            <a:ext cx="11091672" cy="566928"/>
          </a:xfrm>
          <a:prstGeom prst="roundRect">
            <a:avLst>
              <a:gd name="adj" fmla="val 12903"/>
            </a:avLst>
          </a:prstGeom>
          <a:solidFill>
            <a:srgbClr val="F4F7FB"/>
          </a:solidFill>
          <a:ln w="12700">
            <a:solidFill>
              <a:srgbClr val="F4F7FB"/>
            </a:solidFill>
            <a:prstDash val="solid"/>
          </a:ln>
        </p:spPr>
        <p:txBody>
          <a:bodyPr/>
          <a:lstStyle/>
          <a:p>
            <a:endParaRPr lang="es-CO"/>
          </a:p>
        </p:txBody>
      </p:sp>
      <p:sp>
        <p:nvSpPr>
          <p:cNvPr id="10" name="Text 8"/>
          <p:cNvSpPr/>
          <p:nvPr/>
        </p:nvSpPr>
        <p:spPr>
          <a:xfrm>
            <a:off x="822960" y="3200400"/>
            <a:ext cx="3108960" cy="566928"/>
          </a:xfrm>
          <a:prstGeom prst="rect">
            <a:avLst/>
          </a:prstGeom>
          <a:noFill/>
          <a:ln/>
        </p:spPr>
        <p:txBody>
          <a:bodyPr wrap="square" lIns="0" tIns="0" rIns="0" bIns="0" rtlCol="0" anchor="ctr"/>
          <a:lstStyle/>
          <a:p>
            <a:pPr marL="0" indent="0">
              <a:buNone/>
            </a:pPr>
            <a:r>
              <a:rPr lang="en-US" sz="1300" b="1" dirty="0">
                <a:solidFill>
                  <a:srgbClr val="13294B"/>
                </a:solidFill>
                <a:latin typeface="Courier New" pitchFamily="34" charset="0"/>
                <a:ea typeface="Courier New" pitchFamily="34" charset="-122"/>
                <a:cs typeface="Courier New" pitchFamily="34" charset="-120"/>
              </a:rPr>
              <a:t>7 / 2</a:t>
            </a:r>
            <a:endParaRPr lang="en-US" sz="1300" dirty="0"/>
          </a:p>
        </p:txBody>
      </p:sp>
      <p:sp>
        <p:nvSpPr>
          <p:cNvPr id="11" name="Text 9"/>
          <p:cNvSpPr/>
          <p:nvPr/>
        </p:nvSpPr>
        <p:spPr>
          <a:xfrm>
            <a:off x="4023360" y="3200400"/>
            <a:ext cx="1188720" cy="566928"/>
          </a:xfrm>
          <a:prstGeom prst="rect">
            <a:avLst/>
          </a:prstGeom>
          <a:noFill/>
          <a:ln/>
        </p:spPr>
        <p:txBody>
          <a:bodyPr wrap="square" lIns="0" tIns="0" rIns="0" bIns="0" rtlCol="0" anchor="ctr"/>
          <a:lstStyle/>
          <a:p>
            <a:pPr marL="0" indent="0">
              <a:buNone/>
            </a:pPr>
            <a:r>
              <a:rPr lang="en-US" sz="1400" b="1" dirty="0">
                <a:solidFill>
                  <a:srgbClr val="D64545"/>
                </a:solidFill>
                <a:latin typeface="Courier New" pitchFamily="34" charset="0"/>
                <a:ea typeface="Courier New" pitchFamily="34" charset="-122"/>
                <a:cs typeface="Courier New" pitchFamily="34" charset="-120"/>
              </a:rPr>
              <a:t>3</a:t>
            </a:r>
            <a:endParaRPr lang="en-US" sz="1400" dirty="0"/>
          </a:p>
        </p:txBody>
      </p:sp>
      <p:sp>
        <p:nvSpPr>
          <p:cNvPr id="12" name="Text 10"/>
          <p:cNvSpPr/>
          <p:nvPr/>
        </p:nvSpPr>
        <p:spPr>
          <a:xfrm>
            <a:off x="5394960" y="3200400"/>
            <a:ext cx="6035040" cy="566928"/>
          </a:xfrm>
          <a:prstGeom prst="rect">
            <a:avLst/>
          </a:prstGeom>
          <a:noFill/>
          <a:ln/>
        </p:spPr>
        <p:txBody>
          <a:bodyPr wrap="square" lIns="0" tIns="0" rIns="0" bIns="0" rtlCol="0" anchor="ctr"/>
          <a:lstStyle/>
          <a:p>
            <a:pPr marL="0" indent="0">
              <a:buNone/>
            </a:pPr>
            <a:r>
              <a:rPr lang="en-US" sz="1250" dirty="0">
                <a:solidFill>
                  <a:srgbClr val="5B6B7C"/>
                </a:solidFill>
                <a:latin typeface="Calibri" pitchFamily="34" charset="0"/>
                <a:ea typeface="Calibri" pitchFamily="34" charset="-122"/>
                <a:cs typeface="Calibri" pitchFamily="34" charset="-120"/>
              </a:rPr>
              <a:t>se descarta la parte decimal, no se redondea</a:t>
            </a:r>
            <a:endParaRPr lang="en-US" sz="1250" dirty="0"/>
          </a:p>
        </p:txBody>
      </p:sp>
      <p:sp>
        <p:nvSpPr>
          <p:cNvPr id="13" name="Shape 11"/>
          <p:cNvSpPr/>
          <p:nvPr/>
        </p:nvSpPr>
        <p:spPr>
          <a:xfrm>
            <a:off x="548640" y="3803904"/>
            <a:ext cx="11091672" cy="566928"/>
          </a:xfrm>
          <a:prstGeom prst="roundRect">
            <a:avLst>
              <a:gd name="adj" fmla="val 12903"/>
            </a:avLst>
          </a:prstGeom>
          <a:solidFill>
            <a:srgbClr val="FFFFFF"/>
          </a:solidFill>
          <a:ln w="12700">
            <a:solidFill>
              <a:srgbClr val="FFFFFF"/>
            </a:solidFill>
            <a:prstDash val="solid"/>
          </a:ln>
        </p:spPr>
        <p:txBody>
          <a:bodyPr/>
          <a:lstStyle/>
          <a:p>
            <a:endParaRPr lang="es-CO"/>
          </a:p>
        </p:txBody>
      </p:sp>
      <p:sp>
        <p:nvSpPr>
          <p:cNvPr id="14" name="Text 12"/>
          <p:cNvSpPr/>
          <p:nvPr/>
        </p:nvSpPr>
        <p:spPr>
          <a:xfrm>
            <a:off x="822960" y="3803904"/>
            <a:ext cx="3108960" cy="566928"/>
          </a:xfrm>
          <a:prstGeom prst="rect">
            <a:avLst/>
          </a:prstGeom>
          <a:noFill/>
          <a:ln/>
        </p:spPr>
        <p:txBody>
          <a:bodyPr wrap="square" lIns="0" tIns="0" rIns="0" bIns="0" rtlCol="0" anchor="ctr"/>
          <a:lstStyle/>
          <a:p>
            <a:pPr marL="0" indent="0">
              <a:buNone/>
            </a:pPr>
            <a:r>
              <a:rPr lang="en-US" sz="1300" b="1" dirty="0">
                <a:solidFill>
                  <a:srgbClr val="13294B"/>
                </a:solidFill>
                <a:latin typeface="Courier New" pitchFamily="34" charset="0"/>
                <a:ea typeface="Courier New" pitchFamily="34" charset="-122"/>
                <a:cs typeface="Courier New" pitchFamily="34" charset="-120"/>
              </a:rPr>
              <a:t>7.0 / 2</a:t>
            </a:r>
            <a:endParaRPr lang="en-US" sz="1300" dirty="0"/>
          </a:p>
        </p:txBody>
      </p:sp>
      <p:sp>
        <p:nvSpPr>
          <p:cNvPr id="15" name="Text 13"/>
          <p:cNvSpPr/>
          <p:nvPr/>
        </p:nvSpPr>
        <p:spPr>
          <a:xfrm>
            <a:off x="4023360" y="3803904"/>
            <a:ext cx="1188720" cy="566928"/>
          </a:xfrm>
          <a:prstGeom prst="rect">
            <a:avLst/>
          </a:prstGeom>
          <a:noFill/>
          <a:ln/>
        </p:spPr>
        <p:txBody>
          <a:bodyPr wrap="square" lIns="0" tIns="0" rIns="0" bIns="0" rtlCol="0" anchor="ctr"/>
          <a:lstStyle/>
          <a:p>
            <a:pPr marL="0" indent="0">
              <a:buNone/>
            </a:pPr>
            <a:r>
              <a:rPr lang="en-US" sz="1400" b="1" dirty="0">
                <a:solidFill>
                  <a:srgbClr val="2F9E58"/>
                </a:solidFill>
                <a:latin typeface="Courier New" pitchFamily="34" charset="0"/>
                <a:ea typeface="Courier New" pitchFamily="34" charset="-122"/>
                <a:cs typeface="Courier New" pitchFamily="34" charset="-120"/>
              </a:rPr>
              <a:t>3.5</a:t>
            </a:r>
            <a:endParaRPr lang="en-US" sz="1400" dirty="0"/>
          </a:p>
        </p:txBody>
      </p:sp>
      <p:sp>
        <p:nvSpPr>
          <p:cNvPr id="16" name="Text 14"/>
          <p:cNvSpPr/>
          <p:nvPr/>
        </p:nvSpPr>
        <p:spPr>
          <a:xfrm>
            <a:off x="5394960" y="3803904"/>
            <a:ext cx="6035040" cy="566928"/>
          </a:xfrm>
          <a:prstGeom prst="rect">
            <a:avLst/>
          </a:prstGeom>
          <a:noFill/>
          <a:ln/>
        </p:spPr>
        <p:txBody>
          <a:bodyPr wrap="square" lIns="0" tIns="0" rIns="0" bIns="0" rtlCol="0" anchor="ctr"/>
          <a:lstStyle/>
          <a:p>
            <a:pPr marL="0" indent="0">
              <a:buNone/>
            </a:pPr>
            <a:r>
              <a:rPr lang="en-US" sz="1250" dirty="0">
                <a:solidFill>
                  <a:srgbClr val="5B6B7C"/>
                </a:solidFill>
                <a:latin typeface="Calibri" pitchFamily="34" charset="0"/>
                <a:ea typeface="Calibri" pitchFamily="34" charset="-122"/>
                <a:cs typeface="Calibri" pitchFamily="34" charset="-120"/>
              </a:rPr>
              <a:t>basta con que uno de los dos sea real</a:t>
            </a:r>
            <a:endParaRPr lang="en-US" sz="1250" dirty="0"/>
          </a:p>
        </p:txBody>
      </p:sp>
      <p:sp>
        <p:nvSpPr>
          <p:cNvPr id="17" name="Shape 15"/>
          <p:cNvSpPr/>
          <p:nvPr/>
        </p:nvSpPr>
        <p:spPr>
          <a:xfrm>
            <a:off x="548640" y="4407408"/>
            <a:ext cx="11091672" cy="566928"/>
          </a:xfrm>
          <a:prstGeom prst="roundRect">
            <a:avLst>
              <a:gd name="adj" fmla="val 12903"/>
            </a:avLst>
          </a:prstGeom>
          <a:solidFill>
            <a:srgbClr val="F4F7FB"/>
          </a:solidFill>
          <a:ln w="12700">
            <a:solidFill>
              <a:srgbClr val="F4F7FB"/>
            </a:solidFill>
            <a:prstDash val="solid"/>
          </a:ln>
        </p:spPr>
        <p:txBody>
          <a:bodyPr/>
          <a:lstStyle/>
          <a:p>
            <a:endParaRPr lang="es-CO"/>
          </a:p>
        </p:txBody>
      </p:sp>
      <p:sp>
        <p:nvSpPr>
          <p:cNvPr id="18" name="Text 16"/>
          <p:cNvSpPr/>
          <p:nvPr/>
        </p:nvSpPr>
        <p:spPr>
          <a:xfrm>
            <a:off x="822960" y="4407408"/>
            <a:ext cx="3108960" cy="566928"/>
          </a:xfrm>
          <a:prstGeom prst="rect">
            <a:avLst/>
          </a:prstGeom>
          <a:noFill/>
          <a:ln/>
        </p:spPr>
        <p:txBody>
          <a:bodyPr wrap="square" lIns="0" tIns="0" rIns="0" bIns="0" rtlCol="0" anchor="ctr"/>
          <a:lstStyle/>
          <a:p>
            <a:pPr marL="0" indent="0">
              <a:buNone/>
            </a:pPr>
            <a:r>
              <a:rPr lang="en-US" sz="1300" b="1" dirty="0">
                <a:solidFill>
                  <a:srgbClr val="13294B"/>
                </a:solidFill>
                <a:latin typeface="Courier New" pitchFamily="34" charset="0"/>
                <a:ea typeface="Courier New" pitchFamily="34" charset="-122"/>
                <a:cs typeface="Courier New" pitchFamily="34" charset="-120"/>
              </a:rPr>
              <a:t>(double) 7 / 2</a:t>
            </a:r>
            <a:endParaRPr lang="en-US" sz="1300" dirty="0"/>
          </a:p>
        </p:txBody>
      </p:sp>
      <p:sp>
        <p:nvSpPr>
          <p:cNvPr id="19" name="Text 17"/>
          <p:cNvSpPr/>
          <p:nvPr/>
        </p:nvSpPr>
        <p:spPr>
          <a:xfrm>
            <a:off x="4023360" y="4407408"/>
            <a:ext cx="1188720" cy="566928"/>
          </a:xfrm>
          <a:prstGeom prst="rect">
            <a:avLst/>
          </a:prstGeom>
          <a:noFill/>
          <a:ln/>
        </p:spPr>
        <p:txBody>
          <a:bodyPr wrap="square" lIns="0" tIns="0" rIns="0" bIns="0" rtlCol="0" anchor="ctr"/>
          <a:lstStyle/>
          <a:p>
            <a:pPr marL="0" indent="0">
              <a:buNone/>
            </a:pPr>
            <a:r>
              <a:rPr lang="en-US" sz="1400" b="1" dirty="0">
                <a:solidFill>
                  <a:srgbClr val="2F9E58"/>
                </a:solidFill>
                <a:latin typeface="Courier New" pitchFamily="34" charset="0"/>
                <a:ea typeface="Courier New" pitchFamily="34" charset="-122"/>
                <a:cs typeface="Courier New" pitchFamily="34" charset="-120"/>
              </a:rPr>
              <a:t>3.5</a:t>
            </a:r>
            <a:endParaRPr lang="en-US" sz="1400" dirty="0"/>
          </a:p>
        </p:txBody>
      </p:sp>
      <p:sp>
        <p:nvSpPr>
          <p:cNvPr id="20" name="Text 18"/>
          <p:cNvSpPr/>
          <p:nvPr/>
        </p:nvSpPr>
        <p:spPr>
          <a:xfrm>
            <a:off x="5394960" y="4407408"/>
            <a:ext cx="6035040" cy="566928"/>
          </a:xfrm>
          <a:prstGeom prst="rect">
            <a:avLst/>
          </a:prstGeom>
          <a:noFill/>
          <a:ln/>
        </p:spPr>
        <p:txBody>
          <a:bodyPr wrap="square" lIns="0" tIns="0" rIns="0" bIns="0" rtlCol="0" anchor="ctr"/>
          <a:lstStyle/>
          <a:p>
            <a:pPr marL="0" indent="0">
              <a:buNone/>
            </a:pPr>
            <a:r>
              <a:rPr lang="en-US" sz="1250" dirty="0">
                <a:solidFill>
                  <a:srgbClr val="5B6B7C"/>
                </a:solidFill>
                <a:latin typeface="Calibri" pitchFamily="34" charset="0"/>
                <a:ea typeface="Calibri" pitchFamily="34" charset="-122"/>
                <a:cs typeface="Calibri" pitchFamily="34" charset="-120"/>
              </a:rPr>
              <a:t>el casting convierte antes de dividir</a:t>
            </a:r>
            <a:endParaRPr lang="en-US" sz="1250" dirty="0"/>
          </a:p>
        </p:txBody>
      </p:sp>
      <p:sp>
        <p:nvSpPr>
          <p:cNvPr id="21" name="Shape 19"/>
          <p:cNvSpPr/>
          <p:nvPr/>
        </p:nvSpPr>
        <p:spPr>
          <a:xfrm>
            <a:off x="548640" y="5010912"/>
            <a:ext cx="11091672" cy="566928"/>
          </a:xfrm>
          <a:prstGeom prst="roundRect">
            <a:avLst>
              <a:gd name="adj" fmla="val 12903"/>
            </a:avLst>
          </a:prstGeom>
          <a:solidFill>
            <a:srgbClr val="FFFFFF"/>
          </a:solidFill>
          <a:ln w="12700">
            <a:solidFill>
              <a:srgbClr val="FFFFFF"/>
            </a:solidFill>
            <a:prstDash val="solid"/>
          </a:ln>
        </p:spPr>
        <p:txBody>
          <a:bodyPr/>
          <a:lstStyle/>
          <a:p>
            <a:endParaRPr lang="es-CO"/>
          </a:p>
        </p:txBody>
      </p:sp>
      <p:sp>
        <p:nvSpPr>
          <p:cNvPr id="22" name="Text 20"/>
          <p:cNvSpPr/>
          <p:nvPr/>
        </p:nvSpPr>
        <p:spPr>
          <a:xfrm>
            <a:off x="822960" y="5010912"/>
            <a:ext cx="3108960" cy="566928"/>
          </a:xfrm>
          <a:prstGeom prst="rect">
            <a:avLst/>
          </a:prstGeom>
          <a:noFill/>
          <a:ln/>
        </p:spPr>
        <p:txBody>
          <a:bodyPr wrap="square" lIns="0" tIns="0" rIns="0" bIns="0" rtlCol="0" anchor="ctr"/>
          <a:lstStyle/>
          <a:p>
            <a:pPr marL="0" indent="0">
              <a:buNone/>
            </a:pPr>
            <a:r>
              <a:rPr lang="en-US" sz="1300" b="1" dirty="0">
                <a:solidFill>
                  <a:srgbClr val="13294B"/>
                </a:solidFill>
                <a:latin typeface="Courier New" pitchFamily="34" charset="0"/>
                <a:ea typeface="Courier New" pitchFamily="34" charset="-122"/>
                <a:cs typeface="Courier New" pitchFamily="34" charset="-120"/>
              </a:rPr>
              <a:t>double x = 7 / 2;</a:t>
            </a:r>
            <a:endParaRPr lang="en-US" sz="1300" dirty="0"/>
          </a:p>
        </p:txBody>
      </p:sp>
      <p:sp>
        <p:nvSpPr>
          <p:cNvPr id="23" name="Text 21"/>
          <p:cNvSpPr/>
          <p:nvPr/>
        </p:nvSpPr>
        <p:spPr>
          <a:xfrm>
            <a:off x="4023360" y="5010912"/>
            <a:ext cx="1188720" cy="566928"/>
          </a:xfrm>
          <a:prstGeom prst="rect">
            <a:avLst/>
          </a:prstGeom>
          <a:noFill/>
          <a:ln/>
        </p:spPr>
        <p:txBody>
          <a:bodyPr wrap="square" lIns="0" tIns="0" rIns="0" bIns="0" rtlCol="0" anchor="ctr"/>
          <a:lstStyle/>
          <a:p>
            <a:pPr marL="0" indent="0">
              <a:buNone/>
            </a:pPr>
            <a:r>
              <a:rPr lang="en-US" sz="1400" b="1" dirty="0">
                <a:solidFill>
                  <a:srgbClr val="D64545"/>
                </a:solidFill>
                <a:latin typeface="Courier New" pitchFamily="34" charset="0"/>
                <a:ea typeface="Courier New" pitchFamily="34" charset="-122"/>
                <a:cs typeface="Courier New" pitchFamily="34" charset="-120"/>
              </a:rPr>
              <a:t>3.0</a:t>
            </a:r>
            <a:endParaRPr lang="en-US" sz="1400" dirty="0"/>
          </a:p>
        </p:txBody>
      </p:sp>
      <p:sp>
        <p:nvSpPr>
          <p:cNvPr id="24" name="Text 22"/>
          <p:cNvSpPr/>
          <p:nvPr/>
        </p:nvSpPr>
        <p:spPr>
          <a:xfrm>
            <a:off x="5394960" y="5010912"/>
            <a:ext cx="6035040" cy="566928"/>
          </a:xfrm>
          <a:prstGeom prst="rect">
            <a:avLst/>
          </a:prstGeom>
          <a:noFill/>
          <a:ln/>
        </p:spPr>
        <p:txBody>
          <a:bodyPr wrap="square" lIns="0" tIns="0" rIns="0" bIns="0" rtlCol="0" anchor="ctr"/>
          <a:lstStyle/>
          <a:p>
            <a:pPr marL="0" indent="0">
              <a:buNone/>
            </a:pPr>
            <a:r>
              <a:rPr lang="en-US" sz="1250" dirty="0">
                <a:solidFill>
                  <a:srgbClr val="5B6B7C"/>
                </a:solidFill>
                <a:latin typeface="Calibri" pitchFamily="34" charset="0"/>
                <a:ea typeface="Calibri" pitchFamily="34" charset="-122"/>
                <a:cs typeface="Calibri" pitchFamily="34" charset="-120"/>
              </a:rPr>
              <a:t>la división ocurre primero; ya venía dañado</a:t>
            </a:r>
            <a:endParaRPr lang="en-US" sz="1250" dirty="0"/>
          </a:p>
        </p:txBody>
      </p:sp>
      <p:sp>
        <p:nvSpPr>
          <p:cNvPr id="25" name="Shape 23"/>
          <p:cNvSpPr/>
          <p:nvPr/>
        </p:nvSpPr>
        <p:spPr>
          <a:xfrm>
            <a:off x="548640" y="5669280"/>
            <a:ext cx="11091672" cy="585216"/>
          </a:xfrm>
          <a:prstGeom prst="roundRect">
            <a:avLst>
              <a:gd name="adj" fmla="val 12500"/>
            </a:avLst>
          </a:prstGeom>
          <a:solidFill>
            <a:srgbClr val="13294B"/>
          </a:solidFill>
          <a:ln w="12700">
            <a:solidFill>
              <a:srgbClr val="13294B"/>
            </a:solidFill>
            <a:prstDash val="solid"/>
          </a:ln>
        </p:spPr>
        <p:txBody>
          <a:bodyPr/>
          <a:lstStyle/>
          <a:p>
            <a:endParaRPr lang="es-CO"/>
          </a:p>
        </p:txBody>
      </p:sp>
      <p:sp>
        <p:nvSpPr>
          <p:cNvPr id="26" name="Text 24"/>
          <p:cNvSpPr/>
          <p:nvPr/>
        </p:nvSpPr>
        <p:spPr>
          <a:xfrm>
            <a:off x="868680" y="5669280"/>
            <a:ext cx="10451592" cy="585216"/>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LA REGLA PRÁCTICA:  </a:t>
            </a:r>
            <a:r>
              <a:rPr lang="en-US" sz="1350" dirty="0">
                <a:solidFill>
                  <a:srgbClr val="FFFFFF"/>
                </a:solidFill>
                <a:latin typeface="Calibri" pitchFamily="34" charset="0"/>
                <a:ea typeface="Calibri" pitchFamily="34" charset="-122"/>
                <a:cs typeface="Calibri" pitchFamily="34" charset="-120"/>
              </a:rPr>
              <a:t>si el resultado puede tener decimales, asegúrate de que al menos uno de los dos operandos sea real.</a:t>
            </a:r>
            <a:endParaRPr lang="en-US" sz="1350" dirty="0"/>
          </a:p>
        </p:txBody>
      </p:sp>
      <p:sp>
        <p:nvSpPr>
          <p:cNvPr id="27" name="Text 25"/>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06</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EL RESIDUO</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Lo que sobra también es un dato</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El operador % entrega lo que queda después de repartir en grupos iguales.</a:t>
            </a:r>
            <a:endParaRPr lang="en-US" sz="1400" dirty="0"/>
          </a:p>
        </p:txBody>
      </p:sp>
      <p:pic>
        <p:nvPicPr>
          <p:cNvPr id="5" name="Image 0" descr="/home/claude/s7/fig/f2_residuo.png"/>
          <p:cNvPicPr>
            <a:picLocks noChangeAspect="1"/>
          </p:cNvPicPr>
          <p:nvPr/>
        </p:nvPicPr>
        <p:blipFill>
          <a:blip r:embed="rId3"/>
          <a:stretch>
            <a:fillRect/>
          </a:stretch>
        </p:blipFill>
        <p:spPr>
          <a:xfrm>
            <a:off x="548640" y="1975104"/>
            <a:ext cx="6766560" cy="2313432"/>
          </a:xfrm>
          <a:prstGeom prst="rect">
            <a:avLst/>
          </a:prstGeom>
        </p:spPr>
      </p:pic>
      <p:sp>
        <p:nvSpPr>
          <p:cNvPr id="6" name="Shape 3"/>
          <p:cNvSpPr/>
          <p:nvPr/>
        </p:nvSpPr>
        <p:spPr>
          <a:xfrm>
            <a:off x="7589520" y="1975104"/>
            <a:ext cx="4050792" cy="2313432"/>
          </a:xfrm>
          <a:prstGeom prst="roundRect">
            <a:avLst>
              <a:gd name="adj" fmla="val 3162"/>
            </a:avLst>
          </a:prstGeom>
          <a:solidFill>
            <a:srgbClr val="E8EEF4"/>
          </a:solidFill>
          <a:ln w="12700">
            <a:solidFill>
              <a:srgbClr val="E8EEF4"/>
            </a:solidFill>
            <a:prstDash val="solid"/>
          </a:ln>
        </p:spPr>
        <p:txBody>
          <a:bodyPr/>
          <a:lstStyle/>
          <a:p>
            <a:endParaRPr lang="es-CO"/>
          </a:p>
        </p:txBody>
      </p:sp>
      <p:sp>
        <p:nvSpPr>
          <p:cNvPr id="7" name="Text 4"/>
          <p:cNvSpPr/>
          <p:nvPr/>
        </p:nvSpPr>
        <p:spPr>
          <a:xfrm>
            <a:off x="7863840" y="2121408"/>
            <a:ext cx="3657600" cy="256032"/>
          </a:xfrm>
          <a:prstGeom prst="rect">
            <a:avLst/>
          </a:prstGeom>
          <a:noFill/>
          <a:ln/>
        </p:spPr>
        <p:txBody>
          <a:bodyPr wrap="square" lIns="0" tIns="0" rIns="0" bIns="0" rtlCol="0" anchor="ctr"/>
          <a:lstStyle/>
          <a:p>
            <a:pPr marL="0" indent="0">
              <a:buNone/>
            </a:pPr>
            <a:r>
              <a:rPr lang="en-US" sz="1050" b="1" kern="0" spc="120" dirty="0">
                <a:solidFill>
                  <a:srgbClr val="1C7293"/>
                </a:solidFill>
                <a:latin typeface="Calibri" pitchFamily="34" charset="0"/>
                <a:ea typeface="Calibri" pitchFamily="34" charset="-122"/>
                <a:cs typeface="Calibri" pitchFamily="34" charset="-120"/>
              </a:rPr>
              <a:t>LA PAREJA QUE SIEMPRE VA JUNTA</a:t>
            </a:r>
            <a:endParaRPr lang="en-US" sz="1050" dirty="0"/>
          </a:p>
        </p:txBody>
      </p:sp>
      <p:sp>
        <p:nvSpPr>
          <p:cNvPr id="8" name="Text 5"/>
          <p:cNvSpPr/>
          <p:nvPr/>
        </p:nvSpPr>
        <p:spPr>
          <a:xfrm>
            <a:off x="7863840" y="2468880"/>
            <a:ext cx="3566160" cy="1691640"/>
          </a:xfrm>
          <a:prstGeom prst="rect">
            <a:avLst/>
          </a:prstGeom>
          <a:noFill/>
          <a:ln/>
        </p:spPr>
        <p:txBody>
          <a:bodyPr wrap="square" lIns="0" tIns="0" rIns="0" bIns="0" rtlCol="0" anchor="t"/>
          <a:lstStyle/>
          <a:p>
            <a:pPr marL="0" indent="0">
              <a:lnSpc>
                <a:spcPts val="1800"/>
              </a:lnSpc>
              <a:buNone/>
            </a:pPr>
            <a:r>
              <a:rPr lang="en-US" sz="1300" b="1" dirty="0">
                <a:solidFill>
                  <a:srgbClr val="13294B"/>
                </a:solidFill>
                <a:latin typeface="Courier New" pitchFamily="34" charset="0"/>
                <a:ea typeface="Courier New" pitchFamily="34" charset="-122"/>
                <a:cs typeface="Courier New" pitchFamily="34" charset="-120"/>
              </a:rPr>
              <a:t>a / b</a:t>
            </a:r>
            <a:r>
              <a:rPr lang="en-US" sz="1200" dirty="0">
                <a:solidFill>
                  <a:srgbClr val="1A1A2E"/>
                </a:solidFill>
                <a:latin typeface="Calibri" pitchFamily="34" charset="0"/>
                <a:ea typeface="Calibri" pitchFamily="34" charset="-122"/>
                <a:cs typeface="Calibri" pitchFamily="34" charset="-120"/>
              </a:rPr>
              <a:t>   cuántos grupos completos
</a:t>
            </a:r>
            <a:endParaRPr lang="en-US" sz="1300" dirty="0"/>
          </a:p>
          <a:p>
            <a:pPr marL="0" indent="0">
              <a:lnSpc>
                <a:spcPts val="1800"/>
              </a:lnSpc>
              <a:buNone/>
            </a:pPr>
            <a:r>
              <a:rPr lang="en-US" sz="1300" b="1" dirty="0">
                <a:solidFill>
                  <a:srgbClr val="13294B"/>
                </a:solidFill>
                <a:latin typeface="Courier New" pitchFamily="34" charset="0"/>
                <a:ea typeface="Courier New" pitchFamily="34" charset="-122"/>
                <a:cs typeface="Courier New" pitchFamily="34" charset="-120"/>
              </a:rPr>
              <a:t>a % b</a:t>
            </a:r>
            <a:r>
              <a:rPr lang="en-US" sz="1200" dirty="0">
                <a:solidFill>
                  <a:srgbClr val="1A1A2E"/>
                </a:solidFill>
                <a:latin typeface="Calibri" pitchFamily="34" charset="0"/>
                <a:ea typeface="Calibri" pitchFamily="34" charset="-122"/>
                <a:cs typeface="Calibri" pitchFamily="34" charset="-120"/>
              </a:rPr>
              <a:t>   cuántos sobran
</a:t>
            </a:r>
            <a:endParaRPr lang="en-US" sz="1300" dirty="0"/>
          </a:p>
          <a:p>
            <a:pPr marL="0" indent="0">
              <a:lnSpc>
                <a:spcPts val="1800"/>
              </a:lnSpc>
              <a:buNone/>
            </a:pPr>
            <a:r>
              <a:rPr lang="en-US" sz="1200" i="1" dirty="0">
                <a:solidFill>
                  <a:srgbClr val="5B6B7C"/>
                </a:solidFill>
                <a:latin typeface="Calibri" pitchFamily="34" charset="0"/>
                <a:ea typeface="Calibri" pitchFamily="34" charset="-122"/>
                <a:cs typeface="Calibri" pitchFamily="34" charset="-120"/>
              </a:rPr>
              <a:t>Con las dos operaciones juntas se descompone cualquier cantidad sin perder nada.</a:t>
            </a:r>
            <a:endParaRPr lang="en-US" sz="1300" dirty="0"/>
          </a:p>
        </p:txBody>
      </p:sp>
      <p:sp>
        <p:nvSpPr>
          <p:cNvPr id="9" name="Shape 6"/>
          <p:cNvSpPr/>
          <p:nvPr/>
        </p:nvSpPr>
        <p:spPr>
          <a:xfrm>
            <a:off x="548640" y="4462272"/>
            <a:ext cx="11091672" cy="1207008"/>
          </a:xfrm>
          <a:prstGeom prst="roundRect">
            <a:avLst>
              <a:gd name="adj" fmla="val 6061"/>
            </a:avLst>
          </a:prstGeom>
          <a:solidFill>
            <a:srgbClr val="F4F7FB"/>
          </a:solidFill>
          <a:ln w="12700">
            <a:solidFill>
              <a:srgbClr val="F4F7FB"/>
            </a:solidFill>
            <a:prstDash val="solid"/>
          </a:ln>
        </p:spPr>
        <p:txBody>
          <a:bodyPr/>
          <a:lstStyle/>
          <a:p>
            <a:endParaRPr lang="es-CO"/>
          </a:p>
        </p:txBody>
      </p:sp>
      <p:sp>
        <p:nvSpPr>
          <p:cNvPr id="10" name="Text 7"/>
          <p:cNvSpPr/>
          <p:nvPr/>
        </p:nvSpPr>
        <p:spPr>
          <a:xfrm>
            <a:off x="841248" y="4572000"/>
            <a:ext cx="7315200" cy="256032"/>
          </a:xfrm>
          <a:prstGeom prst="rect">
            <a:avLst/>
          </a:prstGeom>
          <a:noFill/>
          <a:ln/>
        </p:spPr>
        <p:txBody>
          <a:bodyPr wrap="square" lIns="0" tIns="0" rIns="0" bIns="0" rtlCol="0" anchor="ctr"/>
          <a:lstStyle/>
          <a:p>
            <a:pPr marL="0" indent="0">
              <a:buNone/>
            </a:pPr>
            <a:r>
              <a:rPr lang="en-US" sz="1050" b="1" kern="0" spc="120" dirty="0">
                <a:solidFill>
                  <a:srgbClr val="13294B"/>
                </a:solidFill>
                <a:latin typeface="Calibri" pitchFamily="34" charset="0"/>
                <a:ea typeface="Calibri" pitchFamily="34" charset="-122"/>
                <a:cs typeface="Calibri" pitchFamily="34" charset="-120"/>
              </a:rPr>
              <a:t>EL PATRÓN MÁS ÚTIL · DESCOMPONER UN NÚMERO   ·   n = 247</a:t>
            </a:r>
            <a:endParaRPr lang="en-US" sz="1050" dirty="0"/>
          </a:p>
        </p:txBody>
      </p:sp>
      <p:sp>
        <p:nvSpPr>
          <p:cNvPr id="11" name="Text 8"/>
          <p:cNvSpPr/>
          <p:nvPr/>
        </p:nvSpPr>
        <p:spPr>
          <a:xfrm>
            <a:off x="841248" y="4882896"/>
            <a:ext cx="3291840" cy="274320"/>
          </a:xfrm>
          <a:prstGeom prst="rect">
            <a:avLst/>
          </a:prstGeom>
          <a:noFill/>
          <a:ln/>
        </p:spPr>
        <p:txBody>
          <a:bodyPr wrap="square" lIns="0" tIns="0" rIns="0" bIns="0" rtlCol="0" anchor="ctr"/>
          <a:lstStyle/>
          <a:p>
            <a:pPr marL="0" indent="0">
              <a:buNone/>
            </a:pPr>
            <a:r>
              <a:rPr lang="en-US" sz="1300" b="1" dirty="0">
                <a:solidFill>
                  <a:srgbClr val="13294B"/>
                </a:solidFill>
                <a:latin typeface="Courier New" pitchFamily="34" charset="0"/>
                <a:ea typeface="Courier New" pitchFamily="34" charset="-122"/>
                <a:cs typeface="Courier New" pitchFamily="34" charset="-120"/>
              </a:rPr>
              <a:t>n % 10</a:t>
            </a:r>
            <a:endParaRPr lang="en-US" sz="1300" dirty="0"/>
          </a:p>
        </p:txBody>
      </p:sp>
      <p:sp>
        <p:nvSpPr>
          <p:cNvPr id="12" name="Text 9"/>
          <p:cNvSpPr/>
          <p:nvPr/>
        </p:nvSpPr>
        <p:spPr>
          <a:xfrm>
            <a:off x="841248" y="5175504"/>
            <a:ext cx="3291840" cy="274320"/>
          </a:xfrm>
          <a:prstGeom prst="rect">
            <a:avLst/>
          </a:prstGeom>
          <a:noFill/>
          <a:ln/>
        </p:spPr>
        <p:txBody>
          <a:bodyPr wrap="square" lIns="0" tIns="0" rIns="0" bIns="0" rtlCol="0" anchor="ctr"/>
          <a:lstStyle/>
          <a:p>
            <a:pPr marL="0" indent="0">
              <a:buNone/>
            </a:pPr>
            <a:r>
              <a:rPr lang="en-US" sz="1200" dirty="0">
                <a:solidFill>
                  <a:srgbClr val="5B6B7C"/>
                </a:solidFill>
                <a:latin typeface="Calibri" pitchFamily="34" charset="0"/>
                <a:ea typeface="Calibri" pitchFamily="34" charset="-122"/>
                <a:cs typeface="Calibri" pitchFamily="34" charset="-120"/>
              </a:rPr>
              <a:t>→  </a:t>
            </a:r>
            <a:r>
              <a:rPr lang="en-US" sz="1300" b="1" dirty="0">
                <a:solidFill>
                  <a:srgbClr val="B07800"/>
                </a:solidFill>
                <a:latin typeface="Courier New" pitchFamily="34" charset="0"/>
                <a:ea typeface="Courier New" pitchFamily="34" charset="-122"/>
                <a:cs typeface="Courier New" pitchFamily="34" charset="-120"/>
              </a:rPr>
              <a:t>7</a:t>
            </a:r>
            <a:r>
              <a:rPr lang="en-US" sz="1150" dirty="0">
                <a:solidFill>
                  <a:srgbClr val="5B6B7C"/>
                </a:solidFill>
                <a:latin typeface="Calibri" pitchFamily="34" charset="0"/>
                <a:ea typeface="Calibri" pitchFamily="34" charset="-122"/>
                <a:cs typeface="Calibri" pitchFamily="34" charset="-120"/>
              </a:rPr>
              <a:t>   la última cifra</a:t>
            </a:r>
            <a:endParaRPr lang="en-US" sz="1200" dirty="0"/>
          </a:p>
        </p:txBody>
      </p:sp>
      <p:sp>
        <p:nvSpPr>
          <p:cNvPr id="13" name="Text 10"/>
          <p:cNvSpPr/>
          <p:nvPr/>
        </p:nvSpPr>
        <p:spPr>
          <a:xfrm>
            <a:off x="4407408" y="4882896"/>
            <a:ext cx="3291840" cy="274320"/>
          </a:xfrm>
          <a:prstGeom prst="rect">
            <a:avLst/>
          </a:prstGeom>
          <a:noFill/>
          <a:ln/>
        </p:spPr>
        <p:txBody>
          <a:bodyPr wrap="square" lIns="0" tIns="0" rIns="0" bIns="0" rtlCol="0" anchor="ctr"/>
          <a:lstStyle/>
          <a:p>
            <a:pPr marL="0" indent="0">
              <a:buNone/>
            </a:pPr>
            <a:r>
              <a:rPr lang="en-US" sz="1300" b="1" dirty="0">
                <a:solidFill>
                  <a:srgbClr val="13294B"/>
                </a:solidFill>
                <a:latin typeface="Courier New" pitchFamily="34" charset="0"/>
                <a:ea typeface="Courier New" pitchFamily="34" charset="-122"/>
                <a:cs typeface="Courier New" pitchFamily="34" charset="-120"/>
              </a:rPr>
              <a:t>n / 10 % 10</a:t>
            </a:r>
            <a:endParaRPr lang="en-US" sz="1300" dirty="0"/>
          </a:p>
        </p:txBody>
      </p:sp>
      <p:sp>
        <p:nvSpPr>
          <p:cNvPr id="14" name="Text 11"/>
          <p:cNvSpPr/>
          <p:nvPr/>
        </p:nvSpPr>
        <p:spPr>
          <a:xfrm>
            <a:off x="4407408" y="5175504"/>
            <a:ext cx="3291840" cy="274320"/>
          </a:xfrm>
          <a:prstGeom prst="rect">
            <a:avLst/>
          </a:prstGeom>
          <a:noFill/>
          <a:ln/>
        </p:spPr>
        <p:txBody>
          <a:bodyPr wrap="square" lIns="0" tIns="0" rIns="0" bIns="0" rtlCol="0" anchor="ctr"/>
          <a:lstStyle/>
          <a:p>
            <a:pPr marL="0" indent="0">
              <a:buNone/>
            </a:pPr>
            <a:r>
              <a:rPr lang="en-US" sz="1200" dirty="0">
                <a:solidFill>
                  <a:srgbClr val="5B6B7C"/>
                </a:solidFill>
                <a:latin typeface="Calibri" pitchFamily="34" charset="0"/>
                <a:ea typeface="Calibri" pitchFamily="34" charset="-122"/>
                <a:cs typeface="Calibri" pitchFamily="34" charset="-120"/>
              </a:rPr>
              <a:t>→  </a:t>
            </a:r>
            <a:r>
              <a:rPr lang="en-US" sz="1300" b="1" dirty="0">
                <a:solidFill>
                  <a:srgbClr val="B07800"/>
                </a:solidFill>
                <a:latin typeface="Courier New" pitchFamily="34" charset="0"/>
                <a:ea typeface="Courier New" pitchFamily="34" charset="-122"/>
                <a:cs typeface="Courier New" pitchFamily="34" charset="-120"/>
              </a:rPr>
              <a:t>4</a:t>
            </a:r>
            <a:r>
              <a:rPr lang="en-US" sz="1150" dirty="0">
                <a:solidFill>
                  <a:srgbClr val="5B6B7C"/>
                </a:solidFill>
                <a:latin typeface="Calibri" pitchFamily="34" charset="0"/>
                <a:ea typeface="Calibri" pitchFamily="34" charset="-122"/>
                <a:cs typeface="Calibri" pitchFamily="34" charset="-120"/>
              </a:rPr>
              <a:t>   la cifra de las decenas</a:t>
            </a:r>
            <a:endParaRPr lang="en-US" sz="1200" dirty="0"/>
          </a:p>
        </p:txBody>
      </p:sp>
      <p:sp>
        <p:nvSpPr>
          <p:cNvPr id="15" name="Text 12"/>
          <p:cNvSpPr/>
          <p:nvPr/>
        </p:nvSpPr>
        <p:spPr>
          <a:xfrm>
            <a:off x="7973568" y="4882896"/>
            <a:ext cx="3291840" cy="274320"/>
          </a:xfrm>
          <a:prstGeom prst="rect">
            <a:avLst/>
          </a:prstGeom>
          <a:noFill/>
          <a:ln/>
        </p:spPr>
        <p:txBody>
          <a:bodyPr wrap="square" lIns="0" tIns="0" rIns="0" bIns="0" rtlCol="0" anchor="ctr"/>
          <a:lstStyle/>
          <a:p>
            <a:pPr marL="0" indent="0">
              <a:buNone/>
            </a:pPr>
            <a:r>
              <a:rPr lang="en-US" sz="1300" b="1" dirty="0">
                <a:solidFill>
                  <a:srgbClr val="13294B"/>
                </a:solidFill>
                <a:latin typeface="Courier New" pitchFamily="34" charset="0"/>
                <a:ea typeface="Courier New" pitchFamily="34" charset="-122"/>
                <a:cs typeface="Courier New" pitchFamily="34" charset="-120"/>
              </a:rPr>
              <a:t>n / 100</a:t>
            </a:r>
            <a:endParaRPr lang="en-US" sz="1300" dirty="0"/>
          </a:p>
        </p:txBody>
      </p:sp>
      <p:sp>
        <p:nvSpPr>
          <p:cNvPr id="16" name="Text 13"/>
          <p:cNvSpPr/>
          <p:nvPr/>
        </p:nvSpPr>
        <p:spPr>
          <a:xfrm>
            <a:off x="7973568" y="5175504"/>
            <a:ext cx="3291840" cy="274320"/>
          </a:xfrm>
          <a:prstGeom prst="rect">
            <a:avLst/>
          </a:prstGeom>
          <a:noFill/>
          <a:ln/>
        </p:spPr>
        <p:txBody>
          <a:bodyPr wrap="square" lIns="0" tIns="0" rIns="0" bIns="0" rtlCol="0" anchor="ctr"/>
          <a:lstStyle/>
          <a:p>
            <a:pPr marL="0" indent="0">
              <a:buNone/>
            </a:pPr>
            <a:r>
              <a:rPr lang="en-US" sz="1200" dirty="0">
                <a:solidFill>
                  <a:srgbClr val="5B6B7C"/>
                </a:solidFill>
                <a:latin typeface="Calibri" pitchFamily="34" charset="0"/>
                <a:ea typeface="Calibri" pitchFamily="34" charset="-122"/>
                <a:cs typeface="Calibri" pitchFamily="34" charset="-120"/>
              </a:rPr>
              <a:t>→  </a:t>
            </a:r>
            <a:r>
              <a:rPr lang="en-US" sz="1300" b="1" dirty="0">
                <a:solidFill>
                  <a:srgbClr val="B07800"/>
                </a:solidFill>
                <a:latin typeface="Courier New" pitchFamily="34" charset="0"/>
                <a:ea typeface="Courier New" pitchFamily="34" charset="-122"/>
                <a:cs typeface="Courier New" pitchFamily="34" charset="-120"/>
              </a:rPr>
              <a:t>2</a:t>
            </a:r>
            <a:r>
              <a:rPr lang="en-US" sz="1150" dirty="0">
                <a:solidFill>
                  <a:srgbClr val="5B6B7C"/>
                </a:solidFill>
                <a:latin typeface="Calibri" pitchFamily="34" charset="0"/>
                <a:ea typeface="Calibri" pitchFamily="34" charset="-122"/>
                <a:cs typeface="Calibri" pitchFamily="34" charset="-120"/>
              </a:rPr>
              <a:t>   lo que queda al quitar dos cifras</a:t>
            </a:r>
            <a:endParaRPr lang="en-US" sz="1200" dirty="0"/>
          </a:p>
        </p:txBody>
      </p:sp>
      <p:sp>
        <p:nvSpPr>
          <p:cNvPr id="17" name="Shape 14"/>
          <p:cNvSpPr/>
          <p:nvPr/>
        </p:nvSpPr>
        <p:spPr>
          <a:xfrm>
            <a:off x="548640" y="5797296"/>
            <a:ext cx="11091672" cy="548640"/>
          </a:xfrm>
          <a:prstGeom prst="roundRect">
            <a:avLst>
              <a:gd name="adj" fmla="val 13333"/>
            </a:avLst>
          </a:prstGeom>
          <a:solidFill>
            <a:srgbClr val="13294B"/>
          </a:solidFill>
          <a:ln w="12700">
            <a:solidFill>
              <a:srgbClr val="13294B"/>
            </a:solidFill>
            <a:prstDash val="solid"/>
          </a:ln>
        </p:spPr>
        <p:txBody>
          <a:bodyPr/>
          <a:lstStyle/>
          <a:p>
            <a:endParaRPr lang="es-CO"/>
          </a:p>
        </p:txBody>
      </p:sp>
      <p:sp>
        <p:nvSpPr>
          <p:cNvPr id="18" name="Text 15"/>
          <p:cNvSpPr/>
          <p:nvPr/>
        </p:nvSpPr>
        <p:spPr>
          <a:xfrm>
            <a:off x="868680" y="5797296"/>
            <a:ext cx="10451592" cy="548640"/>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PARA QUÉ SIRVE:  </a:t>
            </a:r>
            <a:r>
              <a:rPr lang="en-US" sz="1350" dirty="0">
                <a:solidFill>
                  <a:srgbClr val="FFFFFF"/>
                </a:solidFill>
                <a:latin typeface="Calibri" pitchFamily="34" charset="0"/>
                <a:ea typeface="Calibri" pitchFamily="34" charset="-122"/>
                <a:cs typeface="Calibri" pitchFamily="34" charset="-120"/>
              </a:rPr>
              <a:t>separar horas y minutos, extraer los dígitos de un documento, repartir un valor en billetes y monedas.</a:t>
            </a:r>
            <a:endParaRPr lang="en-US" sz="1350" dirty="0"/>
          </a:p>
        </p:txBody>
      </p:sp>
      <p:sp>
        <p:nvSpPr>
          <p:cNvPr id="19" name="Text 16"/>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07</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ACTIVIDAD 1 · INDIVIDUAL</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¿Qué imprime?</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Escribe tu respuesta en el cuaderno antes de tocar el computador. Después la compruebas.</a:t>
            </a:r>
            <a:endParaRPr lang="en-US" sz="1400" dirty="0"/>
          </a:p>
        </p:txBody>
      </p:sp>
      <p:sp>
        <p:nvSpPr>
          <p:cNvPr id="5" name="Shape 3"/>
          <p:cNvSpPr/>
          <p:nvPr/>
        </p:nvSpPr>
        <p:spPr>
          <a:xfrm>
            <a:off x="548640" y="2084832"/>
            <a:ext cx="5349240" cy="585216"/>
          </a:xfrm>
          <a:prstGeom prst="roundRect">
            <a:avLst>
              <a:gd name="adj" fmla="val 12500"/>
            </a:avLst>
          </a:prstGeom>
          <a:solidFill>
            <a:srgbClr val="F4F7FB"/>
          </a:solidFill>
          <a:ln w="12700">
            <a:solidFill>
              <a:srgbClr val="F4F7FB"/>
            </a:solidFill>
            <a:prstDash val="solid"/>
          </a:ln>
        </p:spPr>
        <p:txBody>
          <a:bodyPr/>
          <a:lstStyle/>
          <a:p>
            <a:endParaRPr lang="es-CO"/>
          </a:p>
        </p:txBody>
      </p:sp>
      <p:sp>
        <p:nvSpPr>
          <p:cNvPr id="6" name="Text 4"/>
          <p:cNvSpPr/>
          <p:nvPr/>
        </p:nvSpPr>
        <p:spPr>
          <a:xfrm>
            <a:off x="786384" y="2084832"/>
            <a:ext cx="365760" cy="58521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a)</a:t>
            </a:r>
            <a:endParaRPr lang="en-US" sz="1300" dirty="0"/>
          </a:p>
        </p:txBody>
      </p:sp>
      <p:sp>
        <p:nvSpPr>
          <p:cNvPr id="7" name="Text 5"/>
          <p:cNvSpPr/>
          <p:nvPr/>
        </p:nvSpPr>
        <p:spPr>
          <a:xfrm>
            <a:off x="1207008" y="2084832"/>
            <a:ext cx="4572000" cy="585216"/>
          </a:xfrm>
          <a:prstGeom prst="rect">
            <a:avLst/>
          </a:prstGeom>
          <a:noFill/>
          <a:ln/>
        </p:spPr>
        <p:txBody>
          <a:bodyPr wrap="square" lIns="0" tIns="0" rIns="0" bIns="0" rtlCol="0" anchor="ctr"/>
          <a:lstStyle/>
          <a:p>
            <a:pPr marL="0" indent="0">
              <a:buNone/>
            </a:pPr>
            <a:r>
              <a:rPr lang="en-US" sz="1250" b="1" dirty="0">
                <a:solidFill>
                  <a:srgbClr val="13294B"/>
                </a:solidFill>
                <a:latin typeface="Courier New" pitchFamily="34" charset="0"/>
                <a:ea typeface="Courier New" pitchFamily="34" charset="-122"/>
                <a:cs typeface="Courier New" pitchFamily="34" charset="-120"/>
              </a:rPr>
              <a:t>System.out.println(7 / 2);</a:t>
            </a:r>
            <a:endParaRPr lang="en-US" sz="1250" dirty="0"/>
          </a:p>
        </p:txBody>
      </p:sp>
      <p:sp>
        <p:nvSpPr>
          <p:cNvPr id="8" name="Shape 6"/>
          <p:cNvSpPr/>
          <p:nvPr/>
        </p:nvSpPr>
        <p:spPr>
          <a:xfrm>
            <a:off x="548640" y="2743200"/>
            <a:ext cx="5349240" cy="585216"/>
          </a:xfrm>
          <a:prstGeom prst="roundRect">
            <a:avLst>
              <a:gd name="adj" fmla="val 12500"/>
            </a:avLst>
          </a:prstGeom>
          <a:solidFill>
            <a:srgbClr val="E8EEF4"/>
          </a:solidFill>
          <a:ln w="12700">
            <a:solidFill>
              <a:srgbClr val="E8EEF4"/>
            </a:solidFill>
            <a:prstDash val="solid"/>
          </a:ln>
        </p:spPr>
        <p:txBody>
          <a:bodyPr/>
          <a:lstStyle/>
          <a:p>
            <a:endParaRPr lang="es-CO"/>
          </a:p>
        </p:txBody>
      </p:sp>
      <p:sp>
        <p:nvSpPr>
          <p:cNvPr id="9" name="Text 7"/>
          <p:cNvSpPr/>
          <p:nvPr/>
        </p:nvSpPr>
        <p:spPr>
          <a:xfrm>
            <a:off x="786384" y="2743200"/>
            <a:ext cx="365760" cy="58521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b)</a:t>
            </a:r>
            <a:endParaRPr lang="en-US" sz="1300" dirty="0"/>
          </a:p>
        </p:txBody>
      </p:sp>
      <p:sp>
        <p:nvSpPr>
          <p:cNvPr id="10" name="Text 8"/>
          <p:cNvSpPr/>
          <p:nvPr/>
        </p:nvSpPr>
        <p:spPr>
          <a:xfrm>
            <a:off x="1207008" y="2743200"/>
            <a:ext cx="4572000" cy="585216"/>
          </a:xfrm>
          <a:prstGeom prst="rect">
            <a:avLst/>
          </a:prstGeom>
          <a:noFill/>
          <a:ln/>
        </p:spPr>
        <p:txBody>
          <a:bodyPr wrap="square" lIns="0" tIns="0" rIns="0" bIns="0" rtlCol="0" anchor="ctr"/>
          <a:lstStyle/>
          <a:p>
            <a:pPr marL="0" indent="0">
              <a:buNone/>
            </a:pPr>
            <a:r>
              <a:rPr lang="en-US" sz="1250" b="1" dirty="0">
                <a:solidFill>
                  <a:srgbClr val="13294B"/>
                </a:solidFill>
                <a:latin typeface="Courier New" pitchFamily="34" charset="0"/>
                <a:ea typeface="Courier New" pitchFamily="34" charset="-122"/>
                <a:cs typeface="Courier New" pitchFamily="34" charset="-120"/>
              </a:rPr>
              <a:t>System.out.println(7 % 2);</a:t>
            </a:r>
            <a:endParaRPr lang="en-US" sz="1250" dirty="0"/>
          </a:p>
        </p:txBody>
      </p:sp>
      <p:sp>
        <p:nvSpPr>
          <p:cNvPr id="11" name="Shape 9"/>
          <p:cNvSpPr/>
          <p:nvPr/>
        </p:nvSpPr>
        <p:spPr>
          <a:xfrm>
            <a:off x="548640" y="3401568"/>
            <a:ext cx="5349240" cy="585216"/>
          </a:xfrm>
          <a:prstGeom prst="roundRect">
            <a:avLst>
              <a:gd name="adj" fmla="val 12500"/>
            </a:avLst>
          </a:prstGeom>
          <a:solidFill>
            <a:srgbClr val="F4F7FB"/>
          </a:solidFill>
          <a:ln w="12700">
            <a:solidFill>
              <a:srgbClr val="F4F7FB"/>
            </a:solidFill>
            <a:prstDash val="solid"/>
          </a:ln>
        </p:spPr>
        <p:txBody>
          <a:bodyPr/>
          <a:lstStyle/>
          <a:p>
            <a:endParaRPr lang="es-CO"/>
          </a:p>
        </p:txBody>
      </p:sp>
      <p:sp>
        <p:nvSpPr>
          <p:cNvPr id="12" name="Text 10"/>
          <p:cNvSpPr/>
          <p:nvPr/>
        </p:nvSpPr>
        <p:spPr>
          <a:xfrm>
            <a:off x="786384" y="3401568"/>
            <a:ext cx="365760" cy="58521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c)</a:t>
            </a:r>
            <a:endParaRPr lang="en-US" sz="1300" dirty="0"/>
          </a:p>
        </p:txBody>
      </p:sp>
      <p:sp>
        <p:nvSpPr>
          <p:cNvPr id="13" name="Text 11"/>
          <p:cNvSpPr/>
          <p:nvPr/>
        </p:nvSpPr>
        <p:spPr>
          <a:xfrm>
            <a:off x="1207008" y="3401568"/>
            <a:ext cx="4572000" cy="585216"/>
          </a:xfrm>
          <a:prstGeom prst="rect">
            <a:avLst/>
          </a:prstGeom>
          <a:noFill/>
          <a:ln/>
        </p:spPr>
        <p:txBody>
          <a:bodyPr wrap="square" lIns="0" tIns="0" rIns="0" bIns="0" rtlCol="0" anchor="ctr"/>
          <a:lstStyle/>
          <a:p>
            <a:pPr marL="0" indent="0">
              <a:buNone/>
            </a:pPr>
            <a:r>
              <a:rPr lang="en-US" sz="1250" b="1" dirty="0">
                <a:solidFill>
                  <a:srgbClr val="13294B"/>
                </a:solidFill>
                <a:latin typeface="Courier New" pitchFamily="34" charset="0"/>
                <a:ea typeface="Courier New" pitchFamily="34" charset="-122"/>
                <a:cs typeface="Courier New" pitchFamily="34" charset="-120"/>
              </a:rPr>
              <a:t>System.out.println(7.0 / 2);</a:t>
            </a:r>
            <a:endParaRPr lang="en-US" sz="1250" dirty="0"/>
          </a:p>
        </p:txBody>
      </p:sp>
      <p:sp>
        <p:nvSpPr>
          <p:cNvPr id="14" name="Shape 12"/>
          <p:cNvSpPr/>
          <p:nvPr/>
        </p:nvSpPr>
        <p:spPr>
          <a:xfrm>
            <a:off x="6291072" y="2084832"/>
            <a:ext cx="5349240" cy="585216"/>
          </a:xfrm>
          <a:prstGeom prst="roundRect">
            <a:avLst>
              <a:gd name="adj" fmla="val 12500"/>
            </a:avLst>
          </a:prstGeom>
          <a:solidFill>
            <a:srgbClr val="E8EEF4"/>
          </a:solidFill>
          <a:ln w="12700">
            <a:solidFill>
              <a:srgbClr val="E8EEF4"/>
            </a:solidFill>
            <a:prstDash val="solid"/>
          </a:ln>
        </p:spPr>
        <p:txBody>
          <a:bodyPr/>
          <a:lstStyle/>
          <a:p>
            <a:endParaRPr lang="es-CO"/>
          </a:p>
        </p:txBody>
      </p:sp>
      <p:sp>
        <p:nvSpPr>
          <p:cNvPr id="15" name="Text 13"/>
          <p:cNvSpPr/>
          <p:nvPr/>
        </p:nvSpPr>
        <p:spPr>
          <a:xfrm>
            <a:off x="6528816" y="2084832"/>
            <a:ext cx="365760" cy="58521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d)</a:t>
            </a:r>
            <a:endParaRPr lang="en-US" sz="1300" dirty="0"/>
          </a:p>
        </p:txBody>
      </p:sp>
      <p:sp>
        <p:nvSpPr>
          <p:cNvPr id="16" name="Text 14"/>
          <p:cNvSpPr/>
          <p:nvPr/>
        </p:nvSpPr>
        <p:spPr>
          <a:xfrm>
            <a:off x="6949440" y="2084832"/>
            <a:ext cx="4572000" cy="585216"/>
          </a:xfrm>
          <a:prstGeom prst="rect">
            <a:avLst/>
          </a:prstGeom>
          <a:noFill/>
          <a:ln/>
        </p:spPr>
        <p:txBody>
          <a:bodyPr wrap="square" lIns="0" tIns="0" rIns="0" bIns="0" rtlCol="0" anchor="ctr"/>
          <a:lstStyle/>
          <a:p>
            <a:pPr marL="0" indent="0">
              <a:buNone/>
            </a:pPr>
            <a:r>
              <a:rPr lang="en-US" sz="1250" b="1" dirty="0">
                <a:solidFill>
                  <a:srgbClr val="13294B"/>
                </a:solidFill>
                <a:latin typeface="Courier New" pitchFamily="34" charset="0"/>
                <a:ea typeface="Courier New" pitchFamily="34" charset="-122"/>
                <a:cs typeface="Courier New" pitchFamily="34" charset="-120"/>
              </a:rPr>
              <a:t>System.out.println(2 + 3 * 4);</a:t>
            </a:r>
            <a:endParaRPr lang="en-US" sz="1250" dirty="0"/>
          </a:p>
        </p:txBody>
      </p:sp>
      <p:sp>
        <p:nvSpPr>
          <p:cNvPr id="17" name="Shape 15"/>
          <p:cNvSpPr/>
          <p:nvPr/>
        </p:nvSpPr>
        <p:spPr>
          <a:xfrm>
            <a:off x="6291072" y="2743200"/>
            <a:ext cx="5349240" cy="585216"/>
          </a:xfrm>
          <a:prstGeom prst="roundRect">
            <a:avLst>
              <a:gd name="adj" fmla="val 12500"/>
            </a:avLst>
          </a:prstGeom>
          <a:solidFill>
            <a:srgbClr val="F4F7FB"/>
          </a:solidFill>
          <a:ln w="12700">
            <a:solidFill>
              <a:srgbClr val="F4F7FB"/>
            </a:solidFill>
            <a:prstDash val="solid"/>
          </a:ln>
        </p:spPr>
        <p:txBody>
          <a:bodyPr/>
          <a:lstStyle/>
          <a:p>
            <a:endParaRPr lang="es-CO"/>
          </a:p>
        </p:txBody>
      </p:sp>
      <p:sp>
        <p:nvSpPr>
          <p:cNvPr id="18" name="Text 16"/>
          <p:cNvSpPr/>
          <p:nvPr/>
        </p:nvSpPr>
        <p:spPr>
          <a:xfrm>
            <a:off x="6528816" y="2743200"/>
            <a:ext cx="365760" cy="58521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e)</a:t>
            </a:r>
            <a:endParaRPr lang="en-US" sz="1300" dirty="0"/>
          </a:p>
        </p:txBody>
      </p:sp>
      <p:sp>
        <p:nvSpPr>
          <p:cNvPr id="19" name="Text 17"/>
          <p:cNvSpPr/>
          <p:nvPr/>
        </p:nvSpPr>
        <p:spPr>
          <a:xfrm>
            <a:off x="6949440" y="2743200"/>
            <a:ext cx="4572000" cy="585216"/>
          </a:xfrm>
          <a:prstGeom prst="rect">
            <a:avLst/>
          </a:prstGeom>
          <a:noFill/>
          <a:ln/>
        </p:spPr>
        <p:txBody>
          <a:bodyPr wrap="square" lIns="0" tIns="0" rIns="0" bIns="0" rtlCol="0" anchor="ctr"/>
          <a:lstStyle/>
          <a:p>
            <a:pPr marL="0" indent="0">
              <a:buNone/>
            </a:pPr>
            <a:r>
              <a:rPr lang="en-US" sz="1250" b="1" dirty="0">
                <a:solidFill>
                  <a:srgbClr val="13294B"/>
                </a:solidFill>
                <a:latin typeface="Courier New" pitchFamily="34" charset="0"/>
                <a:ea typeface="Courier New" pitchFamily="34" charset="-122"/>
                <a:cs typeface="Courier New" pitchFamily="34" charset="-120"/>
              </a:rPr>
              <a:t>System.out.println((2 + 3) * 4);</a:t>
            </a:r>
            <a:endParaRPr lang="en-US" sz="1250" dirty="0"/>
          </a:p>
        </p:txBody>
      </p:sp>
      <p:sp>
        <p:nvSpPr>
          <p:cNvPr id="20" name="Shape 18"/>
          <p:cNvSpPr/>
          <p:nvPr/>
        </p:nvSpPr>
        <p:spPr>
          <a:xfrm>
            <a:off x="6291072" y="3401568"/>
            <a:ext cx="5349240" cy="585216"/>
          </a:xfrm>
          <a:prstGeom prst="roundRect">
            <a:avLst>
              <a:gd name="adj" fmla="val 12500"/>
            </a:avLst>
          </a:prstGeom>
          <a:solidFill>
            <a:srgbClr val="E8EEF4"/>
          </a:solidFill>
          <a:ln w="12700">
            <a:solidFill>
              <a:srgbClr val="E8EEF4"/>
            </a:solidFill>
            <a:prstDash val="solid"/>
          </a:ln>
        </p:spPr>
        <p:txBody>
          <a:bodyPr/>
          <a:lstStyle/>
          <a:p>
            <a:endParaRPr lang="es-CO"/>
          </a:p>
        </p:txBody>
      </p:sp>
      <p:sp>
        <p:nvSpPr>
          <p:cNvPr id="21" name="Text 19"/>
          <p:cNvSpPr/>
          <p:nvPr/>
        </p:nvSpPr>
        <p:spPr>
          <a:xfrm>
            <a:off x="6528816" y="3401568"/>
            <a:ext cx="365760" cy="58521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f)</a:t>
            </a:r>
            <a:endParaRPr lang="en-US" sz="1300" dirty="0"/>
          </a:p>
        </p:txBody>
      </p:sp>
      <p:sp>
        <p:nvSpPr>
          <p:cNvPr id="22" name="Text 20"/>
          <p:cNvSpPr/>
          <p:nvPr/>
        </p:nvSpPr>
        <p:spPr>
          <a:xfrm>
            <a:off x="6949440" y="3401568"/>
            <a:ext cx="4572000" cy="585216"/>
          </a:xfrm>
          <a:prstGeom prst="rect">
            <a:avLst/>
          </a:prstGeom>
          <a:noFill/>
          <a:ln/>
        </p:spPr>
        <p:txBody>
          <a:bodyPr wrap="square" lIns="0" tIns="0" rIns="0" bIns="0" rtlCol="0" anchor="ctr"/>
          <a:lstStyle/>
          <a:p>
            <a:pPr marL="0" indent="0">
              <a:buNone/>
            </a:pPr>
            <a:r>
              <a:rPr lang="en-US" sz="1250" b="1" dirty="0">
                <a:solidFill>
                  <a:srgbClr val="13294B"/>
                </a:solidFill>
                <a:latin typeface="Courier New" pitchFamily="34" charset="0"/>
                <a:ea typeface="Courier New" pitchFamily="34" charset="-122"/>
                <a:cs typeface="Courier New" pitchFamily="34" charset="-120"/>
              </a:rPr>
              <a:t>System.out.println(10 - 4 - 3);</a:t>
            </a:r>
            <a:endParaRPr lang="en-US" sz="1250" dirty="0"/>
          </a:p>
        </p:txBody>
      </p:sp>
      <p:sp>
        <p:nvSpPr>
          <p:cNvPr id="28" name="Text 26"/>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08</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JERARQUÍA DE OPERADORES</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El </a:t>
            </a:r>
            <a:r>
              <a:rPr lang="en-US" sz="2900" b="1" dirty="0" err="1">
                <a:solidFill>
                  <a:srgbClr val="13294B"/>
                </a:solidFill>
                <a:latin typeface="Cambria" pitchFamily="34" charset="0"/>
                <a:ea typeface="Cambria" pitchFamily="34" charset="-122"/>
                <a:cs typeface="Cambria" pitchFamily="34" charset="-120"/>
              </a:rPr>
              <a:t>orden</a:t>
            </a:r>
            <a:r>
              <a:rPr lang="en-US" sz="2900" b="1" dirty="0">
                <a:solidFill>
                  <a:srgbClr val="13294B"/>
                </a:solidFill>
                <a:latin typeface="Cambria" pitchFamily="34" charset="0"/>
                <a:ea typeface="Cambria" pitchFamily="34" charset="-122"/>
                <a:cs typeface="Cambria" pitchFamily="34" charset="-120"/>
              </a:rPr>
              <a:t> </a:t>
            </a:r>
            <a:r>
              <a:rPr lang="en-US" sz="2900" b="1" dirty="0" err="1">
                <a:solidFill>
                  <a:srgbClr val="13294B"/>
                </a:solidFill>
                <a:latin typeface="Cambria" pitchFamily="34" charset="0"/>
                <a:ea typeface="Cambria" pitchFamily="34" charset="-122"/>
                <a:cs typeface="Cambria" pitchFamily="34" charset="-120"/>
              </a:rPr>
              <a:t>ya</a:t>
            </a:r>
            <a:r>
              <a:rPr lang="en-US" sz="2900" b="1" dirty="0">
                <a:solidFill>
                  <a:srgbClr val="13294B"/>
                </a:solidFill>
                <a:latin typeface="Cambria" pitchFamily="34" charset="0"/>
                <a:ea typeface="Cambria" pitchFamily="34" charset="-122"/>
                <a:cs typeface="Cambria" pitchFamily="34" charset="-120"/>
              </a:rPr>
              <a:t> está definido</a:t>
            </a:r>
            <a:endParaRPr lang="en-US" sz="2900" dirty="0"/>
          </a:p>
        </p:txBody>
      </p:sp>
      <p:pic>
        <p:nvPicPr>
          <p:cNvPr id="4" name="Image 0" descr="/home/claude/s7/fig/f1_escalera.png"/>
          <p:cNvPicPr>
            <a:picLocks noChangeAspect="1"/>
          </p:cNvPicPr>
          <p:nvPr/>
        </p:nvPicPr>
        <p:blipFill>
          <a:blip r:embed="rId3"/>
          <a:stretch>
            <a:fillRect/>
          </a:stretch>
        </p:blipFill>
        <p:spPr>
          <a:xfrm>
            <a:off x="548640" y="1572768"/>
            <a:ext cx="6492240" cy="4023360"/>
          </a:xfrm>
          <a:prstGeom prst="rect">
            <a:avLst/>
          </a:prstGeom>
        </p:spPr>
      </p:pic>
      <p:sp>
        <p:nvSpPr>
          <p:cNvPr id="5" name="Shape 2"/>
          <p:cNvSpPr/>
          <p:nvPr/>
        </p:nvSpPr>
        <p:spPr>
          <a:xfrm>
            <a:off x="7269480" y="1572768"/>
            <a:ext cx="4370832" cy="1920240"/>
          </a:xfrm>
          <a:prstGeom prst="roundRect">
            <a:avLst>
              <a:gd name="adj" fmla="val 3810"/>
            </a:avLst>
          </a:prstGeom>
          <a:solidFill>
            <a:srgbClr val="E8EEF4"/>
          </a:solidFill>
          <a:ln w="12700">
            <a:solidFill>
              <a:srgbClr val="E8EEF4"/>
            </a:solidFill>
            <a:prstDash val="solid"/>
          </a:ln>
        </p:spPr>
        <p:txBody>
          <a:bodyPr/>
          <a:lstStyle/>
          <a:p>
            <a:endParaRPr lang="es-CO"/>
          </a:p>
        </p:txBody>
      </p:sp>
      <p:sp>
        <p:nvSpPr>
          <p:cNvPr id="6" name="Text 3"/>
          <p:cNvSpPr/>
          <p:nvPr/>
        </p:nvSpPr>
        <p:spPr>
          <a:xfrm>
            <a:off x="7543800" y="1700784"/>
            <a:ext cx="3840480" cy="256032"/>
          </a:xfrm>
          <a:prstGeom prst="rect">
            <a:avLst/>
          </a:prstGeom>
          <a:noFill/>
          <a:ln/>
        </p:spPr>
        <p:txBody>
          <a:bodyPr wrap="square" lIns="0" tIns="0" rIns="0" bIns="0" rtlCol="0" anchor="ctr"/>
          <a:lstStyle/>
          <a:p>
            <a:pPr marL="0" indent="0">
              <a:buNone/>
            </a:pPr>
            <a:r>
              <a:rPr lang="en-US" sz="1050" b="1" kern="0" spc="120" dirty="0">
                <a:solidFill>
                  <a:srgbClr val="1C7293"/>
                </a:solidFill>
                <a:latin typeface="Calibri" pitchFamily="34" charset="0"/>
                <a:ea typeface="Calibri" pitchFamily="34" charset="-122"/>
                <a:cs typeface="Calibri" pitchFamily="34" charset="-120"/>
              </a:rPr>
              <a:t>LA REGLA COMPLETA</a:t>
            </a:r>
            <a:endParaRPr lang="en-US" sz="1050" dirty="0"/>
          </a:p>
        </p:txBody>
      </p:sp>
      <p:sp>
        <p:nvSpPr>
          <p:cNvPr id="7" name="Text 4"/>
          <p:cNvSpPr/>
          <p:nvPr/>
        </p:nvSpPr>
        <p:spPr>
          <a:xfrm>
            <a:off x="7543800" y="1993392"/>
            <a:ext cx="3840480" cy="1371600"/>
          </a:xfrm>
          <a:prstGeom prst="rect">
            <a:avLst/>
          </a:prstGeom>
          <a:noFill/>
          <a:ln/>
        </p:spPr>
        <p:txBody>
          <a:bodyPr wrap="square" lIns="0" tIns="0" rIns="0" bIns="0" rtlCol="0" anchor="t"/>
          <a:lstStyle/>
          <a:p>
            <a:pPr marL="0" indent="0">
              <a:lnSpc>
                <a:spcPts val="1700"/>
              </a:lnSpc>
              <a:buNone/>
            </a:pPr>
            <a:r>
              <a:rPr lang="en-US" sz="1300" dirty="0">
                <a:solidFill>
                  <a:srgbClr val="1A1A2E"/>
                </a:solidFill>
                <a:latin typeface="Calibri" pitchFamily="34" charset="0"/>
                <a:ea typeface="Calibri" pitchFamily="34" charset="-122"/>
                <a:cs typeface="Calibri" pitchFamily="34" charset="-120"/>
              </a:rPr>
              <a:t>Primero se resuelve todo lo del nivel más alto. Cuando en un mismo nivel hay varios operadores, se resuelven de izquierda a derecha.</a:t>
            </a:r>
            <a:endParaRPr lang="en-US" sz="1300" dirty="0"/>
          </a:p>
        </p:txBody>
      </p:sp>
      <p:sp>
        <p:nvSpPr>
          <p:cNvPr id="8" name="Shape 5"/>
          <p:cNvSpPr/>
          <p:nvPr/>
        </p:nvSpPr>
        <p:spPr>
          <a:xfrm>
            <a:off x="7269480" y="3621024"/>
            <a:ext cx="4370832" cy="1975104"/>
          </a:xfrm>
          <a:prstGeom prst="roundRect">
            <a:avLst>
              <a:gd name="adj" fmla="val 3704"/>
            </a:avLst>
          </a:prstGeom>
          <a:solidFill>
            <a:srgbClr val="FFF4DE"/>
          </a:solidFill>
          <a:ln w="12700">
            <a:solidFill>
              <a:srgbClr val="FFF4DE"/>
            </a:solidFill>
            <a:prstDash val="solid"/>
          </a:ln>
        </p:spPr>
        <p:txBody>
          <a:bodyPr/>
          <a:lstStyle/>
          <a:p>
            <a:endParaRPr lang="es-CO"/>
          </a:p>
        </p:txBody>
      </p:sp>
      <p:sp>
        <p:nvSpPr>
          <p:cNvPr id="9" name="Text 6"/>
          <p:cNvSpPr/>
          <p:nvPr/>
        </p:nvSpPr>
        <p:spPr>
          <a:xfrm>
            <a:off x="7543800" y="3749040"/>
            <a:ext cx="3840480" cy="256032"/>
          </a:xfrm>
          <a:prstGeom prst="rect">
            <a:avLst/>
          </a:prstGeom>
          <a:noFill/>
          <a:ln/>
        </p:spPr>
        <p:txBody>
          <a:bodyPr wrap="square" lIns="0" tIns="0" rIns="0" bIns="0" rtlCol="0" anchor="ctr"/>
          <a:lstStyle/>
          <a:p>
            <a:pPr marL="0" indent="0">
              <a:buNone/>
            </a:pPr>
            <a:r>
              <a:rPr lang="en-US" sz="1050" b="1" kern="0" spc="120" dirty="0">
                <a:solidFill>
                  <a:srgbClr val="B07800"/>
                </a:solidFill>
                <a:latin typeface="Calibri" pitchFamily="34" charset="0"/>
                <a:ea typeface="Calibri" pitchFamily="34" charset="-122"/>
                <a:cs typeface="Calibri" pitchFamily="34" charset="-120"/>
              </a:rPr>
              <a:t>IZQUIERDA A DERECHA</a:t>
            </a:r>
            <a:endParaRPr lang="en-US" sz="1050" dirty="0"/>
          </a:p>
        </p:txBody>
      </p:sp>
      <p:sp>
        <p:nvSpPr>
          <p:cNvPr id="10" name="Text 7"/>
          <p:cNvSpPr/>
          <p:nvPr/>
        </p:nvSpPr>
        <p:spPr>
          <a:xfrm>
            <a:off x="7543800" y="4041648"/>
            <a:ext cx="3840480" cy="1417320"/>
          </a:xfrm>
          <a:prstGeom prst="rect">
            <a:avLst/>
          </a:prstGeom>
          <a:noFill/>
          <a:ln/>
        </p:spPr>
        <p:txBody>
          <a:bodyPr wrap="square" lIns="0" tIns="0" rIns="0" bIns="0" rtlCol="0" anchor="t"/>
          <a:lstStyle/>
          <a:p>
            <a:pPr marL="0" indent="0">
              <a:lnSpc>
                <a:spcPts val="1700"/>
              </a:lnSpc>
              <a:buNone/>
            </a:pPr>
            <a:r>
              <a:rPr lang="en-US" sz="1400" b="1" dirty="0">
                <a:solidFill>
                  <a:srgbClr val="13294B"/>
                </a:solidFill>
                <a:latin typeface="Courier New" pitchFamily="34" charset="0"/>
                <a:ea typeface="Courier New" pitchFamily="34" charset="-122"/>
                <a:cs typeface="Courier New" pitchFamily="34" charset="-120"/>
              </a:rPr>
              <a:t>10 - 4 - 3</a:t>
            </a:r>
            <a:r>
              <a:rPr lang="en-US" sz="600" dirty="0">
                <a:solidFill>
                  <a:srgbClr val="000000"/>
                </a:solidFill>
              </a:rPr>
              <a:t>
</a:t>
            </a:r>
            <a:endParaRPr lang="en-US" sz="1400" dirty="0"/>
          </a:p>
          <a:p>
            <a:pPr marL="0" indent="0">
              <a:lnSpc>
                <a:spcPts val="1700"/>
              </a:lnSpc>
              <a:buNone/>
            </a:pPr>
            <a:r>
              <a:rPr lang="en-US" sz="1200" dirty="0">
                <a:solidFill>
                  <a:srgbClr val="5B6B7C"/>
                </a:solidFill>
                <a:latin typeface="Calibri" pitchFamily="34" charset="0"/>
                <a:ea typeface="Calibri" pitchFamily="34" charset="-122"/>
                <a:cs typeface="Calibri" pitchFamily="34" charset="-120"/>
              </a:rPr>
              <a:t>se resuelve como </a:t>
            </a:r>
            <a:r>
              <a:rPr lang="en-US" sz="1300" b="1" dirty="0">
                <a:solidFill>
                  <a:srgbClr val="13294B"/>
                </a:solidFill>
                <a:latin typeface="Courier New" pitchFamily="34" charset="0"/>
                <a:ea typeface="Courier New" pitchFamily="34" charset="-122"/>
                <a:cs typeface="Courier New" pitchFamily="34" charset="-120"/>
              </a:rPr>
              <a:t>(10 - 4) - 3</a:t>
            </a:r>
            <a:r>
              <a:rPr lang="en-US" sz="600" dirty="0">
                <a:solidFill>
                  <a:srgbClr val="000000"/>
                </a:solidFill>
              </a:rPr>
              <a:t>
</a:t>
            </a:r>
            <a:endParaRPr lang="en-US" sz="1400" dirty="0"/>
          </a:p>
          <a:p>
            <a:pPr marL="0" indent="0">
              <a:lnSpc>
                <a:spcPts val="1700"/>
              </a:lnSpc>
              <a:buNone/>
            </a:pPr>
            <a:r>
              <a:rPr lang="en-US" sz="1250" b="1" dirty="0">
                <a:solidFill>
                  <a:srgbClr val="B07800"/>
                </a:solidFill>
                <a:latin typeface="Calibri" pitchFamily="34" charset="0"/>
                <a:ea typeface="Calibri" pitchFamily="34" charset="-122"/>
                <a:cs typeface="Calibri" pitchFamily="34" charset="-120"/>
              </a:rPr>
              <a:t>y da 3, no 9.</a:t>
            </a:r>
            <a:endParaRPr lang="en-US" sz="1400" dirty="0"/>
          </a:p>
        </p:txBody>
      </p:sp>
      <p:sp>
        <p:nvSpPr>
          <p:cNvPr id="11" name="Shape 8"/>
          <p:cNvSpPr/>
          <p:nvPr/>
        </p:nvSpPr>
        <p:spPr>
          <a:xfrm>
            <a:off x="548640" y="5742432"/>
            <a:ext cx="11091672" cy="566928"/>
          </a:xfrm>
          <a:prstGeom prst="roundRect">
            <a:avLst>
              <a:gd name="adj" fmla="val 12903"/>
            </a:avLst>
          </a:prstGeom>
          <a:solidFill>
            <a:srgbClr val="13294B"/>
          </a:solidFill>
          <a:ln w="12700">
            <a:solidFill>
              <a:srgbClr val="13294B"/>
            </a:solidFill>
            <a:prstDash val="solid"/>
          </a:ln>
        </p:spPr>
        <p:txBody>
          <a:bodyPr/>
          <a:lstStyle/>
          <a:p>
            <a:endParaRPr lang="es-CO"/>
          </a:p>
        </p:txBody>
      </p:sp>
      <p:sp>
        <p:nvSpPr>
          <p:cNvPr id="12" name="Text 9"/>
          <p:cNvSpPr/>
          <p:nvPr/>
        </p:nvSpPr>
        <p:spPr>
          <a:xfrm>
            <a:off x="868680" y="5742432"/>
            <a:ext cx="10451592" cy="566928"/>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EN PSEUDOCÓDIGO ES IGUAL:  </a:t>
            </a:r>
            <a:r>
              <a:rPr lang="en-US" sz="1350" dirty="0">
                <a:solidFill>
                  <a:srgbClr val="FFFFFF"/>
                </a:solidFill>
                <a:latin typeface="Calibri" pitchFamily="34" charset="0"/>
                <a:ea typeface="Calibri" pitchFamily="34" charset="-122"/>
                <a:cs typeface="Calibri" pitchFamily="34" charset="-120"/>
              </a:rPr>
              <a:t>la jerarquía no es una regla de Java, es una regla de las expresiones. Se aplica desde el papel.</a:t>
            </a:r>
            <a:endParaRPr lang="en-US" sz="1350" dirty="0"/>
          </a:p>
        </p:txBody>
      </p:sp>
      <p:sp>
        <p:nvSpPr>
          <p:cNvPr id="13" name="Text 10"/>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09</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EVALUAR UNA EXPRESIÓN</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Una operación por línea, hasta que quede un solo valor</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Así se revisa una expresión sin computador, y así se pide en la actividad que sigue.</a:t>
            </a:r>
            <a:endParaRPr lang="en-US" sz="1400" dirty="0"/>
          </a:p>
        </p:txBody>
      </p:sp>
      <p:pic>
        <p:nvPicPr>
          <p:cNvPr id="5" name="Image 0" descr="/home/claude/s7/fig/f3_traza.png"/>
          <p:cNvPicPr>
            <a:picLocks noChangeAspect="1"/>
          </p:cNvPicPr>
          <p:nvPr/>
        </p:nvPicPr>
        <p:blipFill>
          <a:blip r:embed="rId3"/>
          <a:stretch>
            <a:fillRect/>
          </a:stretch>
        </p:blipFill>
        <p:spPr>
          <a:xfrm>
            <a:off x="548640" y="1987804"/>
            <a:ext cx="7379208" cy="3758184"/>
          </a:xfrm>
          <a:prstGeom prst="rect">
            <a:avLst/>
          </a:prstGeom>
        </p:spPr>
      </p:pic>
      <p:sp>
        <p:nvSpPr>
          <p:cNvPr id="6" name="Shape 3"/>
          <p:cNvSpPr/>
          <p:nvPr/>
        </p:nvSpPr>
        <p:spPr>
          <a:xfrm>
            <a:off x="8183880" y="2011680"/>
            <a:ext cx="3456432" cy="1700784"/>
          </a:xfrm>
          <a:prstGeom prst="roundRect">
            <a:avLst>
              <a:gd name="adj" fmla="val 4301"/>
            </a:avLst>
          </a:prstGeom>
          <a:solidFill>
            <a:srgbClr val="E8EEF4"/>
          </a:solidFill>
          <a:ln w="12700">
            <a:solidFill>
              <a:srgbClr val="E8EEF4"/>
            </a:solidFill>
            <a:prstDash val="solid"/>
          </a:ln>
        </p:spPr>
        <p:txBody>
          <a:bodyPr/>
          <a:lstStyle/>
          <a:p>
            <a:endParaRPr lang="es-CO"/>
          </a:p>
        </p:txBody>
      </p:sp>
      <p:sp>
        <p:nvSpPr>
          <p:cNvPr id="7" name="Text 4"/>
          <p:cNvSpPr/>
          <p:nvPr/>
        </p:nvSpPr>
        <p:spPr>
          <a:xfrm>
            <a:off x="8458200" y="2139696"/>
            <a:ext cx="2926080" cy="256032"/>
          </a:xfrm>
          <a:prstGeom prst="rect">
            <a:avLst/>
          </a:prstGeom>
          <a:noFill/>
          <a:ln/>
        </p:spPr>
        <p:txBody>
          <a:bodyPr wrap="square" lIns="0" tIns="0" rIns="0" bIns="0" rtlCol="0" anchor="ctr"/>
          <a:lstStyle/>
          <a:p>
            <a:pPr marL="0" indent="0">
              <a:buNone/>
            </a:pPr>
            <a:r>
              <a:rPr lang="en-US" sz="1050" b="1" kern="0" spc="120" dirty="0">
                <a:solidFill>
                  <a:srgbClr val="1C7293"/>
                </a:solidFill>
                <a:latin typeface="Calibri" pitchFamily="34" charset="0"/>
                <a:ea typeface="Calibri" pitchFamily="34" charset="-122"/>
                <a:cs typeface="Calibri" pitchFamily="34" charset="-120"/>
              </a:rPr>
              <a:t>CÓMO SE ESCRIBE</a:t>
            </a:r>
            <a:endParaRPr lang="en-US" sz="1050" dirty="0"/>
          </a:p>
        </p:txBody>
      </p:sp>
      <p:sp>
        <p:nvSpPr>
          <p:cNvPr id="8" name="Text 5"/>
          <p:cNvSpPr/>
          <p:nvPr/>
        </p:nvSpPr>
        <p:spPr>
          <a:xfrm>
            <a:off x="8458200" y="2414016"/>
            <a:ext cx="2926080" cy="1234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A1A2E"/>
                </a:solidFill>
                <a:latin typeface="Calibri" pitchFamily="34" charset="0"/>
                <a:ea typeface="Calibri" pitchFamily="34" charset="-122"/>
                <a:cs typeface="Calibri" pitchFamily="34" charset="-120"/>
              </a:rPr>
              <a:t>Copia la expresión completa.</a:t>
            </a:r>
            <a:endParaRPr lang="en-US" sz="1200" dirty="0"/>
          </a:p>
          <a:p>
            <a:pPr marL="342900" indent="-342900">
              <a:spcAft>
                <a:spcPts val="500"/>
              </a:spcAft>
              <a:buSzPct val="100000"/>
              <a:buChar char="•"/>
            </a:pPr>
            <a:r>
              <a:rPr lang="en-US" sz="1200" dirty="0">
                <a:solidFill>
                  <a:srgbClr val="1A1A2E"/>
                </a:solidFill>
                <a:latin typeface="Calibri" pitchFamily="34" charset="0"/>
                <a:ea typeface="Calibri" pitchFamily="34" charset="-122"/>
                <a:cs typeface="Calibri" pitchFamily="34" charset="-120"/>
              </a:rPr>
              <a:t>Resuelve una sola operación.</a:t>
            </a:r>
            <a:endParaRPr lang="en-US" sz="1200" dirty="0"/>
          </a:p>
          <a:p>
            <a:pPr marL="342900" indent="-342900">
              <a:spcAft>
                <a:spcPts val="500"/>
              </a:spcAft>
              <a:buSzPct val="100000"/>
              <a:buChar char="•"/>
            </a:pPr>
            <a:r>
              <a:rPr lang="en-US" sz="1200" dirty="0">
                <a:solidFill>
                  <a:srgbClr val="1A1A2E"/>
                </a:solidFill>
                <a:latin typeface="Calibri" pitchFamily="34" charset="0"/>
                <a:ea typeface="Calibri" pitchFamily="34" charset="-122"/>
                <a:cs typeface="Calibri" pitchFamily="34" charset="-120"/>
              </a:rPr>
              <a:t>Reescribe todo lo demás igual.</a:t>
            </a:r>
            <a:endParaRPr lang="en-US" sz="1200" dirty="0"/>
          </a:p>
          <a:p>
            <a:pPr marL="342900" indent="-342900">
              <a:spcAft>
                <a:spcPts val="500"/>
              </a:spcAft>
              <a:buSzPct val="100000"/>
              <a:buChar char="•"/>
            </a:pPr>
            <a:r>
              <a:rPr lang="en-US" sz="1200" dirty="0">
                <a:solidFill>
                  <a:srgbClr val="1A1A2E"/>
                </a:solidFill>
                <a:latin typeface="Calibri" pitchFamily="34" charset="0"/>
                <a:ea typeface="Calibri" pitchFamily="34" charset="-122"/>
                <a:cs typeface="Calibri" pitchFamily="34" charset="-120"/>
              </a:rPr>
              <a:t>Repite hasta que quede un valor.</a:t>
            </a:r>
            <a:endParaRPr lang="en-US" sz="1200" dirty="0"/>
          </a:p>
        </p:txBody>
      </p:sp>
      <p:sp>
        <p:nvSpPr>
          <p:cNvPr id="9" name="Shape 6"/>
          <p:cNvSpPr/>
          <p:nvPr/>
        </p:nvSpPr>
        <p:spPr>
          <a:xfrm>
            <a:off x="8183880" y="3858768"/>
            <a:ext cx="3456432" cy="1719072"/>
          </a:xfrm>
          <a:prstGeom prst="roundRect">
            <a:avLst>
              <a:gd name="adj" fmla="val 4255"/>
            </a:avLst>
          </a:prstGeom>
          <a:solidFill>
            <a:srgbClr val="FFF4DE"/>
          </a:solidFill>
          <a:ln w="12700">
            <a:solidFill>
              <a:srgbClr val="FFF4DE"/>
            </a:solidFill>
            <a:prstDash val="solid"/>
          </a:ln>
        </p:spPr>
        <p:txBody>
          <a:bodyPr/>
          <a:lstStyle/>
          <a:p>
            <a:endParaRPr lang="es-CO"/>
          </a:p>
        </p:txBody>
      </p:sp>
      <p:sp>
        <p:nvSpPr>
          <p:cNvPr id="10" name="Text 7"/>
          <p:cNvSpPr/>
          <p:nvPr/>
        </p:nvSpPr>
        <p:spPr>
          <a:xfrm>
            <a:off x="8458200" y="3986784"/>
            <a:ext cx="2926080" cy="256032"/>
          </a:xfrm>
          <a:prstGeom prst="rect">
            <a:avLst/>
          </a:prstGeom>
          <a:noFill/>
          <a:ln/>
        </p:spPr>
        <p:txBody>
          <a:bodyPr wrap="square" lIns="0" tIns="0" rIns="0" bIns="0" rtlCol="0" anchor="ctr"/>
          <a:lstStyle/>
          <a:p>
            <a:pPr marL="0" indent="0">
              <a:buNone/>
            </a:pPr>
            <a:r>
              <a:rPr lang="en-US" sz="1050" b="1" kern="0" spc="120" dirty="0">
                <a:solidFill>
                  <a:srgbClr val="B07800"/>
                </a:solidFill>
                <a:latin typeface="Calibri" pitchFamily="34" charset="0"/>
                <a:ea typeface="Calibri" pitchFamily="34" charset="-122"/>
                <a:cs typeface="Calibri" pitchFamily="34" charset="-120"/>
              </a:rPr>
              <a:t>EL ERROR TÍPICO</a:t>
            </a:r>
            <a:endParaRPr lang="en-US" sz="1050" dirty="0"/>
          </a:p>
        </p:txBody>
      </p:sp>
      <p:sp>
        <p:nvSpPr>
          <p:cNvPr id="11" name="Text 8"/>
          <p:cNvSpPr/>
          <p:nvPr/>
        </p:nvSpPr>
        <p:spPr>
          <a:xfrm>
            <a:off x="8458200" y="4261104"/>
            <a:ext cx="2926080" cy="1188720"/>
          </a:xfrm>
          <a:prstGeom prst="rect">
            <a:avLst/>
          </a:prstGeom>
          <a:noFill/>
          <a:ln/>
        </p:spPr>
        <p:txBody>
          <a:bodyPr wrap="square" lIns="0" tIns="0" rIns="0" bIns="0" rtlCol="0" anchor="t"/>
          <a:lstStyle/>
          <a:p>
            <a:pPr marL="0" indent="0">
              <a:lnSpc>
                <a:spcPts val="1600"/>
              </a:lnSpc>
              <a:buNone/>
            </a:pPr>
            <a:r>
              <a:rPr lang="en-US" sz="1200" dirty="0">
                <a:solidFill>
                  <a:srgbClr val="1A1A2E"/>
                </a:solidFill>
                <a:latin typeface="Calibri" pitchFamily="34" charset="0"/>
                <a:ea typeface="Calibri" pitchFamily="34" charset="-122"/>
                <a:cs typeface="Calibri" pitchFamily="34" charset="-120"/>
              </a:rPr>
              <a:t>Resolver dos operaciones en el mismo renglón. Cuando el resultado no da, no hay forma de saber en cuál de las dos estuvo la falla.</a:t>
            </a:r>
            <a:endParaRPr lang="en-US" sz="1200" dirty="0"/>
          </a:p>
        </p:txBody>
      </p:sp>
      <p:sp>
        <p:nvSpPr>
          <p:cNvPr id="12" name="Text 9"/>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10</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EL PARÉNTESIS</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Los mismos números, tres resultados</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El paréntesis es la única forma de imponer un orden distinto al de la escalera.</a:t>
            </a:r>
            <a:endParaRPr lang="en-US" sz="1400" dirty="0"/>
          </a:p>
        </p:txBody>
      </p:sp>
      <p:sp>
        <p:nvSpPr>
          <p:cNvPr id="5" name="Shape 3"/>
          <p:cNvSpPr/>
          <p:nvPr/>
        </p:nvSpPr>
        <p:spPr>
          <a:xfrm>
            <a:off x="548640" y="2084832"/>
            <a:ext cx="11091672" cy="1005840"/>
          </a:xfrm>
          <a:prstGeom prst="roundRect">
            <a:avLst>
              <a:gd name="adj" fmla="val 7273"/>
            </a:avLst>
          </a:prstGeom>
          <a:solidFill>
            <a:srgbClr val="F4F7FB"/>
          </a:solidFill>
          <a:ln w="12700">
            <a:solidFill>
              <a:srgbClr val="F4F7FB"/>
            </a:solidFill>
            <a:prstDash val="solid"/>
          </a:ln>
        </p:spPr>
        <p:txBody>
          <a:bodyPr/>
          <a:lstStyle/>
          <a:p>
            <a:endParaRPr lang="es-CO"/>
          </a:p>
        </p:txBody>
      </p:sp>
      <p:sp>
        <p:nvSpPr>
          <p:cNvPr id="6" name="Text 4"/>
          <p:cNvSpPr/>
          <p:nvPr/>
        </p:nvSpPr>
        <p:spPr>
          <a:xfrm>
            <a:off x="859536" y="2084832"/>
            <a:ext cx="4023360" cy="1005840"/>
          </a:xfrm>
          <a:prstGeom prst="rect">
            <a:avLst/>
          </a:prstGeom>
          <a:noFill/>
          <a:ln/>
        </p:spPr>
        <p:txBody>
          <a:bodyPr wrap="square" lIns="0" tIns="0" rIns="0" bIns="0" rtlCol="0" anchor="ctr"/>
          <a:lstStyle/>
          <a:p>
            <a:pPr marL="0" indent="0">
              <a:buNone/>
            </a:pPr>
            <a:r>
              <a:rPr lang="en-US" sz="1600" b="1" dirty="0">
                <a:solidFill>
                  <a:srgbClr val="13294B"/>
                </a:solidFill>
                <a:latin typeface="Courier New" pitchFamily="34" charset="0"/>
                <a:ea typeface="Courier New" pitchFamily="34" charset="-122"/>
                <a:cs typeface="Courier New" pitchFamily="34" charset="-120"/>
              </a:rPr>
              <a:t>2 + 6 / 2 * 3</a:t>
            </a:r>
            <a:endParaRPr lang="en-US" sz="1600" dirty="0"/>
          </a:p>
        </p:txBody>
      </p:sp>
      <p:sp>
        <p:nvSpPr>
          <p:cNvPr id="7" name="Shape 5"/>
          <p:cNvSpPr/>
          <p:nvPr/>
        </p:nvSpPr>
        <p:spPr>
          <a:xfrm>
            <a:off x="5029200" y="2322576"/>
            <a:ext cx="914400" cy="530352"/>
          </a:xfrm>
          <a:prstGeom prst="roundRect">
            <a:avLst>
              <a:gd name="adj" fmla="val 10345"/>
            </a:avLst>
          </a:prstGeom>
          <a:solidFill>
            <a:srgbClr val="1C7293"/>
          </a:solidFill>
          <a:ln w="12700">
            <a:solidFill>
              <a:srgbClr val="1C7293"/>
            </a:solidFill>
            <a:prstDash val="solid"/>
          </a:ln>
        </p:spPr>
        <p:txBody>
          <a:bodyPr/>
          <a:lstStyle/>
          <a:p>
            <a:endParaRPr lang="es-CO"/>
          </a:p>
        </p:txBody>
      </p:sp>
      <p:sp>
        <p:nvSpPr>
          <p:cNvPr id="8" name="Text 6"/>
          <p:cNvSpPr/>
          <p:nvPr/>
        </p:nvSpPr>
        <p:spPr>
          <a:xfrm>
            <a:off x="5029200" y="2322576"/>
            <a:ext cx="914400" cy="530352"/>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11</a:t>
            </a:r>
            <a:endParaRPr lang="en-US" sz="1700" dirty="0"/>
          </a:p>
        </p:txBody>
      </p:sp>
      <p:sp>
        <p:nvSpPr>
          <p:cNvPr id="9" name="Text 7"/>
          <p:cNvSpPr/>
          <p:nvPr/>
        </p:nvSpPr>
        <p:spPr>
          <a:xfrm>
            <a:off x="6217920" y="2084832"/>
            <a:ext cx="5120640" cy="1005840"/>
          </a:xfrm>
          <a:prstGeom prst="rect">
            <a:avLst/>
          </a:prstGeom>
          <a:noFill/>
          <a:ln/>
        </p:spPr>
        <p:txBody>
          <a:bodyPr wrap="square" lIns="0" tIns="0" rIns="0" bIns="0" rtlCol="0" anchor="ctr"/>
          <a:lstStyle/>
          <a:p>
            <a:pPr marL="0" indent="0">
              <a:lnSpc>
                <a:spcPts val="1600"/>
              </a:lnSpc>
              <a:buNone/>
            </a:pPr>
            <a:r>
              <a:rPr lang="en-US" sz="1250" dirty="0">
                <a:solidFill>
                  <a:srgbClr val="5B6B7C"/>
                </a:solidFill>
                <a:latin typeface="Calibri" pitchFamily="34" charset="0"/>
                <a:ea typeface="Calibri" pitchFamily="34" charset="-122"/>
                <a:cs typeface="Calibri" pitchFamily="34" charset="-120"/>
              </a:rPr>
              <a:t>6/2 primero, después *3, después la suma</a:t>
            </a:r>
            <a:endParaRPr lang="en-US" sz="1250" dirty="0"/>
          </a:p>
        </p:txBody>
      </p:sp>
      <p:sp>
        <p:nvSpPr>
          <p:cNvPr id="10" name="Shape 8"/>
          <p:cNvSpPr/>
          <p:nvPr/>
        </p:nvSpPr>
        <p:spPr>
          <a:xfrm>
            <a:off x="548640" y="3182112"/>
            <a:ext cx="11091672" cy="1005840"/>
          </a:xfrm>
          <a:prstGeom prst="roundRect">
            <a:avLst>
              <a:gd name="adj" fmla="val 7273"/>
            </a:avLst>
          </a:prstGeom>
          <a:solidFill>
            <a:srgbClr val="E8EEF4"/>
          </a:solidFill>
          <a:ln w="12700">
            <a:solidFill>
              <a:srgbClr val="E8EEF4"/>
            </a:solidFill>
            <a:prstDash val="solid"/>
          </a:ln>
        </p:spPr>
        <p:txBody>
          <a:bodyPr/>
          <a:lstStyle/>
          <a:p>
            <a:endParaRPr lang="es-CO"/>
          </a:p>
        </p:txBody>
      </p:sp>
      <p:sp>
        <p:nvSpPr>
          <p:cNvPr id="11" name="Text 9"/>
          <p:cNvSpPr/>
          <p:nvPr/>
        </p:nvSpPr>
        <p:spPr>
          <a:xfrm>
            <a:off x="859536" y="3182112"/>
            <a:ext cx="4023360" cy="1005840"/>
          </a:xfrm>
          <a:prstGeom prst="rect">
            <a:avLst/>
          </a:prstGeom>
          <a:noFill/>
          <a:ln/>
        </p:spPr>
        <p:txBody>
          <a:bodyPr wrap="square" lIns="0" tIns="0" rIns="0" bIns="0" rtlCol="0" anchor="ctr"/>
          <a:lstStyle/>
          <a:p>
            <a:pPr marL="0" indent="0">
              <a:buNone/>
            </a:pPr>
            <a:r>
              <a:rPr lang="en-US" sz="1600" b="1" dirty="0">
                <a:solidFill>
                  <a:srgbClr val="13294B"/>
                </a:solidFill>
                <a:latin typeface="Courier New" pitchFamily="34" charset="0"/>
                <a:ea typeface="Courier New" pitchFamily="34" charset="-122"/>
                <a:cs typeface="Courier New" pitchFamily="34" charset="-120"/>
              </a:rPr>
              <a:t>(2 + 6) / 2 * 3</a:t>
            </a:r>
            <a:endParaRPr lang="en-US" sz="1600" dirty="0"/>
          </a:p>
        </p:txBody>
      </p:sp>
      <p:sp>
        <p:nvSpPr>
          <p:cNvPr id="12" name="Shape 10"/>
          <p:cNvSpPr/>
          <p:nvPr/>
        </p:nvSpPr>
        <p:spPr>
          <a:xfrm>
            <a:off x="5029200" y="3419856"/>
            <a:ext cx="914400" cy="530352"/>
          </a:xfrm>
          <a:prstGeom prst="roundRect">
            <a:avLst>
              <a:gd name="adj" fmla="val 10345"/>
            </a:avLst>
          </a:prstGeom>
          <a:solidFill>
            <a:srgbClr val="1C7293"/>
          </a:solidFill>
          <a:ln w="12700">
            <a:solidFill>
              <a:srgbClr val="1C7293"/>
            </a:solidFill>
            <a:prstDash val="solid"/>
          </a:ln>
        </p:spPr>
        <p:txBody>
          <a:bodyPr/>
          <a:lstStyle/>
          <a:p>
            <a:endParaRPr lang="es-CO"/>
          </a:p>
        </p:txBody>
      </p:sp>
      <p:sp>
        <p:nvSpPr>
          <p:cNvPr id="13" name="Text 11"/>
          <p:cNvSpPr/>
          <p:nvPr/>
        </p:nvSpPr>
        <p:spPr>
          <a:xfrm>
            <a:off x="5029200" y="3419856"/>
            <a:ext cx="914400" cy="530352"/>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12</a:t>
            </a:r>
            <a:endParaRPr lang="en-US" sz="1700" dirty="0"/>
          </a:p>
        </p:txBody>
      </p:sp>
      <p:sp>
        <p:nvSpPr>
          <p:cNvPr id="14" name="Text 12"/>
          <p:cNvSpPr/>
          <p:nvPr/>
        </p:nvSpPr>
        <p:spPr>
          <a:xfrm>
            <a:off x="6217920" y="3182112"/>
            <a:ext cx="5120640" cy="1005840"/>
          </a:xfrm>
          <a:prstGeom prst="rect">
            <a:avLst/>
          </a:prstGeom>
          <a:noFill/>
          <a:ln/>
        </p:spPr>
        <p:txBody>
          <a:bodyPr wrap="square" lIns="0" tIns="0" rIns="0" bIns="0" rtlCol="0" anchor="ctr"/>
          <a:lstStyle/>
          <a:p>
            <a:pPr marL="0" indent="0">
              <a:lnSpc>
                <a:spcPts val="1600"/>
              </a:lnSpc>
              <a:buNone/>
            </a:pPr>
            <a:r>
              <a:rPr lang="en-US" sz="1250" dirty="0">
                <a:solidFill>
                  <a:srgbClr val="5B6B7C"/>
                </a:solidFill>
                <a:latin typeface="Calibri" pitchFamily="34" charset="0"/>
                <a:ea typeface="Calibri" pitchFamily="34" charset="-122"/>
                <a:cs typeface="Calibri" pitchFamily="34" charset="-120"/>
              </a:rPr>
              <a:t>la suma primero, después / y * de izquierda a derecha</a:t>
            </a:r>
            <a:endParaRPr lang="en-US" sz="1250" dirty="0"/>
          </a:p>
        </p:txBody>
      </p:sp>
      <p:sp>
        <p:nvSpPr>
          <p:cNvPr id="15" name="Shape 13"/>
          <p:cNvSpPr/>
          <p:nvPr/>
        </p:nvSpPr>
        <p:spPr>
          <a:xfrm>
            <a:off x="548640" y="4279392"/>
            <a:ext cx="11091672" cy="1005840"/>
          </a:xfrm>
          <a:prstGeom prst="roundRect">
            <a:avLst>
              <a:gd name="adj" fmla="val 7273"/>
            </a:avLst>
          </a:prstGeom>
          <a:solidFill>
            <a:srgbClr val="F4F7FB"/>
          </a:solidFill>
          <a:ln w="12700">
            <a:solidFill>
              <a:srgbClr val="F4F7FB"/>
            </a:solidFill>
            <a:prstDash val="solid"/>
          </a:ln>
        </p:spPr>
        <p:txBody>
          <a:bodyPr/>
          <a:lstStyle/>
          <a:p>
            <a:endParaRPr lang="es-CO"/>
          </a:p>
        </p:txBody>
      </p:sp>
      <p:sp>
        <p:nvSpPr>
          <p:cNvPr id="16" name="Text 14"/>
          <p:cNvSpPr/>
          <p:nvPr/>
        </p:nvSpPr>
        <p:spPr>
          <a:xfrm>
            <a:off x="859536" y="4279392"/>
            <a:ext cx="4023360" cy="1005840"/>
          </a:xfrm>
          <a:prstGeom prst="rect">
            <a:avLst/>
          </a:prstGeom>
          <a:noFill/>
          <a:ln/>
        </p:spPr>
        <p:txBody>
          <a:bodyPr wrap="square" lIns="0" tIns="0" rIns="0" bIns="0" rtlCol="0" anchor="ctr"/>
          <a:lstStyle/>
          <a:p>
            <a:pPr marL="0" indent="0">
              <a:buNone/>
            </a:pPr>
            <a:r>
              <a:rPr lang="en-US" sz="1600" b="1" dirty="0">
                <a:solidFill>
                  <a:srgbClr val="13294B"/>
                </a:solidFill>
                <a:latin typeface="Courier New" pitchFamily="34" charset="0"/>
                <a:ea typeface="Courier New" pitchFamily="34" charset="-122"/>
                <a:cs typeface="Courier New" pitchFamily="34" charset="-120"/>
              </a:rPr>
              <a:t>(2 + 6) / (2 * 3)</a:t>
            </a:r>
            <a:endParaRPr lang="en-US" sz="1600" dirty="0"/>
          </a:p>
        </p:txBody>
      </p:sp>
      <p:sp>
        <p:nvSpPr>
          <p:cNvPr id="17" name="Shape 15"/>
          <p:cNvSpPr/>
          <p:nvPr/>
        </p:nvSpPr>
        <p:spPr>
          <a:xfrm>
            <a:off x="5029200" y="4517136"/>
            <a:ext cx="914400" cy="530352"/>
          </a:xfrm>
          <a:prstGeom prst="roundRect">
            <a:avLst>
              <a:gd name="adj" fmla="val 10345"/>
            </a:avLst>
          </a:prstGeom>
          <a:solidFill>
            <a:srgbClr val="B07800"/>
          </a:solidFill>
          <a:ln w="12700">
            <a:solidFill>
              <a:srgbClr val="B07800"/>
            </a:solidFill>
            <a:prstDash val="solid"/>
          </a:ln>
        </p:spPr>
        <p:txBody>
          <a:bodyPr/>
          <a:lstStyle/>
          <a:p>
            <a:endParaRPr lang="es-CO"/>
          </a:p>
        </p:txBody>
      </p:sp>
      <p:sp>
        <p:nvSpPr>
          <p:cNvPr id="18" name="Text 16"/>
          <p:cNvSpPr/>
          <p:nvPr/>
        </p:nvSpPr>
        <p:spPr>
          <a:xfrm>
            <a:off x="5029200" y="4517136"/>
            <a:ext cx="914400" cy="530352"/>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1</a:t>
            </a:r>
            <a:endParaRPr lang="en-US" sz="1700" dirty="0"/>
          </a:p>
        </p:txBody>
      </p:sp>
      <p:sp>
        <p:nvSpPr>
          <p:cNvPr id="19" name="Text 17"/>
          <p:cNvSpPr/>
          <p:nvPr/>
        </p:nvSpPr>
        <p:spPr>
          <a:xfrm>
            <a:off x="6217920" y="4279392"/>
            <a:ext cx="5120640" cy="1005840"/>
          </a:xfrm>
          <a:prstGeom prst="rect">
            <a:avLst/>
          </a:prstGeom>
          <a:noFill/>
          <a:ln/>
        </p:spPr>
        <p:txBody>
          <a:bodyPr wrap="square" lIns="0" tIns="0" rIns="0" bIns="0" rtlCol="0" anchor="ctr"/>
          <a:lstStyle/>
          <a:p>
            <a:pPr marL="0" indent="0">
              <a:lnSpc>
                <a:spcPts val="1600"/>
              </a:lnSpc>
              <a:buNone/>
            </a:pPr>
            <a:r>
              <a:rPr lang="en-US" sz="1250" dirty="0">
                <a:solidFill>
                  <a:srgbClr val="5B6B7C"/>
                </a:solidFill>
                <a:latin typeface="Calibri" pitchFamily="34" charset="0"/>
                <a:ea typeface="Calibri" pitchFamily="34" charset="-122"/>
                <a:cs typeface="Calibri" pitchFamily="34" charset="-120"/>
              </a:rPr>
              <a:t>8 / 6 entre enteros: quedan 1 y sobran 2</a:t>
            </a:r>
            <a:endParaRPr lang="en-US" sz="1250" dirty="0"/>
          </a:p>
        </p:txBody>
      </p:sp>
      <p:sp>
        <p:nvSpPr>
          <p:cNvPr id="20" name="Shape 18"/>
          <p:cNvSpPr/>
          <p:nvPr/>
        </p:nvSpPr>
        <p:spPr>
          <a:xfrm>
            <a:off x="548640" y="5394960"/>
            <a:ext cx="11091672" cy="841248"/>
          </a:xfrm>
          <a:prstGeom prst="roundRect">
            <a:avLst>
              <a:gd name="adj" fmla="val 8696"/>
            </a:avLst>
          </a:prstGeom>
          <a:solidFill>
            <a:srgbClr val="FFF4DE"/>
          </a:solidFill>
          <a:ln w="12700">
            <a:solidFill>
              <a:srgbClr val="FFF4DE"/>
            </a:solidFill>
            <a:prstDash val="solid"/>
          </a:ln>
        </p:spPr>
        <p:txBody>
          <a:bodyPr/>
          <a:lstStyle/>
          <a:p>
            <a:endParaRPr lang="es-CO"/>
          </a:p>
        </p:txBody>
      </p:sp>
      <p:sp>
        <p:nvSpPr>
          <p:cNvPr id="21" name="Text 19"/>
          <p:cNvSpPr/>
          <p:nvPr/>
        </p:nvSpPr>
        <p:spPr>
          <a:xfrm>
            <a:off x="859536" y="5394960"/>
            <a:ext cx="10469880" cy="841248"/>
          </a:xfrm>
          <a:prstGeom prst="rect">
            <a:avLst/>
          </a:prstGeom>
          <a:noFill/>
          <a:ln/>
        </p:spPr>
        <p:txBody>
          <a:bodyPr wrap="square" lIns="0" tIns="0" rIns="0" bIns="0" rtlCol="0" anchor="ctr"/>
          <a:lstStyle/>
          <a:p>
            <a:pPr marL="0" indent="0">
              <a:lnSpc>
                <a:spcPts val="1700"/>
              </a:lnSpc>
              <a:buNone/>
            </a:pPr>
            <a:r>
              <a:rPr lang="en-US" sz="1400" b="1" dirty="0">
                <a:solidFill>
                  <a:srgbClr val="B07800"/>
                </a:solidFill>
                <a:latin typeface="Calibri" pitchFamily="34" charset="0"/>
                <a:ea typeface="Calibri" pitchFamily="34" charset="-122"/>
                <a:cs typeface="Calibri" pitchFamily="34" charset="-120"/>
              </a:rPr>
              <a:t>El paréntesis de más no cuesta nada.  </a:t>
            </a:r>
            <a:r>
              <a:rPr lang="en-US" sz="1300" dirty="0">
                <a:solidFill>
                  <a:srgbClr val="1A1A2E"/>
                </a:solidFill>
                <a:latin typeface="Calibri" pitchFamily="34" charset="0"/>
                <a:ea typeface="Calibri" pitchFamily="34" charset="-122"/>
                <a:cs typeface="Calibri" pitchFamily="34" charset="-120"/>
              </a:rPr>
              <a:t>Si tienes que pensar dos veces en qué orden se resuelve tu expresión, escríbelo. El programa corre igual de rápido y el que lee tu código no tiene que adivinar.</a:t>
            </a:r>
            <a:endParaRPr lang="en-US" sz="1400" dirty="0"/>
          </a:p>
        </p:txBody>
      </p:sp>
      <p:sp>
        <p:nvSpPr>
          <p:cNvPr id="22" name="Text 20"/>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11</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ACTIVIDAD 2 · EN PAREJAS</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Evalúa paso a paso</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Una operación por renglón, como en el ejemplo del tablero. Sin computador hasta el final.</a:t>
            </a:r>
            <a:endParaRPr lang="en-US" sz="1400" dirty="0"/>
          </a:p>
        </p:txBody>
      </p:sp>
      <p:sp>
        <p:nvSpPr>
          <p:cNvPr id="5" name="Shape 3"/>
          <p:cNvSpPr/>
          <p:nvPr/>
        </p:nvSpPr>
        <p:spPr>
          <a:xfrm>
            <a:off x="548640" y="2103120"/>
            <a:ext cx="5532120" cy="621792"/>
          </a:xfrm>
          <a:prstGeom prst="roundRect">
            <a:avLst>
              <a:gd name="adj" fmla="val 11765"/>
            </a:avLst>
          </a:prstGeom>
          <a:solidFill>
            <a:srgbClr val="F4F7FB"/>
          </a:solidFill>
          <a:ln w="12700">
            <a:solidFill>
              <a:srgbClr val="F4F7FB"/>
            </a:solidFill>
            <a:prstDash val="solid"/>
          </a:ln>
        </p:spPr>
        <p:txBody>
          <a:bodyPr/>
          <a:lstStyle/>
          <a:p>
            <a:endParaRPr lang="es-CO"/>
          </a:p>
        </p:txBody>
      </p:sp>
      <p:sp>
        <p:nvSpPr>
          <p:cNvPr id="6" name="Text 4"/>
          <p:cNvSpPr/>
          <p:nvPr/>
        </p:nvSpPr>
        <p:spPr>
          <a:xfrm>
            <a:off x="804672" y="2103120"/>
            <a:ext cx="365760" cy="621792"/>
          </a:xfrm>
          <a:prstGeom prst="rect">
            <a:avLst/>
          </a:prstGeom>
          <a:noFill/>
          <a:ln/>
        </p:spPr>
        <p:txBody>
          <a:bodyPr wrap="square" lIns="0" tIns="0" rIns="0" bIns="0" rtlCol="0" anchor="ctr"/>
          <a:lstStyle/>
          <a:p>
            <a:pPr marL="0" indent="0">
              <a:buNone/>
            </a:pPr>
            <a:r>
              <a:rPr lang="en-US" sz="1350" b="1" dirty="0">
                <a:solidFill>
                  <a:srgbClr val="1C7293"/>
                </a:solidFill>
                <a:latin typeface="Calibri" pitchFamily="34" charset="0"/>
                <a:ea typeface="Calibri" pitchFamily="34" charset="-122"/>
                <a:cs typeface="Calibri" pitchFamily="34" charset="-120"/>
              </a:rPr>
              <a:t>a)</a:t>
            </a:r>
            <a:endParaRPr lang="en-US" sz="1350" dirty="0"/>
          </a:p>
        </p:txBody>
      </p:sp>
      <p:sp>
        <p:nvSpPr>
          <p:cNvPr id="7" name="Text 5"/>
          <p:cNvSpPr/>
          <p:nvPr/>
        </p:nvSpPr>
        <p:spPr>
          <a:xfrm>
            <a:off x="1243584" y="2103120"/>
            <a:ext cx="4663440" cy="621792"/>
          </a:xfrm>
          <a:prstGeom prst="rect">
            <a:avLst/>
          </a:prstGeom>
          <a:noFill/>
          <a:ln/>
        </p:spPr>
        <p:txBody>
          <a:bodyPr wrap="square" lIns="0" tIns="0" rIns="0" bIns="0" rtlCol="0" anchor="ctr"/>
          <a:lstStyle/>
          <a:p>
            <a:pPr marL="0" indent="0">
              <a:buNone/>
            </a:pPr>
            <a:r>
              <a:rPr lang="en-US" sz="1400" b="1" dirty="0">
                <a:solidFill>
                  <a:srgbClr val="13294B"/>
                </a:solidFill>
                <a:latin typeface="Courier New" pitchFamily="34" charset="0"/>
                <a:ea typeface="Courier New" pitchFamily="34" charset="-122"/>
                <a:cs typeface="Courier New" pitchFamily="34" charset="-120"/>
              </a:rPr>
              <a:t>15 + 4 * 2 - 6 / 3</a:t>
            </a:r>
            <a:endParaRPr lang="en-US" sz="1400" dirty="0"/>
          </a:p>
        </p:txBody>
      </p:sp>
      <p:sp>
        <p:nvSpPr>
          <p:cNvPr id="8" name="Shape 6"/>
          <p:cNvSpPr/>
          <p:nvPr/>
        </p:nvSpPr>
        <p:spPr>
          <a:xfrm>
            <a:off x="548640" y="2798064"/>
            <a:ext cx="5532120" cy="621792"/>
          </a:xfrm>
          <a:prstGeom prst="roundRect">
            <a:avLst>
              <a:gd name="adj" fmla="val 11765"/>
            </a:avLst>
          </a:prstGeom>
          <a:solidFill>
            <a:srgbClr val="E8EEF4"/>
          </a:solidFill>
          <a:ln w="12700">
            <a:solidFill>
              <a:srgbClr val="E8EEF4"/>
            </a:solidFill>
            <a:prstDash val="solid"/>
          </a:ln>
        </p:spPr>
        <p:txBody>
          <a:bodyPr/>
          <a:lstStyle/>
          <a:p>
            <a:endParaRPr lang="es-CO"/>
          </a:p>
        </p:txBody>
      </p:sp>
      <p:sp>
        <p:nvSpPr>
          <p:cNvPr id="9" name="Text 7"/>
          <p:cNvSpPr/>
          <p:nvPr/>
        </p:nvSpPr>
        <p:spPr>
          <a:xfrm>
            <a:off x="804672" y="2798064"/>
            <a:ext cx="365760" cy="621792"/>
          </a:xfrm>
          <a:prstGeom prst="rect">
            <a:avLst/>
          </a:prstGeom>
          <a:noFill/>
          <a:ln/>
        </p:spPr>
        <p:txBody>
          <a:bodyPr wrap="square" lIns="0" tIns="0" rIns="0" bIns="0" rtlCol="0" anchor="ctr"/>
          <a:lstStyle/>
          <a:p>
            <a:pPr marL="0" indent="0">
              <a:buNone/>
            </a:pPr>
            <a:r>
              <a:rPr lang="en-US" sz="1350" b="1" dirty="0">
                <a:solidFill>
                  <a:srgbClr val="1C7293"/>
                </a:solidFill>
                <a:latin typeface="Calibri" pitchFamily="34" charset="0"/>
                <a:ea typeface="Calibri" pitchFamily="34" charset="-122"/>
                <a:cs typeface="Calibri" pitchFamily="34" charset="-120"/>
              </a:rPr>
              <a:t>b)</a:t>
            </a:r>
            <a:endParaRPr lang="en-US" sz="1350" dirty="0"/>
          </a:p>
        </p:txBody>
      </p:sp>
      <p:sp>
        <p:nvSpPr>
          <p:cNvPr id="10" name="Text 8"/>
          <p:cNvSpPr/>
          <p:nvPr/>
        </p:nvSpPr>
        <p:spPr>
          <a:xfrm>
            <a:off x="1243584" y="2798064"/>
            <a:ext cx="4663440" cy="621792"/>
          </a:xfrm>
          <a:prstGeom prst="rect">
            <a:avLst/>
          </a:prstGeom>
          <a:noFill/>
          <a:ln/>
        </p:spPr>
        <p:txBody>
          <a:bodyPr wrap="square" lIns="0" tIns="0" rIns="0" bIns="0" rtlCol="0" anchor="ctr"/>
          <a:lstStyle/>
          <a:p>
            <a:pPr marL="0" indent="0">
              <a:buNone/>
            </a:pPr>
            <a:r>
              <a:rPr lang="en-US" sz="1400" b="1" dirty="0">
                <a:solidFill>
                  <a:srgbClr val="13294B"/>
                </a:solidFill>
                <a:latin typeface="Courier New" pitchFamily="34" charset="0"/>
                <a:ea typeface="Courier New" pitchFamily="34" charset="-122"/>
                <a:cs typeface="Courier New" pitchFamily="34" charset="-120"/>
              </a:rPr>
              <a:t>(15 + 4) * 2 - 6 / 3</a:t>
            </a:r>
            <a:endParaRPr lang="en-US" sz="1400" dirty="0"/>
          </a:p>
        </p:txBody>
      </p:sp>
      <p:sp>
        <p:nvSpPr>
          <p:cNvPr id="11" name="Shape 9"/>
          <p:cNvSpPr/>
          <p:nvPr/>
        </p:nvSpPr>
        <p:spPr>
          <a:xfrm>
            <a:off x="548640" y="3493008"/>
            <a:ext cx="5532120" cy="621792"/>
          </a:xfrm>
          <a:prstGeom prst="roundRect">
            <a:avLst>
              <a:gd name="adj" fmla="val 11765"/>
            </a:avLst>
          </a:prstGeom>
          <a:solidFill>
            <a:srgbClr val="F4F7FB"/>
          </a:solidFill>
          <a:ln w="12700">
            <a:solidFill>
              <a:srgbClr val="F4F7FB"/>
            </a:solidFill>
            <a:prstDash val="solid"/>
          </a:ln>
        </p:spPr>
        <p:txBody>
          <a:bodyPr/>
          <a:lstStyle/>
          <a:p>
            <a:endParaRPr lang="es-CO"/>
          </a:p>
        </p:txBody>
      </p:sp>
      <p:sp>
        <p:nvSpPr>
          <p:cNvPr id="12" name="Text 10"/>
          <p:cNvSpPr/>
          <p:nvPr/>
        </p:nvSpPr>
        <p:spPr>
          <a:xfrm>
            <a:off x="804672" y="3493008"/>
            <a:ext cx="365760" cy="621792"/>
          </a:xfrm>
          <a:prstGeom prst="rect">
            <a:avLst/>
          </a:prstGeom>
          <a:noFill/>
          <a:ln/>
        </p:spPr>
        <p:txBody>
          <a:bodyPr wrap="square" lIns="0" tIns="0" rIns="0" bIns="0" rtlCol="0" anchor="ctr"/>
          <a:lstStyle/>
          <a:p>
            <a:pPr marL="0" indent="0">
              <a:buNone/>
            </a:pPr>
            <a:r>
              <a:rPr lang="en-US" sz="1350" b="1" dirty="0">
                <a:solidFill>
                  <a:srgbClr val="1C7293"/>
                </a:solidFill>
                <a:latin typeface="Calibri" pitchFamily="34" charset="0"/>
                <a:ea typeface="Calibri" pitchFamily="34" charset="-122"/>
                <a:cs typeface="Calibri" pitchFamily="34" charset="-120"/>
              </a:rPr>
              <a:t>c)</a:t>
            </a:r>
            <a:endParaRPr lang="en-US" sz="1350" dirty="0"/>
          </a:p>
        </p:txBody>
      </p:sp>
      <p:sp>
        <p:nvSpPr>
          <p:cNvPr id="13" name="Text 11"/>
          <p:cNvSpPr/>
          <p:nvPr/>
        </p:nvSpPr>
        <p:spPr>
          <a:xfrm>
            <a:off x="1243584" y="3493008"/>
            <a:ext cx="4663440" cy="621792"/>
          </a:xfrm>
          <a:prstGeom prst="rect">
            <a:avLst/>
          </a:prstGeom>
          <a:noFill/>
          <a:ln/>
        </p:spPr>
        <p:txBody>
          <a:bodyPr wrap="square" lIns="0" tIns="0" rIns="0" bIns="0" rtlCol="0" anchor="ctr"/>
          <a:lstStyle/>
          <a:p>
            <a:pPr marL="0" indent="0">
              <a:buNone/>
            </a:pPr>
            <a:r>
              <a:rPr lang="en-US" sz="1400" b="1" dirty="0">
                <a:solidFill>
                  <a:srgbClr val="13294B"/>
                </a:solidFill>
                <a:latin typeface="Courier New" pitchFamily="34" charset="0"/>
                <a:ea typeface="Courier New" pitchFamily="34" charset="-122"/>
                <a:cs typeface="Courier New" pitchFamily="34" charset="-120"/>
              </a:rPr>
              <a:t>100 % 7 + 100 / 7</a:t>
            </a:r>
            <a:endParaRPr lang="en-US" sz="1400" dirty="0"/>
          </a:p>
        </p:txBody>
      </p:sp>
      <p:sp>
        <p:nvSpPr>
          <p:cNvPr id="14" name="Shape 12"/>
          <p:cNvSpPr/>
          <p:nvPr/>
        </p:nvSpPr>
        <p:spPr>
          <a:xfrm>
            <a:off x="548640" y="4187952"/>
            <a:ext cx="5532120" cy="621792"/>
          </a:xfrm>
          <a:prstGeom prst="roundRect">
            <a:avLst>
              <a:gd name="adj" fmla="val 11765"/>
            </a:avLst>
          </a:prstGeom>
          <a:solidFill>
            <a:srgbClr val="E8EEF4"/>
          </a:solidFill>
          <a:ln w="12700">
            <a:solidFill>
              <a:srgbClr val="E8EEF4"/>
            </a:solidFill>
            <a:prstDash val="solid"/>
          </a:ln>
        </p:spPr>
        <p:txBody>
          <a:bodyPr/>
          <a:lstStyle/>
          <a:p>
            <a:endParaRPr lang="es-CO"/>
          </a:p>
        </p:txBody>
      </p:sp>
      <p:sp>
        <p:nvSpPr>
          <p:cNvPr id="15" name="Text 13"/>
          <p:cNvSpPr/>
          <p:nvPr/>
        </p:nvSpPr>
        <p:spPr>
          <a:xfrm>
            <a:off x="804672" y="4187952"/>
            <a:ext cx="365760" cy="621792"/>
          </a:xfrm>
          <a:prstGeom prst="rect">
            <a:avLst/>
          </a:prstGeom>
          <a:noFill/>
          <a:ln/>
        </p:spPr>
        <p:txBody>
          <a:bodyPr wrap="square" lIns="0" tIns="0" rIns="0" bIns="0" rtlCol="0" anchor="ctr"/>
          <a:lstStyle/>
          <a:p>
            <a:pPr marL="0" indent="0">
              <a:buNone/>
            </a:pPr>
            <a:r>
              <a:rPr lang="en-US" sz="1350" b="1" dirty="0">
                <a:solidFill>
                  <a:srgbClr val="1C7293"/>
                </a:solidFill>
                <a:latin typeface="Calibri" pitchFamily="34" charset="0"/>
                <a:ea typeface="Calibri" pitchFamily="34" charset="-122"/>
                <a:cs typeface="Calibri" pitchFamily="34" charset="-120"/>
              </a:rPr>
              <a:t>d)</a:t>
            </a:r>
            <a:endParaRPr lang="en-US" sz="1350" dirty="0"/>
          </a:p>
        </p:txBody>
      </p:sp>
      <p:sp>
        <p:nvSpPr>
          <p:cNvPr id="16" name="Text 14"/>
          <p:cNvSpPr/>
          <p:nvPr/>
        </p:nvSpPr>
        <p:spPr>
          <a:xfrm>
            <a:off x="1243584" y="4187952"/>
            <a:ext cx="4663440" cy="621792"/>
          </a:xfrm>
          <a:prstGeom prst="rect">
            <a:avLst/>
          </a:prstGeom>
          <a:noFill/>
          <a:ln/>
        </p:spPr>
        <p:txBody>
          <a:bodyPr wrap="square" lIns="0" tIns="0" rIns="0" bIns="0" rtlCol="0" anchor="ctr"/>
          <a:lstStyle/>
          <a:p>
            <a:pPr marL="0" indent="0">
              <a:buNone/>
            </a:pPr>
            <a:r>
              <a:rPr lang="en-US" sz="1400" b="1" dirty="0">
                <a:solidFill>
                  <a:srgbClr val="13294B"/>
                </a:solidFill>
                <a:latin typeface="Courier New" pitchFamily="34" charset="0"/>
                <a:ea typeface="Courier New" pitchFamily="34" charset="-122"/>
                <a:cs typeface="Courier New" pitchFamily="34" charset="-120"/>
              </a:rPr>
              <a:t>8 + 12 / 4 % 3</a:t>
            </a:r>
            <a:endParaRPr lang="en-US" sz="1400" dirty="0"/>
          </a:p>
        </p:txBody>
      </p:sp>
      <p:sp>
        <p:nvSpPr>
          <p:cNvPr id="17" name="Shape 15"/>
          <p:cNvSpPr/>
          <p:nvPr/>
        </p:nvSpPr>
        <p:spPr>
          <a:xfrm>
            <a:off x="548640" y="4882896"/>
            <a:ext cx="5532120" cy="621792"/>
          </a:xfrm>
          <a:prstGeom prst="roundRect">
            <a:avLst>
              <a:gd name="adj" fmla="val 11765"/>
            </a:avLst>
          </a:prstGeom>
          <a:solidFill>
            <a:srgbClr val="F4F7FB"/>
          </a:solidFill>
          <a:ln w="12700">
            <a:solidFill>
              <a:srgbClr val="F4F7FB"/>
            </a:solidFill>
            <a:prstDash val="solid"/>
          </a:ln>
        </p:spPr>
        <p:txBody>
          <a:bodyPr/>
          <a:lstStyle/>
          <a:p>
            <a:endParaRPr lang="es-CO"/>
          </a:p>
        </p:txBody>
      </p:sp>
      <p:sp>
        <p:nvSpPr>
          <p:cNvPr id="18" name="Text 16"/>
          <p:cNvSpPr/>
          <p:nvPr/>
        </p:nvSpPr>
        <p:spPr>
          <a:xfrm>
            <a:off x="804672" y="4882896"/>
            <a:ext cx="365760" cy="621792"/>
          </a:xfrm>
          <a:prstGeom prst="rect">
            <a:avLst/>
          </a:prstGeom>
          <a:noFill/>
          <a:ln/>
        </p:spPr>
        <p:txBody>
          <a:bodyPr wrap="square" lIns="0" tIns="0" rIns="0" bIns="0" rtlCol="0" anchor="ctr"/>
          <a:lstStyle/>
          <a:p>
            <a:pPr marL="0" indent="0">
              <a:buNone/>
            </a:pPr>
            <a:r>
              <a:rPr lang="en-US" sz="1350" b="1" dirty="0">
                <a:solidFill>
                  <a:srgbClr val="1C7293"/>
                </a:solidFill>
                <a:latin typeface="Calibri" pitchFamily="34" charset="0"/>
                <a:ea typeface="Calibri" pitchFamily="34" charset="-122"/>
                <a:cs typeface="Calibri" pitchFamily="34" charset="-120"/>
              </a:rPr>
              <a:t>e)</a:t>
            </a:r>
            <a:endParaRPr lang="en-US" sz="1350" dirty="0"/>
          </a:p>
        </p:txBody>
      </p:sp>
      <p:sp>
        <p:nvSpPr>
          <p:cNvPr id="19" name="Text 17"/>
          <p:cNvSpPr/>
          <p:nvPr/>
        </p:nvSpPr>
        <p:spPr>
          <a:xfrm>
            <a:off x="1243584" y="4882896"/>
            <a:ext cx="4663440" cy="621792"/>
          </a:xfrm>
          <a:prstGeom prst="rect">
            <a:avLst/>
          </a:prstGeom>
          <a:noFill/>
          <a:ln/>
        </p:spPr>
        <p:txBody>
          <a:bodyPr wrap="square" lIns="0" tIns="0" rIns="0" bIns="0" rtlCol="0" anchor="ctr"/>
          <a:lstStyle/>
          <a:p>
            <a:pPr marL="0" indent="0">
              <a:buNone/>
            </a:pPr>
            <a:r>
              <a:rPr lang="en-US" sz="1400" b="1" dirty="0">
                <a:solidFill>
                  <a:srgbClr val="13294B"/>
                </a:solidFill>
                <a:latin typeface="Courier New" pitchFamily="34" charset="0"/>
                <a:ea typeface="Courier New" pitchFamily="34" charset="-122"/>
                <a:cs typeface="Courier New" pitchFamily="34" charset="-120"/>
              </a:rPr>
              <a:t>(8 + 12) / (4 % 3)</a:t>
            </a:r>
            <a:endParaRPr lang="en-US" sz="1400" dirty="0"/>
          </a:p>
        </p:txBody>
      </p:sp>
      <p:sp>
        <p:nvSpPr>
          <p:cNvPr id="20" name="Shape 18"/>
          <p:cNvSpPr/>
          <p:nvPr/>
        </p:nvSpPr>
        <p:spPr>
          <a:xfrm>
            <a:off x="6492240" y="2103120"/>
            <a:ext cx="5148072" cy="2011680"/>
          </a:xfrm>
          <a:prstGeom prst="roundRect">
            <a:avLst>
              <a:gd name="adj" fmla="val 3636"/>
            </a:avLst>
          </a:prstGeom>
          <a:solidFill>
            <a:srgbClr val="FFF4DE"/>
          </a:solidFill>
          <a:ln w="12700">
            <a:solidFill>
              <a:srgbClr val="FFF4DE"/>
            </a:solidFill>
            <a:prstDash val="solid"/>
          </a:ln>
        </p:spPr>
        <p:txBody>
          <a:bodyPr/>
          <a:lstStyle/>
          <a:p>
            <a:endParaRPr lang="es-CO"/>
          </a:p>
        </p:txBody>
      </p:sp>
      <p:sp>
        <p:nvSpPr>
          <p:cNvPr id="21" name="Text 19"/>
          <p:cNvSpPr/>
          <p:nvPr/>
        </p:nvSpPr>
        <p:spPr>
          <a:xfrm>
            <a:off x="6784848" y="2231136"/>
            <a:ext cx="4572000" cy="256032"/>
          </a:xfrm>
          <a:prstGeom prst="rect">
            <a:avLst/>
          </a:prstGeom>
          <a:noFill/>
          <a:ln/>
        </p:spPr>
        <p:txBody>
          <a:bodyPr wrap="square" lIns="0" tIns="0" rIns="0" bIns="0" rtlCol="0" anchor="ctr"/>
          <a:lstStyle/>
          <a:p>
            <a:pPr marL="0" indent="0">
              <a:buNone/>
            </a:pPr>
            <a:r>
              <a:rPr lang="en-US" sz="1050" b="1" kern="0" spc="120" dirty="0">
                <a:solidFill>
                  <a:srgbClr val="B07800"/>
                </a:solidFill>
                <a:latin typeface="Calibri" pitchFamily="34" charset="0"/>
                <a:ea typeface="Calibri" pitchFamily="34" charset="-122"/>
                <a:cs typeface="Calibri" pitchFamily="34" charset="-120"/>
              </a:rPr>
              <a:t>INSTRUCCIONES DE ENTREGA</a:t>
            </a:r>
            <a:endParaRPr lang="en-US" sz="1050" dirty="0"/>
          </a:p>
        </p:txBody>
      </p:sp>
      <p:sp>
        <p:nvSpPr>
          <p:cNvPr id="22" name="Text 20"/>
          <p:cNvSpPr/>
          <p:nvPr/>
        </p:nvSpPr>
        <p:spPr>
          <a:xfrm>
            <a:off x="6784848" y="2523744"/>
            <a:ext cx="4572000" cy="14630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A1A2E"/>
                </a:solidFill>
                <a:latin typeface="Calibri" pitchFamily="34" charset="0"/>
                <a:ea typeface="Calibri" pitchFamily="34" charset="-122"/>
                <a:cs typeface="Calibri" pitchFamily="34" charset="-120"/>
              </a:rPr>
              <a:t>Una hoja por pareja, con los dos nombres.</a:t>
            </a:r>
            <a:endParaRPr lang="en-US" sz="1250" dirty="0"/>
          </a:p>
          <a:p>
            <a:pPr marL="342900" indent="-342900">
              <a:spcAft>
                <a:spcPts val="600"/>
              </a:spcAft>
              <a:buSzPct val="100000"/>
              <a:buChar char="•"/>
            </a:pPr>
            <a:r>
              <a:rPr lang="en-US" sz="1250" dirty="0">
                <a:solidFill>
                  <a:srgbClr val="1A1A2E"/>
                </a:solidFill>
                <a:latin typeface="Calibri" pitchFamily="34" charset="0"/>
                <a:ea typeface="Calibri" pitchFamily="34" charset="-122"/>
                <a:cs typeface="Calibri" pitchFamily="34" charset="-120"/>
              </a:rPr>
              <a:t>Cada expresión con su traza completa.</a:t>
            </a:r>
            <a:endParaRPr lang="en-US" sz="1250" dirty="0"/>
          </a:p>
          <a:p>
            <a:pPr marL="342900" indent="-342900">
              <a:spcAft>
                <a:spcPts val="600"/>
              </a:spcAft>
              <a:buSzPct val="100000"/>
              <a:buChar char="•"/>
            </a:pPr>
            <a:r>
              <a:rPr lang="en-US" sz="1250" dirty="0">
                <a:solidFill>
                  <a:srgbClr val="1A1A2E"/>
                </a:solidFill>
                <a:latin typeface="Calibri" pitchFamily="34" charset="0"/>
                <a:ea typeface="Calibri" pitchFamily="34" charset="-122"/>
                <a:cs typeface="Calibri" pitchFamily="34" charset="-120"/>
              </a:rPr>
              <a:t>Un renglón por operación resuelta.</a:t>
            </a:r>
            <a:endParaRPr lang="en-US" sz="1250" dirty="0"/>
          </a:p>
          <a:p>
            <a:pPr marL="342900" indent="-342900">
              <a:spcAft>
                <a:spcPts val="600"/>
              </a:spcAft>
              <a:buSzPct val="100000"/>
              <a:buChar char="•"/>
            </a:pPr>
            <a:r>
              <a:rPr lang="en-US" sz="1250" dirty="0">
                <a:solidFill>
                  <a:srgbClr val="1A1A2E"/>
                </a:solidFill>
                <a:latin typeface="Calibri" pitchFamily="34" charset="0"/>
                <a:ea typeface="Calibri" pitchFamily="34" charset="-122"/>
                <a:cs typeface="Calibri" pitchFamily="34" charset="-120"/>
              </a:rPr>
              <a:t>Encierra el resultado final en un recuadro.</a:t>
            </a:r>
            <a:endParaRPr lang="en-US" sz="1250" dirty="0"/>
          </a:p>
        </p:txBody>
      </p:sp>
      <p:sp>
        <p:nvSpPr>
          <p:cNvPr id="23" name="Shape 21"/>
          <p:cNvSpPr/>
          <p:nvPr/>
        </p:nvSpPr>
        <p:spPr>
          <a:xfrm>
            <a:off x="6492240" y="4187952"/>
            <a:ext cx="5148072" cy="1444752"/>
          </a:xfrm>
          <a:prstGeom prst="roundRect">
            <a:avLst>
              <a:gd name="adj" fmla="val 5063"/>
            </a:avLst>
          </a:prstGeom>
          <a:solidFill>
            <a:srgbClr val="E8EEF4"/>
          </a:solidFill>
          <a:ln w="12700">
            <a:solidFill>
              <a:srgbClr val="E8EEF4"/>
            </a:solidFill>
            <a:prstDash val="solid"/>
          </a:ln>
        </p:spPr>
        <p:txBody>
          <a:bodyPr/>
          <a:lstStyle/>
          <a:p>
            <a:endParaRPr lang="es-CO"/>
          </a:p>
        </p:txBody>
      </p:sp>
      <p:sp>
        <p:nvSpPr>
          <p:cNvPr id="24" name="Text 22"/>
          <p:cNvSpPr/>
          <p:nvPr/>
        </p:nvSpPr>
        <p:spPr>
          <a:xfrm>
            <a:off x="6784848" y="4315968"/>
            <a:ext cx="4572000" cy="256032"/>
          </a:xfrm>
          <a:prstGeom prst="rect">
            <a:avLst/>
          </a:prstGeom>
          <a:noFill/>
          <a:ln/>
        </p:spPr>
        <p:txBody>
          <a:bodyPr wrap="square" lIns="0" tIns="0" rIns="0" bIns="0" rtlCol="0" anchor="ctr"/>
          <a:lstStyle/>
          <a:p>
            <a:pPr marL="0" indent="0">
              <a:buNone/>
            </a:pPr>
            <a:r>
              <a:rPr lang="en-US" sz="1050" b="1" kern="0" spc="120" dirty="0">
                <a:solidFill>
                  <a:srgbClr val="1C7293"/>
                </a:solidFill>
                <a:latin typeface="Calibri" pitchFamily="34" charset="0"/>
                <a:ea typeface="Calibri" pitchFamily="34" charset="-122"/>
                <a:cs typeface="Calibri" pitchFamily="34" charset="-120"/>
              </a:rPr>
              <a:t>AL TERMINAR</a:t>
            </a:r>
            <a:endParaRPr lang="en-US" sz="1050" dirty="0"/>
          </a:p>
        </p:txBody>
      </p:sp>
      <p:sp>
        <p:nvSpPr>
          <p:cNvPr id="25" name="Text 23"/>
          <p:cNvSpPr/>
          <p:nvPr/>
        </p:nvSpPr>
        <p:spPr>
          <a:xfrm>
            <a:off x="6784848" y="4608576"/>
            <a:ext cx="4572000" cy="914400"/>
          </a:xfrm>
          <a:prstGeom prst="rect">
            <a:avLst/>
          </a:prstGeom>
          <a:noFill/>
          <a:ln/>
        </p:spPr>
        <p:txBody>
          <a:bodyPr wrap="square" lIns="0" tIns="0" rIns="0" bIns="0" rtlCol="0" anchor="t"/>
          <a:lstStyle/>
          <a:p>
            <a:pPr marL="0" indent="0">
              <a:lnSpc>
                <a:spcPts val="1600"/>
              </a:lnSpc>
              <a:buNone/>
            </a:pPr>
            <a:r>
              <a:rPr lang="en-US" sz="1250" dirty="0">
                <a:solidFill>
                  <a:srgbClr val="1A1A2E"/>
                </a:solidFill>
                <a:latin typeface="Calibri" pitchFamily="34" charset="0"/>
                <a:ea typeface="Calibri" pitchFamily="34" charset="-122"/>
                <a:cs typeface="Calibri" pitchFamily="34" charset="-120"/>
              </a:rPr>
              <a:t>Escriban las cinco expresiones dentro de un programa y compárenlas con su hoja. Donde no coincida, revisen la traza y encuentren el renglón donde se torció.</a:t>
            </a:r>
            <a:endParaRPr lang="en-US" sz="1250" dirty="0"/>
          </a:p>
        </p:txBody>
      </p:sp>
      <p:sp>
        <p:nvSpPr>
          <p:cNvPr id="26" name="Shape 24"/>
          <p:cNvSpPr/>
          <p:nvPr/>
        </p:nvSpPr>
        <p:spPr>
          <a:xfrm>
            <a:off x="548640" y="5760720"/>
            <a:ext cx="11091672" cy="548640"/>
          </a:xfrm>
          <a:prstGeom prst="roundRect">
            <a:avLst>
              <a:gd name="adj" fmla="val 13333"/>
            </a:avLst>
          </a:prstGeom>
          <a:solidFill>
            <a:srgbClr val="13294B"/>
          </a:solidFill>
          <a:ln w="12700">
            <a:solidFill>
              <a:srgbClr val="13294B"/>
            </a:solidFill>
            <a:prstDash val="solid"/>
          </a:ln>
        </p:spPr>
        <p:txBody>
          <a:bodyPr/>
          <a:lstStyle/>
          <a:p>
            <a:endParaRPr lang="es-CO"/>
          </a:p>
        </p:txBody>
      </p:sp>
      <p:sp>
        <p:nvSpPr>
          <p:cNvPr id="27" name="Text 25"/>
          <p:cNvSpPr/>
          <p:nvPr/>
        </p:nvSpPr>
        <p:spPr>
          <a:xfrm>
            <a:off x="868680" y="5760720"/>
            <a:ext cx="10451592" cy="548640"/>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PISTA PARA LA PAREJA QUE SE ATASQUE:  </a:t>
            </a:r>
            <a:r>
              <a:rPr lang="en-US" sz="1350" dirty="0">
                <a:solidFill>
                  <a:srgbClr val="FFFFFF"/>
                </a:solidFill>
                <a:latin typeface="Calibri" pitchFamily="34" charset="0"/>
                <a:ea typeface="Calibri" pitchFamily="34" charset="-122"/>
                <a:cs typeface="Calibri" pitchFamily="34" charset="-120"/>
              </a:rPr>
              <a:t>en la d y en la e, resuelvan primero lo que está dentro del paréntesis y marquen el nivel de cada operador.</a:t>
            </a:r>
            <a:endParaRPr lang="en-US" sz="1350" dirty="0"/>
          </a:p>
        </p:txBody>
      </p:sp>
      <p:sp>
        <p:nvSpPr>
          <p:cNvPr id="28" name="Text 26"/>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12</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CAZA DE ERRORES</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Cinco descuidos que cambian el resultado</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Los dos primeros los atrapa el compilador. Los otros tres no: el programa corre y entrega un número equivocado.</a:t>
            </a:r>
            <a:endParaRPr lang="en-US" sz="1400" dirty="0"/>
          </a:p>
        </p:txBody>
      </p:sp>
      <p:sp>
        <p:nvSpPr>
          <p:cNvPr id="5" name="Shape 3"/>
          <p:cNvSpPr/>
          <p:nvPr/>
        </p:nvSpPr>
        <p:spPr>
          <a:xfrm>
            <a:off x="548640" y="1938528"/>
            <a:ext cx="11091672" cy="694944"/>
          </a:xfrm>
          <a:prstGeom prst="roundRect">
            <a:avLst>
              <a:gd name="adj" fmla="val 10526"/>
            </a:avLst>
          </a:prstGeom>
          <a:solidFill>
            <a:srgbClr val="F4F7FB"/>
          </a:solidFill>
          <a:ln w="12700">
            <a:solidFill>
              <a:srgbClr val="F4F7FB"/>
            </a:solidFill>
            <a:prstDash val="solid"/>
          </a:ln>
        </p:spPr>
        <p:txBody>
          <a:bodyPr/>
          <a:lstStyle/>
          <a:p>
            <a:endParaRPr lang="es-CO"/>
          </a:p>
        </p:txBody>
      </p:sp>
      <p:sp>
        <p:nvSpPr>
          <p:cNvPr id="6" name="Text 4"/>
          <p:cNvSpPr/>
          <p:nvPr/>
        </p:nvSpPr>
        <p:spPr>
          <a:xfrm>
            <a:off x="822960" y="1938528"/>
            <a:ext cx="3657600" cy="694944"/>
          </a:xfrm>
          <a:prstGeom prst="rect">
            <a:avLst/>
          </a:prstGeom>
          <a:noFill/>
          <a:ln/>
        </p:spPr>
        <p:txBody>
          <a:bodyPr wrap="square" lIns="0" tIns="0" rIns="0" bIns="0" rtlCol="0" anchor="ctr"/>
          <a:lstStyle/>
          <a:p>
            <a:pPr marL="0" indent="0">
              <a:buNone/>
            </a:pPr>
            <a:r>
              <a:rPr lang="en-US" sz="1150" b="1" dirty="0">
                <a:solidFill>
                  <a:srgbClr val="D64545"/>
                </a:solidFill>
                <a:latin typeface="Courier New" pitchFamily="34" charset="0"/>
                <a:ea typeface="Courier New" pitchFamily="34" charset="-122"/>
                <a:cs typeface="Courier New" pitchFamily="34" charset="-120"/>
              </a:rPr>
              <a:t>x = 2(a + b);</a:t>
            </a:r>
            <a:endParaRPr lang="en-US" sz="1150" dirty="0"/>
          </a:p>
        </p:txBody>
      </p:sp>
      <p:sp>
        <p:nvSpPr>
          <p:cNvPr id="7" name="Text 5"/>
          <p:cNvSpPr/>
          <p:nvPr/>
        </p:nvSpPr>
        <p:spPr>
          <a:xfrm>
            <a:off x="4572000" y="1938528"/>
            <a:ext cx="3657600" cy="694944"/>
          </a:xfrm>
          <a:prstGeom prst="rect">
            <a:avLst/>
          </a:prstGeom>
          <a:noFill/>
          <a:ln/>
        </p:spPr>
        <p:txBody>
          <a:bodyPr wrap="square" lIns="0" tIns="0" rIns="0" bIns="0" rtlCol="0" anchor="ctr"/>
          <a:lstStyle/>
          <a:p>
            <a:pPr marL="0" indent="0">
              <a:lnSpc>
                <a:spcPts val="1400"/>
              </a:lnSpc>
              <a:buNone/>
            </a:pPr>
            <a:r>
              <a:rPr lang="en-US" sz="1150" dirty="0">
                <a:solidFill>
                  <a:srgbClr val="5B6B7C"/>
                </a:solidFill>
                <a:latin typeface="Calibri" pitchFamily="34" charset="0"/>
                <a:ea typeface="Calibri" pitchFamily="34" charset="-122"/>
                <a:cs typeface="Calibri" pitchFamily="34" charset="-120"/>
              </a:rPr>
              <a:t>No existe la multiplicación implícita</a:t>
            </a:r>
            <a:endParaRPr lang="en-US" sz="1150" dirty="0"/>
          </a:p>
        </p:txBody>
      </p:sp>
      <p:sp>
        <p:nvSpPr>
          <p:cNvPr id="8" name="Text 6"/>
          <p:cNvSpPr/>
          <p:nvPr/>
        </p:nvSpPr>
        <p:spPr>
          <a:xfrm>
            <a:off x="8366760" y="1938528"/>
            <a:ext cx="3200400" cy="694944"/>
          </a:xfrm>
          <a:prstGeom prst="rect">
            <a:avLst/>
          </a:prstGeom>
          <a:noFill/>
          <a:ln/>
        </p:spPr>
        <p:txBody>
          <a:bodyPr wrap="square" lIns="0" tIns="0" rIns="0" bIns="0" rtlCol="0" anchor="ctr"/>
          <a:lstStyle/>
          <a:p>
            <a:pPr marL="0" indent="0">
              <a:buNone/>
            </a:pPr>
            <a:r>
              <a:rPr lang="en-US" sz="1200" b="1" dirty="0">
                <a:solidFill>
                  <a:srgbClr val="2F9E58"/>
                </a:solidFill>
                <a:latin typeface="Calibri" pitchFamily="34" charset="0"/>
                <a:ea typeface="Calibri" pitchFamily="34" charset="-122"/>
                <a:cs typeface="Calibri" pitchFamily="34" charset="-120"/>
              </a:rPr>
              <a:t>→   </a:t>
            </a:r>
            <a:r>
              <a:rPr lang="en-US" sz="1150" b="1" dirty="0">
                <a:solidFill>
                  <a:srgbClr val="2F9E58"/>
                </a:solidFill>
                <a:latin typeface="Courier New" pitchFamily="34" charset="0"/>
                <a:ea typeface="Courier New" pitchFamily="34" charset="-122"/>
                <a:cs typeface="Courier New" pitchFamily="34" charset="-120"/>
              </a:rPr>
              <a:t>x = 2 * (a + b);</a:t>
            </a:r>
            <a:endParaRPr lang="en-US" sz="1200" dirty="0"/>
          </a:p>
        </p:txBody>
      </p:sp>
      <p:sp>
        <p:nvSpPr>
          <p:cNvPr id="9" name="Shape 7"/>
          <p:cNvSpPr/>
          <p:nvPr/>
        </p:nvSpPr>
        <p:spPr>
          <a:xfrm>
            <a:off x="548640" y="2688336"/>
            <a:ext cx="11091672" cy="694944"/>
          </a:xfrm>
          <a:prstGeom prst="roundRect">
            <a:avLst>
              <a:gd name="adj" fmla="val 10526"/>
            </a:avLst>
          </a:prstGeom>
          <a:solidFill>
            <a:srgbClr val="FFFFFF"/>
          </a:solidFill>
          <a:ln w="12700">
            <a:solidFill>
              <a:srgbClr val="FFFFFF"/>
            </a:solidFill>
            <a:prstDash val="solid"/>
          </a:ln>
        </p:spPr>
        <p:txBody>
          <a:bodyPr/>
          <a:lstStyle/>
          <a:p>
            <a:endParaRPr lang="es-CO"/>
          </a:p>
        </p:txBody>
      </p:sp>
      <p:sp>
        <p:nvSpPr>
          <p:cNvPr id="10" name="Text 8"/>
          <p:cNvSpPr/>
          <p:nvPr/>
        </p:nvSpPr>
        <p:spPr>
          <a:xfrm>
            <a:off x="822960" y="2688336"/>
            <a:ext cx="3657600" cy="694944"/>
          </a:xfrm>
          <a:prstGeom prst="rect">
            <a:avLst/>
          </a:prstGeom>
          <a:noFill/>
          <a:ln/>
        </p:spPr>
        <p:txBody>
          <a:bodyPr wrap="square" lIns="0" tIns="0" rIns="0" bIns="0" rtlCol="0" anchor="ctr"/>
          <a:lstStyle/>
          <a:p>
            <a:pPr marL="0" indent="0">
              <a:buNone/>
            </a:pPr>
            <a:r>
              <a:rPr lang="en-US" sz="1150" b="1" dirty="0">
                <a:solidFill>
                  <a:srgbClr val="D64545"/>
                </a:solidFill>
                <a:latin typeface="Courier New" pitchFamily="34" charset="0"/>
                <a:ea typeface="Courier New" pitchFamily="34" charset="-122"/>
                <a:cs typeface="Courier New" pitchFamily="34" charset="-120"/>
              </a:rPr>
              <a:t>area = x^2;</a:t>
            </a:r>
            <a:endParaRPr lang="en-US" sz="1150" dirty="0"/>
          </a:p>
        </p:txBody>
      </p:sp>
      <p:sp>
        <p:nvSpPr>
          <p:cNvPr id="11" name="Text 9"/>
          <p:cNvSpPr/>
          <p:nvPr/>
        </p:nvSpPr>
        <p:spPr>
          <a:xfrm>
            <a:off x="4572000" y="2688336"/>
            <a:ext cx="3657600" cy="694944"/>
          </a:xfrm>
          <a:prstGeom prst="rect">
            <a:avLst/>
          </a:prstGeom>
          <a:noFill/>
          <a:ln/>
        </p:spPr>
        <p:txBody>
          <a:bodyPr wrap="square" lIns="0" tIns="0" rIns="0" bIns="0" rtlCol="0" anchor="ctr"/>
          <a:lstStyle/>
          <a:p>
            <a:pPr marL="0" indent="0">
              <a:lnSpc>
                <a:spcPts val="1400"/>
              </a:lnSpc>
              <a:buNone/>
            </a:pPr>
            <a:r>
              <a:rPr lang="en-US" sz="1150" dirty="0">
                <a:solidFill>
                  <a:srgbClr val="5B6B7C"/>
                </a:solidFill>
                <a:latin typeface="Calibri" pitchFamily="34" charset="0"/>
                <a:ea typeface="Calibri" pitchFamily="34" charset="-122"/>
                <a:cs typeface="Calibri" pitchFamily="34" charset="-120"/>
              </a:rPr>
              <a:t>El símbolo ^ no eleva a una potencia</a:t>
            </a:r>
            <a:endParaRPr lang="en-US" sz="1150" dirty="0"/>
          </a:p>
        </p:txBody>
      </p:sp>
      <p:sp>
        <p:nvSpPr>
          <p:cNvPr id="12" name="Text 10"/>
          <p:cNvSpPr/>
          <p:nvPr/>
        </p:nvSpPr>
        <p:spPr>
          <a:xfrm>
            <a:off x="8366760" y="2688336"/>
            <a:ext cx="3200400" cy="694944"/>
          </a:xfrm>
          <a:prstGeom prst="rect">
            <a:avLst/>
          </a:prstGeom>
          <a:noFill/>
          <a:ln/>
        </p:spPr>
        <p:txBody>
          <a:bodyPr wrap="square" lIns="0" tIns="0" rIns="0" bIns="0" rtlCol="0" anchor="ctr"/>
          <a:lstStyle/>
          <a:p>
            <a:pPr marL="0" indent="0">
              <a:buNone/>
            </a:pPr>
            <a:r>
              <a:rPr lang="en-US" sz="1200" b="1" dirty="0">
                <a:solidFill>
                  <a:srgbClr val="2F9E58"/>
                </a:solidFill>
                <a:latin typeface="Calibri" pitchFamily="34" charset="0"/>
                <a:ea typeface="Calibri" pitchFamily="34" charset="-122"/>
                <a:cs typeface="Calibri" pitchFamily="34" charset="-120"/>
              </a:rPr>
              <a:t>→   </a:t>
            </a:r>
            <a:r>
              <a:rPr lang="en-US" sz="1150" b="1" dirty="0">
                <a:solidFill>
                  <a:srgbClr val="2F9E58"/>
                </a:solidFill>
                <a:latin typeface="Courier New" pitchFamily="34" charset="0"/>
                <a:ea typeface="Courier New" pitchFamily="34" charset="-122"/>
                <a:cs typeface="Courier New" pitchFamily="34" charset="-120"/>
              </a:rPr>
              <a:t>area = Math.pow(x, 2);</a:t>
            </a:r>
            <a:endParaRPr lang="en-US" sz="1200" dirty="0"/>
          </a:p>
        </p:txBody>
      </p:sp>
      <p:sp>
        <p:nvSpPr>
          <p:cNvPr id="13" name="Shape 11"/>
          <p:cNvSpPr/>
          <p:nvPr/>
        </p:nvSpPr>
        <p:spPr>
          <a:xfrm>
            <a:off x="548640" y="3438144"/>
            <a:ext cx="11091672" cy="694944"/>
          </a:xfrm>
          <a:prstGeom prst="roundRect">
            <a:avLst>
              <a:gd name="adj" fmla="val 10526"/>
            </a:avLst>
          </a:prstGeom>
          <a:solidFill>
            <a:srgbClr val="F4F7FB"/>
          </a:solidFill>
          <a:ln w="12700">
            <a:solidFill>
              <a:srgbClr val="F4F7FB"/>
            </a:solidFill>
            <a:prstDash val="solid"/>
          </a:ln>
        </p:spPr>
        <p:txBody>
          <a:bodyPr/>
          <a:lstStyle/>
          <a:p>
            <a:endParaRPr lang="es-CO"/>
          </a:p>
        </p:txBody>
      </p:sp>
      <p:sp>
        <p:nvSpPr>
          <p:cNvPr id="14" name="Text 12"/>
          <p:cNvSpPr/>
          <p:nvPr/>
        </p:nvSpPr>
        <p:spPr>
          <a:xfrm>
            <a:off x="822960" y="3438144"/>
            <a:ext cx="3657600" cy="694944"/>
          </a:xfrm>
          <a:prstGeom prst="rect">
            <a:avLst/>
          </a:prstGeom>
          <a:noFill/>
          <a:ln/>
        </p:spPr>
        <p:txBody>
          <a:bodyPr wrap="square" lIns="0" tIns="0" rIns="0" bIns="0" rtlCol="0" anchor="ctr"/>
          <a:lstStyle/>
          <a:p>
            <a:pPr marL="0" indent="0">
              <a:buNone/>
            </a:pPr>
            <a:r>
              <a:rPr lang="en-US" sz="1150" b="1" dirty="0">
                <a:solidFill>
                  <a:srgbClr val="B07800"/>
                </a:solidFill>
                <a:latin typeface="Courier New" pitchFamily="34" charset="0"/>
                <a:ea typeface="Courier New" pitchFamily="34" charset="-122"/>
                <a:cs typeface="Courier New" pitchFamily="34" charset="-120"/>
              </a:rPr>
              <a:t>int suma; double p = suma / 3;</a:t>
            </a:r>
            <a:endParaRPr lang="en-US" sz="1150" dirty="0"/>
          </a:p>
        </p:txBody>
      </p:sp>
      <p:sp>
        <p:nvSpPr>
          <p:cNvPr id="15" name="Text 13"/>
          <p:cNvSpPr/>
          <p:nvPr/>
        </p:nvSpPr>
        <p:spPr>
          <a:xfrm>
            <a:off x="4572000" y="3438144"/>
            <a:ext cx="3657600" cy="694944"/>
          </a:xfrm>
          <a:prstGeom prst="rect">
            <a:avLst/>
          </a:prstGeom>
          <a:noFill/>
          <a:ln/>
        </p:spPr>
        <p:txBody>
          <a:bodyPr wrap="square" lIns="0" tIns="0" rIns="0" bIns="0" rtlCol="0" anchor="ctr"/>
          <a:lstStyle/>
          <a:p>
            <a:pPr marL="0" indent="0">
              <a:lnSpc>
                <a:spcPts val="1400"/>
              </a:lnSpc>
              <a:buNone/>
            </a:pPr>
            <a:r>
              <a:rPr lang="en-US" sz="1150" dirty="0">
                <a:solidFill>
                  <a:srgbClr val="5B6B7C"/>
                </a:solidFill>
                <a:latin typeface="Calibri" pitchFamily="34" charset="0"/>
                <a:ea typeface="Calibri" pitchFamily="34" charset="-122"/>
                <a:cs typeface="Calibri" pitchFamily="34" charset="-120"/>
              </a:rPr>
              <a:t>División entre enteros dentro de una variable real</a:t>
            </a:r>
            <a:endParaRPr lang="en-US" sz="1150" dirty="0"/>
          </a:p>
        </p:txBody>
      </p:sp>
      <p:sp>
        <p:nvSpPr>
          <p:cNvPr id="16" name="Text 14"/>
          <p:cNvSpPr/>
          <p:nvPr/>
        </p:nvSpPr>
        <p:spPr>
          <a:xfrm>
            <a:off x="8366760" y="3438144"/>
            <a:ext cx="3200400" cy="694944"/>
          </a:xfrm>
          <a:prstGeom prst="rect">
            <a:avLst/>
          </a:prstGeom>
          <a:noFill/>
          <a:ln/>
        </p:spPr>
        <p:txBody>
          <a:bodyPr wrap="square" lIns="0" tIns="0" rIns="0" bIns="0" rtlCol="0" anchor="ctr"/>
          <a:lstStyle/>
          <a:p>
            <a:pPr marL="0" indent="0">
              <a:buNone/>
            </a:pPr>
            <a:r>
              <a:rPr lang="en-US" sz="1200" b="1" dirty="0">
                <a:solidFill>
                  <a:srgbClr val="2F9E58"/>
                </a:solidFill>
                <a:latin typeface="Calibri" pitchFamily="34" charset="0"/>
                <a:ea typeface="Calibri" pitchFamily="34" charset="-122"/>
                <a:cs typeface="Calibri" pitchFamily="34" charset="-120"/>
              </a:rPr>
              <a:t>→   </a:t>
            </a:r>
            <a:r>
              <a:rPr lang="en-US" sz="1150" b="1" dirty="0">
                <a:solidFill>
                  <a:srgbClr val="2F9E58"/>
                </a:solidFill>
                <a:latin typeface="Courier New" pitchFamily="34" charset="0"/>
                <a:ea typeface="Courier New" pitchFamily="34" charset="-122"/>
                <a:cs typeface="Courier New" pitchFamily="34" charset="-120"/>
              </a:rPr>
              <a:t>double p = suma / 3.0;</a:t>
            </a:r>
            <a:endParaRPr lang="en-US" sz="1200" dirty="0"/>
          </a:p>
        </p:txBody>
      </p:sp>
      <p:sp>
        <p:nvSpPr>
          <p:cNvPr id="17" name="Shape 15"/>
          <p:cNvSpPr/>
          <p:nvPr/>
        </p:nvSpPr>
        <p:spPr>
          <a:xfrm>
            <a:off x="548640" y="4187952"/>
            <a:ext cx="11091672" cy="694944"/>
          </a:xfrm>
          <a:prstGeom prst="roundRect">
            <a:avLst>
              <a:gd name="adj" fmla="val 10526"/>
            </a:avLst>
          </a:prstGeom>
          <a:solidFill>
            <a:srgbClr val="FFFFFF"/>
          </a:solidFill>
          <a:ln w="12700">
            <a:solidFill>
              <a:srgbClr val="FFFFFF"/>
            </a:solidFill>
            <a:prstDash val="solid"/>
          </a:ln>
        </p:spPr>
        <p:txBody>
          <a:bodyPr/>
          <a:lstStyle/>
          <a:p>
            <a:endParaRPr lang="es-CO"/>
          </a:p>
        </p:txBody>
      </p:sp>
      <p:sp>
        <p:nvSpPr>
          <p:cNvPr id="18" name="Text 16"/>
          <p:cNvSpPr/>
          <p:nvPr/>
        </p:nvSpPr>
        <p:spPr>
          <a:xfrm>
            <a:off x="822960" y="4187952"/>
            <a:ext cx="3657600" cy="694944"/>
          </a:xfrm>
          <a:prstGeom prst="rect">
            <a:avLst/>
          </a:prstGeom>
          <a:noFill/>
          <a:ln/>
        </p:spPr>
        <p:txBody>
          <a:bodyPr wrap="square" lIns="0" tIns="0" rIns="0" bIns="0" rtlCol="0" anchor="ctr"/>
          <a:lstStyle/>
          <a:p>
            <a:pPr marL="0" indent="0">
              <a:buNone/>
            </a:pPr>
            <a:r>
              <a:rPr lang="en-US" sz="1150" b="1" dirty="0">
                <a:solidFill>
                  <a:srgbClr val="B07800"/>
                </a:solidFill>
                <a:latin typeface="Courier New" pitchFamily="34" charset="0"/>
                <a:ea typeface="Courier New" pitchFamily="34" charset="-122"/>
                <a:cs typeface="Courier New" pitchFamily="34" charset="-120"/>
              </a:rPr>
              <a:t>prom = a + b + c / 3;</a:t>
            </a:r>
            <a:endParaRPr lang="en-US" sz="1150" dirty="0"/>
          </a:p>
        </p:txBody>
      </p:sp>
      <p:sp>
        <p:nvSpPr>
          <p:cNvPr id="19" name="Text 17"/>
          <p:cNvSpPr/>
          <p:nvPr/>
        </p:nvSpPr>
        <p:spPr>
          <a:xfrm>
            <a:off x="4572000" y="4187952"/>
            <a:ext cx="3657600" cy="694944"/>
          </a:xfrm>
          <a:prstGeom prst="rect">
            <a:avLst/>
          </a:prstGeom>
          <a:noFill/>
          <a:ln/>
        </p:spPr>
        <p:txBody>
          <a:bodyPr wrap="square" lIns="0" tIns="0" rIns="0" bIns="0" rtlCol="0" anchor="ctr"/>
          <a:lstStyle/>
          <a:p>
            <a:pPr marL="0" indent="0">
              <a:lnSpc>
                <a:spcPts val="1400"/>
              </a:lnSpc>
              <a:buNone/>
            </a:pPr>
            <a:r>
              <a:rPr lang="en-US" sz="1150" dirty="0">
                <a:solidFill>
                  <a:srgbClr val="5B6B7C"/>
                </a:solidFill>
                <a:latin typeface="Calibri" pitchFamily="34" charset="0"/>
                <a:ea typeface="Calibri" pitchFamily="34" charset="-122"/>
                <a:cs typeface="Calibri" pitchFamily="34" charset="-120"/>
              </a:rPr>
              <a:t>Falta el paréntesis del numerador</a:t>
            </a:r>
            <a:endParaRPr lang="en-US" sz="1150" dirty="0"/>
          </a:p>
        </p:txBody>
      </p:sp>
      <p:sp>
        <p:nvSpPr>
          <p:cNvPr id="20" name="Text 18"/>
          <p:cNvSpPr/>
          <p:nvPr/>
        </p:nvSpPr>
        <p:spPr>
          <a:xfrm>
            <a:off x="8366760" y="4187952"/>
            <a:ext cx="3200400" cy="694944"/>
          </a:xfrm>
          <a:prstGeom prst="rect">
            <a:avLst/>
          </a:prstGeom>
          <a:noFill/>
          <a:ln/>
        </p:spPr>
        <p:txBody>
          <a:bodyPr wrap="square" lIns="0" tIns="0" rIns="0" bIns="0" rtlCol="0" anchor="ctr"/>
          <a:lstStyle/>
          <a:p>
            <a:pPr marL="0" indent="0">
              <a:buNone/>
            </a:pPr>
            <a:r>
              <a:rPr lang="en-US" sz="1200" b="1" dirty="0">
                <a:solidFill>
                  <a:srgbClr val="2F9E58"/>
                </a:solidFill>
                <a:latin typeface="Calibri" pitchFamily="34" charset="0"/>
                <a:ea typeface="Calibri" pitchFamily="34" charset="-122"/>
                <a:cs typeface="Calibri" pitchFamily="34" charset="-120"/>
              </a:rPr>
              <a:t>→   </a:t>
            </a:r>
            <a:r>
              <a:rPr lang="en-US" sz="1150" b="1" dirty="0">
                <a:solidFill>
                  <a:srgbClr val="2F9E58"/>
                </a:solidFill>
                <a:latin typeface="Courier New" pitchFamily="34" charset="0"/>
                <a:ea typeface="Courier New" pitchFamily="34" charset="-122"/>
                <a:cs typeface="Courier New" pitchFamily="34" charset="-120"/>
              </a:rPr>
              <a:t>prom = (a + b + c) / 3;</a:t>
            </a:r>
            <a:endParaRPr lang="en-US" sz="1200" dirty="0"/>
          </a:p>
        </p:txBody>
      </p:sp>
      <p:sp>
        <p:nvSpPr>
          <p:cNvPr id="21" name="Shape 19"/>
          <p:cNvSpPr/>
          <p:nvPr/>
        </p:nvSpPr>
        <p:spPr>
          <a:xfrm>
            <a:off x="548640" y="4937760"/>
            <a:ext cx="11091672" cy="694944"/>
          </a:xfrm>
          <a:prstGeom prst="roundRect">
            <a:avLst>
              <a:gd name="adj" fmla="val 10526"/>
            </a:avLst>
          </a:prstGeom>
          <a:solidFill>
            <a:srgbClr val="F4F7FB"/>
          </a:solidFill>
          <a:ln w="12700">
            <a:solidFill>
              <a:srgbClr val="F4F7FB"/>
            </a:solidFill>
            <a:prstDash val="solid"/>
          </a:ln>
        </p:spPr>
        <p:txBody>
          <a:bodyPr/>
          <a:lstStyle/>
          <a:p>
            <a:endParaRPr lang="es-CO"/>
          </a:p>
        </p:txBody>
      </p:sp>
      <p:sp>
        <p:nvSpPr>
          <p:cNvPr id="22" name="Text 20"/>
          <p:cNvSpPr/>
          <p:nvPr/>
        </p:nvSpPr>
        <p:spPr>
          <a:xfrm>
            <a:off x="822960" y="4937760"/>
            <a:ext cx="3657600" cy="694944"/>
          </a:xfrm>
          <a:prstGeom prst="rect">
            <a:avLst/>
          </a:prstGeom>
          <a:noFill/>
          <a:ln/>
        </p:spPr>
        <p:txBody>
          <a:bodyPr wrap="square" lIns="0" tIns="0" rIns="0" bIns="0" rtlCol="0" anchor="ctr"/>
          <a:lstStyle/>
          <a:p>
            <a:pPr marL="0" indent="0">
              <a:buNone/>
            </a:pPr>
            <a:r>
              <a:rPr lang="en-US" sz="1150" b="1" dirty="0">
                <a:solidFill>
                  <a:srgbClr val="B07800"/>
                </a:solidFill>
                <a:latin typeface="Courier New" pitchFamily="34" charset="0"/>
                <a:ea typeface="Courier New" pitchFamily="34" charset="-122"/>
                <a:cs typeface="Courier New" pitchFamily="34" charset="-120"/>
              </a:rPr>
              <a:t>t = d / v * 60;</a:t>
            </a:r>
            <a:endParaRPr lang="en-US" sz="1150" dirty="0"/>
          </a:p>
        </p:txBody>
      </p:sp>
      <p:sp>
        <p:nvSpPr>
          <p:cNvPr id="23" name="Text 21"/>
          <p:cNvSpPr/>
          <p:nvPr/>
        </p:nvSpPr>
        <p:spPr>
          <a:xfrm>
            <a:off x="4572000" y="4937760"/>
            <a:ext cx="3657600" cy="694944"/>
          </a:xfrm>
          <a:prstGeom prst="rect">
            <a:avLst/>
          </a:prstGeom>
          <a:noFill/>
          <a:ln/>
        </p:spPr>
        <p:txBody>
          <a:bodyPr wrap="square" lIns="0" tIns="0" rIns="0" bIns="0" rtlCol="0" anchor="ctr"/>
          <a:lstStyle/>
          <a:p>
            <a:pPr marL="0" indent="0">
              <a:lnSpc>
                <a:spcPts val="1400"/>
              </a:lnSpc>
              <a:buNone/>
            </a:pPr>
            <a:r>
              <a:rPr lang="en-US" sz="1150" dirty="0">
                <a:solidFill>
                  <a:srgbClr val="5B6B7C"/>
                </a:solidFill>
                <a:latin typeface="Calibri" pitchFamily="34" charset="0"/>
                <a:ea typeface="Calibri" pitchFamily="34" charset="-122"/>
                <a:cs typeface="Calibri" pitchFamily="34" charset="-120"/>
              </a:rPr>
              <a:t>El 60 multiplica cuando debía dividir dentro</a:t>
            </a:r>
            <a:endParaRPr lang="en-US" sz="1150" dirty="0"/>
          </a:p>
        </p:txBody>
      </p:sp>
      <p:sp>
        <p:nvSpPr>
          <p:cNvPr id="24" name="Text 22"/>
          <p:cNvSpPr/>
          <p:nvPr/>
        </p:nvSpPr>
        <p:spPr>
          <a:xfrm>
            <a:off x="8366760" y="4937760"/>
            <a:ext cx="3200400" cy="694944"/>
          </a:xfrm>
          <a:prstGeom prst="rect">
            <a:avLst/>
          </a:prstGeom>
          <a:noFill/>
          <a:ln/>
        </p:spPr>
        <p:txBody>
          <a:bodyPr wrap="square" lIns="0" tIns="0" rIns="0" bIns="0" rtlCol="0" anchor="ctr"/>
          <a:lstStyle/>
          <a:p>
            <a:pPr marL="0" indent="0">
              <a:buNone/>
            </a:pPr>
            <a:r>
              <a:rPr lang="en-US" sz="1200" b="1" dirty="0">
                <a:solidFill>
                  <a:srgbClr val="2F9E58"/>
                </a:solidFill>
                <a:latin typeface="Calibri" pitchFamily="34" charset="0"/>
                <a:ea typeface="Calibri" pitchFamily="34" charset="-122"/>
                <a:cs typeface="Calibri" pitchFamily="34" charset="-120"/>
              </a:rPr>
              <a:t>→   </a:t>
            </a:r>
            <a:r>
              <a:rPr lang="en-US" sz="1150" b="1" dirty="0">
                <a:solidFill>
                  <a:srgbClr val="2F9E58"/>
                </a:solidFill>
                <a:latin typeface="Courier New" pitchFamily="34" charset="0"/>
                <a:ea typeface="Courier New" pitchFamily="34" charset="-122"/>
                <a:cs typeface="Courier New" pitchFamily="34" charset="-120"/>
              </a:rPr>
              <a:t>t = d / (v * 60);</a:t>
            </a:r>
            <a:endParaRPr lang="en-US" sz="1200" dirty="0"/>
          </a:p>
        </p:txBody>
      </p:sp>
      <p:sp>
        <p:nvSpPr>
          <p:cNvPr id="25" name="Shape 23"/>
          <p:cNvSpPr/>
          <p:nvPr/>
        </p:nvSpPr>
        <p:spPr>
          <a:xfrm>
            <a:off x="548640" y="5705856"/>
            <a:ext cx="11091672" cy="585216"/>
          </a:xfrm>
          <a:prstGeom prst="roundRect">
            <a:avLst>
              <a:gd name="adj" fmla="val 12500"/>
            </a:avLst>
          </a:prstGeom>
          <a:solidFill>
            <a:srgbClr val="FFF4DE"/>
          </a:solidFill>
          <a:ln w="12700">
            <a:solidFill>
              <a:srgbClr val="FFF4DE"/>
            </a:solidFill>
            <a:prstDash val="solid"/>
          </a:ln>
        </p:spPr>
        <p:txBody>
          <a:bodyPr/>
          <a:lstStyle/>
          <a:p>
            <a:endParaRPr lang="es-CO"/>
          </a:p>
        </p:txBody>
      </p:sp>
      <p:sp>
        <p:nvSpPr>
          <p:cNvPr id="26" name="Text 24"/>
          <p:cNvSpPr/>
          <p:nvPr/>
        </p:nvSpPr>
        <p:spPr>
          <a:xfrm>
            <a:off x="859536" y="5705856"/>
            <a:ext cx="10469880" cy="585216"/>
          </a:xfrm>
          <a:prstGeom prst="rect">
            <a:avLst/>
          </a:prstGeom>
          <a:noFill/>
          <a:ln/>
        </p:spPr>
        <p:txBody>
          <a:bodyPr wrap="square" lIns="0" tIns="0" rIns="0" bIns="0" rtlCol="0" anchor="ctr"/>
          <a:lstStyle/>
          <a:p>
            <a:pPr marL="0" indent="0">
              <a:lnSpc>
                <a:spcPts val="1700"/>
              </a:lnSpc>
              <a:buNone/>
            </a:pPr>
            <a:r>
              <a:rPr lang="en-US" sz="1300" b="1" dirty="0">
                <a:solidFill>
                  <a:srgbClr val="B07800"/>
                </a:solidFill>
                <a:latin typeface="Calibri" pitchFamily="34" charset="0"/>
                <a:ea typeface="Calibri" pitchFamily="34" charset="-122"/>
                <a:cs typeface="Calibri" pitchFamily="34" charset="-120"/>
              </a:rPr>
              <a:t>Un programa no se da por terminado cuando compila.  </a:t>
            </a:r>
            <a:r>
              <a:rPr lang="en-US" sz="1300" dirty="0">
                <a:solidFill>
                  <a:srgbClr val="1A1A2E"/>
                </a:solidFill>
                <a:latin typeface="Calibri" pitchFamily="34" charset="0"/>
                <a:ea typeface="Calibri" pitchFamily="34" charset="-122"/>
                <a:cs typeface="Calibri" pitchFamily="34" charset="-120"/>
              </a:rPr>
              <a:t>Se da por terminado cuando entrega el resultado correcto en un caso cuyo valor conocías de antemano.</a:t>
            </a:r>
            <a:endParaRPr lang="en-US" sz="1300" dirty="0"/>
          </a:p>
        </p:txBody>
      </p:sp>
      <p:sp>
        <p:nvSpPr>
          <p:cNvPr id="27" name="Text 25"/>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13</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DE LA FÓRMULA AL PROGRAMA</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Cinco reglas para convertir una expresión algebraica</a:t>
            </a:r>
            <a:endParaRPr lang="en-US" sz="2900" dirty="0"/>
          </a:p>
        </p:txBody>
      </p:sp>
      <p:sp>
        <p:nvSpPr>
          <p:cNvPr id="4" name="Text 2"/>
          <p:cNvSpPr/>
          <p:nvPr/>
        </p:nvSpPr>
        <p:spPr>
          <a:xfrm>
            <a:off x="587482" y="1406396"/>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En el cuaderno una fórmula ocupa dos renglones. En un programa cabe en uno solo.</a:t>
            </a:r>
            <a:endParaRPr lang="en-US" sz="1400" dirty="0"/>
          </a:p>
        </p:txBody>
      </p:sp>
      <p:sp>
        <p:nvSpPr>
          <p:cNvPr id="5" name="Shape 3"/>
          <p:cNvSpPr/>
          <p:nvPr/>
        </p:nvSpPr>
        <p:spPr>
          <a:xfrm>
            <a:off x="548640" y="1956816"/>
            <a:ext cx="11091672" cy="676656"/>
          </a:xfrm>
          <a:prstGeom prst="roundRect">
            <a:avLst>
              <a:gd name="adj" fmla="val 10811"/>
            </a:avLst>
          </a:prstGeom>
          <a:solidFill>
            <a:srgbClr val="F4F7FB"/>
          </a:solidFill>
          <a:ln w="12700">
            <a:solidFill>
              <a:srgbClr val="F4F7FB"/>
            </a:solidFill>
            <a:prstDash val="solid"/>
          </a:ln>
        </p:spPr>
        <p:txBody>
          <a:bodyPr/>
          <a:lstStyle/>
          <a:p>
            <a:endParaRPr lang="es-CO"/>
          </a:p>
        </p:txBody>
      </p:sp>
      <p:sp>
        <p:nvSpPr>
          <p:cNvPr id="6" name="Shape 4"/>
          <p:cNvSpPr/>
          <p:nvPr/>
        </p:nvSpPr>
        <p:spPr>
          <a:xfrm>
            <a:off x="786384" y="2103120"/>
            <a:ext cx="402336" cy="402336"/>
          </a:xfrm>
          <a:prstGeom prst="ellipse">
            <a:avLst/>
          </a:prstGeom>
          <a:solidFill>
            <a:srgbClr val="1C7293"/>
          </a:solidFill>
          <a:ln w="12700">
            <a:solidFill>
              <a:srgbClr val="1C7293"/>
            </a:solidFill>
            <a:prstDash val="solid"/>
          </a:ln>
        </p:spPr>
        <p:txBody>
          <a:bodyPr/>
          <a:lstStyle/>
          <a:p>
            <a:endParaRPr lang="es-CO"/>
          </a:p>
        </p:txBody>
      </p:sp>
      <p:sp>
        <p:nvSpPr>
          <p:cNvPr id="7" name="Text 5"/>
          <p:cNvSpPr/>
          <p:nvPr/>
        </p:nvSpPr>
        <p:spPr>
          <a:xfrm>
            <a:off x="786384" y="210312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371600" y="2011680"/>
            <a:ext cx="5394960" cy="29260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La barra de fracción es un paréntesis invisible</a:t>
            </a:r>
            <a:endParaRPr lang="en-US" sz="1300" dirty="0"/>
          </a:p>
        </p:txBody>
      </p:sp>
      <p:sp>
        <p:nvSpPr>
          <p:cNvPr id="9" name="Text 7"/>
          <p:cNvSpPr/>
          <p:nvPr/>
        </p:nvSpPr>
        <p:spPr>
          <a:xfrm>
            <a:off x="1371600" y="2295144"/>
            <a:ext cx="9966960" cy="292608"/>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Todo lo de arriba entre paréntesis, todo lo de abajo entre paréntesis.</a:t>
            </a:r>
            <a:endParaRPr lang="en-US" sz="1150" dirty="0"/>
          </a:p>
        </p:txBody>
      </p:sp>
      <p:sp>
        <p:nvSpPr>
          <p:cNvPr id="10" name="Shape 8"/>
          <p:cNvSpPr/>
          <p:nvPr/>
        </p:nvSpPr>
        <p:spPr>
          <a:xfrm>
            <a:off x="548640" y="2688336"/>
            <a:ext cx="11091672" cy="676656"/>
          </a:xfrm>
          <a:prstGeom prst="roundRect">
            <a:avLst>
              <a:gd name="adj" fmla="val 10811"/>
            </a:avLst>
          </a:prstGeom>
          <a:solidFill>
            <a:srgbClr val="E8EEF4"/>
          </a:solidFill>
          <a:ln w="12700">
            <a:solidFill>
              <a:srgbClr val="E8EEF4"/>
            </a:solidFill>
            <a:prstDash val="solid"/>
          </a:ln>
        </p:spPr>
        <p:txBody>
          <a:bodyPr/>
          <a:lstStyle/>
          <a:p>
            <a:endParaRPr lang="es-CO"/>
          </a:p>
        </p:txBody>
      </p:sp>
      <p:sp>
        <p:nvSpPr>
          <p:cNvPr id="11" name="Shape 9"/>
          <p:cNvSpPr/>
          <p:nvPr/>
        </p:nvSpPr>
        <p:spPr>
          <a:xfrm>
            <a:off x="786384" y="2834640"/>
            <a:ext cx="402336" cy="402336"/>
          </a:xfrm>
          <a:prstGeom prst="ellipse">
            <a:avLst/>
          </a:prstGeom>
          <a:solidFill>
            <a:srgbClr val="1C7293"/>
          </a:solidFill>
          <a:ln w="12700">
            <a:solidFill>
              <a:srgbClr val="1C7293"/>
            </a:solidFill>
            <a:prstDash val="solid"/>
          </a:ln>
        </p:spPr>
        <p:txBody>
          <a:bodyPr/>
          <a:lstStyle/>
          <a:p>
            <a:endParaRPr lang="es-CO"/>
          </a:p>
        </p:txBody>
      </p:sp>
      <p:sp>
        <p:nvSpPr>
          <p:cNvPr id="12" name="Text 10"/>
          <p:cNvSpPr/>
          <p:nvPr/>
        </p:nvSpPr>
        <p:spPr>
          <a:xfrm>
            <a:off x="786384" y="283464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371600" y="2743200"/>
            <a:ext cx="5394960" cy="29260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La multiplicación siempre se escribe</a:t>
            </a:r>
            <a:endParaRPr lang="en-US" sz="1300" dirty="0"/>
          </a:p>
        </p:txBody>
      </p:sp>
      <p:sp>
        <p:nvSpPr>
          <p:cNvPr id="14" name="Text 12"/>
          <p:cNvSpPr/>
          <p:nvPr/>
        </p:nvSpPr>
        <p:spPr>
          <a:xfrm>
            <a:off x="1371600" y="3026664"/>
            <a:ext cx="9966960" cy="292608"/>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2a se convierte en 2 * a.  (x+1)(x-1) se convierte en (x + 1) * (x - 1).</a:t>
            </a:r>
            <a:endParaRPr lang="en-US" sz="1150" dirty="0"/>
          </a:p>
        </p:txBody>
      </p:sp>
      <p:sp>
        <p:nvSpPr>
          <p:cNvPr id="15" name="Shape 13"/>
          <p:cNvSpPr/>
          <p:nvPr/>
        </p:nvSpPr>
        <p:spPr>
          <a:xfrm>
            <a:off x="548640" y="3419856"/>
            <a:ext cx="11091672" cy="676656"/>
          </a:xfrm>
          <a:prstGeom prst="roundRect">
            <a:avLst>
              <a:gd name="adj" fmla="val 10811"/>
            </a:avLst>
          </a:prstGeom>
          <a:solidFill>
            <a:srgbClr val="F4F7FB"/>
          </a:solidFill>
          <a:ln w="12700">
            <a:solidFill>
              <a:srgbClr val="F4F7FB"/>
            </a:solidFill>
            <a:prstDash val="solid"/>
          </a:ln>
        </p:spPr>
        <p:txBody>
          <a:bodyPr/>
          <a:lstStyle/>
          <a:p>
            <a:endParaRPr lang="es-CO"/>
          </a:p>
        </p:txBody>
      </p:sp>
      <p:sp>
        <p:nvSpPr>
          <p:cNvPr id="16" name="Shape 14"/>
          <p:cNvSpPr/>
          <p:nvPr/>
        </p:nvSpPr>
        <p:spPr>
          <a:xfrm>
            <a:off x="786384" y="3566160"/>
            <a:ext cx="402336" cy="402336"/>
          </a:xfrm>
          <a:prstGeom prst="ellipse">
            <a:avLst/>
          </a:prstGeom>
          <a:solidFill>
            <a:srgbClr val="1C7293"/>
          </a:solidFill>
          <a:ln w="12700">
            <a:solidFill>
              <a:srgbClr val="1C7293"/>
            </a:solidFill>
            <a:prstDash val="solid"/>
          </a:ln>
        </p:spPr>
        <p:txBody>
          <a:bodyPr/>
          <a:lstStyle/>
          <a:p>
            <a:endParaRPr lang="es-CO"/>
          </a:p>
        </p:txBody>
      </p:sp>
      <p:sp>
        <p:nvSpPr>
          <p:cNvPr id="17" name="Text 15"/>
          <p:cNvSpPr/>
          <p:nvPr/>
        </p:nvSpPr>
        <p:spPr>
          <a:xfrm>
            <a:off x="786384" y="356616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1371600" y="3474720"/>
            <a:ext cx="5394960" cy="29260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La potencia se escribe con Math.pow</a:t>
            </a:r>
            <a:endParaRPr lang="en-US" sz="1300" dirty="0"/>
          </a:p>
        </p:txBody>
      </p:sp>
      <p:sp>
        <p:nvSpPr>
          <p:cNvPr id="19" name="Text 17"/>
          <p:cNvSpPr/>
          <p:nvPr/>
        </p:nvSpPr>
        <p:spPr>
          <a:xfrm>
            <a:off x="1371600" y="3758184"/>
            <a:ext cx="9966960" cy="292608"/>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x² es Math.pow(x, 2), o bien x * x cuando el exponente es 2.</a:t>
            </a:r>
            <a:endParaRPr lang="en-US" sz="1150" dirty="0"/>
          </a:p>
        </p:txBody>
      </p:sp>
      <p:sp>
        <p:nvSpPr>
          <p:cNvPr id="20" name="Shape 18"/>
          <p:cNvSpPr/>
          <p:nvPr/>
        </p:nvSpPr>
        <p:spPr>
          <a:xfrm>
            <a:off x="548640" y="4151376"/>
            <a:ext cx="11091672" cy="676656"/>
          </a:xfrm>
          <a:prstGeom prst="roundRect">
            <a:avLst>
              <a:gd name="adj" fmla="val 10811"/>
            </a:avLst>
          </a:prstGeom>
          <a:solidFill>
            <a:srgbClr val="E8EEF4"/>
          </a:solidFill>
          <a:ln w="12700">
            <a:solidFill>
              <a:srgbClr val="E8EEF4"/>
            </a:solidFill>
            <a:prstDash val="solid"/>
          </a:ln>
        </p:spPr>
        <p:txBody>
          <a:bodyPr/>
          <a:lstStyle/>
          <a:p>
            <a:endParaRPr lang="es-CO"/>
          </a:p>
        </p:txBody>
      </p:sp>
      <p:sp>
        <p:nvSpPr>
          <p:cNvPr id="21" name="Shape 19"/>
          <p:cNvSpPr/>
          <p:nvPr/>
        </p:nvSpPr>
        <p:spPr>
          <a:xfrm>
            <a:off x="786384" y="4297680"/>
            <a:ext cx="402336" cy="402336"/>
          </a:xfrm>
          <a:prstGeom prst="ellipse">
            <a:avLst/>
          </a:prstGeom>
          <a:solidFill>
            <a:srgbClr val="1C7293"/>
          </a:solidFill>
          <a:ln w="12700">
            <a:solidFill>
              <a:srgbClr val="1C7293"/>
            </a:solidFill>
            <a:prstDash val="solid"/>
          </a:ln>
        </p:spPr>
        <p:txBody>
          <a:bodyPr/>
          <a:lstStyle/>
          <a:p>
            <a:endParaRPr lang="es-CO"/>
          </a:p>
        </p:txBody>
      </p:sp>
      <p:sp>
        <p:nvSpPr>
          <p:cNvPr id="22" name="Text 20"/>
          <p:cNvSpPr/>
          <p:nvPr/>
        </p:nvSpPr>
        <p:spPr>
          <a:xfrm>
            <a:off x="786384" y="429768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1371600" y="4206240"/>
            <a:ext cx="5394960" cy="29260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La raíz se escribe con Math.sqrt</a:t>
            </a:r>
            <a:endParaRPr lang="en-US" sz="1300" dirty="0"/>
          </a:p>
        </p:txBody>
      </p:sp>
      <p:sp>
        <p:nvSpPr>
          <p:cNvPr id="24" name="Text 22"/>
          <p:cNvSpPr/>
          <p:nvPr/>
        </p:nvSpPr>
        <p:spPr>
          <a:xfrm>
            <a:off x="1371600" y="4489704"/>
            <a:ext cx="9966960" cy="292608"/>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Todo lo que está bajo el signo de raíz va dentro del paréntesis.</a:t>
            </a:r>
            <a:endParaRPr lang="en-US" sz="1150" dirty="0"/>
          </a:p>
        </p:txBody>
      </p:sp>
      <p:sp>
        <p:nvSpPr>
          <p:cNvPr id="25" name="Shape 23"/>
          <p:cNvSpPr/>
          <p:nvPr/>
        </p:nvSpPr>
        <p:spPr>
          <a:xfrm>
            <a:off x="548640" y="4882896"/>
            <a:ext cx="11091672" cy="676656"/>
          </a:xfrm>
          <a:prstGeom prst="roundRect">
            <a:avLst>
              <a:gd name="adj" fmla="val 10811"/>
            </a:avLst>
          </a:prstGeom>
          <a:solidFill>
            <a:srgbClr val="F4F7FB"/>
          </a:solidFill>
          <a:ln w="12700">
            <a:solidFill>
              <a:srgbClr val="F4F7FB"/>
            </a:solidFill>
            <a:prstDash val="solid"/>
          </a:ln>
        </p:spPr>
        <p:txBody>
          <a:bodyPr/>
          <a:lstStyle/>
          <a:p>
            <a:endParaRPr lang="es-CO"/>
          </a:p>
        </p:txBody>
      </p:sp>
      <p:sp>
        <p:nvSpPr>
          <p:cNvPr id="26" name="Shape 24"/>
          <p:cNvSpPr/>
          <p:nvPr/>
        </p:nvSpPr>
        <p:spPr>
          <a:xfrm>
            <a:off x="786384" y="5029200"/>
            <a:ext cx="402336" cy="402336"/>
          </a:xfrm>
          <a:prstGeom prst="ellipse">
            <a:avLst/>
          </a:prstGeom>
          <a:solidFill>
            <a:srgbClr val="FFB100"/>
          </a:solidFill>
          <a:ln w="12700">
            <a:solidFill>
              <a:srgbClr val="FFB100"/>
            </a:solidFill>
            <a:prstDash val="solid"/>
          </a:ln>
        </p:spPr>
        <p:txBody>
          <a:bodyPr/>
          <a:lstStyle/>
          <a:p>
            <a:endParaRPr lang="es-CO"/>
          </a:p>
        </p:txBody>
      </p:sp>
      <p:sp>
        <p:nvSpPr>
          <p:cNvPr id="27" name="Text 25"/>
          <p:cNvSpPr/>
          <p:nvPr/>
        </p:nvSpPr>
        <p:spPr>
          <a:xfrm>
            <a:off x="786384" y="5029200"/>
            <a:ext cx="402336" cy="402336"/>
          </a:xfrm>
          <a:prstGeom prst="rect">
            <a:avLst/>
          </a:prstGeom>
          <a:noFill/>
          <a:ln/>
        </p:spPr>
        <p:txBody>
          <a:bodyPr wrap="square" lIns="0" tIns="0" rIns="0" bIns="0" rtlCol="0" anchor="ctr"/>
          <a:lstStyle/>
          <a:p>
            <a:pPr marL="0" indent="0" algn="ctr">
              <a:buNone/>
            </a:pPr>
            <a:r>
              <a:rPr lang="en-US" sz="1500" b="1" dirty="0">
                <a:solidFill>
                  <a:srgbClr val="13294B"/>
                </a:solidFill>
                <a:latin typeface="Calibri" pitchFamily="34" charset="0"/>
                <a:ea typeface="Calibri" pitchFamily="34" charset="-122"/>
                <a:cs typeface="Calibri" pitchFamily="34" charset="-120"/>
              </a:rPr>
              <a:t>5</a:t>
            </a:r>
            <a:endParaRPr lang="en-US" sz="1500" dirty="0"/>
          </a:p>
        </p:txBody>
      </p:sp>
      <p:sp>
        <p:nvSpPr>
          <p:cNvPr id="28" name="Text 26"/>
          <p:cNvSpPr/>
          <p:nvPr/>
        </p:nvSpPr>
        <p:spPr>
          <a:xfrm>
            <a:off x="1371600" y="4937760"/>
            <a:ext cx="5394960" cy="29260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Los números de la fórmula pueden necesitar decimal</a:t>
            </a:r>
            <a:endParaRPr lang="en-US" sz="1300" dirty="0"/>
          </a:p>
        </p:txBody>
      </p:sp>
      <p:sp>
        <p:nvSpPr>
          <p:cNvPr id="29" name="Text 27"/>
          <p:cNvSpPr/>
          <p:nvPr/>
        </p:nvSpPr>
        <p:spPr>
          <a:xfrm>
            <a:off x="1371600" y="5221224"/>
            <a:ext cx="9966960" cy="292608"/>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Un 1/2 o un 4/3 escritos con enteros dan 0 y 1. Escríbelos 1.0/2 y 4.0/3.</a:t>
            </a:r>
            <a:endParaRPr lang="en-US" sz="1150" dirty="0"/>
          </a:p>
        </p:txBody>
      </p:sp>
      <p:sp>
        <p:nvSpPr>
          <p:cNvPr id="30" name="Shape 28"/>
          <p:cNvSpPr/>
          <p:nvPr/>
        </p:nvSpPr>
        <p:spPr>
          <a:xfrm>
            <a:off x="548640" y="5687568"/>
            <a:ext cx="11091672" cy="566928"/>
          </a:xfrm>
          <a:prstGeom prst="roundRect">
            <a:avLst>
              <a:gd name="adj" fmla="val 12903"/>
            </a:avLst>
          </a:prstGeom>
          <a:solidFill>
            <a:srgbClr val="13294B"/>
          </a:solidFill>
          <a:ln w="12700">
            <a:solidFill>
              <a:srgbClr val="13294B"/>
            </a:solidFill>
            <a:prstDash val="solid"/>
          </a:ln>
        </p:spPr>
        <p:txBody>
          <a:bodyPr/>
          <a:lstStyle/>
          <a:p>
            <a:endParaRPr lang="es-CO"/>
          </a:p>
        </p:txBody>
      </p:sp>
      <p:sp>
        <p:nvSpPr>
          <p:cNvPr id="31" name="Text 29"/>
          <p:cNvSpPr/>
          <p:nvPr/>
        </p:nvSpPr>
        <p:spPr>
          <a:xfrm>
            <a:off x="868680" y="5687568"/>
            <a:ext cx="10451592" cy="566928"/>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ANTES DE DAR POR BUENA UNA EXPRESIÓN:  </a:t>
            </a:r>
            <a:r>
              <a:rPr lang="en-US" sz="1350" dirty="0">
                <a:solidFill>
                  <a:srgbClr val="FFFFFF"/>
                </a:solidFill>
                <a:latin typeface="Calibri" pitchFamily="34" charset="0"/>
                <a:ea typeface="Calibri" pitchFamily="34" charset="-122"/>
                <a:cs typeface="Calibri" pitchFamily="34" charset="-120"/>
              </a:rPr>
              <a:t>cuenta los paréntesis. Deben abrir y cerrar la misma cantidad de veces.</a:t>
            </a:r>
            <a:endParaRPr lang="en-US" sz="1350" dirty="0"/>
          </a:p>
        </p:txBody>
      </p:sp>
      <p:sp>
        <p:nvSpPr>
          <p:cNvPr id="32" name="Text 30"/>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14</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LADO A LADO</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La misma expresión en los tres lenguajes</a:t>
            </a:r>
            <a:endParaRPr lang="en-US" sz="2900" dirty="0"/>
          </a:p>
        </p:txBody>
      </p:sp>
      <p:pic>
        <p:nvPicPr>
          <p:cNvPr id="4" name="Image 0" descr="/home/claude/s7/fig/f4_formulas.png"/>
          <p:cNvPicPr>
            <a:picLocks noChangeAspect="1"/>
          </p:cNvPicPr>
          <p:nvPr/>
        </p:nvPicPr>
        <p:blipFill>
          <a:blip r:embed="rId3"/>
          <a:stretch>
            <a:fillRect/>
          </a:stretch>
        </p:blipFill>
        <p:spPr>
          <a:xfrm>
            <a:off x="548640" y="1554480"/>
            <a:ext cx="5120640" cy="2761488"/>
          </a:xfrm>
          <a:prstGeom prst="rect">
            <a:avLst/>
          </a:prstGeom>
        </p:spPr>
      </p:pic>
      <p:sp>
        <p:nvSpPr>
          <p:cNvPr id="5" name="Shape 2"/>
          <p:cNvSpPr/>
          <p:nvPr/>
        </p:nvSpPr>
        <p:spPr>
          <a:xfrm>
            <a:off x="548640" y="4517136"/>
            <a:ext cx="5120640" cy="1298448"/>
          </a:xfrm>
          <a:prstGeom prst="roundRect">
            <a:avLst>
              <a:gd name="adj" fmla="val 5634"/>
            </a:avLst>
          </a:prstGeom>
          <a:solidFill>
            <a:srgbClr val="E8EEF4"/>
          </a:solidFill>
          <a:ln w="12700">
            <a:solidFill>
              <a:srgbClr val="E8EEF4"/>
            </a:solidFill>
            <a:prstDash val="solid"/>
          </a:ln>
        </p:spPr>
        <p:txBody>
          <a:bodyPr/>
          <a:lstStyle/>
          <a:p>
            <a:endParaRPr lang="es-CO"/>
          </a:p>
        </p:txBody>
      </p:sp>
      <p:sp>
        <p:nvSpPr>
          <p:cNvPr id="6" name="Text 3"/>
          <p:cNvSpPr/>
          <p:nvPr/>
        </p:nvSpPr>
        <p:spPr>
          <a:xfrm>
            <a:off x="804672" y="4626864"/>
            <a:ext cx="4572000" cy="256032"/>
          </a:xfrm>
          <a:prstGeom prst="rect">
            <a:avLst/>
          </a:prstGeom>
          <a:noFill/>
          <a:ln/>
        </p:spPr>
        <p:txBody>
          <a:bodyPr wrap="square" lIns="0" tIns="0" rIns="0" bIns="0" rtlCol="0" anchor="ctr"/>
          <a:lstStyle/>
          <a:p>
            <a:pPr marL="0" indent="0">
              <a:buNone/>
            </a:pPr>
            <a:r>
              <a:rPr lang="en-US" sz="1050" b="1" kern="0" spc="120" dirty="0">
                <a:solidFill>
                  <a:srgbClr val="1C7293"/>
                </a:solidFill>
                <a:latin typeface="Calibri" pitchFamily="34" charset="0"/>
                <a:ea typeface="Calibri" pitchFamily="34" charset="-122"/>
                <a:cs typeface="Calibri" pitchFamily="34" charset="-120"/>
              </a:rPr>
              <a:t>EN PSEUDOCÓDIGO</a:t>
            </a:r>
            <a:endParaRPr lang="en-US" sz="1050" dirty="0"/>
          </a:p>
        </p:txBody>
      </p:sp>
      <p:sp>
        <p:nvSpPr>
          <p:cNvPr id="7" name="Text 4"/>
          <p:cNvSpPr/>
          <p:nvPr/>
        </p:nvSpPr>
        <p:spPr>
          <a:xfrm>
            <a:off x="804672" y="4901184"/>
            <a:ext cx="4663440" cy="822960"/>
          </a:xfrm>
          <a:prstGeom prst="rect">
            <a:avLst/>
          </a:prstGeom>
          <a:noFill/>
          <a:ln/>
        </p:spPr>
        <p:txBody>
          <a:bodyPr wrap="square" lIns="0" tIns="0" rIns="0" bIns="0" rtlCol="0" anchor="t"/>
          <a:lstStyle/>
          <a:p>
            <a:pPr marL="0" indent="0">
              <a:lnSpc>
                <a:spcPts val="1800"/>
              </a:lnSpc>
              <a:buNone/>
            </a:pPr>
            <a:r>
              <a:rPr lang="en-US" sz="1150" b="1" dirty="0">
                <a:solidFill>
                  <a:srgbClr val="13294B"/>
                </a:solidFill>
                <a:latin typeface="Courier New" pitchFamily="34" charset="0"/>
                <a:ea typeface="Courier New" pitchFamily="34" charset="-122"/>
                <a:cs typeface="Courier New" pitchFamily="34" charset="-120"/>
              </a:rPr>
              <a:t>x ← (a + b) / (c + d)</a:t>
            </a:r>
            <a:endParaRPr lang="en-US" sz="1150" dirty="0"/>
          </a:p>
          <a:p>
            <a:pPr marL="0" indent="0">
              <a:lnSpc>
                <a:spcPts val="1800"/>
              </a:lnSpc>
              <a:buNone/>
            </a:pPr>
            <a:r>
              <a:rPr lang="en-US" sz="1150" b="1" dirty="0">
                <a:solidFill>
                  <a:srgbClr val="13294B"/>
                </a:solidFill>
                <a:latin typeface="Courier New" pitchFamily="34" charset="0"/>
                <a:ea typeface="Courier New" pitchFamily="34" charset="-122"/>
                <a:cs typeface="Courier New" pitchFamily="34" charset="-120"/>
              </a:rPr>
              <a:t>d ← raiz(pot(x2-x1,2) + pot(y2-y1,2))</a:t>
            </a:r>
            <a:endParaRPr lang="en-US" sz="1150" dirty="0"/>
          </a:p>
        </p:txBody>
      </p:sp>
      <p:sp>
        <p:nvSpPr>
          <p:cNvPr id="8" name="Shape 5"/>
          <p:cNvSpPr/>
          <p:nvPr/>
        </p:nvSpPr>
        <p:spPr>
          <a:xfrm>
            <a:off x="5897880" y="1554480"/>
            <a:ext cx="5742432" cy="4261104"/>
          </a:xfrm>
          <a:prstGeom prst="roundRect">
            <a:avLst>
              <a:gd name="adj" fmla="val 644"/>
            </a:avLst>
          </a:prstGeom>
          <a:solidFill>
            <a:srgbClr val="0B1E33"/>
          </a:solidFill>
          <a:ln w="12700">
            <a:solidFill>
              <a:srgbClr val="0B1E33"/>
            </a:solidFill>
            <a:prstDash val="solid"/>
          </a:ln>
        </p:spPr>
        <p:txBody>
          <a:bodyPr/>
          <a:lstStyle/>
          <a:p>
            <a:endParaRPr lang="es-CO"/>
          </a:p>
        </p:txBody>
      </p:sp>
      <p:sp>
        <p:nvSpPr>
          <p:cNvPr id="9" name="Text 6"/>
          <p:cNvSpPr/>
          <p:nvPr/>
        </p:nvSpPr>
        <p:spPr>
          <a:xfrm>
            <a:off x="6153912" y="1737360"/>
            <a:ext cx="5230368" cy="3895344"/>
          </a:xfrm>
          <a:prstGeom prst="rect">
            <a:avLst/>
          </a:prstGeom>
          <a:noFill/>
          <a:ln/>
        </p:spPr>
        <p:txBody>
          <a:bodyPr wrap="square" lIns="0" tIns="0" rIns="0" bIns="0" rtlCol="0" anchor="t"/>
          <a:lstStyle/>
          <a:p>
            <a:pPr marL="0" indent="0">
              <a:lnSpc>
                <a:spcPts val="1938"/>
              </a:lnSpc>
              <a:buNone/>
            </a:pPr>
            <a:r>
              <a:rPr lang="en-US" sz="1250" dirty="0">
                <a:solidFill>
                  <a:srgbClr val="E8EEF4"/>
                </a:solidFill>
                <a:latin typeface="Courier New" pitchFamily="34" charset="0"/>
                <a:ea typeface="Courier New" pitchFamily="34" charset="-122"/>
                <a:cs typeface="Courier New" pitchFamily="34" charset="-120"/>
              </a:rPr>
              <a:t>// 1  fracción</a:t>
            </a:r>
            <a:endParaRPr lang="en-US" sz="1250" dirty="0"/>
          </a:p>
          <a:p>
            <a:pPr marL="0" indent="0">
              <a:lnSpc>
                <a:spcPts val="1938"/>
              </a:lnSpc>
              <a:buNone/>
            </a:pPr>
            <a:r>
              <a:rPr lang="en-US" sz="1250" dirty="0">
                <a:solidFill>
                  <a:srgbClr val="E8EEF4"/>
                </a:solidFill>
                <a:latin typeface="Courier New" pitchFamily="34" charset="0"/>
                <a:ea typeface="Courier New" pitchFamily="34" charset="-122"/>
                <a:cs typeface="Courier New" pitchFamily="34" charset="-120"/>
              </a:rPr>
              <a:t>x = (a + b) / (c + d);</a:t>
            </a:r>
            <a:endParaRPr lang="en-US" sz="1250" dirty="0"/>
          </a:p>
          <a:p>
            <a:pPr marL="0" indent="0">
              <a:lnSpc>
                <a:spcPts val="1938"/>
              </a:lnSpc>
              <a:buNone/>
            </a:pPr>
            <a:endParaRPr lang="en-US" sz="1250" dirty="0"/>
          </a:p>
          <a:p>
            <a:pPr marL="0" indent="0">
              <a:lnSpc>
                <a:spcPts val="1938"/>
              </a:lnSpc>
              <a:buNone/>
            </a:pPr>
            <a:r>
              <a:rPr lang="en-US" sz="1250" dirty="0">
                <a:solidFill>
                  <a:srgbClr val="E8EEF4"/>
                </a:solidFill>
                <a:latin typeface="Courier New" pitchFamily="34" charset="0"/>
                <a:ea typeface="Courier New" pitchFamily="34" charset="-122"/>
                <a:cs typeface="Courier New" pitchFamily="34" charset="-120"/>
              </a:rPr>
              <a:t>// 2  producto</a:t>
            </a:r>
            <a:endParaRPr lang="en-US" sz="1250" dirty="0"/>
          </a:p>
          <a:p>
            <a:pPr marL="0" indent="0">
              <a:lnSpc>
                <a:spcPts val="1938"/>
              </a:lnSpc>
              <a:buNone/>
            </a:pPr>
            <a:r>
              <a:rPr lang="en-US" sz="1250" dirty="0">
                <a:solidFill>
                  <a:srgbClr val="E8EEF4"/>
                </a:solidFill>
                <a:latin typeface="Courier New" pitchFamily="34" charset="0"/>
                <a:ea typeface="Courier New" pitchFamily="34" charset="-122"/>
                <a:cs typeface="Courier New" pitchFamily="34" charset="-120"/>
              </a:rPr>
              <a:t>y = 2 * a * (b - 1);</a:t>
            </a:r>
            <a:endParaRPr lang="en-US" sz="1250" dirty="0"/>
          </a:p>
          <a:p>
            <a:pPr marL="0" indent="0">
              <a:lnSpc>
                <a:spcPts val="1938"/>
              </a:lnSpc>
              <a:buNone/>
            </a:pPr>
            <a:endParaRPr lang="en-US" sz="1250" dirty="0"/>
          </a:p>
          <a:p>
            <a:pPr marL="0" indent="0">
              <a:lnSpc>
                <a:spcPts val="1938"/>
              </a:lnSpc>
              <a:buNone/>
            </a:pPr>
            <a:r>
              <a:rPr lang="en-US" sz="1250" dirty="0">
                <a:solidFill>
                  <a:srgbClr val="E8EEF4"/>
                </a:solidFill>
                <a:latin typeface="Courier New" pitchFamily="34" charset="0"/>
                <a:ea typeface="Courier New" pitchFamily="34" charset="-122"/>
                <a:cs typeface="Courier New" pitchFamily="34" charset="-120"/>
              </a:rPr>
              <a:t>// 3  potencia</a:t>
            </a:r>
            <a:endParaRPr lang="en-US" sz="1250" dirty="0"/>
          </a:p>
          <a:p>
            <a:pPr marL="0" indent="0">
              <a:lnSpc>
                <a:spcPts val="1938"/>
              </a:lnSpc>
              <a:buNone/>
            </a:pPr>
            <a:r>
              <a:rPr lang="en-US" sz="1250" dirty="0">
                <a:solidFill>
                  <a:srgbClr val="E8EEF4"/>
                </a:solidFill>
                <a:latin typeface="Courier New" pitchFamily="34" charset="0"/>
                <a:ea typeface="Courier New" pitchFamily="34" charset="-122"/>
                <a:cs typeface="Courier New" pitchFamily="34" charset="-120"/>
              </a:rPr>
              <a:t>e = 0.5 * m * Math.pow(v, 2);</a:t>
            </a:r>
            <a:endParaRPr lang="en-US" sz="1250" dirty="0"/>
          </a:p>
          <a:p>
            <a:pPr marL="0" indent="0">
              <a:lnSpc>
                <a:spcPts val="1938"/>
              </a:lnSpc>
              <a:buNone/>
            </a:pPr>
            <a:endParaRPr lang="en-US" sz="1250" dirty="0"/>
          </a:p>
          <a:p>
            <a:pPr marL="0" indent="0">
              <a:lnSpc>
                <a:spcPts val="1938"/>
              </a:lnSpc>
              <a:buNone/>
            </a:pPr>
            <a:r>
              <a:rPr lang="en-US" sz="1250" dirty="0">
                <a:solidFill>
                  <a:srgbClr val="E8EEF4"/>
                </a:solidFill>
                <a:latin typeface="Courier New" pitchFamily="34" charset="0"/>
                <a:ea typeface="Courier New" pitchFamily="34" charset="-122"/>
                <a:cs typeface="Courier New" pitchFamily="34" charset="-120"/>
              </a:rPr>
              <a:t>// 4  raíz</a:t>
            </a:r>
            <a:endParaRPr lang="en-US" sz="1250" dirty="0"/>
          </a:p>
          <a:p>
            <a:pPr marL="0" indent="0">
              <a:lnSpc>
                <a:spcPts val="1938"/>
              </a:lnSpc>
              <a:buNone/>
            </a:pPr>
            <a:r>
              <a:rPr lang="en-US" sz="1250" dirty="0">
                <a:solidFill>
                  <a:srgbClr val="E8EEF4"/>
                </a:solidFill>
                <a:latin typeface="Courier New" pitchFamily="34" charset="0"/>
                <a:ea typeface="Courier New" pitchFamily="34" charset="-122"/>
                <a:cs typeface="Courier New" pitchFamily="34" charset="-120"/>
              </a:rPr>
              <a:t>d = Math.sqrt(Math.pow(x2 - x1, 2)</a:t>
            </a:r>
            <a:endParaRPr lang="en-US" sz="1250" dirty="0"/>
          </a:p>
          <a:p>
            <a:pPr marL="0" indent="0">
              <a:lnSpc>
                <a:spcPts val="1938"/>
              </a:lnSpc>
              <a:buNone/>
            </a:pPr>
            <a:r>
              <a:rPr lang="en-US" sz="1250" dirty="0">
                <a:solidFill>
                  <a:srgbClr val="E8EEF4"/>
                </a:solidFill>
                <a:latin typeface="Courier New" pitchFamily="34" charset="0"/>
                <a:ea typeface="Courier New" pitchFamily="34" charset="-122"/>
                <a:cs typeface="Courier New" pitchFamily="34" charset="-120"/>
              </a:rPr>
              <a:t>            + Math.pow(y2 - y1, 2));</a:t>
            </a:r>
            <a:endParaRPr lang="en-US" sz="1250" dirty="0"/>
          </a:p>
        </p:txBody>
      </p:sp>
      <p:sp>
        <p:nvSpPr>
          <p:cNvPr id="10" name="Text 7"/>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15</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HERRAMIENTAS DEL LENGUAJE</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La biblioteca Math</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Operaciones que no tienen símbolo propio. Se escriben con el nombre y los datos entre paréntesis.</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2816352"/>
        </p:xfrm>
        <a:graphic>
          <a:graphicData uri="http://schemas.openxmlformats.org/drawingml/2006/table">
            <a:tbl>
              <a:tblPr/>
              <a:tblGrid>
                <a:gridCol w="269748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1947672">
                  <a:extLst>
                    <a:ext uri="{9D8B030D-6E8A-4147-A177-3AD203B41FA5}">
                      <a16:colId xmlns:a16="http://schemas.microsoft.com/office/drawing/2014/main" val="20003"/>
                    </a:ext>
                  </a:extLst>
                </a:gridCol>
              </a:tblGrid>
              <a:tr h="40233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Se escribe</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Qué hace</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Ejemplo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Entrega</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02336">
                <a:tc>
                  <a:txBody>
                    <a:bodyPr/>
                    <a:lstStyle/>
                    <a:p>
                      <a:pPr marL="0" indent="0">
                        <a:buNone/>
                      </a:pPr>
                      <a:r>
                        <a:rPr lang="en-US" sz="1200" b="1" dirty="0">
                          <a:solidFill>
                            <a:srgbClr val="13294B"/>
                          </a:solidFill>
                          <a:latin typeface="Courier New" pitchFamily="34" charset="0"/>
                          <a:ea typeface="Courier New" pitchFamily="34" charset="-122"/>
                          <a:cs typeface="Courier New" pitchFamily="34" charset="-120"/>
                        </a:rPr>
                        <a:t>Math.pow(b, e)</a:t>
                      </a:r>
                      <a:endParaRPr lang="en-US" sz="12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Eleva b a la potencia e</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b="1" dirty="0">
                          <a:solidFill>
                            <a:srgbClr val="1C7293"/>
                          </a:solidFill>
                          <a:latin typeface="Courier New" pitchFamily="34" charset="0"/>
                          <a:ea typeface="Courier New" pitchFamily="34" charset="-122"/>
                          <a:cs typeface="Courier New" pitchFamily="34" charset="-120"/>
                        </a:rPr>
                        <a:t>Math.pow(2, 10)</a:t>
                      </a:r>
                      <a:endParaRPr lang="en-US" sz="12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b="1" dirty="0">
                          <a:solidFill>
                            <a:srgbClr val="B07800"/>
                          </a:solidFill>
                          <a:latin typeface="Courier New" pitchFamily="34" charset="0"/>
                          <a:ea typeface="Courier New" pitchFamily="34" charset="-122"/>
                          <a:cs typeface="Courier New" pitchFamily="34" charset="-120"/>
                        </a:rPr>
                        <a:t>1024.0</a:t>
                      </a:r>
                      <a:endParaRPr lang="en-US" sz="12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200" b="1" dirty="0">
                          <a:solidFill>
                            <a:srgbClr val="13294B"/>
                          </a:solidFill>
                          <a:latin typeface="Courier New" pitchFamily="34" charset="0"/>
                          <a:ea typeface="Courier New" pitchFamily="34" charset="-122"/>
                          <a:cs typeface="Courier New" pitchFamily="34" charset="-120"/>
                        </a:rPr>
                        <a:t>Math.sqrt(x)</a:t>
                      </a:r>
                      <a:endParaRPr lang="en-US" sz="12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Raíz cuadrada de x</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b="1" dirty="0">
                          <a:solidFill>
                            <a:srgbClr val="1C7293"/>
                          </a:solidFill>
                          <a:latin typeface="Courier New" pitchFamily="34" charset="0"/>
                          <a:ea typeface="Courier New" pitchFamily="34" charset="-122"/>
                          <a:cs typeface="Courier New" pitchFamily="34" charset="-120"/>
                        </a:rPr>
                        <a:t>Math.sqrt(144)</a:t>
                      </a:r>
                      <a:endParaRPr lang="en-US" sz="12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b="1" dirty="0">
                          <a:solidFill>
                            <a:srgbClr val="B07800"/>
                          </a:solidFill>
                          <a:latin typeface="Courier New" pitchFamily="34" charset="0"/>
                          <a:ea typeface="Courier New" pitchFamily="34" charset="-122"/>
                          <a:cs typeface="Courier New" pitchFamily="34" charset="-120"/>
                        </a:rPr>
                        <a:t>12.0</a:t>
                      </a:r>
                      <a:endParaRPr lang="en-US" sz="12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200" b="1" dirty="0">
                          <a:solidFill>
                            <a:srgbClr val="13294B"/>
                          </a:solidFill>
                          <a:latin typeface="Courier New" pitchFamily="34" charset="0"/>
                          <a:ea typeface="Courier New" pitchFamily="34" charset="-122"/>
                          <a:cs typeface="Courier New" pitchFamily="34" charset="-120"/>
                        </a:rPr>
                        <a:t>Math.abs(x)</a:t>
                      </a:r>
                      <a:endParaRPr lang="en-US" sz="12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Valor absoluto de x</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b="1" dirty="0">
                          <a:solidFill>
                            <a:srgbClr val="1C7293"/>
                          </a:solidFill>
                          <a:latin typeface="Courier New" pitchFamily="34" charset="0"/>
                          <a:ea typeface="Courier New" pitchFamily="34" charset="-122"/>
                          <a:cs typeface="Courier New" pitchFamily="34" charset="-120"/>
                        </a:rPr>
                        <a:t>Math.abs(-8)</a:t>
                      </a:r>
                      <a:endParaRPr lang="en-US" sz="12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b="1" dirty="0">
                          <a:solidFill>
                            <a:srgbClr val="B07800"/>
                          </a:solidFill>
                          <a:latin typeface="Courier New" pitchFamily="34" charset="0"/>
                          <a:ea typeface="Courier New" pitchFamily="34" charset="-122"/>
                          <a:cs typeface="Courier New" pitchFamily="34" charset="-120"/>
                        </a:rPr>
                        <a:t>8</a:t>
                      </a:r>
                      <a:endParaRPr lang="en-US" sz="12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200" b="1" dirty="0">
                          <a:solidFill>
                            <a:srgbClr val="13294B"/>
                          </a:solidFill>
                          <a:latin typeface="Courier New" pitchFamily="34" charset="0"/>
                          <a:ea typeface="Courier New" pitchFamily="34" charset="-122"/>
                          <a:cs typeface="Courier New" pitchFamily="34" charset="-120"/>
                        </a:rPr>
                        <a:t>Math.round(x)</a:t>
                      </a:r>
                      <a:endParaRPr lang="en-US" sz="12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Redondea al entero más cercano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b="1" dirty="0">
                          <a:solidFill>
                            <a:srgbClr val="1C7293"/>
                          </a:solidFill>
                          <a:latin typeface="Courier New" pitchFamily="34" charset="0"/>
                          <a:ea typeface="Courier New" pitchFamily="34" charset="-122"/>
                          <a:cs typeface="Courier New" pitchFamily="34" charset="-120"/>
                        </a:rPr>
                        <a:t>Math.round(3.6)</a:t>
                      </a:r>
                      <a:endParaRPr lang="en-US" sz="12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b="1" dirty="0">
                          <a:solidFill>
                            <a:srgbClr val="B07800"/>
                          </a:solidFill>
                          <a:latin typeface="Courier New" pitchFamily="34" charset="0"/>
                          <a:ea typeface="Courier New" pitchFamily="34" charset="-122"/>
                          <a:cs typeface="Courier New" pitchFamily="34" charset="-120"/>
                        </a:rPr>
                        <a:t>4</a:t>
                      </a:r>
                      <a:endParaRPr lang="en-US" sz="12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200" b="1" dirty="0">
                          <a:solidFill>
                            <a:srgbClr val="13294B"/>
                          </a:solidFill>
                          <a:latin typeface="Courier New" pitchFamily="34" charset="0"/>
                          <a:ea typeface="Courier New" pitchFamily="34" charset="-122"/>
                          <a:cs typeface="Courier New" pitchFamily="34" charset="-120"/>
                        </a:rPr>
                        <a:t>Math.max(a, b)</a:t>
                      </a:r>
                      <a:endParaRPr lang="en-US" sz="12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El mayor de los dos</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b="1" dirty="0">
                          <a:solidFill>
                            <a:srgbClr val="1C7293"/>
                          </a:solidFill>
                          <a:latin typeface="Courier New" pitchFamily="34" charset="0"/>
                          <a:ea typeface="Courier New" pitchFamily="34" charset="-122"/>
                          <a:cs typeface="Courier New" pitchFamily="34" charset="-120"/>
                        </a:rPr>
                        <a:t>Math.max(4, 9)</a:t>
                      </a:r>
                      <a:endParaRPr lang="en-US" sz="12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b="1" dirty="0">
                          <a:solidFill>
                            <a:srgbClr val="B07800"/>
                          </a:solidFill>
                          <a:latin typeface="Courier New" pitchFamily="34" charset="0"/>
                          <a:ea typeface="Courier New" pitchFamily="34" charset="-122"/>
                          <a:cs typeface="Courier New" pitchFamily="34" charset="-120"/>
                        </a:rPr>
                        <a:t>9</a:t>
                      </a:r>
                      <a:endParaRPr lang="en-US" sz="12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5"/>
                  </a:ext>
                </a:extLst>
              </a:tr>
              <a:tr h="402336">
                <a:tc>
                  <a:txBody>
                    <a:bodyPr/>
                    <a:lstStyle/>
                    <a:p>
                      <a:pPr marL="0" indent="0">
                        <a:buNone/>
                      </a:pPr>
                      <a:r>
                        <a:rPr lang="en-US" sz="1200" b="1" dirty="0">
                          <a:solidFill>
                            <a:srgbClr val="13294B"/>
                          </a:solidFill>
                          <a:latin typeface="Courier New" pitchFamily="34" charset="0"/>
                          <a:ea typeface="Courier New" pitchFamily="34" charset="-122"/>
                          <a:cs typeface="Courier New" pitchFamily="34" charset="-120"/>
                        </a:rPr>
                        <a:t>Math.PI</a:t>
                      </a:r>
                      <a:endParaRPr lang="en-US" sz="12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El valor de pi</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b="1" dirty="0">
                          <a:solidFill>
                            <a:srgbClr val="1C7293"/>
                          </a:solidFill>
                          <a:latin typeface="Courier New" pitchFamily="34" charset="0"/>
                          <a:ea typeface="Courier New" pitchFamily="34" charset="-122"/>
                          <a:cs typeface="Courier New" pitchFamily="34" charset="-120"/>
                        </a:rPr>
                        <a:t>Math.PI</a:t>
                      </a:r>
                      <a:endParaRPr lang="en-US" sz="12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b="1" dirty="0">
                          <a:solidFill>
                            <a:srgbClr val="B07800"/>
                          </a:solidFill>
                          <a:latin typeface="Courier New" pitchFamily="34" charset="0"/>
                          <a:ea typeface="Courier New" pitchFamily="34" charset="-122"/>
                          <a:cs typeface="Courier New" pitchFamily="34" charset="-120"/>
                        </a:rPr>
                        <a:t>3.141592...</a:t>
                      </a:r>
                      <a:endParaRPr lang="en-US" sz="12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Shape 3"/>
          <p:cNvSpPr/>
          <p:nvPr/>
        </p:nvSpPr>
        <p:spPr>
          <a:xfrm>
            <a:off x="548640" y="4956048"/>
            <a:ext cx="11091672" cy="859536"/>
          </a:xfrm>
          <a:prstGeom prst="roundRect">
            <a:avLst>
              <a:gd name="adj" fmla="val 8511"/>
            </a:avLst>
          </a:prstGeom>
          <a:solidFill>
            <a:srgbClr val="FFF4DE"/>
          </a:solidFill>
          <a:ln w="12700">
            <a:solidFill>
              <a:srgbClr val="FFF4DE"/>
            </a:solidFill>
            <a:prstDash val="solid"/>
          </a:ln>
        </p:spPr>
        <p:txBody>
          <a:bodyPr/>
          <a:lstStyle/>
          <a:p>
            <a:endParaRPr lang="es-CO"/>
          </a:p>
        </p:txBody>
      </p:sp>
      <p:sp>
        <p:nvSpPr>
          <p:cNvPr id="7" name="Text 4"/>
          <p:cNvSpPr/>
          <p:nvPr/>
        </p:nvSpPr>
        <p:spPr>
          <a:xfrm>
            <a:off x="859536" y="4956048"/>
            <a:ext cx="10469880" cy="859536"/>
          </a:xfrm>
          <a:prstGeom prst="rect">
            <a:avLst/>
          </a:prstGeom>
          <a:noFill/>
          <a:ln/>
        </p:spPr>
        <p:txBody>
          <a:bodyPr wrap="square" lIns="0" tIns="0" rIns="0" bIns="0" rtlCol="0" anchor="ctr"/>
          <a:lstStyle/>
          <a:p>
            <a:pPr marL="0" indent="0">
              <a:lnSpc>
                <a:spcPts val="1700"/>
              </a:lnSpc>
              <a:buNone/>
            </a:pPr>
            <a:r>
              <a:rPr lang="en-US" sz="1300" b="1" dirty="0">
                <a:solidFill>
                  <a:srgbClr val="B07800"/>
                </a:solidFill>
                <a:latin typeface="Calibri" pitchFamily="34" charset="0"/>
                <a:ea typeface="Calibri" pitchFamily="34" charset="-122"/>
                <a:cs typeface="Calibri" pitchFamily="34" charset="-120"/>
              </a:rPr>
              <a:t>Math.pow y Math.sqrt siempre entregan un valor real.  </a:t>
            </a:r>
            <a:r>
              <a:rPr lang="en-US" sz="1300" dirty="0">
                <a:solidFill>
                  <a:srgbClr val="1A1A2E"/>
                </a:solidFill>
                <a:latin typeface="Calibri" pitchFamily="34" charset="0"/>
                <a:ea typeface="Calibri" pitchFamily="34" charset="-122"/>
                <a:cs typeface="Calibri" pitchFamily="34" charset="-120"/>
              </a:rPr>
              <a:t>Aunque el resultado sea exacto, se imprime con decimal: Math.sqrt(144) muestra 12.0 y no 12. La variable que reciba el resultado debe ser double.</a:t>
            </a:r>
            <a:endParaRPr lang="en-US" sz="1300" dirty="0"/>
          </a:p>
        </p:txBody>
      </p:sp>
      <p:sp>
        <p:nvSpPr>
          <p:cNvPr id="10" name="Text 7"/>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16</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ACTIVIDAD 3 · EN PAREJAS</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De la fórmula al código</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Cada fórmula se convierte en una línea de pseudocódigo y una línea de Java. Solo la expresión, no el programa completo.</a:t>
            </a:r>
            <a:endParaRPr lang="en-US" sz="1400" dirty="0"/>
          </a:p>
        </p:txBody>
      </p:sp>
      <p:pic>
        <p:nvPicPr>
          <p:cNvPr id="5" name="Image 0" descr="/home/claude/s7/fig/f5_actividad3.png"/>
          <p:cNvPicPr>
            <a:picLocks noChangeAspect="1"/>
          </p:cNvPicPr>
          <p:nvPr/>
        </p:nvPicPr>
        <p:blipFill>
          <a:blip r:embed="rId3"/>
          <a:stretch>
            <a:fillRect/>
          </a:stretch>
        </p:blipFill>
        <p:spPr>
          <a:xfrm>
            <a:off x="548640" y="2029968"/>
            <a:ext cx="5486400" cy="2953512"/>
          </a:xfrm>
          <a:prstGeom prst="rect">
            <a:avLst/>
          </a:prstGeom>
        </p:spPr>
      </p:pic>
      <p:sp>
        <p:nvSpPr>
          <p:cNvPr id="6" name="Shape 3"/>
          <p:cNvSpPr/>
          <p:nvPr/>
        </p:nvSpPr>
        <p:spPr>
          <a:xfrm>
            <a:off x="6309360" y="2029968"/>
            <a:ext cx="5330952" cy="1700784"/>
          </a:xfrm>
          <a:prstGeom prst="roundRect">
            <a:avLst>
              <a:gd name="adj" fmla="val 4301"/>
            </a:avLst>
          </a:prstGeom>
          <a:solidFill>
            <a:srgbClr val="FFF4DE"/>
          </a:solidFill>
          <a:ln w="12700">
            <a:solidFill>
              <a:srgbClr val="FFF4DE"/>
            </a:solidFill>
            <a:prstDash val="solid"/>
          </a:ln>
        </p:spPr>
        <p:txBody>
          <a:bodyPr/>
          <a:lstStyle/>
          <a:p>
            <a:endParaRPr lang="es-CO"/>
          </a:p>
        </p:txBody>
      </p:sp>
      <p:sp>
        <p:nvSpPr>
          <p:cNvPr id="7" name="Text 4"/>
          <p:cNvSpPr/>
          <p:nvPr/>
        </p:nvSpPr>
        <p:spPr>
          <a:xfrm>
            <a:off x="6601968" y="2157984"/>
            <a:ext cx="4754880" cy="256032"/>
          </a:xfrm>
          <a:prstGeom prst="rect">
            <a:avLst/>
          </a:prstGeom>
          <a:noFill/>
          <a:ln/>
        </p:spPr>
        <p:txBody>
          <a:bodyPr wrap="square" lIns="0" tIns="0" rIns="0" bIns="0" rtlCol="0" anchor="ctr"/>
          <a:lstStyle/>
          <a:p>
            <a:pPr marL="0" indent="0">
              <a:buNone/>
            </a:pPr>
            <a:r>
              <a:rPr lang="en-US" sz="1050" b="1" kern="0" spc="120" dirty="0">
                <a:solidFill>
                  <a:srgbClr val="B07800"/>
                </a:solidFill>
                <a:latin typeface="Calibri" pitchFamily="34" charset="0"/>
                <a:ea typeface="Calibri" pitchFamily="34" charset="-122"/>
                <a:cs typeface="Calibri" pitchFamily="34" charset="-120"/>
              </a:rPr>
              <a:t>INSTRUCCIONES DE ENTREGA</a:t>
            </a:r>
            <a:endParaRPr lang="en-US" sz="1050" dirty="0"/>
          </a:p>
        </p:txBody>
      </p:sp>
      <p:sp>
        <p:nvSpPr>
          <p:cNvPr id="8" name="Text 5"/>
          <p:cNvSpPr/>
          <p:nvPr/>
        </p:nvSpPr>
        <p:spPr>
          <a:xfrm>
            <a:off x="6601968" y="2450592"/>
            <a:ext cx="4754880" cy="118872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A1A2E"/>
                </a:solidFill>
                <a:latin typeface="Calibri" pitchFamily="34" charset="0"/>
                <a:ea typeface="Calibri" pitchFamily="34" charset="-122"/>
                <a:cs typeface="Calibri" pitchFamily="34" charset="-120"/>
              </a:rPr>
              <a:t>Declara primero los datos con su tipo.</a:t>
            </a:r>
            <a:endParaRPr lang="en-US" sz="1250" dirty="0"/>
          </a:p>
          <a:p>
            <a:pPr marL="342900" indent="-342900">
              <a:spcAft>
                <a:spcPts val="500"/>
              </a:spcAft>
              <a:buSzPct val="100000"/>
              <a:buChar char="•"/>
            </a:pPr>
            <a:r>
              <a:rPr lang="en-US" sz="1250" dirty="0">
                <a:solidFill>
                  <a:srgbClr val="1A1A2E"/>
                </a:solidFill>
                <a:latin typeface="Calibri" pitchFamily="34" charset="0"/>
                <a:ea typeface="Calibri" pitchFamily="34" charset="-122"/>
                <a:cs typeface="Calibri" pitchFamily="34" charset="-120"/>
              </a:rPr>
              <a:t>Escribe la asignación en pseudocódigo.</a:t>
            </a:r>
            <a:endParaRPr lang="en-US" sz="1250" dirty="0"/>
          </a:p>
          <a:p>
            <a:pPr marL="342900" indent="-342900">
              <a:spcAft>
                <a:spcPts val="500"/>
              </a:spcAft>
              <a:buSzPct val="100000"/>
              <a:buChar char="•"/>
            </a:pPr>
            <a:r>
              <a:rPr lang="en-US" sz="1250" dirty="0">
                <a:solidFill>
                  <a:srgbClr val="1A1A2E"/>
                </a:solidFill>
                <a:latin typeface="Calibri" pitchFamily="34" charset="0"/>
                <a:ea typeface="Calibri" pitchFamily="34" charset="-122"/>
                <a:cs typeface="Calibri" pitchFamily="34" charset="-120"/>
              </a:rPr>
              <a:t>Escribe la misma línea en Java.</a:t>
            </a:r>
            <a:endParaRPr lang="en-US" sz="1250" dirty="0"/>
          </a:p>
          <a:p>
            <a:pPr marL="342900" indent="-342900">
              <a:spcAft>
                <a:spcPts val="500"/>
              </a:spcAft>
              <a:buSzPct val="100000"/>
              <a:buChar char="•"/>
            </a:pPr>
            <a:r>
              <a:rPr lang="en-US" sz="1250" dirty="0">
                <a:solidFill>
                  <a:srgbClr val="1A1A2E"/>
                </a:solidFill>
                <a:latin typeface="Calibri" pitchFamily="34" charset="0"/>
                <a:ea typeface="Calibri" pitchFamily="34" charset="-122"/>
                <a:cs typeface="Calibri" pitchFamily="34" charset="-120"/>
              </a:rPr>
              <a:t>Aplica las cinco reglas de traducción.</a:t>
            </a:r>
            <a:endParaRPr lang="en-US" sz="1250" dirty="0"/>
          </a:p>
        </p:txBody>
      </p:sp>
      <p:sp>
        <p:nvSpPr>
          <p:cNvPr id="9" name="Shape 6"/>
          <p:cNvSpPr/>
          <p:nvPr/>
        </p:nvSpPr>
        <p:spPr>
          <a:xfrm>
            <a:off x="6309360" y="3803904"/>
            <a:ext cx="5330952" cy="1179576"/>
          </a:xfrm>
          <a:prstGeom prst="roundRect">
            <a:avLst>
              <a:gd name="adj" fmla="val 6202"/>
            </a:avLst>
          </a:prstGeom>
          <a:solidFill>
            <a:srgbClr val="E8EEF4"/>
          </a:solidFill>
          <a:ln w="12700">
            <a:solidFill>
              <a:srgbClr val="E8EEF4"/>
            </a:solidFill>
            <a:prstDash val="solid"/>
          </a:ln>
        </p:spPr>
        <p:txBody>
          <a:bodyPr/>
          <a:lstStyle/>
          <a:p>
            <a:endParaRPr lang="es-CO"/>
          </a:p>
        </p:txBody>
      </p:sp>
      <p:sp>
        <p:nvSpPr>
          <p:cNvPr id="10" name="Text 7"/>
          <p:cNvSpPr/>
          <p:nvPr/>
        </p:nvSpPr>
        <p:spPr>
          <a:xfrm>
            <a:off x="6601968" y="3913632"/>
            <a:ext cx="4754880" cy="256032"/>
          </a:xfrm>
          <a:prstGeom prst="rect">
            <a:avLst/>
          </a:prstGeom>
          <a:noFill/>
          <a:ln/>
        </p:spPr>
        <p:txBody>
          <a:bodyPr wrap="square" lIns="0" tIns="0" rIns="0" bIns="0" rtlCol="0" anchor="ctr"/>
          <a:lstStyle/>
          <a:p>
            <a:pPr marL="0" indent="0">
              <a:buNone/>
            </a:pPr>
            <a:r>
              <a:rPr lang="en-US" sz="1050" b="1" kern="0" spc="120" dirty="0">
                <a:solidFill>
                  <a:srgbClr val="1C7293"/>
                </a:solidFill>
                <a:latin typeface="Calibri" pitchFamily="34" charset="0"/>
                <a:ea typeface="Calibri" pitchFamily="34" charset="-122"/>
                <a:cs typeface="Calibri" pitchFamily="34" charset="-120"/>
              </a:rPr>
              <a:t>EJEMPLO RESUELTO · PERÍMETRO DEL CÍRCULO</a:t>
            </a:r>
            <a:endParaRPr lang="en-US" sz="1050" dirty="0"/>
          </a:p>
        </p:txBody>
      </p:sp>
      <p:sp>
        <p:nvSpPr>
          <p:cNvPr id="11" name="Text 8"/>
          <p:cNvSpPr/>
          <p:nvPr/>
        </p:nvSpPr>
        <p:spPr>
          <a:xfrm>
            <a:off x="6601968" y="4187952"/>
            <a:ext cx="4754880" cy="731520"/>
          </a:xfrm>
          <a:prstGeom prst="rect">
            <a:avLst/>
          </a:prstGeom>
          <a:noFill/>
          <a:ln/>
        </p:spPr>
        <p:txBody>
          <a:bodyPr wrap="square" lIns="0" tIns="0" rIns="0" bIns="0" rtlCol="0" anchor="t"/>
          <a:lstStyle/>
          <a:p>
            <a:pPr marL="0" indent="0">
              <a:lnSpc>
                <a:spcPts val="1800"/>
              </a:lnSpc>
              <a:buNone/>
            </a:pPr>
            <a:r>
              <a:rPr lang="en-US" sz="1200" b="1" dirty="0">
                <a:solidFill>
                  <a:srgbClr val="13294B"/>
                </a:solidFill>
                <a:latin typeface="Courier New" pitchFamily="34" charset="0"/>
                <a:ea typeface="Courier New" pitchFamily="34" charset="-122"/>
                <a:cs typeface="Courier New" pitchFamily="34" charset="-120"/>
              </a:rPr>
              <a:t>p ← 2 * pi * r</a:t>
            </a:r>
            <a:endParaRPr lang="en-US" sz="1200" dirty="0"/>
          </a:p>
          <a:p>
            <a:pPr marL="0" indent="0">
              <a:lnSpc>
                <a:spcPts val="1800"/>
              </a:lnSpc>
              <a:buNone/>
            </a:pPr>
            <a:r>
              <a:rPr lang="en-US" sz="1200" b="1" dirty="0">
                <a:solidFill>
                  <a:srgbClr val="13294B"/>
                </a:solidFill>
                <a:latin typeface="Courier New" pitchFamily="34" charset="0"/>
                <a:ea typeface="Courier New" pitchFamily="34" charset="-122"/>
                <a:cs typeface="Courier New" pitchFamily="34" charset="-120"/>
              </a:rPr>
              <a:t>double p = 2 * Math.PI * r;</a:t>
            </a:r>
            <a:endParaRPr lang="en-US" sz="1200" dirty="0"/>
          </a:p>
        </p:txBody>
      </p:sp>
      <p:sp>
        <p:nvSpPr>
          <p:cNvPr id="12" name="Shape 9"/>
          <p:cNvSpPr/>
          <p:nvPr/>
        </p:nvSpPr>
        <p:spPr>
          <a:xfrm>
            <a:off x="548640" y="5138928"/>
            <a:ext cx="11091672" cy="1115568"/>
          </a:xfrm>
          <a:prstGeom prst="roundRect">
            <a:avLst>
              <a:gd name="adj" fmla="val 6557"/>
            </a:avLst>
          </a:prstGeom>
          <a:solidFill>
            <a:srgbClr val="F4F7FB"/>
          </a:solidFill>
          <a:ln w="12700">
            <a:solidFill>
              <a:srgbClr val="F4F7FB"/>
            </a:solidFill>
            <a:prstDash val="solid"/>
          </a:ln>
        </p:spPr>
        <p:txBody>
          <a:bodyPr/>
          <a:lstStyle/>
          <a:p>
            <a:endParaRPr lang="es-CO"/>
          </a:p>
        </p:txBody>
      </p:sp>
      <p:sp>
        <p:nvSpPr>
          <p:cNvPr id="13" name="Text 10"/>
          <p:cNvSpPr/>
          <p:nvPr/>
        </p:nvSpPr>
        <p:spPr>
          <a:xfrm>
            <a:off x="841248" y="5248656"/>
            <a:ext cx="7315200" cy="256032"/>
          </a:xfrm>
          <a:prstGeom prst="rect">
            <a:avLst/>
          </a:prstGeom>
          <a:noFill/>
          <a:ln/>
        </p:spPr>
        <p:txBody>
          <a:bodyPr wrap="square" lIns="0" tIns="0" rIns="0" bIns="0" rtlCol="0" anchor="ctr"/>
          <a:lstStyle/>
          <a:p>
            <a:pPr marL="0" indent="0">
              <a:buNone/>
            </a:pPr>
            <a:r>
              <a:rPr lang="en-US" sz="1050" b="1" kern="0" spc="120" dirty="0">
                <a:solidFill>
                  <a:srgbClr val="13294B"/>
                </a:solidFill>
                <a:latin typeface="Calibri" pitchFamily="34" charset="0"/>
                <a:ea typeface="Calibri" pitchFamily="34" charset="-122"/>
                <a:cs typeface="Calibri" pitchFamily="34" charset="-120"/>
              </a:rPr>
              <a:t>COMPRUEBEN CON ESTOS DATOS</a:t>
            </a:r>
            <a:endParaRPr lang="en-US" sz="1050" dirty="0"/>
          </a:p>
        </p:txBody>
      </p:sp>
      <p:sp>
        <p:nvSpPr>
          <p:cNvPr id="14" name="Text 11"/>
          <p:cNvSpPr/>
          <p:nvPr/>
        </p:nvSpPr>
        <p:spPr>
          <a:xfrm>
            <a:off x="841248" y="5522976"/>
            <a:ext cx="2606040" cy="256032"/>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A   </a:t>
            </a:r>
            <a:r>
              <a:rPr lang="en-US" sz="1100" dirty="0">
                <a:solidFill>
                  <a:srgbClr val="5B6B7C"/>
                </a:solidFill>
                <a:latin typeface="Calibri" pitchFamily="34" charset="0"/>
                <a:ea typeface="Calibri" pitchFamily="34" charset="-122"/>
                <a:cs typeface="Calibri" pitchFamily="34" charset="-120"/>
              </a:rPr>
              <a:t>B = 10  b = 7  h = 5</a:t>
            </a:r>
            <a:endParaRPr lang="en-US" sz="1200" dirty="0"/>
          </a:p>
        </p:txBody>
      </p:sp>
      <p:sp>
        <p:nvSpPr>
          <p:cNvPr id="15" name="Text 12"/>
          <p:cNvSpPr/>
          <p:nvPr/>
        </p:nvSpPr>
        <p:spPr>
          <a:xfrm>
            <a:off x="841248" y="5779008"/>
            <a:ext cx="2606040" cy="274320"/>
          </a:xfrm>
          <a:prstGeom prst="rect">
            <a:avLst/>
          </a:prstGeom>
          <a:noFill/>
          <a:ln/>
        </p:spPr>
        <p:txBody>
          <a:bodyPr wrap="square" lIns="0" tIns="0" rIns="0" bIns="0" rtlCol="0" anchor="ctr"/>
          <a:lstStyle/>
          <a:p>
            <a:pPr marL="0" indent="0">
              <a:buNone/>
            </a:pPr>
            <a:r>
              <a:rPr lang="en-US" sz="1300" b="1" dirty="0">
                <a:solidFill>
                  <a:srgbClr val="B07800"/>
                </a:solidFill>
                <a:latin typeface="Courier New" pitchFamily="34" charset="0"/>
                <a:ea typeface="Courier New" pitchFamily="34" charset="-122"/>
                <a:cs typeface="Courier New" pitchFamily="34" charset="-120"/>
              </a:rPr>
              <a:t>42.5</a:t>
            </a:r>
            <a:endParaRPr lang="en-US" sz="1300" dirty="0"/>
          </a:p>
        </p:txBody>
      </p:sp>
      <p:sp>
        <p:nvSpPr>
          <p:cNvPr id="16" name="Text 13"/>
          <p:cNvSpPr/>
          <p:nvPr/>
        </p:nvSpPr>
        <p:spPr>
          <a:xfrm>
            <a:off x="3511296" y="5522976"/>
            <a:ext cx="2606040" cy="256032"/>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B   </a:t>
            </a:r>
            <a:r>
              <a:rPr lang="en-US" sz="1100" dirty="0">
                <a:solidFill>
                  <a:srgbClr val="5B6B7C"/>
                </a:solidFill>
                <a:latin typeface="Calibri" pitchFamily="34" charset="0"/>
                <a:ea typeface="Calibri" pitchFamily="34" charset="-122"/>
                <a:cs typeface="Calibri" pitchFamily="34" charset="-120"/>
              </a:rPr>
              <a:t>r = 3  h = 10</a:t>
            </a:r>
            <a:endParaRPr lang="en-US" sz="1200" dirty="0"/>
          </a:p>
        </p:txBody>
      </p:sp>
      <p:sp>
        <p:nvSpPr>
          <p:cNvPr id="17" name="Text 14"/>
          <p:cNvSpPr/>
          <p:nvPr/>
        </p:nvSpPr>
        <p:spPr>
          <a:xfrm>
            <a:off x="3511296" y="5779008"/>
            <a:ext cx="2606040" cy="274320"/>
          </a:xfrm>
          <a:prstGeom prst="rect">
            <a:avLst/>
          </a:prstGeom>
          <a:noFill/>
          <a:ln/>
        </p:spPr>
        <p:txBody>
          <a:bodyPr wrap="square" lIns="0" tIns="0" rIns="0" bIns="0" rtlCol="0" anchor="ctr"/>
          <a:lstStyle/>
          <a:p>
            <a:pPr marL="0" indent="0">
              <a:buNone/>
            </a:pPr>
            <a:r>
              <a:rPr lang="en-US" sz="1300" b="1" dirty="0">
                <a:solidFill>
                  <a:srgbClr val="B07800"/>
                </a:solidFill>
                <a:latin typeface="Courier New" pitchFamily="34" charset="0"/>
                <a:ea typeface="Courier New" pitchFamily="34" charset="-122"/>
                <a:cs typeface="Courier New" pitchFamily="34" charset="-120"/>
              </a:rPr>
              <a:t>282.74</a:t>
            </a:r>
            <a:endParaRPr lang="en-US" sz="1300" dirty="0"/>
          </a:p>
        </p:txBody>
      </p:sp>
      <p:sp>
        <p:nvSpPr>
          <p:cNvPr id="18" name="Text 15"/>
          <p:cNvSpPr/>
          <p:nvPr/>
        </p:nvSpPr>
        <p:spPr>
          <a:xfrm>
            <a:off x="6181344" y="5522976"/>
            <a:ext cx="2606040" cy="256032"/>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C   </a:t>
            </a:r>
            <a:r>
              <a:rPr lang="en-US" sz="1100" dirty="0">
                <a:solidFill>
                  <a:srgbClr val="5B6B7C"/>
                </a:solidFill>
                <a:latin typeface="Calibri" pitchFamily="34" charset="0"/>
                <a:ea typeface="Calibri" pitchFamily="34" charset="-122"/>
                <a:cs typeface="Calibri" pitchFamily="34" charset="-120"/>
              </a:rPr>
              <a:t>C = 1000000  i = 0.02  n = 12</a:t>
            </a:r>
            <a:endParaRPr lang="en-US" sz="1200" dirty="0"/>
          </a:p>
        </p:txBody>
      </p:sp>
      <p:sp>
        <p:nvSpPr>
          <p:cNvPr id="19" name="Text 16"/>
          <p:cNvSpPr/>
          <p:nvPr/>
        </p:nvSpPr>
        <p:spPr>
          <a:xfrm>
            <a:off x="6181344" y="5779008"/>
            <a:ext cx="2606040" cy="274320"/>
          </a:xfrm>
          <a:prstGeom prst="rect">
            <a:avLst/>
          </a:prstGeom>
          <a:noFill/>
          <a:ln/>
        </p:spPr>
        <p:txBody>
          <a:bodyPr wrap="square" lIns="0" tIns="0" rIns="0" bIns="0" rtlCol="0" anchor="ctr"/>
          <a:lstStyle/>
          <a:p>
            <a:pPr marL="0" indent="0">
              <a:buNone/>
            </a:pPr>
            <a:r>
              <a:rPr lang="en-US" sz="1300" b="1" dirty="0">
                <a:solidFill>
                  <a:srgbClr val="B07800"/>
                </a:solidFill>
                <a:latin typeface="Courier New" pitchFamily="34" charset="0"/>
                <a:ea typeface="Courier New" pitchFamily="34" charset="-122"/>
                <a:cs typeface="Courier New" pitchFamily="34" charset="-120"/>
              </a:rPr>
              <a:t>1268241.79</a:t>
            </a:r>
            <a:endParaRPr lang="en-US" sz="1300" dirty="0"/>
          </a:p>
        </p:txBody>
      </p:sp>
      <p:sp>
        <p:nvSpPr>
          <p:cNvPr id="20" name="Text 17"/>
          <p:cNvSpPr/>
          <p:nvPr/>
        </p:nvSpPr>
        <p:spPr>
          <a:xfrm>
            <a:off x="8851392" y="5522976"/>
            <a:ext cx="2606040" cy="256032"/>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D   </a:t>
            </a:r>
            <a:r>
              <a:rPr lang="en-US" sz="1100" dirty="0">
                <a:solidFill>
                  <a:srgbClr val="5B6B7C"/>
                </a:solidFill>
                <a:latin typeface="Calibri" pitchFamily="34" charset="0"/>
                <a:ea typeface="Calibri" pitchFamily="34" charset="-122"/>
                <a:cs typeface="Calibri" pitchFamily="34" charset="-120"/>
              </a:rPr>
              <a:t>h = 20  g = 9.8</a:t>
            </a:r>
            <a:endParaRPr lang="en-US" sz="1200" dirty="0"/>
          </a:p>
        </p:txBody>
      </p:sp>
      <p:sp>
        <p:nvSpPr>
          <p:cNvPr id="21" name="Text 18"/>
          <p:cNvSpPr/>
          <p:nvPr/>
        </p:nvSpPr>
        <p:spPr>
          <a:xfrm>
            <a:off x="8851392" y="5779008"/>
            <a:ext cx="2606040" cy="274320"/>
          </a:xfrm>
          <a:prstGeom prst="rect">
            <a:avLst/>
          </a:prstGeom>
          <a:noFill/>
          <a:ln/>
        </p:spPr>
        <p:txBody>
          <a:bodyPr wrap="square" lIns="0" tIns="0" rIns="0" bIns="0" rtlCol="0" anchor="ctr"/>
          <a:lstStyle/>
          <a:p>
            <a:pPr marL="0" indent="0">
              <a:buNone/>
            </a:pPr>
            <a:r>
              <a:rPr lang="en-US" sz="1300" b="1" dirty="0">
                <a:solidFill>
                  <a:srgbClr val="B07800"/>
                </a:solidFill>
                <a:latin typeface="Courier New" pitchFamily="34" charset="0"/>
                <a:ea typeface="Courier New" pitchFamily="34" charset="-122"/>
                <a:cs typeface="Courier New" pitchFamily="34" charset="-120"/>
              </a:rPr>
              <a:t>2.02</a:t>
            </a:r>
            <a:endParaRPr lang="en-US" sz="1300" dirty="0"/>
          </a:p>
        </p:txBody>
      </p:sp>
      <p:sp>
        <p:nvSpPr>
          <p:cNvPr id="22" name="Text 19"/>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17</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CASO GUÍA</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Del pseudocódigo al programa</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La expresión es la misma. Cambian el nombre de las funciones y el punto y coma.</a:t>
            </a:r>
            <a:endParaRPr lang="en-US" sz="1400" dirty="0"/>
          </a:p>
        </p:txBody>
      </p:sp>
      <p:sp>
        <p:nvSpPr>
          <p:cNvPr id="5" name="Shape 3"/>
          <p:cNvSpPr/>
          <p:nvPr/>
        </p:nvSpPr>
        <p:spPr>
          <a:xfrm>
            <a:off x="548640" y="1975104"/>
            <a:ext cx="4846320" cy="3840480"/>
          </a:xfrm>
          <a:prstGeom prst="roundRect">
            <a:avLst>
              <a:gd name="adj" fmla="val 1905"/>
            </a:avLst>
          </a:prstGeom>
          <a:solidFill>
            <a:srgbClr val="E8EEF4"/>
          </a:solidFill>
          <a:ln w="12700">
            <a:solidFill>
              <a:srgbClr val="E8EEF4"/>
            </a:solidFill>
            <a:prstDash val="solid"/>
          </a:ln>
        </p:spPr>
        <p:txBody>
          <a:bodyPr/>
          <a:lstStyle/>
          <a:p>
            <a:endParaRPr lang="es-CO"/>
          </a:p>
        </p:txBody>
      </p:sp>
      <p:sp>
        <p:nvSpPr>
          <p:cNvPr id="6" name="Text 4"/>
          <p:cNvSpPr/>
          <p:nvPr/>
        </p:nvSpPr>
        <p:spPr>
          <a:xfrm>
            <a:off x="841248" y="2176272"/>
            <a:ext cx="4261104" cy="3438144"/>
          </a:xfrm>
          <a:prstGeom prst="rect">
            <a:avLst/>
          </a:prstGeom>
          <a:noFill/>
          <a:ln/>
        </p:spPr>
        <p:txBody>
          <a:bodyPr wrap="square" lIns="0" tIns="0" rIns="0" bIns="0" rtlCol="0" anchor="t"/>
          <a:lstStyle/>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Inicio</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entero xa, ya, xb, yb</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entero avanceH, avanceV</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real distancia</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Leer xa, ya</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Leer xb, yb</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avanceH ← xb - xa</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avanceV ← yb - ya</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distancia ← raiz(</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pot(avanceH, 2) +</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pot(avanceV, 2) )</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Escribir "Distancia: ",</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distancia</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Fin</a:t>
            </a:r>
            <a:endParaRPr lang="en-US" sz="1150" dirty="0"/>
          </a:p>
        </p:txBody>
      </p:sp>
      <p:sp>
        <p:nvSpPr>
          <p:cNvPr id="7" name="Shape 5"/>
          <p:cNvSpPr/>
          <p:nvPr/>
        </p:nvSpPr>
        <p:spPr>
          <a:xfrm>
            <a:off x="5669280" y="1975104"/>
            <a:ext cx="5971032" cy="3840480"/>
          </a:xfrm>
          <a:prstGeom prst="roundRect">
            <a:avLst>
              <a:gd name="adj" fmla="val 714"/>
            </a:avLst>
          </a:prstGeom>
          <a:solidFill>
            <a:srgbClr val="0B1E33"/>
          </a:solidFill>
          <a:ln w="12700">
            <a:solidFill>
              <a:srgbClr val="0B1E33"/>
            </a:solidFill>
            <a:prstDash val="solid"/>
          </a:ln>
        </p:spPr>
        <p:txBody>
          <a:bodyPr/>
          <a:lstStyle/>
          <a:p>
            <a:endParaRPr lang="es-CO"/>
          </a:p>
        </p:txBody>
      </p:sp>
      <p:sp>
        <p:nvSpPr>
          <p:cNvPr id="8" name="Text 6"/>
          <p:cNvSpPr/>
          <p:nvPr/>
        </p:nvSpPr>
        <p:spPr>
          <a:xfrm>
            <a:off x="5925312" y="2157984"/>
            <a:ext cx="5458968" cy="3474720"/>
          </a:xfrm>
          <a:prstGeom prst="rect">
            <a:avLst/>
          </a:prstGeom>
          <a:noFill/>
          <a:ln/>
        </p:spPr>
        <p:txBody>
          <a:bodyPr wrap="square" lIns="0" tIns="0" rIns="0" bIns="0" rtlCol="0" anchor="t"/>
          <a:lstStyle/>
          <a:p>
            <a:pPr marL="0" indent="0">
              <a:lnSpc>
                <a:spcPts val="1628"/>
              </a:lnSpc>
              <a:buNone/>
            </a:pPr>
            <a:r>
              <a:rPr lang="en-US" sz="1050" b="1" dirty="0">
                <a:solidFill>
                  <a:srgbClr val="FFB100"/>
                </a:solidFill>
                <a:latin typeface="Courier New" pitchFamily="34" charset="0"/>
                <a:ea typeface="Courier New" pitchFamily="34" charset="-122"/>
                <a:cs typeface="Courier New" pitchFamily="34" charset="-120"/>
              </a:rPr>
              <a:t>import </a:t>
            </a:r>
            <a:r>
              <a:rPr lang="en-US" sz="1050" dirty="0">
                <a:solidFill>
                  <a:srgbClr val="E8EEF4"/>
                </a:solidFill>
                <a:latin typeface="Courier New" pitchFamily="34" charset="0"/>
                <a:ea typeface="Courier New" pitchFamily="34" charset="-122"/>
                <a:cs typeface="Courier New" pitchFamily="34" charset="-120"/>
              </a:rPr>
              <a:t>java.util.Scanner;</a:t>
            </a:r>
            <a:endParaRPr lang="en-US" sz="1050" dirty="0"/>
          </a:p>
          <a:p>
            <a:pPr marL="0" indent="0">
              <a:lnSpc>
                <a:spcPts val="1628"/>
              </a:lnSpc>
              <a:buNone/>
            </a:pPr>
            <a:endParaRPr lang="en-US" sz="1050" dirty="0"/>
          </a:p>
          <a:p>
            <a:pPr marL="0" indent="0">
              <a:lnSpc>
                <a:spcPts val="1628"/>
              </a:lnSpc>
              <a:buNone/>
            </a:pPr>
            <a:r>
              <a:rPr lang="en-US" sz="1050" b="1" dirty="0">
                <a:solidFill>
                  <a:srgbClr val="FFB100"/>
                </a:solidFill>
                <a:latin typeface="Courier New" pitchFamily="34" charset="0"/>
                <a:ea typeface="Courier New" pitchFamily="34" charset="-122"/>
                <a:cs typeface="Courier New" pitchFamily="34" charset="-120"/>
              </a:rPr>
              <a:t>public class </a:t>
            </a:r>
            <a:r>
              <a:rPr lang="en-US" sz="1050" dirty="0">
                <a:solidFill>
                  <a:srgbClr val="E8EEF4"/>
                </a:solidFill>
                <a:latin typeface="Courier New" pitchFamily="34" charset="0"/>
                <a:ea typeface="Courier New" pitchFamily="34" charset="-122"/>
                <a:cs typeface="Courier New" pitchFamily="34" charset="-120"/>
              </a:rPr>
              <a:t>Distancia {</a:t>
            </a:r>
            <a:endParaRPr lang="en-US" sz="1050" dirty="0"/>
          </a:p>
          <a:p>
            <a:pPr marL="0" indent="0">
              <a:lnSpc>
                <a:spcPts val="1628"/>
              </a:lnSpc>
              <a:buNone/>
            </a:pPr>
            <a:r>
              <a:rPr lang="en-US" sz="1050" b="1" dirty="0">
                <a:solidFill>
                  <a:srgbClr val="FFB100"/>
                </a:solidFill>
                <a:latin typeface="Courier New" pitchFamily="34" charset="0"/>
                <a:ea typeface="Courier New" pitchFamily="34" charset="-122"/>
                <a:cs typeface="Courier New" pitchFamily="34" charset="-120"/>
              </a:rPr>
              <a:t>  public static void main</a:t>
            </a:r>
            <a:r>
              <a:rPr lang="en-US" sz="1050" dirty="0">
                <a:solidFill>
                  <a:srgbClr val="E8EEF4"/>
                </a:solidFill>
                <a:latin typeface="Courier New" pitchFamily="34" charset="0"/>
                <a:ea typeface="Courier New" pitchFamily="34" charset="-122"/>
                <a:cs typeface="Courier New" pitchFamily="34" charset="-120"/>
              </a:rPr>
              <a:t>(String[] a) {</a:t>
            </a:r>
            <a:endParaRPr lang="en-US" sz="1050" dirty="0"/>
          </a:p>
          <a:p>
            <a:pPr marL="0" indent="0">
              <a:lnSpc>
                <a:spcPts val="1628"/>
              </a:lnSpc>
              <a:buNone/>
            </a:pPr>
            <a:r>
              <a:rPr lang="en-US" sz="1050" dirty="0">
                <a:solidFill>
                  <a:srgbClr val="E8EEF4"/>
                </a:solidFill>
                <a:latin typeface="Courier New" pitchFamily="34" charset="0"/>
                <a:ea typeface="Courier New" pitchFamily="34" charset="-122"/>
                <a:cs typeface="Courier New" pitchFamily="34" charset="-120"/>
              </a:rPr>
              <a:t>    Scanner teclado = new Scanner(System.in);</a:t>
            </a:r>
            <a:endParaRPr lang="en-US" sz="1050" dirty="0"/>
          </a:p>
          <a:p>
            <a:pPr marL="0" indent="0">
              <a:lnSpc>
                <a:spcPts val="1628"/>
              </a:lnSpc>
              <a:buNone/>
            </a:pPr>
            <a:r>
              <a:rPr lang="en-US" sz="1050" dirty="0">
                <a:solidFill>
                  <a:srgbClr val="E8EEF4"/>
                </a:solidFill>
                <a:latin typeface="Courier New" pitchFamily="34" charset="0"/>
                <a:ea typeface="Courier New" pitchFamily="34" charset="-122"/>
                <a:cs typeface="Courier New" pitchFamily="34" charset="-120"/>
              </a:rPr>
              <a:t>    int xa = teclado.nextInt();</a:t>
            </a:r>
            <a:endParaRPr lang="en-US" sz="1050" dirty="0"/>
          </a:p>
          <a:p>
            <a:pPr marL="0" indent="0">
              <a:lnSpc>
                <a:spcPts val="1628"/>
              </a:lnSpc>
              <a:buNone/>
            </a:pPr>
            <a:r>
              <a:rPr lang="en-US" sz="1050" dirty="0">
                <a:solidFill>
                  <a:srgbClr val="E8EEF4"/>
                </a:solidFill>
                <a:latin typeface="Courier New" pitchFamily="34" charset="0"/>
                <a:ea typeface="Courier New" pitchFamily="34" charset="-122"/>
                <a:cs typeface="Courier New" pitchFamily="34" charset="-120"/>
              </a:rPr>
              <a:t>    int ya = teclado.nextInt();</a:t>
            </a:r>
            <a:endParaRPr lang="en-US" sz="1050" dirty="0"/>
          </a:p>
          <a:p>
            <a:pPr marL="0" indent="0">
              <a:lnSpc>
                <a:spcPts val="1628"/>
              </a:lnSpc>
              <a:buNone/>
            </a:pPr>
            <a:r>
              <a:rPr lang="en-US" sz="1050" dirty="0">
                <a:solidFill>
                  <a:srgbClr val="E8EEF4"/>
                </a:solidFill>
                <a:latin typeface="Courier New" pitchFamily="34" charset="0"/>
                <a:ea typeface="Courier New" pitchFamily="34" charset="-122"/>
                <a:cs typeface="Courier New" pitchFamily="34" charset="-120"/>
              </a:rPr>
              <a:t>    int xb = teclado.nextInt();</a:t>
            </a:r>
            <a:endParaRPr lang="en-US" sz="1050" dirty="0"/>
          </a:p>
          <a:p>
            <a:pPr marL="0" indent="0">
              <a:lnSpc>
                <a:spcPts val="1628"/>
              </a:lnSpc>
              <a:buNone/>
            </a:pPr>
            <a:r>
              <a:rPr lang="en-US" sz="1050" dirty="0">
                <a:solidFill>
                  <a:srgbClr val="E8EEF4"/>
                </a:solidFill>
                <a:latin typeface="Courier New" pitchFamily="34" charset="0"/>
                <a:ea typeface="Courier New" pitchFamily="34" charset="-122"/>
                <a:cs typeface="Courier New" pitchFamily="34" charset="-120"/>
              </a:rPr>
              <a:t>    int yb = teclado.nextInt();</a:t>
            </a:r>
            <a:endParaRPr lang="en-US" sz="1050" dirty="0"/>
          </a:p>
          <a:p>
            <a:pPr marL="0" indent="0">
              <a:lnSpc>
                <a:spcPts val="1628"/>
              </a:lnSpc>
              <a:buNone/>
            </a:pPr>
            <a:r>
              <a:rPr lang="en-US" sz="1050" dirty="0">
                <a:solidFill>
                  <a:srgbClr val="E8EEF4"/>
                </a:solidFill>
                <a:latin typeface="Courier New" pitchFamily="34" charset="0"/>
                <a:ea typeface="Courier New" pitchFamily="34" charset="-122"/>
                <a:cs typeface="Courier New" pitchFamily="34" charset="-120"/>
              </a:rPr>
              <a:t>    int avanceH = xb - xa;</a:t>
            </a:r>
            <a:endParaRPr lang="en-US" sz="1050" dirty="0"/>
          </a:p>
          <a:p>
            <a:pPr marL="0" indent="0">
              <a:lnSpc>
                <a:spcPts val="1628"/>
              </a:lnSpc>
              <a:buNone/>
            </a:pPr>
            <a:r>
              <a:rPr lang="en-US" sz="1050" dirty="0">
                <a:solidFill>
                  <a:srgbClr val="E8EEF4"/>
                </a:solidFill>
                <a:latin typeface="Courier New" pitchFamily="34" charset="0"/>
                <a:ea typeface="Courier New" pitchFamily="34" charset="-122"/>
                <a:cs typeface="Courier New" pitchFamily="34" charset="-120"/>
              </a:rPr>
              <a:t>    int avanceV = yb - ya;</a:t>
            </a:r>
            <a:endParaRPr lang="en-US" sz="1050" dirty="0"/>
          </a:p>
          <a:p>
            <a:pPr marL="0" indent="0">
              <a:lnSpc>
                <a:spcPts val="1628"/>
              </a:lnSpc>
              <a:buNone/>
            </a:pPr>
            <a:r>
              <a:rPr lang="en-US" sz="1050" dirty="0">
                <a:solidFill>
                  <a:srgbClr val="E8EEF4"/>
                </a:solidFill>
                <a:latin typeface="Courier New" pitchFamily="34" charset="0"/>
                <a:ea typeface="Courier New" pitchFamily="34" charset="-122"/>
                <a:cs typeface="Courier New" pitchFamily="34" charset="-120"/>
              </a:rPr>
              <a:t>    double distancia = Math.sqrt(</a:t>
            </a:r>
            <a:endParaRPr lang="en-US" sz="1050" dirty="0"/>
          </a:p>
          <a:p>
            <a:pPr marL="0" indent="0">
              <a:lnSpc>
                <a:spcPts val="1628"/>
              </a:lnSpc>
              <a:buNone/>
            </a:pPr>
            <a:r>
              <a:rPr lang="en-US" sz="1050" dirty="0">
                <a:solidFill>
                  <a:srgbClr val="E8EEF4"/>
                </a:solidFill>
                <a:latin typeface="Courier New" pitchFamily="34" charset="0"/>
                <a:ea typeface="Courier New" pitchFamily="34" charset="-122"/>
                <a:cs typeface="Courier New" pitchFamily="34" charset="-120"/>
              </a:rPr>
              <a:t>        Math.pow(avanceH, 2)</a:t>
            </a:r>
            <a:endParaRPr lang="en-US" sz="1050" dirty="0"/>
          </a:p>
          <a:p>
            <a:pPr marL="0" indent="0">
              <a:lnSpc>
                <a:spcPts val="1628"/>
              </a:lnSpc>
              <a:buNone/>
            </a:pPr>
            <a:r>
              <a:rPr lang="en-US" sz="1050" dirty="0">
                <a:solidFill>
                  <a:srgbClr val="E8EEF4"/>
                </a:solidFill>
                <a:latin typeface="Courier New" pitchFamily="34" charset="0"/>
                <a:ea typeface="Courier New" pitchFamily="34" charset="-122"/>
                <a:cs typeface="Courier New" pitchFamily="34" charset="-120"/>
              </a:rPr>
              <a:t>      + Math.pow(avanceV, 2));</a:t>
            </a:r>
            <a:endParaRPr lang="en-US" sz="1050" dirty="0"/>
          </a:p>
          <a:p>
            <a:pPr marL="0" indent="0">
              <a:lnSpc>
                <a:spcPts val="1628"/>
              </a:lnSpc>
              <a:buNone/>
            </a:pPr>
            <a:r>
              <a:rPr lang="en-US" sz="1050" dirty="0">
                <a:solidFill>
                  <a:srgbClr val="E8EEF4"/>
                </a:solidFill>
                <a:latin typeface="Courier New" pitchFamily="34" charset="0"/>
                <a:ea typeface="Courier New" pitchFamily="34" charset="-122"/>
                <a:cs typeface="Courier New" pitchFamily="34" charset="-120"/>
              </a:rPr>
              <a:t>    System.out.println(distancia);</a:t>
            </a:r>
            <a:endParaRPr lang="en-US" sz="1050" dirty="0"/>
          </a:p>
          <a:p>
            <a:pPr marL="0" indent="0">
              <a:lnSpc>
                <a:spcPts val="1628"/>
              </a:lnSpc>
              <a:buNone/>
            </a:pPr>
            <a:r>
              <a:rPr lang="en-US" sz="1050" dirty="0">
                <a:solidFill>
                  <a:srgbClr val="E8EEF4"/>
                </a:solidFill>
                <a:latin typeface="Courier New" pitchFamily="34" charset="0"/>
                <a:ea typeface="Courier New" pitchFamily="34" charset="-122"/>
                <a:cs typeface="Courier New" pitchFamily="34" charset="-120"/>
              </a:rPr>
              <a:t>  }</a:t>
            </a:r>
            <a:endParaRPr lang="en-US" sz="1050" dirty="0"/>
          </a:p>
          <a:p>
            <a:pPr marL="0" indent="0">
              <a:lnSpc>
                <a:spcPts val="1628"/>
              </a:lnSpc>
              <a:buNone/>
            </a:pPr>
            <a:r>
              <a:rPr lang="en-US" sz="1050" dirty="0">
                <a:solidFill>
                  <a:srgbClr val="E8EEF4"/>
                </a:solidFill>
                <a:latin typeface="Courier New" pitchFamily="34" charset="0"/>
                <a:ea typeface="Courier New" pitchFamily="34" charset="-122"/>
                <a:cs typeface="Courier New" pitchFamily="34" charset="-120"/>
              </a:rPr>
              <a:t>}</a:t>
            </a:r>
            <a:endParaRPr lang="en-US" sz="1050" dirty="0"/>
          </a:p>
        </p:txBody>
      </p:sp>
      <p:sp>
        <p:nvSpPr>
          <p:cNvPr id="9" name="Shape 7"/>
          <p:cNvSpPr/>
          <p:nvPr/>
        </p:nvSpPr>
        <p:spPr>
          <a:xfrm>
            <a:off x="548640" y="5961888"/>
            <a:ext cx="11091672" cy="475488"/>
          </a:xfrm>
          <a:prstGeom prst="roundRect">
            <a:avLst>
              <a:gd name="adj" fmla="val 15385"/>
            </a:avLst>
          </a:prstGeom>
          <a:solidFill>
            <a:srgbClr val="13294B"/>
          </a:solidFill>
          <a:ln w="12700">
            <a:solidFill>
              <a:srgbClr val="13294B"/>
            </a:solidFill>
            <a:prstDash val="solid"/>
          </a:ln>
        </p:spPr>
        <p:txBody>
          <a:bodyPr/>
          <a:lstStyle/>
          <a:p>
            <a:endParaRPr lang="es-CO"/>
          </a:p>
        </p:txBody>
      </p:sp>
      <p:sp>
        <p:nvSpPr>
          <p:cNvPr id="10" name="Text 8"/>
          <p:cNvSpPr/>
          <p:nvPr/>
        </p:nvSpPr>
        <p:spPr>
          <a:xfrm>
            <a:off x="868680" y="5961888"/>
            <a:ext cx="10451592" cy="475488"/>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LO QUE HAY QUE MIRAR:  </a:t>
            </a:r>
            <a:r>
              <a:rPr lang="en-US" sz="1350" dirty="0">
                <a:solidFill>
                  <a:srgbClr val="FFFFFF"/>
                </a:solidFill>
                <a:latin typeface="Calibri" pitchFamily="34" charset="0"/>
                <a:ea typeface="Calibri" pitchFamily="34" charset="-122"/>
                <a:cs typeface="Calibri" pitchFamily="34" charset="-120"/>
              </a:rPr>
              <a:t>los avances son enteros, pero la distancia es real, porque Math.sqrt siempre entrega un valor con decimales.</a:t>
            </a:r>
            <a:endParaRPr lang="en-US" sz="1350" dirty="0"/>
          </a:p>
        </p:txBody>
      </p:sp>
      <p:sp>
        <p:nvSpPr>
          <p:cNvPr id="11" name="Text 9"/>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ACTIVIDAD 4 · LABORATORIO · INDIVIDUAL</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Del enunciado al programa</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Aquí se juntan las dos cosas de hoy: descomponer con división y residuo, y armar bien la expresión.</a:t>
            </a:r>
            <a:endParaRPr lang="en-US" sz="1400" dirty="0"/>
          </a:p>
        </p:txBody>
      </p:sp>
      <p:sp>
        <p:nvSpPr>
          <p:cNvPr id="5" name="Shape 3"/>
          <p:cNvSpPr/>
          <p:nvPr/>
        </p:nvSpPr>
        <p:spPr>
          <a:xfrm>
            <a:off x="548640" y="2011680"/>
            <a:ext cx="6492240" cy="1700784"/>
          </a:xfrm>
          <a:prstGeom prst="roundRect">
            <a:avLst>
              <a:gd name="adj" fmla="val 4301"/>
            </a:avLst>
          </a:prstGeom>
          <a:solidFill>
            <a:srgbClr val="E8EEF4"/>
          </a:solidFill>
          <a:ln w="12700">
            <a:solidFill>
              <a:srgbClr val="E8EEF4"/>
            </a:solidFill>
            <a:prstDash val="solid"/>
          </a:ln>
        </p:spPr>
        <p:txBody>
          <a:bodyPr/>
          <a:lstStyle/>
          <a:p>
            <a:endParaRPr lang="es-CO"/>
          </a:p>
        </p:txBody>
      </p:sp>
      <p:sp>
        <p:nvSpPr>
          <p:cNvPr id="6" name="Text 4"/>
          <p:cNvSpPr/>
          <p:nvPr/>
        </p:nvSpPr>
        <p:spPr>
          <a:xfrm>
            <a:off x="841248" y="2121408"/>
            <a:ext cx="5852160" cy="256032"/>
          </a:xfrm>
          <a:prstGeom prst="rect">
            <a:avLst/>
          </a:prstGeom>
          <a:noFill/>
          <a:ln/>
        </p:spPr>
        <p:txBody>
          <a:bodyPr wrap="square" lIns="0" tIns="0" rIns="0" bIns="0" rtlCol="0" anchor="ctr"/>
          <a:lstStyle/>
          <a:p>
            <a:pPr marL="0" indent="0">
              <a:buNone/>
            </a:pPr>
            <a:r>
              <a:rPr lang="en-US" sz="1050" b="1" kern="0" spc="120" dirty="0">
                <a:solidFill>
                  <a:srgbClr val="1C7293"/>
                </a:solidFill>
                <a:latin typeface="Calibri" pitchFamily="34" charset="0"/>
                <a:ea typeface="Calibri" pitchFamily="34" charset="-122"/>
                <a:cs typeface="Calibri" pitchFamily="34" charset="-120"/>
              </a:rPr>
              <a:t>CRONÓMETRO DE COMPETENCIA</a:t>
            </a:r>
            <a:endParaRPr lang="en-US" sz="1050" dirty="0"/>
          </a:p>
        </p:txBody>
      </p:sp>
      <p:sp>
        <p:nvSpPr>
          <p:cNvPr id="7" name="Text 5"/>
          <p:cNvSpPr/>
          <p:nvPr/>
        </p:nvSpPr>
        <p:spPr>
          <a:xfrm>
            <a:off x="841248" y="2414016"/>
            <a:ext cx="5943600" cy="1188720"/>
          </a:xfrm>
          <a:prstGeom prst="rect">
            <a:avLst/>
          </a:prstGeom>
          <a:noFill/>
          <a:ln/>
        </p:spPr>
        <p:txBody>
          <a:bodyPr wrap="square" lIns="0" tIns="0" rIns="0" bIns="0" rtlCol="0" anchor="t"/>
          <a:lstStyle/>
          <a:p>
            <a:pPr marL="0" indent="0">
              <a:lnSpc>
                <a:spcPts val="1700"/>
              </a:lnSpc>
              <a:buNone/>
            </a:pPr>
            <a:r>
              <a:rPr lang="en-US" sz="1250" dirty="0">
                <a:solidFill>
                  <a:srgbClr val="1A1A2E"/>
                </a:solidFill>
                <a:latin typeface="Calibri" pitchFamily="34" charset="0"/>
                <a:ea typeface="Calibri" pitchFamily="34" charset="-122"/>
                <a:cs typeface="Calibri" pitchFamily="34" charset="-120"/>
              </a:rPr>
              <a:t>El cronómetro de una competencia de atletismo registra el tiempo de cada corredor en segundos, y el juez necesita leerlo en horas, minutos y segundos para anunciarlo. Dado el total de segundos registrado, calcule las tres cantidades.</a:t>
            </a:r>
            <a:endParaRPr lang="en-US" sz="1250" dirty="0"/>
          </a:p>
        </p:txBody>
      </p:sp>
      <p:sp>
        <p:nvSpPr>
          <p:cNvPr id="8" name="Shape 6"/>
          <p:cNvSpPr/>
          <p:nvPr/>
        </p:nvSpPr>
        <p:spPr>
          <a:xfrm>
            <a:off x="548640" y="3840480"/>
            <a:ext cx="6492240" cy="1005840"/>
          </a:xfrm>
          <a:prstGeom prst="roundRect">
            <a:avLst>
              <a:gd name="adj" fmla="val 7273"/>
            </a:avLst>
          </a:prstGeom>
          <a:solidFill>
            <a:srgbClr val="F4F7FB"/>
          </a:solidFill>
          <a:ln w="12700">
            <a:solidFill>
              <a:srgbClr val="F4F7FB"/>
            </a:solidFill>
            <a:prstDash val="solid"/>
          </a:ln>
        </p:spPr>
        <p:txBody>
          <a:bodyPr/>
          <a:lstStyle/>
          <a:p>
            <a:endParaRPr lang="es-CO"/>
          </a:p>
        </p:txBody>
      </p:sp>
      <p:sp>
        <p:nvSpPr>
          <p:cNvPr id="9" name="Text 7"/>
          <p:cNvSpPr/>
          <p:nvPr/>
        </p:nvSpPr>
        <p:spPr>
          <a:xfrm>
            <a:off x="841248" y="3840480"/>
            <a:ext cx="5943600" cy="1005840"/>
          </a:xfrm>
          <a:prstGeom prst="rect">
            <a:avLst/>
          </a:prstGeom>
          <a:noFill/>
          <a:ln/>
        </p:spPr>
        <p:txBody>
          <a:bodyPr wrap="square" lIns="0" tIns="0" rIns="0" bIns="0" rtlCol="0" anchor="ctr"/>
          <a:lstStyle/>
          <a:p>
            <a:pPr marL="0" indent="0">
              <a:lnSpc>
                <a:spcPts val="1900"/>
              </a:lnSpc>
              <a:buNone/>
            </a:pPr>
            <a:r>
              <a:rPr lang="en-US" sz="1050" b="1" kern="0" spc="120" dirty="0">
                <a:solidFill>
                  <a:srgbClr val="5B6B7C"/>
                </a:solidFill>
                <a:latin typeface="Calibri" pitchFamily="34" charset="0"/>
                <a:ea typeface="Calibri" pitchFamily="34" charset="-122"/>
                <a:cs typeface="Calibri" pitchFamily="34" charset="-120"/>
              </a:rPr>
              <a:t>ENTRADA   </a:t>
            </a:r>
            <a:r>
              <a:rPr lang="en-US" sz="1200" dirty="0">
                <a:solidFill>
                  <a:srgbClr val="1A1A2E"/>
                </a:solidFill>
                <a:latin typeface="Calibri" pitchFamily="34" charset="0"/>
                <a:ea typeface="Calibri" pitchFamily="34" charset="-122"/>
                <a:cs typeface="Calibri" pitchFamily="34" charset="-120"/>
              </a:rPr>
              <a:t>un número entero: el total de segundos
</a:t>
            </a:r>
            <a:endParaRPr lang="en-US" sz="1050" dirty="0"/>
          </a:p>
          <a:p>
            <a:pPr marL="0" indent="0">
              <a:lnSpc>
                <a:spcPts val="1900"/>
              </a:lnSpc>
              <a:buNone/>
            </a:pPr>
            <a:r>
              <a:rPr lang="en-US" sz="1050" b="1" kern="0" spc="120" dirty="0">
                <a:solidFill>
                  <a:srgbClr val="5B6B7C"/>
                </a:solidFill>
                <a:latin typeface="Calibri" pitchFamily="34" charset="0"/>
                <a:ea typeface="Calibri" pitchFamily="34" charset="-122"/>
                <a:cs typeface="Calibri" pitchFamily="34" charset="-120"/>
              </a:rPr>
              <a:t>SALIDA   </a:t>
            </a:r>
            <a:r>
              <a:rPr lang="en-US" sz="1200" dirty="0">
                <a:solidFill>
                  <a:srgbClr val="1A1A2E"/>
                </a:solidFill>
                <a:latin typeface="Calibri" pitchFamily="34" charset="0"/>
                <a:ea typeface="Calibri" pitchFamily="34" charset="-122"/>
                <a:cs typeface="Calibri" pitchFamily="34" charset="-120"/>
              </a:rPr>
              <a:t>tres números enteros en una sola línea, separados por un espacio</a:t>
            </a:r>
            <a:endParaRPr lang="en-US" sz="1050" dirty="0"/>
          </a:p>
        </p:txBody>
      </p:sp>
      <p:sp>
        <p:nvSpPr>
          <p:cNvPr id="10" name="Shape 8"/>
          <p:cNvSpPr/>
          <p:nvPr/>
        </p:nvSpPr>
        <p:spPr>
          <a:xfrm>
            <a:off x="548640" y="4974336"/>
            <a:ext cx="6492240" cy="1207008"/>
          </a:xfrm>
          <a:prstGeom prst="roundRect">
            <a:avLst>
              <a:gd name="adj" fmla="val 6061"/>
            </a:avLst>
          </a:prstGeom>
          <a:solidFill>
            <a:srgbClr val="FFF4DE"/>
          </a:solidFill>
          <a:ln w="12700">
            <a:solidFill>
              <a:srgbClr val="FFF4DE"/>
            </a:solidFill>
            <a:prstDash val="solid"/>
          </a:ln>
        </p:spPr>
        <p:txBody>
          <a:bodyPr/>
          <a:lstStyle/>
          <a:p>
            <a:endParaRPr lang="es-CO"/>
          </a:p>
        </p:txBody>
      </p:sp>
      <p:sp>
        <p:nvSpPr>
          <p:cNvPr id="11" name="Text 9"/>
          <p:cNvSpPr/>
          <p:nvPr/>
        </p:nvSpPr>
        <p:spPr>
          <a:xfrm>
            <a:off x="841248" y="5084064"/>
            <a:ext cx="5852160" cy="256032"/>
          </a:xfrm>
          <a:prstGeom prst="rect">
            <a:avLst/>
          </a:prstGeom>
          <a:noFill/>
          <a:ln/>
        </p:spPr>
        <p:txBody>
          <a:bodyPr wrap="square" lIns="0" tIns="0" rIns="0" bIns="0" rtlCol="0" anchor="ctr"/>
          <a:lstStyle/>
          <a:p>
            <a:pPr marL="0" indent="0">
              <a:buNone/>
            </a:pPr>
            <a:r>
              <a:rPr lang="en-US" sz="1050" b="1" kern="0" spc="120" dirty="0">
                <a:solidFill>
                  <a:srgbClr val="B07800"/>
                </a:solidFill>
                <a:latin typeface="Calibri" pitchFamily="34" charset="0"/>
                <a:ea typeface="Calibri" pitchFamily="34" charset="-122"/>
                <a:cs typeface="Calibri" pitchFamily="34" charset="-120"/>
              </a:rPr>
              <a:t>CASOS DE PRUEBA</a:t>
            </a:r>
            <a:endParaRPr lang="en-US" sz="1050" dirty="0"/>
          </a:p>
        </p:txBody>
      </p:sp>
      <p:sp>
        <p:nvSpPr>
          <p:cNvPr id="12" name="Text 10"/>
          <p:cNvSpPr/>
          <p:nvPr/>
        </p:nvSpPr>
        <p:spPr>
          <a:xfrm>
            <a:off x="841248" y="5376672"/>
            <a:ext cx="2011680" cy="603504"/>
          </a:xfrm>
          <a:prstGeom prst="rect">
            <a:avLst/>
          </a:prstGeom>
          <a:noFill/>
          <a:ln/>
        </p:spPr>
        <p:txBody>
          <a:bodyPr wrap="square" lIns="0" tIns="0" rIns="0" bIns="0" rtlCol="0" anchor="ctr"/>
          <a:lstStyle/>
          <a:p>
            <a:pPr marL="0" indent="0">
              <a:buNone/>
            </a:pPr>
            <a:r>
              <a:rPr lang="en-US" sz="1200" b="1" dirty="0">
                <a:solidFill>
                  <a:srgbClr val="13294B"/>
                </a:solidFill>
                <a:latin typeface="Courier New" pitchFamily="34" charset="0"/>
                <a:ea typeface="Courier New" pitchFamily="34" charset="-122"/>
                <a:cs typeface="Courier New" pitchFamily="34" charset="-120"/>
              </a:rPr>
              <a:t>7385</a:t>
            </a:r>
            <a:r>
              <a:rPr lang="en-US" sz="1000" dirty="0">
                <a:solidFill>
                  <a:srgbClr val="5B6B7C"/>
                </a:solidFill>
                <a:latin typeface="Calibri" pitchFamily="34" charset="0"/>
                <a:ea typeface="Calibri" pitchFamily="34" charset="-122"/>
                <a:cs typeface="Calibri" pitchFamily="34" charset="-120"/>
              </a:rPr>
              <a:t>   →   </a:t>
            </a:r>
            <a:r>
              <a:rPr lang="en-US" sz="1200" b="1" dirty="0">
                <a:solidFill>
                  <a:srgbClr val="B07800"/>
                </a:solidFill>
                <a:latin typeface="Courier New" pitchFamily="34" charset="0"/>
                <a:ea typeface="Courier New" pitchFamily="34" charset="-122"/>
                <a:cs typeface="Courier New" pitchFamily="34" charset="-120"/>
              </a:rPr>
              <a:t>2 3 5</a:t>
            </a:r>
            <a:endParaRPr lang="en-US" sz="1200" dirty="0"/>
          </a:p>
        </p:txBody>
      </p:sp>
      <p:sp>
        <p:nvSpPr>
          <p:cNvPr id="13" name="Text 11"/>
          <p:cNvSpPr/>
          <p:nvPr/>
        </p:nvSpPr>
        <p:spPr>
          <a:xfrm>
            <a:off x="2898648" y="5376672"/>
            <a:ext cx="2011680" cy="603504"/>
          </a:xfrm>
          <a:prstGeom prst="rect">
            <a:avLst/>
          </a:prstGeom>
          <a:noFill/>
          <a:ln/>
        </p:spPr>
        <p:txBody>
          <a:bodyPr wrap="square" lIns="0" tIns="0" rIns="0" bIns="0" rtlCol="0" anchor="ctr"/>
          <a:lstStyle/>
          <a:p>
            <a:pPr marL="0" indent="0">
              <a:buNone/>
            </a:pPr>
            <a:r>
              <a:rPr lang="en-US" sz="1200" b="1" dirty="0">
                <a:solidFill>
                  <a:srgbClr val="13294B"/>
                </a:solidFill>
                <a:latin typeface="Courier New" pitchFamily="34" charset="0"/>
                <a:ea typeface="Courier New" pitchFamily="34" charset="-122"/>
                <a:cs typeface="Courier New" pitchFamily="34" charset="-120"/>
              </a:rPr>
              <a:t>3600</a:t>
            </a:r>
            <a:r>
              <a:rPr lang="en-US" sz="1000" dirty="0">
                <a:solidFill>
                  <a:srgbClr val="5B6B7C"/>
                </a:solidFill>
                <a:latin typeface="Calibri" pitchFamily="34" charset="0"/>
                <a:ea typeface="Calibri" pitchFamily="34" charset="-122"/>
                <a:cs typeface="Calibri" pitchFamily="34" charset="-120"/>
              </a:rPr>
              <a:t>   →   </a:t>
            </a:r>
            <a:r>
              <a:rPr lang="en-US" sz="1200" b="1" dirty="0">
                <a:solidFill>
                  <a:srgbClr val="B07800"/>
                </a:solidFill>
                <a:latin typeface="Courier New" pitchFamily="34" charset="0"/>
                <a:ea typeface="Courier New" pitchFamily="34" charset="-122"/>
                <a:cs typeface="Courier New" pitchFamily="34" charset="-120"/>
              </a:rPr>
              <a:t>1 0 0</a:t>
            </a:r>
            <a:endParaRPr lang="en-US" sz="1200" dirty="0"/>
          </a:p>
        </p:txBody>
      </p:sp>
      <p:sp>
        <p:nvSpPr>
          <p:cNvPr id="14" name="Text 12"/>
          <p:cNvSpPr/>
          <p:nvPr/>
        </p:nvSpPr>
        <p:spPr>
          <a:xfrm>
            <a:off x="4956048" y="5376672"/>
            <a:ext cx="2011680" cy="603504"/>
          </a:xfrm>
          <a:prstGeom prst="rect">
            <a:avLst/>
          </a:prstGeom>
          <a:noFill/>
          <a:ln/>
        </p:spPr>
        <p:txBody>
          <a:bodyPr wrap="square" lIns="0" tIns="0" rIns="0" bIns="0" rtlCol="0" anchor="ctr"/>
          <a:lstStyle/>
          <a:p>
            <a:pPr marL="0" indent="0">
              <a:buNone/>
            </a:pPr>
            <a:r>
              <a:rPr lang="en-US" sz="1200" b="1" dirty="0">
                <a:solidFill>
                  <a:srgbClr val="13294B"/>
                </a:solidFill>
                <a:latin typeface="Courier New" pitchFamily="34" charset="0"/>
                <a:ea typeface="Courier New" pitchFamily="34" charset="-122"/>
                <a:cs typeface="Courier New" pitchFamily="34" charset="-120"/>
              </a:rPr>
              <a:t>59</a:t>
            </a:r>
            <a:r>
              <a:rPr lang="en-US" sz="1000" dirty="0">
                <a:solidFill>
                  <a:srgbClr val="5B6B7C"/>
                </a:solidFill>
                <a:latin typeface="Calibri" pitchFamily="34" charset="0"/>
                <a:ea typeface="Calibri" pitchFamily="34" charset="-122"/>
                <a:cs typeface="Calibri" pitchFamily="34" charset="-120"/>
              </a:rPr>
              <a:t>   →   </a:t>
            </a:r>
            <a:r>
              <a:rPr lang="en-US" sz="1200" b="1" dirty="0">
                <a:solidFill>
                  <a:srgbClr val="B07800"/>
                </a:solidFill>
                <a:latin typeface="Courier New" pitchFamily="34" charset="0"/>
                <a:ea typeface="Courier New" pitchFamily="34" charset="-122"/>
                <a:cs typeface="Courier New" pitchFamily="34" charset="-120"/>
              </a:rPr>
              <a:t>0 0 59</a:t>
            </a:r>
            <a:endParaRPr lang="en-US" sz="1200" dirty="0"/>
          </a:p>
        </p:txBody>
      </p:sp>
      <p:sp>
        <p:nvSpPr>
          <p:cNvPr id="15" name="Shape 13"/>
          <p:cNvSpPr/>
          <p:nvPr/>
        </p:nvSpPr>
        <p:spPr>
          <a:xfrm>
            <a:off x="7223760" y="2011680"/>
            <a:ext cx="4416552" cy="4169664"/>
          </a:xfrm>
          <a:prstGeom prst="roundRect">
            <a:avLst>
              <a:gd name="adj" fmla="val 1754"/>
            </a:avLst>
          </a:prstGeom>
          <a:solidFill>
            <a:srgbClr val="F4F7FB"/>
          </a:solidFill>
          <a:ln w="12700">
            <a:solidFill>
              <a:srgbClr val="F4F7FB"/>
            </a:solidFill>
            <a:prstDash val="solid"/>
          </a:ln>
        </p:spPr>
        <p:txBody>
          <a:bodyPr/>
          <a:lstStyle/>
          <a:p>
            <a:endParaRPr lang="es-CO"/>
          </a:p>
        </p:txBody>
      </p:sp>
      <p:sp>
        <p:nvSpPr>
          <p:cNvPr id="16" name="Text 14"/>
          <p:cNvSpPr/>
          <p:nvPr/>
        </p:nvSpPr>
        <p:spPr>
          <a:xfrm>
            <a:off x="7498080" y="2139696"/>
            <a:ext cx="3840480" cy="256032"/>
          </a:xfrm>
          <a:prstGeom prst="rect">
            <a:avLst/>
          </a:prstGeom>
          <a:noFill/>
          <a:ln/>
        </p:spPr>
        <p:txBody>
          <a:bodyPr wrap="square" lIns="0" tIns="0" rIns="0" bIns="0" rtlCol="0" anchor="ctr"/>
          <a:lstStyle/>
          <a:p>
            <a:pPr marL="0" indent="0">
              <a:buNone/>
            </a:pPr>
            <a:r>
              <a:rPr lang="en-US" sz="1050" b="1" kern="0" spc="120" dirty="0">
                <a:solidFill>
                  <a:srgbClr val="13294B"/>
                </a:solidFill>
                <a:latin typeface="Calibri" pitchFamily="34" charset="0"/>
                <a:ea typeface="Calibri" pitchFamily="34" charset="-122"/>
                <a:cs typeface="Calibri" pitchFamily="34" charset="-120"/>
              </a:rPr>
              <a:t>CÓMO SE ENTREGA</a:t>
            </a:r>
            <a:endParaRPr lang="en-US" sz="1050" dirty="0"/>
          </a:p>
        </p:txBody>
      </p:sp>
      <p:sp>
        <p:nvSpPr>
          <p:cNvPr id="17" name="Shape 15"/>
          <p:cNvSpPr/>
          <p:nvPr/>
        </p:nvSpPr>
        <p:spPr>
          <a:xfrm>
            <a:off x="7498080" y="2487168"/>
            <a:ext cx="402336" cy="402336"/>
          </a:xfrm>
          <a:prstGeom prst="ellipse">
            <a:avLst/>
          </a:prstGeom>
          <a:solidFill>
            <a:srgbClr val="1C7293"/>
          </a:solidFill>
          <a:ln w="12700">
            <a:solidFill>
              <a:srgbClr val="1C7293"/>
            </a:solidFill>
            <a:prstDash val="solid"/>
          </a:ln>
        </p:spPr>
        <p:txBody>
          <a:bodyPr/>
          <a:lstStyle/>
          <a:p>
            <a:endParaRPr lang="es-CO"/>
          </a:p>
        </p:txBody>
      </p:sp>
      <p:sp>
        <p:nvSpPr>
          <p:cNvPr id="18" name="Text 16"/>
          <p:cNvSpPr/>
          <p:nvPr/>
        </p:nvSpPr>
        <p:spPr>
          <a:xfrm>
            <a:off x="7498080" y="248716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9" name="Text 17"/>
          <p:cNvSpPr/>
          <p:nvPr/>
        </p:nvSpPr>
        <p:spPr>
          <a:xfrm>
            <a:off x="8028432" y="2468880"/>
            <a:ext cx="3383280" cy="256032"/>
          </a:xfrm>
          <a:prstGeom prst="rect">
            <a:avLst/>
          </a:prstGeom>
          <a:noFill/>
          <a:ln/>
        </p:spPr>
        <p:txBody>
          <a:bodyPr wrap="square" lIns="0" tIns="0" rIns="0" bIns="0" rtlCol="0" anchor="ctr"/>
          <a:lstStyle/>
          <a:p>
            <a:pPr marL="0" indent="0">
              <a:buNone/>
            </a:pPr>
            <a:r>
              <a:rPr lang="en-US" sz="1250" b="1" dirty="0">
                <a:solidFill>
                  <a:srgbClr val="13294B"/>
                </a:solidFill>
                <a:latin typeface="Calibri" pitchFamily="34" charset="0"/>
                <a:ea typeface="Calibri" pitchFamily="34" charset="-122"/>
                <a:cs typeface="Calibri" pitchFamily="34" charset="-120"/>
              </a:rPr>
              <a:t>El análisis</a:t>
            </a:r>
            <a:endParaRPr lang="en-US" sz="1250" dirty="0"/>
          </a:p>
        </p:txBody>
      </p:sp>
      <p:sp>
        <p:nvSpPr>
          <p:cNvPr id="20" name="Text 18"/>
          <p:cNvSpPr/>
          <p:nvPr/>
        </p:nvSpPr>
        <p:spPr>
          <a:xfrm>
            <a:off x="8028432" y="2724912"/>
            <a:ext cx="3429000" cy="402336"/>
          </a:xfrm>
          <a:prstGeom prst="rect">
            <a:avLst/>
          </a:prstGeom>
          <a:noFill/>
          <a:ln/>
        </p:spPr>
        <p:txBody>
          <a:bodyPr wrap="square" lIns="0" tIns="0" rIns="0" bIns="0" rtlCol="0" anchor="t"/>
          <a:lstStyle/>
          <a:p>
            <a:pPr marL="0" indent="0">
              <a:lnSpc>
                <a:spcPts val="1350"/>
              </a:lnSpc>
              <a:buNone/>
            </a:pPr>
            <a:r>
              <a:rPr lang="en-US" sz="1100" dirty="0">
                <a:solidFill>
                  <a:srgbClr val="5B6B7C"/>
                </a:solidFill>
                <a:latin typeface="Calibri" pitchFamily="34" charset="0"/>
                <a:ea typeface="Calibri" pitchFamily="34" charset="-122"/>
                <a:cs typeface="Calibri" pitchFamily="34" charset="-120"/>
              </a:rPr>
              <a:t>Entradas, proceso y salidas, en la hoja.</a:t>
            </a:r>
            <a:endParaRPr lang="en-US" sz="1100" dirty="0"/>
          </a:p>
        </p:txBody>
      </p:sp>
      <p:sp>
        <p:nvSpPr>
          <p:cNvPr id="21" name="Shape 19"/>
          <p:cNvSpPr/>
          <p:nvPr/>
        </p:nvSpPr>
        <p:spPr>
          <a:xfrm>
            <a:off x="7498080" y="3346704"/>
            <a:ext cx="402336" cy="402336"/>
          </a:xfrm>
          <a:prstGeom prst="ellipse">
            <a:avLst/>
          </a:prstGeom>
          <a:solidFill>
            <a:srgbClr val="1C7293"/>
          </a:solidFill>
          <a:ln w="12700">
            <a:solidFill>
              <a:srgbClr val="1C7293"/>
            </a:solidFill>
            <a:prstDash val="solid"/>
          </a:ln>
        </p:spPr>
        <p:txBody>
          <a:bodyPr/>
          <a:lstStyle/>
          <a:p>
            <a:endParaRPr lang="es-CO"/>
          </a:p>
        </p:txBody>
      </p:sp>
      <p:sp>
        <p:nvSpPr>
          <p:cNvPr id="22" name="Text 20"/>
          <p:cNvSpPr/>
          <p:nvPr/>
        </p:nvSpPr>
        <p:spPr>
          <a:xfrm>
            <a:off x="7498080" y="334670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3" name="Text 21"/>
          <p:cNvSpPr/>
          <p:nvPr/>
        </p:nvSpPr>
        <p:spPr>
          <a:xfrm>
            <a:off x="8028432" y="3328416"/>
            <a:ext cx="3383280" cy="256032"/>
          </a:xfrm>
          <a:prstGeom prst="rect">
            <a:avLst/>
          </a:prstGeom>
          <a:noFill/>
          <a:ln/>
        </p:spPr>
        <p:txBody>
          <a:bodyPr wrap="square" lIns="0" tIns="0" rIns="0" bIns="0" rtlCol="0" anchor="ctr"/>
          <a:lstStyle/>
          <a:p>
            <a:pPr marL="0" indent="0">
              <a:buNone/>
            </a:pPr>
            <a:r>
              <a:rPr lang="en-US" sz="1250" b="1" dirty="0">
                <a:solidFill>
                  <a:srgbClr val="13294B"/>
                </a:solidFill>
                <a:latin typeface="Calibri" pitchFamily="34" charset="0"/>
                <a:ea typeface="Calibri" pitchFamily="34" charset="-122"/>
                <a:cs typeface="Calibri" pitchFamily="34" charset="-120"/>
              </a:rPr>
              <a:t>El pseudocódigo</a:t>
            </a:r>
            <a:endParaRPr lang="en-US" sz="1250" dirty="0"/>
          </a:p>
        </p:txBody>
      </p:sp>
      <p:sp>
        <p:nvSpPr>
          <p:cNvPr id="24" name="Text 22"/>
          <p:cNvSpPr/>
          <p:nvPr/>
        </p:nvSpPr>
        <p:spPr>
          <a:xfrm>
            <a:off x="8028432" y="3584448"/>
            <a:ext cx="3429000" cy="402336"/>
          </a:xfrm>
          <a:prstGeom prst="rect">
            <a:avLst/>
          </a:prstGeom>
          <a:noFill/>
          <a:ln/>
        </p:spPr>
        <p:txBody>
          <a:bodyPr wrap="square" lIns="0" tIns="0" rIns="0" bIns="0" rtlCol="0" anchor="t"/>
          <a:lstStyle/>
          <a:p>
            <a:pPr marL="0" indent="0">
              <a:lnSpc>
                <a:spcPts val="1350"/>
              </a:lnSpc>
              <a:buNone/>
            </a:pPr>
            <a:r>
              <a:rPr lang="en-US" sz="1100" dirty="0">
                <a:solidFill>
                  <a:srgbClr val="5B6B7C"/>
                </a:solidFill>
                <a:latin typeface="Calibri" pitchFamily="34" charset="0"/>
                <a:ea typeface="Calibri" pitchFamily="34" charset="-122"/>
                <a:cs typeface="Calibri" pitchFamily="34" charset="-120"/>
              </a:rPr>
              <a:t>Con la convención del curso, completo.</a:t>
            </a:r>
            <a:endParaRPr lang="en-US" sz="1100" dirty="0"/>
          </a:p>
        </p:txBody>
      </p:sp>
      <p:sp>
        <p:nvSpPr>
          <p:cNvPr id="25" name="Shape 23"/>
          <p:cNvSpPr/>
          <p:nvPr/>
        </p:nvSpPr>
        <p:spPr>
          <a:xfrm>
            <a:off x="7498080" y="4206240"/>
            <a:ext cx="402336" cy="402336"/>
          </a:xfrm>
          <a:prstGeom prst="ellipse">
            <a:avLst/>
          </a:prstGeom>
          <a:solidFill>
            <a:srgbClr val="1C7293"/>
          </a:solidFill>
          <a:ln w="12700">
            <a:solidFill>
              <a:srgbClr val="1C7293"/>
            </a:solidFill>
            <a:prstDash val="solid"/>
          </a:ln>
        </p:spPr>
        <p:txBody>
          <a:bodyPr/>
          <a:lstStyle/>
          <a:p>
            <a:endParaRPr lang="es-CO"/>
          </a:p>
        </p:txBody>
      </p:sp>
      <p:sp>
        <p:nvSpPr>
          <p:cNvPr id="26" name="Text 24"/>
          <p:cNvSpPr/>
          <p:nvPr/>
        </p:nvSpPr>
        <p:spPr>
          <a:xfrm>
            <a:off x="7498080" y="420624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7" name="Text 25"/>
          <p:cNvSpPr/>
          <p:nvPr/>
        </p:nvSpPr>
        <p:spPr>
          <a:xfrm>
            <a:off x="8028432" y="4187952"/>
            <a:ext cx="3383280" cy="256032"/>
          </a:xfrm>
          <a:prstGeom prst="rect">
            <a:avLst/>
          </a:prstGeom>
          <a:noFill/>
          <a:ln/>
        </p:spPr>
        <p:txBody>
          <a:bodyPr wrap="square" lIns="0" tIns="0" rIns="0" bIns="0" rtlCol="0" anchor="ctr"/>
          <a:lstStyle/>
          <a:p>
            <a:pPr marL="0" indent="0">
              <a:buNone/>
            </a:pPr>
            <a:r>
              <a:rPr lang="en-US" sz="1250" b="1" dirty="0">
                <a:solidFill>
                  <a:srgbClr val="13294B"/>
                </a:solidFill>
                <a:latin typeface="Calibri" pitchFamily="34" charset="0"/>
                <a:ea typeface="Calibri" pitchFamily="34" charset="-122"/>
                <a:cs typeface="Calibri" pitchFamily="34" charset="-120"/>
              </a:rPr>
              <a:t>El programa</a:t>
            </a:r>
            <a:endParaRPr lang="en-US" sz="1250" dirty="0"/>
          </a:p>
        </p:txBody>
      </p:sp>
      <p:sp>
        <p:nvSpPr>
          <p:cNvPr id="28" name="Text 26"/>
          <p:cNvSpPr/>
          <p:nvPr/>
        </p:nvSpPr>
        <p:spPr>
          <a:xfrm>
            <a:off x="8028432" y="4443984"/>
            <a:ext cx="3429000" cy="402336"/>
          </a:xfrm>
          <a:prstGeom prst="rect">
            <a:avLst/>
          </a:prstGeom>
          <a:noFill/>
          <a:ln/>
        </p:spPr>
        <p:txBody>
          <a:bodyPr wrap="square" lIns="0" tIns="0" rIns="0" bIns="0" rtlCol="0" anchor="t"/>
          <a:lstStyle/>
          <a:p>
            <a:pPr marL="0" indent="0">
              <a:lnSpc>
                <a:spcPts val="1350"/>
              </a:lnSpc>
              <a:buNone/>
            </a:pPr>
            <a:r>
              <a:rPr lang="en-US" sz="1100" dirty="0">
                <a:solidFill>
                  <a:srgbClr val="5B6B7C"/>
                </a:solidFill>
                <a:latin typeface="Calibri" pitchFamily="34" charset="0"/>
                <a:ea typeface="Calibri" pitchFamily="34" charset="-122"/>
                <a:cs typeface="Calibri" pitchFamily="34" charset="-120"/>
              </a:rPr>
              <a:t>Clase Cronometro, compilando.</a:t>
            </a:r>
            <a:endParaRPr lang="en-US" sz="1100" dirty="0"/>
          </a:p>
        </p:txBody>
      </p:sp>
      <p:sp>
        <p:nvSpPr>
          <p:cNvPr id="29" name="Shape 27"/>
          <p:cNvSpPr/>
          <p:nvPr/>
        </p:nvSpPr>
        <p:spPr>
          <a:xfrm>
            <a:off x="7498080" y="5065776"/>
            <a:ext cx="402336" cy="402336"/>
          </a:xfrm>
          <a:prstGeom prst="ellipse">
            <a:avLst/>
          </a:prstGeom>
          <a:solidFill>
            <a:srgbClr val="1C7293"/>
          </a:solidFill>
          <a:ln w="12700">
            <a:solidFill>
              <a:srgbClr val="1C7293"/>
            </a:solidFill>
            <a:prstDash val="solid"/>
          </a:ln>
        </p:spPr>
        <p:txBody>
          <a:bodyPr/>
          <a:lstStyle/>
          <a:p>
            <a:endParaRPr lang="es-CO"/>
          </a:p>
        </p:txBody>
      </p:sp>
      <p:sp>
        <p:nvSpPr>
          <p:cNvPr id="30" name="Text 28"/>
          <p:cNvSpPr/>
          <p:nvPr/>
        </p:nvSpPr>
        <p:spPr>
          <a:xfrm>
            <a:off x="7498080" y="506577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1" name="Text 29"/>
          <p:cNvSpPr/>
          <p:nvPr/>
        </p:nvSpPr>
        <p:spPr>
          <a:xfrm>
            <a:off x="8028432" y="5047488"/>
            <a:ext cx="3383280" cy="256032"/>
          </a:xfrm>
          <a:prstGeom prst="rect">
            <a:avLst/>
          </a:prstGeom>
          <a:noFill/>
          <a:ln/>
        </p:spPr>
        <p:txBody>
          <a:bodyPr wrap="square" lIns="0" tIns="0" rIns="0" bIns="0" rtlCol="0" anchor="ctr"/>
          <a:lstStyle/>
          <a:p>
            <a:pPr marL="0" indent="0">
              <a:buNone/>
            </a:pPr>
            <a:r>
              <a:rPr lang="en-US" sz="1250" b="1" dirty="0">
                <a:solidFill>
                  <a:srgbClr val="13294B"/>
                </a:solidFill>
                <a:latin typeface="Calibri" pitchFamily="34" charset="0"/>
                <a:ea typeface="Calibri" pitchFamily="34" charset="-122"/>
                <a:cs typeface="Calibri" pitchFamily="34" charset="-120"/>
              </a:rPr>
              <a:t>La prueba</a:t>
            </a:r>
            <a:endParaRPr lang="en-US" sz="1250" dirty="0"/>
          </a:p>
        </p:txBody>
      </p:sp>
      <p:sp>
        <p:nvSpPr>
          <p:cNvPr id="32" name="Text 30"/>
          <p:cNvSpPr/>
          <p:nvPr/>
        </p:nvSpPr>
        <p:spPr>
          <a:xfrm>
            <a:off x="8028432" y="5303520"/>
            <a:ext cx="3429000" cy="402336"/>
          </a:xfrm>
          <a:prstGeom prst="rect">
            <a:avLst/>
          </a:prstGeom>
          <a:noFill/>
          <a:ln/>
        </p:spPr>
        <p:txBody>
          <a:bodyPr wrap="square" lIns="0" tIns="0" rIns="0" bIns="0" rtlCol="0" anchor="t"/>
          <a:lstStyle/>
          <a:p>
            <a:pPr marL="0" indent="0">
              <a:lnSpc>
                <a:spcPts val="1350"/>
              </a:lnSpc>
              <a:buNone/>
            </a:pPr>
            <a:r>
              <a:rPr lang="en-US" sz="1100" dirty="0">
                <a:solidFill>
                  <a:srgbClr val="5B6B7C"/>
                </a:solidFill>
                <a:latin typeface="Calibri" pitchFamily="34" charset="0"/>
                <a:ea typeface="Calibri" pitchFamily="34" charset="-122"/>
                <a:cs typeface="Calibri" pitchFamily="34" charset="-120"/>
              </a:rPr>
              <a:t>Los tres casos, con la salida obtenida.</a:t>
            </a:r>
            <a:endParaRPr lang="en-US" sz="1100" dirty="0"/>
          </a:p>
        </p:txBody>
      </p:sp>
      <p:sp>
        <p:nvSpPr>
          <p:cNvPr id="33" name="Shape 31"/>
          <p:cNvSpPr/>
          <p:nvPr/>
        </p:nvSpPr>
        <p:spPr>
          <a:xfrm>
            <a:off x="7498080" y="5870448"/>
            <a:ext cx="3867912" cy="0"/>
          </a:xfrm>
          <a:prstGeom prst="roundRect">
            <a:avLst>
              <a:gd name="adj" fmla="val Infinity"/>
            </a:avLst>
          </a:prstGeom>
          <a:solidFill>
            <a:srgbClr val="F4F7FB"/>
          </a:solidFill>
          <a:ln w="12700">
            <a:solidFill>
              <a:srgbClr val="F4F7FB"/>
            </a:solidFill>
            <a:prstDash val="solid"/>
          </a:ln>
        </p:spPr>
        <p:txBody>
          <a:bodyPr/>
          <a:lstStyle/>
          <a:p>
            <a:endParaRPr lang="es-CO"/>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TRABAJO INDEPENDIENTE · PARTE A</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Ejercicios de expresiones</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Se resuelven en el cuaderno. Después se comprueban en un solo programa con todas las líneas.</a:t>
            </a:r>
            <a:endParaRPr lang="en-US" sz="1400" dirty="0"/>
          </a:p>
        </p:txBody>
      </p:sp>
      <p:sp>
        <p:nvSpPr>
          <p:cNvPr id="5" name="Shape 3"/>
          <p:cNvSpPr/>
          <p:nvPr/>
        </p:nvSpPr>
        <p:spPr>
          <a:xfrm>
            <a:off x="548640" y="1975104"/>
            <a:ext cx="5532120" cy="2395728"/>
          </a:xfrm>
          <a:prstGeom prst="roundRect">
            <a:avLst>
              <a:gd name="adj" fmla="val 3053"/>
            </a:avLst>
          </a:prstGeom>
          <a:solidFill>
            <a:srgbClr val="F4F7FB"/>
          </a:solidFill>
          <a:ln w="12700">
            <a:solidFill>
              <a:srgbClr val="F4F7FB"/>
            </a:solidFill>
            <a:prstDash val="solid"/>
          </a:ln>
        </p:spPr>
        <p:txBody>
          <a:bodyPr/>
          <a:lstStyle/>
          <a:p>
            <a:endParaRPr lang="es-CO"/>
          </a:p>
        </p:txBody>
      </p:sp>
      <p:sp>
        <p:nvSpPr>
          <p:cNvPr id="6" name="Text 4"/>
          <p:cNvSpPr/>
          <p:nvPr/>
        </p:nvSpPr>
        <p:spPr>
          <a:xfrm>
            <a:off x="822960" y="2084832"/>
            <a:ext cx="4937760" cy="256032"/>
          </a:xfrm>
          <a:prstGeom prst="rect">
            <a:avLst/>
          </a:prstGeom>
          <a:noFill/>
          <a:ln/>
        </p:spPr>
        <p:txBody>
          <a:bodyPr wrap="square" lIns="0" tIns="0" rIns="0" bIns="0" rtlCol="0" anchor="ctr"/>
          <a:lstStyle/>
          <a:p>
            <a:pPr marL="0" indent="0">
              <a:buNone/>
            </a:pPr>
            <a:r>
              <a:rPr lang="en-US" sz="1050" b="1" kern="0" spc="120" dirty="0">
                <a:solidFill>
                  <a:srgbClr val="13294B"/>
                </a:solidFill>
                <a:latin typeface="Calibri" pitchFamily="34" charset="0"/>
                <a:ea typeface="Calibri" pitchFamily="34" charset="-122"/>
                <a:cs typeface="Calibri" pitchFamily="34" charset="-120"/>
              </a:rPr>
              <a:t>A1 · EVALÚA PASO A PASO</a:t>
            </a:r>
            <a:endParaRPr lang="en-US" sz="1050" dirty="0"/>
          </a:p>
        </p:txBody>
      </p:sp>
      <p:sp>
        <p:nvSpPr>
          <p:cNvPr id="7" name="Text 5"/>
          <p:cNvSpPr/>
          <p:nvPr/>
        </p:nvSpPr>
        <p:spPr>
          <a:xfrm>
            <a:off x="822960" y="2395728"/>
            <a:ext cx="4937760" cy="2286000"/>
          </a:xfrm>
          <a:prstGeom prst="rect">
            <a:avLst/>
          </a:prstGeom>
          <a:noFill/>
          <a:ln/>
        </p:spPr>
        <p:txBody>
          <a:bodyPr wrap="square" lIns="0" tIns="0" rIns="0" bIns="0" rtlCol="0" anchor="t"/>
          <a:lstStyle/>
          <a:p>
            <a:pPr marL="0" indent="0">
              <a:spcAft>
                <a:spcPts val="600"/>
              </a:spcAft>
              <a:buNone/>
            </a:pPr>
            <a:r>
              <a:rPr lang="en-US" sz="1250" b="1" dirty="0">
                <a:solidFill>
                  <a:srgbClr val="13294B"/>
                </a:solidFill>
                <a:latin typeface="Courier New" pitchFamily="34" charset="0"/>
                <a:ea typeface="Courier New" pitchFamily="34" charset="-122"/>
                <a:cs typeface="Courier New" pitchFamily="34" charset="-120"/>
              </a:rPr>
              <a:t>a)   18 / 4 + 18 % 4</a:t>
            </a:r>
            <a:endParaRPr lang="en-US" sz="1250" dirty="0"/>
          </a:p>
          <a:p>
            <a:pPr marL="0" indent="0">
              <a:spcAft>
                <a:spcPts val="600"/>
              </a:spcAft>
              <a:buNone/>
            </a:pPr>
            <a:r>
              <a:rPr lang="en-US" sz="1250" b="1" dirty="0">
                <a:solidFill>
                  <a:srgbClr val="13294B"/>
                </a:solidFill>
                <a:latin typeface="Courier New" pitchFamily="34" charset="0"/>
                <a:ea typeface="Courier New" pitchFamily="34" charset="-122"/>
                <a:cs typeface="Courier New" pitchFamily="34" charset="-120"/>
              </a:rPr>
              <a:t>b)   3 * (7 - 2) % 6</a:t>
            </a:r>
            <a:endParaRPr lang="en-US" sz="1250" dirty="0"/>
          </a:p>
          <a:p>
            <a:pPr marL="0" indent="0">
              <a:spcAft>
                <a:spcPts val="600"/>
              </a:spcAft>
              <a:buNone/>
            </a:pPr>
            <a:r>
              <a:rPr lang="en-US" sz="1250" b="1" dirty="0">
                <a:solidFill>
                  <a:srgbClr val="13294B"/>
                </a:solidFill>
                <a:latin typeface="Courier New" pitchFamily="34" charset="0"/>
                <a:ea typeface="Courier New" pitchFamily="34" charset="-122"/>
                <a:cs typeface="Courier New" pitchFamily="34" charset="-120"/>
              </a:rPr>
              <a:t>c)   50 - 20 / 5 * 2</a:t>
            </a:r>
            <a:endParaRPr lang="en-US" sz="1250" dirty="0"/>
          </a:p>
          <a:p>
            <a:pPr marL="0" indent="0">
              <a:spcAft>
                <a:spcPts val="600"/>
              </a:spcAft>
              <a:buNone/>
            </a:pPr>
            <a:r>
              <a:rPr lang="en-US" sz="1250" b="1" dirty="0">
                <a:solidFill>
                  <a:srgbClr val="13294B"/>
                </a:solidFill>
                <a:latin typeface="Courier New" pitchFamily="34" charset="0"/>
                <a:ea typeface="Courier New" pitchFamily="34" charset="-122"/>
                <a:cs typeface="Courier New" pitchFamily="34" charset="-120"/>
              </a:rPr>
              <a:t>d)   (9 + 6) % (2 + 2)</a:t>
            </a:r>
            <a:endParaRPr lang="en-US" sz="1250" dirty="0"/>
          </a:p>
          <a:p>
            <a:pPr marL="0" indent="0">
              <a:spcAft>
                <a:spcPts val="600"/>
              </a:spcAft>
              <a:buNone/>
            </a:pPr>
            <a:r>
              <a:rPr lang="en-US" sz="1250" b="1" dirty="0">
                <a:solidFill>
                  <a:srgbClr val="13294B"/>
                </a:solidFill>
                <a:latin typeface="Courier New" pitchFamily="34" charset="0"/>
                <a:ea typeface="Courier New" pitchFamily="34" charset="-122"/>
                <a:cs typeface="Courier New" pitchFamily="34" charset="-120"/>
              </a:rPr>
              <a:t>e)   7 * 3 % 4 + 1</a:t>
            </a:r>
            <a:endParaRPr lang="en-US" sz="1250" dirty="0"/>
          </a:p>
          <a:p>
            <a:pPr marL="0" indent="0">
              <a:spcAft>
                <a:spcPts val="600"/>
              </a:spcAft>
              <a:buNone/>
            </a:pPr>
            <a:r>
              <a:rPr lang="en-US" sz="1250" b="1" dirty="0">
                <a:solidFill>
                  <a:srgbClr val="13294B"/>
                </a:solidFill>
                <a:latin typeface="Courier New" pitchFamily="34" charset="0"/>
                <a:ea typeface="Courier New" pitchFamily="34" charset="-122"/>
                <a:cs typeface="Courier New" pitchFamily="34" charset="-120"/>
              </a:rPr>
              <a:t>f)   -4 + 12 / 3 * 2</a:t>
            </a:r>
            <a:endParaRPr lang="en-US" sz="1250" dirty="0"/>
          </a:p>
        </p:txBody>
      </p:sp>
      <p:sp>
        <p:nvSpPr>
          <p:cNvPr id="8" name="Shape 6"/>
          <p:cNvSpPr/>
          <p:nvPr/>
        </p:nvSpPr>
        <p:spPr>
          <a:xfrm>
            <a:off x="6492240" y="1975104"/>
            <a:ext cx="5148072" cy="2395728"/>
          </a:xfrm>
          <a:prstGeom prst="roundRect">
            <a:avLst>
              <a:gd name="adj" fmla="val 3053"/>
            </a:avLst>
          </a:prstGeom>
          <a:solidFill>
            <a:srgbClr val="E8EEF4"/>
          </a:solidFill>
          <a:ln w="12700">
            <a:solidFill>
              <a:srgbClr val="E8EEF4"/>
            </a:solidFill>
            <a:prstDash val="solid"/>
          </a:ln>
        </p:spPr>
        <p:txBody>
          <a:bodyPr/>
          <a:lstStyle/>
          <a:p>
            <a:endParaRPr lang="es-CO"/>
          </a:p>
        </p:txBody>
      </p:sp>
      <p:sp>
        <p:nvSpPr>
          <p:cNvPr id="9" name="Text 7"/>
          <p:cNvSpPr/>
          <p:nvPr/>
        </p:nvSpPr>
        <p:spPr>
          <a:xfrm>
            <a:off x="6766560" y="2084832"/>
            <a:ext cx="4572000" cy="256032"/>
          </a:xfrm>
          <a:prstGeom prst="rect">
            <a:avLst/>
          </a:prstGeom>
          <a:noFill/>
          <a:ln/>
        </p:spPr>
        <p:txBody>
          <a:bodyPr wrap="square" lIns="0" tIns="0" rIns="0" bIns="0" rtlCol="0" anchor="ctr"/>
          <a:lstStyle/>
          <a:p>
            <a:pPr marL="0" indent="0">
              <a:buNone/>
            </a:pPr>
            <a:r>
              <a:rPr lang="en-US" sz="1050" b="1" kern="0" spc="120" dirty="0">
                <a:solidFill>
                  <a:srgbClr val="1C7293"/>
                </a:solidFill>
                <a:latin typeface="Calibri" pitchFamily="34" charset="0"/>
                <a:ea typeface="Calibri" pitchFamily="34" charset="-122"/>
                <a:cs typeface="Calibri" pitchFamily="34" charset="-120"/>
              </a:rPr>
              <a:t>A2 · CORRIGE LA EXPRESIÓN</a:t>
            </a:r>
            <a:endParaRPr lang="en-US" sz="1050" dirty="0"/>
          </a:p>
        </p:txBody>
      </p:sp>
      <p:sp>
        <p:nvSpPr>
          <p:cNvPr id="10" name="Text 8"/>
          <p:cNvSpPr/>
          <p:nvPr/>
        </p:nvSpPr>
        <p:spPr>
          <a:xfrm>
            <a:off x="6766560" y="2395728"/>
            <a:ext cx="4572000" cy="2286000"/>
          </a:xfrm>
          <a:prstGeom prst="rect">
            <a:avLst/>
          </a:prstGeom>
          <a:noFill/>
          <a:ln/>
        </p:spPr>
        <p:txBody>
          <a:bodyPr wrap="square" lIns="0" tIns="0" rIns="0" bIns="0" rtlCol="0" anchor="t"/>
          <a:lstStyle/>
          <a:p>
            <a:pPr marL="0" indent="0">
              <a:spcAft>
                <a:spcPts val="700"/>
              </a:spcAft>
              <a:buNone/>
            </a:pPr>
            <a:r>
              <a:rPr lang="en-US" sz="1150" b="1" dirty="0">
                <a:solidFill>
                  <a:srgbClr val="13294B"/>
                </a:solidFill>
                <a:latin typeface="Courier New" pitchFamily="34" charset="0"/>
                <a:ea typeface="Courier New" pitchFamily="34" charset="-122"/>
                <a:cs typeface="Courier New" pitchFamily="34" charset="-120"/>
              </a:rPr>
              <a:t>a)   double p = a + b + c / 3;</a:t>
            </a:r>
            <a:endParaRPr lang="en-US" sz="1150" dirty="0"/>
          </a:p>
          <a:p>
            <a:pPr marL="0" indent="0">
              <a:spcAft>
                <a:spcPts val="700"/>
              </a:spcAft>
              <a:buNone/>
            </a:pPr>
            <a:r>
              <a:rPr lang="en-US" sz="1150" b="1" dirty="0">
                <a:solidFill>
                  <a:srgbClr val="13294B"/>
                </a:solidFill>
                <a:latin typeface="Courier New" pitchFamily="34" charset="0"/>
                <a:ea typeface="Courier New" pitchFamily="34" charset="-122"/>
                <a:cs typeface="Courier New" pitchFamily="34" charset="-120"/>
              </a:rPr>
              <a:t>b)   double mitad = 1 / 2 * base;</a:t>
            </a:r>
            <a:endParaRPr lang="en-US" sz="1150" dirty="0"/>
          </a:p>
          <a:p>
            <a:pPr marL="0" indent="0">
              <a:spcAft>
                <a:spcPts val="700"/>
              </a:spcAft>
              <a:buNone/>
            </a:pPr>
            <a:r>
              <a:rPr lang="en-US" sz="1150" b="1" dirty="0">
                <a:solidFill>
                  <a:srgbClr val="13294B"/>
                </a:solidFill>
                <a:latin typeface="Courier New" pitchFamily="34" charset="0"/>
                <a:ea typeface="Courier New" pitchFamily="34" charset="-122"/>
                <a:cs typeface="Courier New" pitchFamily="34" charset="-120"/>
              </a:rPr>
              <a:t>c)   double area = pi(r^2);</a:t>
            </a:r>
            <a:endParaRPr lang="en-US" sz="1150" dirty="0"/>
          </a:p>
          <a:p>
            <a:pPr marL="0" indent="0">
              <a:spcAft>
                <a:spcPts val="700"/>
              </a:spcAft>
              <a:buNone/>
            </a:pPr>
            <a:r>
              <a:rPr lang="en-US" sz="1150" b="1" dirty="0">
                <a:solidFill>
                  <a:srgbClr val="13294B"/>
                </a:solidFill>
                <a:latin typeface="Courier New" pitchFamily="34" charset="0"/>
                <a:ea typeface="Courier New" pitchFamily="34" charset="-122"/>
                <a:cs typeface="Courier New" pitchFamily="34" charset="-120"/>
              </a:rPr>
              <a:t>d)   double h = 2 * a(b + c);</a:t>
            </a:r>
            <a:endParaRPr lang="en-US" sz="1150" dirty="0"/>
          </a:p>
          <a:p>
            <a:pPr marL="0" indent="0">
              <a:spcAft>
                <a:spcPts val="700"/>
              </a:spcAft>
              <a:buNone/>
            </a:pPr>
            <a:r>
              <a:rPr lang="en-US" sz="1150" b="1" dirty="0">
                <a:solidFill>
                  <a:srgbClr val="13294B"/>
                </a:solidFill>
                <a:latin typeface="Courier New" pitchFamily="34" charset="0"/>
                <a:ea typeface="Courier New" pitchFamily="34" charset="-122"/>
                <a:cs typeface="Courier New" pitchFamily="34" charset="-120"/>
              </a:rPr>
              <a:t>e)   double v = 4 / 3 * Math.PI * r ^ 3;</a:t>
            </a:r>
            <a:endParaRPr lang="en-US" sz="1150" dirty="0"/>
          </a:p>
        </p:txBody>
      </p:sp>
      <p:sp>
        <p:nvSpPr>
          <p:cNvPr id="11" name="Shape 9"/>
          <p:cNvSpPr/>
          <p:nvPr/>
        </p:nvSpPr>
        <p:spPr>
          <a:xfrm>
            <a:off x="548640" y="4535424"/>
            <a:ext cx="11091672" cy="1243584"/>
          </a:xfrm>
          <a:prstGeom prst="roundRect">
            <a:avLst>
              <a:gd name="adj" fmla="val 5882"/>
            </a:avLst>
          </a:prstGeom>
          <a:solidFill>
            <a:srgbClr val="FFF4DE"/>
          </a:solidFill>
          <a:ln w="12700">
            <a:solidFill>
              <a:srgbClr val="FFF4DE"/>
            </a:solidFill>
            <a:prstDash val="solid"/>
          </a:ln>
        </p:spPr>
        <p:txBody>
          <a:bodyPr/>
          <a:lstStyle/>
          <a:p>
            <a:endParaRPr lang="es-CO"/>
          </a:p>
        </p:txBody>
      </p:sp>
      <p:sp>
        <p:nvSpPr>
          <p:cNvPr id="12" name="Text 10"/>
          <p:cNvSpPr/>
          <p:nvPr/>
        </p:nvSpPr>
        <p:spPr>
          <a:xfrm>
            <a:off x="841248" y="4645152"/>
            <a:ext cx="7315200" cy="256032"/>
          </a:xfrm>
          <a:prstGeom prst="rect">
            <a:avLst/>
          </a:prstGeom>
          <a:noFill/>
          <a:ln/>
        </p:spPr>
        <p:txBody>
          <a:bodyPr wrap="square" lIns="0" tIns="0" rIns="0" bIns="0" rtlCol="0" anchor="ctr"/>
          <a:lstStyle/>
          <a:p>
            <a:pPr marL="0" indent="0">
              <a:buNone/>
            </a:pPr>
            <a:r>
              <a:rPr lang="en-US" sz="1050" b="1" kern="0" spc="120" dirty="0">
                <a:solidFill>
                  <a:srgbClr val="B07800"/>
                </a:solidFill>
                <a:latin typeface="Calibri" pitchFamily="34" charset="0"/>
                <a:ea typeface="Calibri" pitchFamily="34" charset="-122"/>
                <a:cs typeface="Calibri" pitchFamily="34" charset="-120"/>
              </a:rPr>
              <a:t>A3 · ESCRIBE LA EXPRESIÓN EN PSEUDOCÓDIGO Y EN JAVA</a:t>
            </a:r>
            <a:endParaRPr lang="en-US" sz="1050" dirty="0"/>
          </a:p>
        </p:txBody>
      </p:sp>
      <p:sp>
        <p:nvSpPr>
          <p:cNvPr id="13" name="Text 11"/>
          <p:cNvSpPr/>
          <p:nvPr/>
        </p:nvSpPr>
        <p:spPr>
          <a:xfrm>
            <a:off x="841248" y="4937760"/>
            <a:ext cx="5212080" cy="329184"/>
          </a:xfrm>
          <a:prstGeom prst="rect">
            <a:avLst/>
          </a:prstGeom>
          <a:noFill/>
          <a:ln/>
        </p:spPr>
        <p:txBody>
          <a:bodyPr wrap="square" lIns="0" tIns="0" rIns="0" bIns="0" rtlCol="0" anchor="ctr"/>
          <a:lstStyle/>
          <a:p>
            <a:pPr marL="0" indent="0">
              <a:buNone/>
            </a:pPr>
            <a:r>
              <a:rPr lang="en-US" sz="1200" b="1" dirty="0">
                <a:solidFill>
                  <a:srgbClr val="B07800"/>
                </a:solidFill>
                <a:latin typeface="Calibri" pitchFamily="34" charset="0"/>
                <a:ea typeface="Calibri" pitchFamily="34" charset="-122"/>
                <a:cs typeface="Calibri" pitchFamily="34" charset="-120"/>
              </a:rPr>
              <a:t>a)  </a:t>
            </a:r>
            <a:r>
              <a:rPr lang="en-US" sz="1200" dirty="0">
                <a:solidFill>
                  <a:srgbClr val="1A1A2E"/>
                </a:solidFill>
                <a:latin typeface="Calibri" pitchFamily="34" charset="0"/>
                <a:ea typeface="Calibri" pitchFamily="34" charset="-122"/>
                <a:cs typeface="Calibri" pitchFamily="34" charset="-120"/>
              </a:rPr>
              <a:t>El área de un triángulo a partir de la base y la altura.</a:t>
            </a:r>
            <a:endParaRPr lang="en-US" sz="1200" dirty="0"/>
          </a:p>
        </p:txBody>
      </p:sp>
      <p:sp>
        <p:nvSpPr>
          <p:cNvPr id="14" name="Text 12"/>
          <p:cNvSpPr/>
          <p:nvPr/>
        </p:nvSpPr>
        <p:spPr>
          <a:xfrm>
            <a:off x="6190488" y="4937760"/>
            <a:ext cx="5212080" cy="329184"/>
          </a:xfrm>
          <a:prstGeom prst="rect">
            <a:avLst/>
          </a:prstGeom>
          <a:noFill/>
          <a:ln/>
        </p:spPr>
        <p:txBody>
          <a:bodyPr wrap="square" lIns="0" tIns="0" rIns="0" bIns="0" rtlCol="0" anchor="ctr"/>
          <a:lstStyle/>
          <a:p>
            <a:pPr marL="0" indent="0">
              <a:buNone/>
            </a:pPr>
            <a:r>
              <a:rPr lang="en-US" sz="1200" b="1" dirty="0">
                <a:solidFill>
                  <a:srgbClr val="B07800"/>
                </a:solidFill>
                <a:latin typeface="Calibri" pitchFamily="34" charset="0"/>
                <a:ea typeface="Calibri" pitchFamily="34" charset="-122"/>
                <a:cs typeface="Calibri" pitchFamily="34" charset="-120"/>
              </a:rPr>
              <a:t>b)  </a:t>
            </a:r>
            <a:r>
              <a:rPr lang="en-US" sz="1200" dirty="0">
                <a:solidFill>
                  <a:srgbClr val="1A1A2E"/>
                </a:solidFill>
                <a:latin typeface="Calibri" pitchFamily="34" charset="0"/>
                <a:ea typeface="Calibri" pitchFamily="34" charset="-122"/>
                <a:cs typeface="Calibri" pitchFamily="34" charset="-120"/>
              </a:rPr>
              <a:t>El promedio de cuatro notas.</a:t>
            </a:r>
            <a:endParaRPr lang="en-US" sz="1200" dirty="0"/>
          </a:p>
        </p:txBody>
      </p:sp>
      <p:sp>
        <p:nvSpPr>
          <p:cNvPr id="15" name="Text 13"/>
          <p:cNvSpPr/>
          <p:nvPr/>
        </p:nvSpPr>
        <p:spPr>
          <a:xfrm>
            <a:off x="841248" y="5303520"/>
            <a:ext cx="5212080" cy="329184"/>
          </a:xfrm>
          <a:prstGeom prst="rect">
            <a:avLst/>
          </a:prstGeom>
          <a:noFill/>
          <a:ln/>
        </p:spPr>
        <p:txBody>
          <a:bodyPr wrap="square" lIns="0" tIns="0" rIns="0" bIns="0" rtlCol="0" anchor="ctr"/>
          <a:lstStyle/>
          <a:p>
            <a:pPr marL="0" indent="0">
              <a:buNone/>
            </a:pPr>
            <a:r>
              <a:rPr lang="en-US" sz="1200" b="1" dirty="0">
                <a:solidFill>
                  <a:srgbClr val="B07800"/>
                </a:solidFill>
                <a:latin typeface="Calibri" pitchFamily="34" charset="0"/>
                <a:ea typeface="Calibri" pitchFamily="34" charset="-122"/>
                <a:cs typeface="Calibri" pitchFamily="34" charset="-120"/>
              </a:rPr>
              <a:t>c)  </a:t>
            </a:r>
            <a:r>
              <a:rPr lang="en-US" sz="1200" dirty="0">
                <a:solidFill>
                  <a:srgbClr val="1A1A2E"/>
                </a:solidFill>
                <a:latin typeface="Calibri" pitchFamily="34" charset="0"/>
                <a:ea typeface="Calibri" pitchFamily="34" charset="-122"/>
                <a:cs typeface="Calibri" pitchFamily="34" charset="-120"/>
              </a:rPr>
              <a:t>La hipotenusa a partir de los dos catetos.</a:t>
            </a:r>
            <a:endParaRPr lang="en-US" sz="1200" dirty="0"/>
          </a:p>
        </p:txBody>
      </p:sp>
      <p:sp>
        <p:nvSpPr>
          <p:cNvPr id="16" name="Text 14"/>
          <p:cNvSpPr/>
          <p:nvPr/>
        </p:nvSpPr>
        <p:spPr>
          <a:xfrm>
            <a:off x="6190488" y="5303520"/>
            <a:ext cx="5212080" cy="329184"/>
          </a:xfrm>
          <a:prstGeom prst="rect">
            <a:avLst/>
          </a:prstGeom>
          <a:noFill/>
          <a:ln/>
        </p:spPr>
        <p:txBody>
          <a:bodyPr wrap="square" lIns="0" tIns="0" rIns="0" bIns="0" rtlCol="0" anchor="ctr"/>
          <a:lstStyle/>
          <a:p>
            <a:pPr marL="0" indent="0">
              <a:buNone/>
            </a:pPr>
            <a:r>
              <a:rPr lang="en-US" sz="1200" b="1" dirty="0">
                <a:solidFill>
                  <a:srgbClr val="B07800"/>
                </a:solidFill>
                <a:latin typeface="Calibri" pitchFamily="34" charset="0"/>
                <a:ea typeface="Calibri" pitchFamily="34" charset="-122"/>
                <a:cs typeface="Calibri" pitchFamily="34" charset="-120"/>
              </a:rPr>
              <a:t>d)  </a:t>
            </a:r>
            <a:r>
              <a:rPr lang="en-US" sz="1200" dirty="0">
                <a:solidFill>
                  <a:srgbClr val="1A1A2E"/>
                </a:solidFill>
                <a:latin typeface="Calibri" pitchFamily="34" charset="0"/>
                <a:ea typeface="Calibri" pitchFamily="34" charset="-122"/>
                <a:cs typeface="Calibri" pitchFamily="34" charset="-120"/>
              </a:rPr>
              <a:t>El valor de una compra con un descuento dado en porcentaje.</a:t>
            </a:r>
            <a:endParaRPr lang="en-US" sz="1200" dirty="0"/>
          </a:p>
        </p:txBody>
      </p:sp>
      <p:sp>
        <p:nvSpPr>
          <p:cNvPr id="19" name="Text 17"/>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22</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TRABAJO INDEPENDIENTE · PARTE B</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Programas completos · 1 de 2</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Para cada uno: análisis, pseudocódigo, programa en Java y la salida obtenida con los datos del ejemplo.</a:t>
            </a:r>
            <a:endParaRPr lang="en-US" sz="1400" dirty="0"/>
          </a:p>
        </p:txBody>
      </p:sp>
      <p:sp>
        <p:nvSpPr>
          <p:cNvPr id="5" name="Shape 3"/>
          <p:cNvSpPr/>
          <p:nvPr/>
        </p:nvSpPr>
        <p:spPr>
          <a:xfrm>
            <a:off x="548640" y="1901952"/>
            <a:ext cx="11091672" cy="1225296"/>
          </a:xfrm>
          <a:prstGeom prst="roundRect">
            <a:avLst>
              <a:gd name="adj" fmla="val 5970"/>
            </a:avLst>
          </a:prstGeom>
          <a:solidFill>
            <a:srgbClr val="F4F7FB"/>
          </a:solidFill>
          <a:ln w="12700">
            <a:solidFill>
              <a:srgbClr val="F4F7FB"/>
            </a:solidFill>
            <a:prstDash val="solid"/>
          </a:ln>
        </p:spPr>
        <p:txBody>
          <a:bodyPr/>
          <a:lstStyle/>
          <a:p>
            <a:endParaRPr lang="es-CO"/>
          </a:p>
        </p:txBody>
      </p:sp>
      <p:sp>
        <p:nvSpPr>
          <p:cNvPr id="6" name="Shape 4"/>
          <p:cNvSpPr/>
          <p:nvPr/>
        </p:nvSpPr>
        <p:spPr>
          <a:xfrm>
            <a:off x="804672" y="2084832"/>
            <a:ext cx="402336" cy="402336"/>
          </a:xfrm>
          <a:prstGeom prst="ellipse">
            <a:avLst/>
          </a:prstGeom>
          <a:solidFill>
            <a:srgbClr val="1C7293"/>
          </a:solidFill>
          <a:ln w="12700">
            <a:solidFill>
              <a:srgbClr val="1C7293"/>
            </a:solidFill>
            <a:prstDash val="solid"/>
          </a:ln>
        </p:spPr>
        <p:txBody>
          <a:bodyPr/>
          <a:lstStyle/>
          <a:p>
            <a:endParaRPr lang="es-CO"/>
          </a:p>
        </p:txBody>
      </p:sp>
      <p:sp>
        <p:nvSpPr>
          <p:cNvPr id="7" name="Text 5"/>
          <p:cNvSpPr/>
          <p:nvPr/>
        </p:nvSpPr>
        <p:spPr>
          <a:xfrm>
            <a:off x="804672" y="208483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353312" y="2011680"/>
            <a:ext cx="3657600" cy="274320"/>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La cometa</a:t>
            </a:r>
            <a:endParaRPr lang="en-US" sz="1300" dirty="0"/>
          </a:p>
        </p:txBody>
      </p:sp>
      <p:sp>
        <p:nvSpPr>
          <p:cNvPr id="9" name="Text 7"/>
          <p:cNvSpPr/>
          <p:nvPr/>
        </p:nvSpPr>
        <p:spPr>
          <a:xfrm>
            <a:off x="1353312" y="2304288"/>
            <a:ext cx="6949440" cy="731520"/>
          </a:xfrm>
          <a:prstGeom prst="rect">
            <a:avLst/>
          </a:prstGeom>
          <a:noFill/>
          <a:ln/>
        </p:spPr>
        <p:txBody>
          <a:bodyPr wrap="square" lIns="0" tIns="0" rIns="0" bIns="0" rtlCol="0" anchor="t"/>
          <a:lstStyle/>
          <a:p>
            <a:pPr marL="0" indent="0">
              <a:lnSpc>
                <a:spcPts val="1500"/>
              </a:lnSpc>
              <a:buNone/>
            </a:pPr>
            <a:r>
              <a:rPr lang="en-US" sz="1150" dirty="0">
                <a:solidFill>
                  <a:srgbClr val="5B6B7C"/>
                </a:solidFill>
                <a:latin typeface="Calibri" pitchFamily="34" charset="0"/>
                <a:ea typeface="Calibri" pitchFamily="34" charset="-122"/>
                <a:cs typeface="Calibri" pitchFamily="34" charset="-120"/>
              </a:rPr>
              <a:t>Una cometa se sostiene con una cuerda tensa. Conocidas la longitud de la cuerda y la altura a la que vuela la cometa, calcule a qué distancia del punto de despegue está parada la persona que la sostiene.</a:t>
            </a:r>
            <a:endParaRPr lang="en-US" sz="1150" dirty="0"/>
          </a:p>
        </p:txBody>
      </p:sp>
      <p:sp>
        <p:nvSpPr>
          <p:cNvPr id="10" name="Shape 8"/>
          <p:cNvSpPr/>
          <p:nvPr/>
        </p:nvSpPr>
        <p:spPr>
          <a:xfrm>
            <a:off x="8503920" y="2103120"/>
            <a:ext cx="2834640" cy="822960"/>
          </a:xfrm>
          <a:prstGeom prst="roundRect">
            <a:avLst>
              <a:gd name="adj" fmla="val 5556"/>
            </a:avLst>
          </a:prstGeom>
          <a:solidFill>
            <a:srgbClr val="FFFFFF"/>
          </a:solidFill>
          <a:ln w="12700">
            <a:solidFill>
              <a:srgbClr val="E1E7EF"/>
            </a:solidFill>
            <a:prstDash val="solid"/>
          </a:ln>
        </p:spPr>
        <p:txBody>
          <a:bodyPr/>
          <a:lstStyle/>
          <a:p>
            <a:endParaRPr lang="es-CO"/>
          </a:p>
        </p:txBody>
      </p:sp>
      <p:sp>
        <p:nvSpPr>
          <p:cNvPr id="11" name="Text 9"/>
          <p:cNvSpPr/>
          <p:nvPr/>
        </p:nvSpPr>
        <p:spPr>
          <a:xfrm>
            <a:off x="8668512" y="2103120"/>
            <a:ext cx="2651760" cy="822960"/>
          </a:xfrm>
          <a:prstGeom prst="rect">
            <a:avLst/>
          </a:prstGeom>
          <a:noFill/>
          <a:ln/>
        </p:spPr>
        <p:txBody>
          <a:bodyPr wrap="square" lIns="0" tIns="0" rIns="0" bIns="0" rtlCol="0" anchor="ctr"/>
          <a:lstStyle/>
          <a:p>
            <a:pPr marL="0" indent="0">
              <a:lnSpc>
                <a:spcPts val="1600"/>
              </a:lnSpc>
              <a:buNone/>
            </a:pPr>
            <a:r>
              <a:rPr lang="en-US" sz="1050" b="1" dirty="0">
                <a:solidFill>
                  <a:srgbClr val="13294B"/>
                </a:solidFill>
                <a:latin typeface="Courier New" pitchFamily="34" charset="0"/>
                <a:ea typeface="Courier New" pitchFamily="34" charset="-122"/>
                <a:cs typeface="Courier New" pitchFamily="34" charset="-120"/>
              </a:rPr>
              <a:t>entrada  25  20</a:t>
            </a:r>
            <a:r>
              <a:rPr lang="en-US" sz="500" dirty="0">
                <a:solidFill>
                  <a:srgbClr val="000000"/>
                </a:solidFill>
              </a:rPr>
              <a:t>
</a:t>
            </a:r>
            <a:endParaRPr lang="en-US" sz="1050" dirty="0"/>
          </a:p>
          <a:p>
            <a:pPr marL="0" indent="0">
              <a:lnSpc>
                <a:spcPts val="1600"/>
              </a:lnSpc>
              <a:buNone/>
            </a:pPr>
            <a:r>
              <a:rPr lang="en-US" sz="1050" b="1" dirty="0">
                <a:solidFill>
                  <a:srgbClr val="B07800"/>
                </a:solidFill>
                <a:latin typeface="Courier New" pitchFamily="34" charset="0"/>
                <a:ea typeface="Courier New" pitchFamily="34" charset="-122"/>
                <a:cs typeface="Courier New" pitchFamily="34" charset="-120"/>
              </a:rPr>
              <a:t>salida  15.0</a:t>
            </a:r>
            <a:endParaRPr lang="en-US" sz="1050" dirty="0"/>
          </a:p>
        </p:txBody>
      </p:sp>
      <p:sp>
        <p:nvSpPr>
          <p:cNvPr id="12" name="Shape 10"/>
          <p:cNvSpPr/>
          <p:nvPr/>
        </p:nvSpPr>
        <p:spPr>
          <a:xfrm>
            <a:off x="548640" y="3218688"/>
            <a:ext cx="11091672" cy="1225296"/>
          </a:xfrm>
          <a:prstGeom prst="roundRect">
            <a:avLst>
              <a:gd name="adj" fmla="val 5970"/>
            </a:avLst>
          </a:prstGeom>
          <a:solidFill>
            <a:srgbClr val="E8EEF4"/>
          </a:solidFill>
          <a:ln w="12700">
            <a:solidFill>
              <a:srgbClr val="E8EEF4"/>
            </a:solidFill>
            <a:prstDash val="solid"/>
          </a:ln>
        </p:spPr>
        <p:txBody>
          <a:bodyPr/>
          <a:lstStyle/>
          <a:p>
            <a:endParaRPr lang="es-CO"/>
          </a:p>
        </p:txBody>
      </p:sp>
      <p:sp>
        <p:nvSpPr>
          <p:cNvPr id="13" name="Shape 11"/>
          <p:cNvSpPr/>
          <p:nvPr/>
        </p:nvSpPr>
        <p:spPr>
          <a:xfrm>
            <a:off x="804672" y="3401568"/>
            <a:ext cx="402336" cy="402336"/>
          </a:xfrm>
          <a:prstGeom prst="ellipse">
            <a:avLst/>
          </a:prstGeom>
          <a:solidFill>
            <a:srgbClr val="1C7293"/>
          </a:solidFill>
          <a:ln w="12700">
            <a:solidFill>
              <a:srgbClr val="1C7293"/>
            </a:solidFill>
            <a:prstDash val="solid"/>
          </a:ln>
        </p:spPr>
        <p:txBody>
          <a:bodyPr/>
          <a:lstStyle/>
          <a:p>
            <a:endParaRPr lang="es-CO"/>
          </a:p>
        </p:txBody>
      </p:sp>
      <p:sp>
        <p:nvSpPr>
          <p:cNvPr id="14" name="Text 12"/>
          <p:cNvSpPr/>
          <p:nvPr/>
        </p:nvSpPr>
        <p:spPr>
          <a:xfrm>
            <a:off x="804672" y="340156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p:nvPr/>
        </p:nvSpPr>
        <p:spPr>
          <a:xfrm>
            <a:off x="1353312" y="3328416"/>
            <a:ext cx="3657600" cy="274320"/>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La cuenta regresiva</a:t>
            </a:r>
            <a:endParaRPr lang="en-US" sz="1300" dirty="0"/>
          </a:p>
        </p:txBody>
      </p:sp>
      <p:sp>
        <p:nvSpPr>
          <p:cNvPr id="16" name="Text 14"/>
          <p:cNvSpPr/>
          <p:nvPr/>
        </p:nvSpPr>
        <p:spPr>
          <a:xfrm>
            <a:off x="1353312" y="3621024"/>
            <a:ext cx="6949440" cy="731520"/>
          </a:xfrm>
          <a:prstGeom prst="rect">
            <a:avLst/>
          </a:prstGeom>
          <a:noFill/>
          <a:ln/>
        </p:spPr>
        <p:txBody>
          <a:bodyPr wrap="square" lIns="0" tIns="0" rIns="0" bIns="0" rtlCol="0" anchor="t"/>
          <a:lstStyle/>
          <a:p>
            <a:pPr marL="0" indent="0">
              <a:lnSpc>
                <a:spcPts val="1500"/>
              </a:lnSpc>
              <a:buNone/>
            </a:pPr>
            <a:r>
              <a:rPr lang="en-US" sz="1150" dirty="0">
                <a:solidFill>
                  <a:srgbClr val="5B6B7C"/>
                </a:solidFill>
                <a:latin typeface="Calibri" pitchFamily="34" charset="0"/>
                <a:ea typeface="Calibri" pitchFamily="34" charset="-122"/>
                <a:cs typeface="Calibri" pitchFamily="34" charset="-120"/>
              </a:rPr>
              <a:t>En la emisora anuncian cada cierto rato cuántos minutos faltan para la medianoche. Conocidas la hora y los minutos actuales en formato de 24 horas, calcule los minutos que faltan.</a:t>
            </a:r>
            <a:endParaRPr lang="en-US" sz="1150" dirty="0"/>
          </a:p>
        </p:txBody>
      </p:sp>
      <p:sp>
        <p:nvSpPr>
          <p:cNvPr id="17" name="Shape 15"/>
          <p:cNvSpPr/>
          <p:nvPr/>
        </p:nvSpPr>
        <p:spPr>
          <a:xfrm>
            <a:off x="8503920" y="3419856"/>
            <a:ext cx="2834640" cy="822960"/>
          </a:xfrm>
          <a:prstGeom prst="roundRect">
            <a:avLst>
              <a:gd name="adj" fmla="val 5556"/>
            </a:avLst>
          </a:prstGeom>
          <a:solidFill>
            <a:srgbClr val="FFFFFF"/>
          </a:solidFill>
          <a:ln w="12700">
            <a:solidFill>
              <a:srgbClr val="E1E7EF"/>
            </a:solidFill>
            <a:prstDash val="solid"/>
          </a:ln>
        </p:spPr>
        <p:txBody>
          <a:bodyPr/>
          <a:lstStyle/>
          <a:p>
            <a:endParaRPr lang="es-CO"/>
          </a:p>
        </p:txBody>
      </p:sp>
      <p:sp>
        <p:nvSpPr>
          <p:cNvPr id="18" name="Text 16"/>
          <p:cNvSpPr/>
          <p:nvPr/>
        </p:nvSpPr>
        <p:spPr>
          <a:xfrm>
            <a:off x="8668512" y="3419856"/>
            <a:ext cx="2651760" cy="822960"/>
          </a:xfrm>
          <a:prstGeom prst="rect">
            <a:avLst/>
          </a:prstGeom>
          <a:noFill/>
          <a:ln/>
        </p:spPr>
        <p:txBody>
          <a:bodyPr wrap="square" lIns="0" tIns="0" rIns="0" bIns="0" rtlCol="0" anchor="ctr"/>
          <a:lstStyle/>
          <a:p>
            <a:pPr marL="0" indent="0">
              <a:lnSpc>
                <a:spcPts val="1600"/>
              </a:lnSpc>
              <a:buNone/>
            </a:pPr>
            <a:r>
              <a:rPr lang="en-US" sz="1050" b="1" dirty="0">
                <a:solidFill>
                  <a:srgbClr val="13294B"/>
                </a:solidFill>
                <a:latin typeface="Courier New" pitchFamily="34" charset="0"/>
                <a:ea typeface="Courier New" pitchFamily="34" charset="-122"/>
                <a:cs typeface="Courier New" pitchFamily="34" charset="-120"/>
              </a:rPr>
              <a:t>entrada  23  50</a:t>
            </a:r>
            <a:r>
              <a:rPr lang="en-US" sz="500" dirty="0">
                <a:solidFill>
                  <a:srgbClr val="000000"/>
                </a:solidFill>
              </a:rPr>
              <a:t>
</a:t>
            </a:r>
            <a:endParaRPr lang="en-US" sz="1050" dirty="0"/>
          </a:p>
          <a:p>
            <a:pPr marL="0" indent="0">
              <a:lnSpc>
                <a:spcPts val="1600"/>
              </a:lnSpc>
              <a:buNone/>
            </a:pPr>
            <a:r>
              <a:rPr lang="en-US" sz="1050" b="1" dirty="0">
                <a:solidFill>
                  <a:srgbClr val="B07800"/>
                </a:solidFill>
                <a:latin typeface="Courier New" pitchFamily="34" charset="0"/>
                <a:ea typeface="Courier New" pitchFamily="34" charset="-122"/>
                <a:cs typeface="Courier New" pitchFamily="34" charset="-120"/>
              </a:rPr>
              <a:t>salida  10</a:t>
            </a:r>
            <a:endParaRPr lang="en-US" sz="1050" dirty="0"/>
          </a:p>
        </p:txBody>
      </p:sp>
      <p:sp>
        <p:nvSpPr>
          <p:cNvPr id="19" name="Shape 17"/>
          <p:cNvSpPr/>
          <p:nvPr/>
        </p:nvSpPr>
        <p:spPr>
          <a:xfrm>
            <a:off x="548640" y="4535424"/>
            <a:ext cx="11091672" cy="1225296"/>
          </a:xfrm>
          <a:prstGeom prst="roundRect">
            <a:avLst>
              <a:gd name="adj" fmla="val 5970"/>
            </a:avLst>
          </a:prstGeom>
          <a:solidFill>
            <a:srgbClr val="F4F7FB"/>
          </a:solidFill>
          <a:ln w="12700">
            <a:solidFill>
              <a:srgbClr val="F4F7FB"/>
            </a:solidFill>
            <a:prstDash val="solid"/>
          </a:ln>
        </p:spPr>
        <p:txBody>
          <a:bodyPr/>
          <a:lstStyle/>
          <a:p>
            <a:endParaRPr lang="es-CO"/>
          </a:p>
        </p:txBody>
      </p:sp>
      <p:sp>
        <p:nvSpPr>
          <p:cNvPr id="20" name="Shape 18"/>
          <p:cNvSpPr/>
          <p:nvPr/>
        </p:nvSpPr>
        <p:spPr>
          <a:xfrm>
            <a:off x="804672" y="4718304"/>
            <a:ext cx="402336" cy="402336"/>
          </a:xfrm>
          <a:prstGeom prst="ellipse">
            <a:avLst/>
          </a:prstGeom>
          <a:solidFill>
            <a:srgbClr val="1C7293"/>
          </a:solidFill>
          <a:ln w="12700">
            <a:solidFill>
              <a:srgbClr val="1C7293"/>
            </a:solidFill>
            <a:prstDash val="solid"/>
          </a:ln>
        </p:spPr>
        <p:txBody>
          <a:bodyPr/>
          <a:lstStyle/>
          <a:p>
            <a:endParaRPr lang="es-CO"/>
          </a:p>
        </p:txBody>
      </p:sp>
      <p:sp>
        <p:nvSpPr>
          <p:cNvPr id="21" name="Text 19"/>
          <p:cNvSpPr/>
          <p:nvPr/>
        </p:nvSpPr>
        <p:spPr>
          <a:xfrm>
            <a:off x="804672" y="471830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2" name="Text 20"/>
          <p:cNvSpPr/>
          <p:nvPr/>
        </p:nvSpPr>
        <p:spPr>
          <a:xfrm>
            <a:off x="1353312" y="4645152"/>
            <a:ext cx="3657600" cy="274320"/>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El tanque de la finca</a:t>
            </a:r>
            <a:endParaRPr lang="en-US" sz="1300" dirty="0"/>
          </a:p>
        </p:txBody>
      </p:sp>
      <p:sp>
        <p:nvSpPr>
          <p:cNvPr id="23" name="Text 21"/>
          <p:cNvSpPr/>
          <p:nvPr/>
        </p:nvSpPr>
        <p:spPr>
          <a:xfrm>
            <a:off x="1353312" y="4937760"/>
            <a:ext cx="6949440" cy="731520"/>
          </a:xfrm>
          <a:prstGeom prst="rect">
            <a:avLst/>
          </a:prstGeom>
          <a:noFill/>
          <a:ln/>
        </p:spPr>
        <p:txBody>
          <a:bodyPr wrap="square" lIns="0" tIns="0" rIns="0" bIns="0" rtlCol="0" anchor="t"/>
          <a:lstStyle/>
          <a:p>
            <a:pPr marL="0" indent="0">
              <a:lnSpc>
                <a:spcPts val="1500"/>
              </a:lnSpc>
              <a:buNone/>
            </a:pPr>
            <a:r>
              <a:rPr lang="en-US" sz="1150" dirty="0">
                <a:solidFill>
                  <a:srgbClr val="5B6B7C"/>
                </a:solidFill>
                <a:latin typeface="Calibri" pitchFamily="34" charset="0"/>
                <a:ea typeface="Calibri" pitchFamily="34" charset="-122"/>
                <a:cs typeface="Calibri" pitchFamily="34" charset="-120"/>
              </a:rPr>
              <a:t>Un tanque de 50 metros cúbicos se llena con una manguera. Conocido el caudal de la manguera en litros por minuto, calcule cuántas horas tarda en llenarse. Un metro cúbico son 1000 litros.</a:t>
            </a:r>
            <a:endParaRPr lang="en-US" sz="1150" dirty="0"/>
          </a:p>
        </p:txBody>
      </p:sp>
      <p:sp>
        <p:nvSpPr>
          <p:cNvPr id="24" name="Shape 22"/>
          <p:cNvSpPr/>
          <p:nvPr/>
        </p:nvSpPr>
        <p:spPr>
          <a:xfrm>
            <a:off x="8503920" y="4736592"/>
            <a:ext cx="2834640" cy="822960"/>
          </a:xfrm>
          <a:prstGeom prst="roundRect">
            <a:avLst>
              <a:gd name="adj" fmla="val 5556"/>
            </a:avLst>
          </a:prstGeom>
          <a:solidFill>
            <a:srgbClr val="FFFFFF"/>
          </a:solidFill>
          <a:ln w="12700">
            <a:solidFill>
              <a:srgbClr val="E1E7EF"/>
            </a:solidFill>
            <a:prstDash val="solid"/>
          </a:ln>
        </p:spPr>
        <p:txBody>
          <a:bodyPr/>
          <a:lstStyle/>
          <a:p>
            <a:endParaRPr lang="es-CO"/>
          </a:p>
        </p:txBody>
      </p:sp>
      <p:sp>
        <p:nvSpPr>
          <p:cNvPr id="25" name="Text 23"/>
          <p:cNvSpPr/>
          <p:nvPr/>
        </p:nvSpPr>
        <p:spPr>
          <a:xfrm>
            <a:off x="8668512" y="4736592"/>
            <a:ext cx="2651760" cy="822960"/>
          </a:xfrm>
          <a:prstGeom prst="rect">
            <a:avLst/>
          </a:prstGeom>
          <a:noFill/>
          <a:ln/>
        </p:spPr>
        <p:txBody>
          <a:bodyPr wrap="square" lIns="0" tIns="0" rIns="0" bIns="0" rtlCol="0" anchor="ctr"/>
          <a:lstStyle/>
          <a:p>
            <a:pPr marL="0" indent="0">
              <a:lnSpc>
                <a:spcPts val="1600"/>
              </a:lnSpc>
              <a:buNone/>
            </a:pPr>
            <a:r>
              <a:rPr lang="en-US" sz="1050" b="1" dirty="0">
                <a:solidFill>
                  <a:srgbClr val="13294B"/>
                </a:solidFill>
                <a:latin typeface="Courier New" pitchFamily="34" charset="0"/>
                <a:ea typeface="Courier New" pitchFamily="34" charset="-122"/>
                <a:cs typeface="Courier New" pitchFamily="34" charset="-120"/>
              </a:rPr>
              <a:t>entrada  20</a:t>
            </a:r>
            <a:r>
              <a:rPr lang="en-US" sz="500" dirty="0">
                <a:solidFill>
                  <a:srgbClr val="000000"/>
                </a:solidFill>
              </a:rPr>
              <a:t>
</a:t>
            </a:r>
            <a:endParaRPr lang="en-US" sz="1050" dirty="0"/>
          </a:p>
          <a:p>
            <a:pPr marL="0" indent="0">
              <a:lnSpc>
                <a:spcPts val="1600"/>
              </a:lnSpc>
              <a:buNone/>
            </a:pPr>
            <a:r>
              <a:rPr lang="en-US" sz="1050" b="1" dirty="0">
                <a:solidFill>
                  <a:srgbClr val="B07800"/>
                </a:solidFill>
                <a:latin typeface="Courier New" pitchFamily="34" charset="0"/>
                <a:ea typeface="Courier New" pitchFamily="34" charset="-122"/>
                <a:cs typeface="Courier New" pitchFamily="34" charset="-120"/>
              </a:rPr>
              <a:t>salida  41.666666666666664</a:t>
            </a:r>
            <a:endParaRPr lang="en-US" sz="1050" dirty="0"/>
          </a:p>
        </p:txBody>
      </p:sp>
      <p:sp>
        <p:nvSpPr>
          <p:cNvPr id="26" name="Shape 24"/>
          <p:cNvSpPr/>
          <p:nvPr/>
        </p:nvSpPr>
        <p:spPr>
          <a:xfrm>
            <a:off x="548640" y="5815584"/>
            <a:ext cx="11091672" cy="457200"/>
          </a:xfrm>
          <a:prstGeom prst="roundRect">
            <a:avLst>
              <a:gd name="adj" fmla="val 16000"/>
            </a:avLst>
          </a:prstGeom>
          <a:solidFill>
            <a:srgbClr val="13294B"/>
          </a:solidFill>
          <a:ln w="12700">
            <a:solidFill>
              <a:srgbClr val="13294B"/>
            </a:solidFill>
            <a:prstDash val="solid"/>
          </a:ln>
        </p:spPr>
        <p:txBody>
          <a:bodyPr/>
          <a:lstStyle/>
          <a:p>
            <a:endParaRPr lang="es-CO"/>
          </a:p>
        </p:txBody>
      </p:sp>
      <p:sp>
        <p:nvSpPr>
          <p:cNvPr id="27" name="Text 25"/>
          <p:cNvSpPr/>
          <p:nvPr/>
        </p:nvSpPr>
        <p:spPr>
          <a:xfrm>
            <a:off x="868680" y="5815584"/>
            <a:ext cx="10451592" cy="457200"/>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REGLA COMÚN:  </a:t>
            </a:r>
            <a:r>
              <a:rPr lang="en-US" sz="1350" dirty="0">
                <a:solidFill>
                  <a:srgbClr val="FFFFFF"/>
                </a:solidFill>
                <a:latin typeface="Calibri" pitchFamily="34" charset="0"/>
                <a:ea typeface="Calibri" pitchFamily="34" charset="-122"/>
                <a:cs typeface="Calibri" pitchFamily="34" charset="-120"/>
              </a:rPr>
              <a:t>el programa lee los datos del teclado. No se aceptan valores escritos dentro del código.</a:t>
            </a:r>
            <a:endParaRPr lang="en-US" sz="1350" dirty="0"/>
          </a:p>
        </p:txBody>
      </p:sp>
      <p:sp>
        <p:nvSpPr>
          <p:cNvPr id="28" name="Text 26"/>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23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TRABAJO INDEPENDIENTE · PARTE B</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Programas completos · 2 de 2</a:t>
            </a:r>
            <a:endParaRPr lang="en-US" sz="2900" dirty="0"/>
          </a:p>
        </p:txBody>
      </p:sp>
      <p:sp>
        <p:nvSpPr>
          <p:cNvPr id="4" name="Shape 2"/>
          <p:cNvSpPr/>
          <p:nvPr/>
        </p:nvSpPr>
        <p:spPr>
          <a:xfrm>
            <a:off x="548640" y="1901952"/>
            <a:ext cx="11091672" cy="1225296"/>
          </a:xfrm>
          <a:prstGeom prst="roundRect">
            <a:avLst>
              <a:gd name="adj" fmla="val 5970"/>
            </a:avLst>
          </a:prstGeom>
          <a:solidFill>
            <a:srgbClr val="F4F7FB"/>
          </a:solidFill>
          <a:ln w="12700">
            <a:solidFill>
              <a:srgbClr val="F4F7FB"/>
            </a:solidFill>
            <a:prstDash val="solid"/>
          </a:ln>
        </p:spPr>
        <p:txBody>
          <a:bodyPr/>
          <a:lstStyle/>
          <a:p>
            <a:endParaRPr lang="es-CO"/>
          </a:p>
        </p:txBody>
      </p:sp>
      <p:sp>
        <p:nvSpPr>
          <p:cNvPr id="5" name="Shape 3"/>
          <p:cNvSpPr/>
          <p:nvPr/>
        </p:nvSpPr>
        <p:spPr>
          <a:xfrm>
            <a:off x="804672" y="2084832"/>
            <a:ext cx="402336" cy="402336"/>
          </a:xfrm>
          <a:prstGeom prst="ellipse">
            <a:avLst/>
          </a:prstGeom>
          <a:solidFill>
            <a:srgbClr val="1C7293"/>
          </a:solidFill>
          <a:ln w="12700">
            <a:solidFill>
              <a:srgbClr val="1C7293"/>
            </a:solidFill>
            <a:prstDash val="solid"/>
          </a:ln>
        </p:spPr>
        <p:txBody>
          <a:bodyPr/>
          <a:lstStyle/>
          <a:p>
            <a:endParaRPr lang="es-CO"/>
          </a:p>
        </p:txBody>
      </p:sp>
      <p:sp>
        <p:nvSpPr>
          <p:cNvPr id="6" name="Text 4"/>
          <p:cNvSpPr/>
          <p:nvPr/>
        </p:nvSpPr>
        <p:spPr>
          <a:xfrm>
            <a:off x="804672" y="208483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7" name="Text 5"/>
          <p:cNvSpPr/>
          <p:nvPr/>
        </p:nvSpPr>
        <p:spPr>
          <a:xfrm>
            <a:off x="1353312" y="2011680"/>
            <a:ext cx="3657600" cy="274320"/>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La clave del casillero</a:t>
            </a:r>
            <a:endParaRPr lang="en-US" sz="1300" dirty="0"/>
          </a:p>
        </p:txBody>
      </p:sp>
      <p:sp>
        <p:nvSpPr>
          <p:cNvPr id="8" name="Text 6"/>
          <p:cNvSpPr/>
          <p:nvPr/>
        </p:nvSpPr>
        <p:spPr>
          <a:xfrm>
            <a:off x="1353312" y="2304288"/>
            <a:ext cx="6949440" cy="731520"/>
          </a:xfrm>
          <a:prstGeom prst="rect">
            <a:avLst/>
          </a:prstGeom>
          <a:noFill/>
          <a:ln/>
        </p:spPr>
        <p:txBody>
          <a:bodyPr wrap="square" lIns="0" tIns="0" rIns="0" bIns="0" rtlCol="0" anchor="t"/>
          <a:lstStyle/>
          <a:p>
            <a:pPr marL="0" indent="0">
              <a:lnSpc>
                <a:spcPts val="1500"/>
              </a:lnSpc>
              <a:buNone/>
            </a:pPr>
            <a:r>
              <a:rPr lang="en-US" sz="1150" dirty="0">
                <a:solidFill>
                  <a:srgbClr val="5B6B7C"/>
                </a:solidFill>
                <a:latin typeface="Calibri" pitchFamily="34" charset="0"/>
                <a:ea typeface="Calibri" pitchFamily="34" charset="-122"/>
                <a:cs typeface="Calibri" pitchFamily="34" charset="-120"/>
              </a:rPr>
              <a:t>La clave de un casillero se arma con los cuatro últimos dígitos del documento, en orden inverso. Dado el número de documento, imprima los cuatro dígitos separados por un espacio.</a:t>
            </a:r>
            <a:endParaRPr lang="en-US" sz="1150" dirty="0"/>
          </a:p>
        </p:txBody>
      </p:sp>
      <p:sp>
        <p:nvSpPr>
          <p:cNvPr id="9" name="Shape 7"/>
          <p:cNvSpPr/>
          <p:nvPr/>
        </p:nvSpPr>
        <p:spPr>
          <a:xfrm>
            <a:off x="8503920" y="2103120"/>
            <a:ext cx="2834640" cy="822960"/>
          </a:xfrm>
          <a:prstGeom prst="roundRect">
            <a:avLst>
              <a:gd name="adj" fmla="val 5556"/>
            </a:avLst>
          </a:prstGeom>
          <a:solidFill>
            <a:srgbClr val="FFFFFF"/>
          </a:solidFill>
          <a:ln w="12700">
            <a:solidFill>
              <a:srgbClr val="E1E7EF"/>
            </a:solidFill>
            <a:prstDash val="solid"/>
          </a:ln>
        </p:spPr>
        <p:txBody>
          <a:bodyPr/>
          <a:lstStyle/>
          <a:p>
            <a:endParaRPr lang="es-CO"/>
          </a:p>
        </p:txBody>
      </p:sp>
      <p:sp>
        <p:nvSpPr>
          <p:cNvPr id="10" name="Text 8"/>
          <p:cNvSpPr/>
          <p:nvPr/>
        </p:nvSpPr>
        <p:spPr>
          <a:xfrm>
            <a:off x="8668512" y="2103120"/>
            <a:ext cx="2651760" cy="822960"/>
          </a:xfrm>
          <a:prstGeom prst="rect">
            <a:avLst/>
          </a:prstGeom>
          <a:noFill/>
          <a:ln/>
        </p:spPr>
        <p:txBody>
          <a:bodyPr wrap="square" lIns="0" tIns="0" rIns="0" bIns="0" rtlCol="0" anchor="ctr"/>
          <a:lstStyle/>
          <a:p>
            <a:pPr marL="0" indent="0">
              <a:lnSpc>
                <a:spcPts val="1600"/>
              </a:lnSpc>
              <a:buNone/>
            </a:pPr>
            <a:r>
              <a:rPr lang="en-US" sz="1050" b="1" dirty="0">
                <a:solidFill>
                  <a:srgbClr val="13294B"/>
                </a:solidFill>
                <a:latin typeface="Courier New" pitchFamily="34" charset="0"/>
                <a:ea typeface="Courier New" pitchFamily="34" charset="-122"/>
                <a:cs typeface="Courier New" pitchFamily="34" charset="-120"/>
              </a:rPr>
              <a:t>entrada  98512742</a:t>
            </a:r>
            <a:r>
              <a:rPr lang="en-US" sz="500" dirty="0">
                <a:solidFill>
                  <a:srgbClr val="000000"/>
                </a:solidFill>
              </a:rPr>
              <a:t>
</a:t>
            </a:r>
            <a:endParaRPr lang="en-US" sz="1050" dirty="0"/>
          </a:p>
          <a:p>
            <a:pPr marL="0" indent="0">
              <a:lnSpc>
                <a:spcPts val="1600"/>
              </a:lnSpc>
              <a:buNone/>
            </a:pPr>
            <a:r>
              <a:rPr lang="en-US" sz="1050" b="1" dirty="0">
                <a:solidFill>
                  <a:srgbClr val="B07800"/>
                </a:solidFill>
                <a:latin typeface="Courier New" pitchFamily="34" charset="0"/>
                <a:ea typeface="Courier New" pitchFamily="34" charset="-122"/>
                <a:cs typeface="Courier New" pitchFamily="34" charset="-120"/>
              </a:rPr>
              <a:t>salida  2 4 7 2</a:t>
            </a:r>
            <a:endParaRPr lang="en-US" sz="1050" dirty="0"/>
          </a:p>
        </p:txBody>
      </p:sp>
      <p:sp>
        <p:nvSpPr>
          <p:cNvPr id="11" name="Shape 9"/>
          <p:cNvSpPr/>
          <p:nvPr/>
        </p:nvSpPr>
        <p:spPr>
          <a:xfrm>
            <a:off x="548640" y="3218688"/>
            <a:ext cx="11091672" cy="1225296"/>
          </a:xfrm>
          <a:prstGeom prst="roundRect">
            <a:avLst>
              <a:gd name="adj" fmla="val 5970"/>
            </a:avLst>
          </a:prstGeom>
          <a:solidFill>
            <a:srgbClr val="E8EEF4"/>
          </a:solidFill>
          <a:ln w="12700">
            <a:solidFill>
              <a:srgbClr val="E8EEF4"/>
            </a:solidFill>
            <a:prstDash val="solid"/>
          </a:ln>
        </p:spPr>
        <p:txBody>
          <a:bodyPr/>
          <a:lstStyle/>
          <a:p>
            <a:endParaRPr lang="es-CO"/>
          </a:p>
        </p:txBody>
      </p:sp>
      <p:sp>
        <p:nvSpPr>
          <p:cNvPr id="12" name="Shape 10"/>
          <p:cNvSpPr/>
          <p:nvPr/>
        </p:nvSpPr>
        <p:spPr>
          <a:xfrm>
            <a:off x="804672" y="3401568"/>
            <a:ext cx="402336" cy="402336"/>
          </a:xfrm>
          <a:prstGeom prst="ellipse">
            <a:avLst/>
          </a:prstGeom>
          <a:solidFill>
            <a:srgbClr val="1C7293"/>
          </a:solidFill>
          <a:ln w="12700">
            <a:solidFill>
              <a:srgbClr val="1C7293"/>
            </a:solidFill>
            <a:prstDash val="solid"/>
          </a:ln>
        </p:spPr>
        <p:txBody>
          <a:bodyPr/>
          <a:lstStyle/>
          <a:p>
            <a:endParaRPr lang="es-CO"/>
          </a:p>
        </p:txBody>
      </p:sp>
      <p:sp>
        <p:nvSpPr>
          <p:cNvPr id="13" name="Text 11"/>
          <p:cNvSpPr/>
          <p:nvPr/>
        </p:nvSpPr>
        <p:spPr>
          <a:xfrm>
            <a:off x="804672" y="340156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2"/>
          <p:cNvSpPr/>
          <p:nvPr/>
        </p:nvSpPr>
        <p:spPr>
          <a:xfrm>
            <a:off x="1353312" y="3328416"/>
            <a:ext cx="3657600" cy="274320"/>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La persecución</a:t>
            </a:r>
            <a:endParaRPr lang="en-US" sz="1300" dirty="0"/>
          </a:p>
        </p:txBody>
      </p:sp>
      <p:sp>
        <p:nvSpPr>
          <p:cNvPr id="15" name="Text 13"/>
          <p:cNvSpPr/>
          <p:nvPr/>
        </p:nvSpPr>
        <p:spPr>
          <a:xfrm>
            <a:off x="1353312" y="3621024"/>
            <a:ext cx="6949440" cy="731520"/>
          </a:xfrm>
          <a:prstGeom prst="rect">
            <a:avLst/>
          </a:prstGeom>
          <a:noFill/>
          <a:ln/>
        </p:spPr>
        <p:txBody>
          <a:bodyPr wrap="square" lIns="0" tIns="0" rIns="0" bIns="0" rtlCol="0" anchor="t"/>
          <a:lstStyle/>
          <a:p>
            <a:pPr marL="0" indent="0">
              <a:lnSpc>
                <a:spcPts val="1500"/>
              </a:lnSpc>
              <a:buNone/>
            </a:pPr>
            <a:r>
              <a:rPr lang="en-US" sz="1150" dirty="0">
                <a:solidFill>
                  <a:srgbClr val="5B6B7C"/>
                </a:solidFill>
                <a:latin typeface="Calibri" pitchFamily="34" charset="0"/>
                <a:ea typeface="Calibri" pitchFamily="34" charset="-122"/>
                <a:cs typeface="Calibri" pitchFamily="34" charset="-120"/>
              </a:rPr>
              <a:t>Una patrulla persigue a un carro que va más despacio. Conocidas las dos velocidades en kilómetros por hora y la distancia en kilómetros que los separa, calcule en cuántos minutos lo alcanza.</a:t>
            </a:r>
            <a:endParaRPr lang="en-US" sz="1150" dirty="0"/>
          </a:p>
        </p:txBody>
      </p:sp>
      <p:sp>
        <p:nvSpPr>
          <p:cNvPr id="16" name="Shape 14"/>
          <p:cNvSpPr/>
          <p:nvPr/>
        </p:nvSpPr>
        <p:spPr>
          <a:xfrm>
            <a:off x="8503920" y="3419856"/>
            <a:ext cx="2834640" cy="822960"/>
          </a:xfrm>
          <a:prstGeom prst="roundRect">
            <a:avLst>
              <a:gd name="adj" fmla="val 5556"/>
            </a:avLst>
          </a:prstGeom>
          <a:solidFill>
            <a:srgbClr val="FFFFFF"/>
          </a:solidFill>
          <a:ln w="12700">
            <a:solidFill>
              <a:srgbClr val="E1E7EF"/>
            </a:solidFill>
            <a:prstDash val="solid"/>
          </a:ln>
        </p:spPr>
        <p:txBody>
          <a:bodyPr/>
          <a:lstStyle/>
          <a:p>
            <a:endParaRPr lang="es-CO"/>
          </a:p>
        </p:txBody>
      </p:sp>
      <p:sp>
        <p:nvSpPr>
          <p:cNvPr id="17" name="Text 15"/>
          <p:cNvSpPr/>
          <p:nvPr/>
        </p:nvSpPr>
        <p:spPr>
          <a:xfrm>
            <a:off x="8668512" y="3419856"/>
            <a:ext cx="2651760" cy="822960"/>
          </a:xfrm>
          <a:prstGeom prst="rect">
            <a:avLst/>
          </a:prstGeom>
          <a:noFill/>
          <a:ln/>
        </p:spPr>
        <p:txBody>
          <a:bodyPr wrap="square" lIns="0" tIns="0" rIns="0" bIns="0" rtlCol="0" anchor="ctr"/>
          <a:lstStyle/>
          <a:p>
            <a:pPr marL="0" indent="0">
              <a:lnSpc>
                <a:spcPts val="1600"/>
              </a:lnSpc>
              <a:buNone/>
            </a:pPr>
            <a:r>
              <a:rPr lang="en-US" sz="1050" b="1" dirty="0">
                <a:solidFill>
                  <a:srgbClr val="13294B"/>
                </a:solidFill>
                <a:latin typeface="Courier New" pitchFamily="34" charset="0"/>
                <a:ea typeface="Courier New" pitchFamily="34" charset="-122"/>
                <a:cs typeface="Courier New" pitchFamily="34" charset="-120"/>
              </a:rPr>
              <a:t>entrada  120  90  5</a:t>
            </a:r>
            <a:r>
              <a:rPr lang="en-US" sz="500" dirty="0">
                <a:solidFill>
                  <a:srgbClr val="000000"/>
                </a:solidFill>
              </a:rPr>
              <a:t>
</a:t>
            </a:r>
            <a:endParaRPr lang="en-US" sz="1050" dirty="0"/>
          </a:p>
          <a:p>
            <a:pPr marL="0" indent="0">
              <a:lnSpc>
                <a:spcPts val="1600"/>
              </a:lnSpc>
              <a:buNone/>
            </a:pPr>
            <a:r>
              <a:rPr lang="en-US" sz="1050" b="1" dirty="0">
                <a:solidFill>
                  <a:srgbClr val="B07800"/>
                </a:solidFill>
                <a:latin typeface="Courier New" pitchFamily="34" charset="0"/>
                <a:ea typeface="Courier New" pitchFamily="34" charset="-122"/>
                <a:cs typeface="Courier New" pitchFamily="34" charset="-120"/>
              </a:rPr>
              <a:t>salida  10.0</a:t>
            </a:r>
            <a:endParaRPr lang="en-US" sz="1050" dirty="0"/>
          </a:p>
        </p:txBody>
      </p:sp>
      <p:sp>
        <p:nvSpPr>
          <p:cNvPr id="18" name="Shape 16"/>
          <p:cNvSpPr/>
          <p:nvPr/>
        </p:nvSpPr>
        <p:spPr>
          <a:xfrm>
            <a:off x="548640" y="4535424"/>
            <a:ext cx="11091672" cy="1225296"/>
          </a:xfrm>
          <a:prstGeom prst="roundRect">
            <a:avLst>
              <a:gd name="adj" fmla="val 5970"/>
            </a:avLst>
          </a:prstGeom>
          <a:solidFill>
            <a:srgbClr val="F4F7FB"/>
          </a:solidFill>
          <a:ln w="12700">
            <a:solidFill>
              <a:srgbClr val="F4F7FB"/>
            </a:solidFill>
            <a:prstDash val="solid"/>
          </a:ln>
        </p:spPr>
        <p:txBody>
          <a:bodyPr/>
          <a:lstStyle/>
          <a:p>
            <a:endParaRPr lang="es-CO"/>
          </a:p>
        </p:txBody>
      </p:sp>
      <p:sp>
        <p:nvSpPr>
          <p:cNvPr id="19" name="Shape 17"/>
          <p:cNvSpPr/>
          <p:nvPr/>
        </p:nvSpPr>
        <p:spPr>
          <a:xfrm>
            <a:off x="804672" y="4718304"/>
            <a:ext cx="402336" cy="402336"/>
          </a:xfrm>
          <a:prstGeom prst="ellipse">
            <a:avLst/>
          </a:prstGeom>
          <a:solidFill>
            <a:srgbClr val="1C7293"/>
          </a:solidFill>
          <a:ln w="12700">
            <a:solidFill>
              <a:srgbClr val="1C7293"/>
            </a:solidFill>
            <a:prstDash val="solid"/>
          </a:ln>
        </p:spPr>
        <p:txBody>
          <a:bodyPr/>
          <a:lstStyle/>
          <a:p>
            <a:endParaRPr lang="es-CO"/>
          </a:p>
        </p:txBody>
      </p:sp>
      <p:sp>
        <p:nvSpPr>
          <p:cNvPr id="20" name="Text 18"/>
          <p:cNvSpPr/>
          <p:nvPr/>
        </p:nvSpPr>
        <p:spPr>
          <a:xfrm>
            <a:off x="804672" y="471830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p:nvPr/>
        </p:nvSpPr>
        <p:spPr>
          <a:xfrm>
            <a:off x="1353312" y="4645152"/>
            <a:ext cx="3657600" cy="274320"/>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El vuelto</a:t>
            </a:r>
            <a:endParaRPr lang="en-US" sz="1300" dirty="0"/>
          </a:p>
        </p:txBody>
      </p:sp>
      <p:sp>
        <p:nvSpPr>
          <p:cNvPr id="22" name="Text 20"/>
          <p:cNvSpPr/>
          <p:nvPr/>
        </p:nvSpPr>
        <p:spPr>
          <a:xfrm>
            <a:off x="1353312" y="4937760"/>
            <a:ext cx="6949440" cy="731520"/>
          </a:xfrm>
          <a:prstGeom prst="rect">
            <a:avLst/>
          </a:prstGeom>
          <a:noFill/>
          <a:ln/>
        </p:spPr>
        <p:txBody>
          <a:bodyPr wrap="square" lIns="0" tIns="0" rIns="0" bIns="0" rtlCol="0" anchor="t"/>
          <a:lstStyle/>
          <a:p>
            <a:pPr marL="0" indent="0">
              <a:lnSpc>
                <a:spcPts val="1500"/>
              </a:lnSpc>
              <a:buNone/>
            </a:pPr>
            <a:r>
              <a:rPr lang="en-US" sz="1150" dirty="0">
                <a:solidFill>
                  <a:srgbClr val="5B6B7C"/>
                </a:solidFill>
                <a:latin typeface="Calibri" pitchFamily="34" charset="0"/>
                <a:ea typeface="Calibri" pitchFamily="34" charset="-122"/>
                <a:cs typeface="Calibri" pitchFamily="34" charset="-120"/>
              </a:rPr>
              <a:t>Una caja debe devolver un valor usando la menor cantidad de piezas posible, con billetes de 10000 y monedas de 1000, 500 y 100. Dado el valor a devolver, imprima cuántas piezas de cada denominación se entregan.</a:t>
            </a:r>
            <a:endParaRPr lang="en-US" sz="1150" dirty="0"/>
          </a:p>
        </p:txBody>
      </p:sp>
      <p:sp>
        <p:nvSpPr>
          <p:cNvPr id="23" name="Shape 21"/>
          <p:cNvSpPr/>
          <p:nvPr/>
        </p:nvSpPr>
        <p:spPr>
          <a:xfrm>
            <a:off x="8503920" y="4736592"/>
            <a:ext cx="2834640" cy="822960"/>
          </a:xfrm>
          <a:prstGeom prst="roundRect">
            <a:avLst>
              <a:gd name="adj" fmla="val 5556"/>
            </a:avLst>
          </a:prstGeom>
          <a:solidFill>
            <a:srgbClr val="FFFFFF"/>
          </a:solidFill>
          <a:ln w="12700">
            <a:solidFill>
              <a:srgbClr val="E1E7EF"/>
            </a:solidFill>
            <a:prstDash val="solid"/>
          </a:ln>
        </p:spPr>
        <p:txBody>
          <a:bodyPr/>
          <a:lstStyle/>
          <a:p>
            <a:endParaRPr lang="es-CO"/>
          </a:p>
        </p:txBody>
      </p:sp>
      <p:sp>
        <p:nvSpPr>
          <p:cNvPr id="24" name="Text 22"/>
          <p:cNvSpPr/>
          <p:nvPr/>
        </p:nvSpPr>
        <p:spPr>
          <a:xfrm>
            <a:off x="8668512" y="4736592"/>
            <a:ext cx="2651760" cy="822960"/>
          </a:xfrm>
          <a:prstGeom prst="rect">
            <a:avLst/>
          </a:prstGeom>
          <a:noFill/>
          <a:ln/>
        </p:spPr>
        <p:txBody>
          <a:bodyPr wrap="square" lIns="0" tIns="0" rIns="0" bIns="0" rtlCol="0" anchor="ctr"/>
          <a:lstStyle/>
          <a:p>
            <a:pPr marL="0" indent="0">
              <a:lnSpc>
                <a:spcPts val="1600"/>
              </a:lnSpc>
              <a:buNone/>
            </a:pPr>
            <a:r>
              <a:rPr lang="en-US" sz="1050" b="1" dirty="0">
                <a:solidFill>
                  <a:srgbClr val="13294B"/>
                </a:solidFill>
                <a:latin typeface="Courier New" pitchFamily="34" charset="0"/>
                <a:ea typeface="Courier New" pitchFamily="34" charset="-122"/>
                <a:cs typeface="Courier New" pitchFamily="34" charset="-120"/>
              </a:rPr>
              <a:t>entrada  27800</a:t>
            </a:r>
            <a:r>
              <a:rPr lang="en-US" sz="500" dirty="0">
                <a:solidFill>
                  <a:srgbClr val="000000"/>
                </a:solidFill>
              </a:rPr>
              <a:t>
</a:t>
            </a:r>
            <a:endParaRPr lang="en-US" sz="1050" dirty="0"/>
          </a:p>
          <a:p>
            <a:pPr marL="0" indent="0">
              <a:lnSpc>
                <a:spcPts val="1600"/>
              </a:lnSpc>
              <a:buNone/>
            </a:pPr>
            <a:r>
              <a:rPr lang="en-US" sz="1050" b="1" dirty="0">
                <a:solidFill>
                  <a:srgbClr val="B07800"/>
                </a:solidFill>
                <a:latin typeface="Courier New" pitchFamily="34" charset="0"/>
                <a:ea typeface="Courier New" pitchFamily="34" charset="-122"/>
                <a:cs typeface="Courier New" pitchFamily="34" charset="-120"/>
              </a:rPr>
              <a:t>salida  2 7 1 3</a:t>
            </a:r>
            <a:endParaRPr lang="en-US" sz="1050" dirty="0"/>
          </a:p>
        </p:txBody>
      </p:sp>
      <p:sp>
        <p:nvSpPr>
          <p:cNvPr id="25" name="Shape 23"/>
          <p:cNvSpPr/>
          <p:nvPr/>
        </p:nvSpPr>
        <p:spPr>
          <a:xfrm>
            <a:off x="548640" y="5815584"/>
            <a:ext cx="11091672" cy="457200"/>
          </a:xfrm>
          <a:prstGeom prst="roundRect">
            <a:avLst>
              <a:gd name="adj" fmla="val 16000"/>
            </a:avLst>
          </a:prstGeom>
          <a:solidFill>
            <a:srgbClr val="FFF4DE"/>
          </a:solidFill>
          <a:ln w="12700">
            <a:solidFill>
              <a:srgbClr val="FFF4DE"/>
            </a:solidFill>
            <a:prstDash val="solid"/>
          </a:ln>
        </p:spPr>
        <p:txBody>
          <a:bodyPr/>
          <a:lstStyle/>
          <a:p>
            <a:endParaRPr lang="es-CO"/>
          </a:p>
        </p:txBody>
      </p:sp>
      <p:sp>
        <p:nvSpPr>
          <p:cNvPr id="26" name="Text 24"/>
          <p:cNvSpPr/>
          <p:nvPr/>
        </p:nvSpPr>
        <p:spPr>
          <a:xfrm>
            <a:off x="859536" y="5815584"/>
            <a:ext cx="10469880" cy="457200"/>
          </a:xfrm>
          <a:prstGeom prst="rect">
            <a:avLst/>
          </a:prstGeom>
          <a:noFill/>
          <a:ln/>
        </p:spPr>
        <p:txBody>
          <a:bodyPr wrap="square" lIns="0" tIns="0" rIns="0" bIns="0" rtlCol="0" anchor="ctr"/>
          <a:lstStyle/>
          <a:p>
            <a:pPr marL="0" indent="0">
              <a:buNone/>
            </a:pPr>
            <a:r>
              <a:rPr lang="en-US" sz="1250" b="1" dirty="0">
                <a:solidFill>
                  <a:srgbClr val="B07800"/>
                </a:solidFill>
                <a:latin typeface="Calibri" pitchFamily="34" charset="0"/>
                <a:ea typeface="Calibri" pitchFamily="34" charset="-122"/>
                <a:cs typeface="Calibri" pitchFamily="34" charset="-120"/>
              </a:rPr>
              <a:t>Los tres se resuelven con división y residuo, o con una sola expresión bien armada.  </a:t>
            </a:r>
            <a:r>
              <a:rPr lang="en-US" sz="1250" dirty="0">
                <a:solidFill>
                  <a:srgbClr val="1A1A2E"/>
                </a:solidFill>
                <a:latin typeface="Calibri" pitchFamily="34" charset="0"/>
                <a:ea typeface="Calibri" pitchFamily="34" charset="-122"/>
                <a:cs typeface="Calibri" pitchFamily="34" charset="-120"/>
              </a:rPr>
              <a:t>Ninguno necesita nada que no hayamos visto.</a:t>
            </a:r>
            <a:endParaRPr lang="en-US" sz="1250" dirty="0"/>
          </a:p>
        </p:txBody>
      </p:sp>
      <p:sp>
        <p:nvSpPr>
          <p:cNvPr id="27" name="Text 25"/>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24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1419</TotalTime>
  <Words>5134</Words>
  <Application>Microsoft Office PowerPoint</Application>
  <PresentationFormat>Panorámica</PresentationFormat>
  <Paragraphs>476</Paragraphs>
  <Slides>22</Slides>
  <Notes>22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22</vt:i4>
      </vt:variant>
    </vt:vector>
  </HeadingPairs>
  <TitlesOfParts>
    <vt:vector size="27"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7 · Operadores, jerarquía y expresiones</dc:title>
  <dc:subject>PptxGenJS Presentation</dc:subject>
  <dc:creator>Sebastián Montoya Villada</dc:creator>
  <cp:lastModifiedBy>SEBASTIAN MONTOYA VILLADA</cp:lastModifiedBy>
  <cp:revision>3</cp:revision>
  <dcterms:created xsi:type="dcterms:W3CDTF">2026-08-17T23:21:21Z</dcterms:created>
  <dcterms:modified xsi:type="dcterms:W3CDTF">2026-08-20T19:37:31Z</dcterms:modified>
</cp:coreProperties>
</file>