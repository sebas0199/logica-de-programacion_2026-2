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8557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Esta sesión no agrega lógica nueva: agrega el idioma. Todo lo que van a programar hoy ya lo saben escribir en pseudocódigo desde la sesión anterior.
Dilo así al abrir, porque baja la ansiedad de quienes creen que «programar» es otra cosa distinta de lo que ya vienen haciendo.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Ritmo previsto, para tu control y sin proyectarlo: apertura 4 · qué es una secuencia y el orden 10 · arranque 5 · clase y método principal 7 · salida estándar 6 · actividad 1 diez · asignación 6 · entrada estándar 7 · lo que cabe en una asignación 7 · tabla de traducción 4 · caso guía 10 · actividad 2 ocho · actividad 3 doce · errores de compilación 5 · cierre 5. Da 106 minutos.
Si la sesión es de 90, los recortes en orden: la tabla de traducción se entrega sin comentar (−4), el caso guía se lee ya resuelto en vez de construirlo (−5), y la actividad 2 se resuelve en el tablero entre todos (−6). Quedan 91.
Lo que no se recorta: la actividad 3 y el bloque de qué es una estructura secuencial, que es lo que le da nombre al saber de la semana.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columna de la izquierda es literal: todo eso ya lo trabajaron. Recuérdalo en voz alta, porque hoy vas a apoyarte en cada uno de esos puntos.
La barra inferior es la promesa de la sesión y conviene repetirla cuando aparezca la tabla de traducción.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Esta es la diapositiva que faltaba: hasta ahora habían escrito algoritmos secuenciales sin que nadie les hubiera puesto el nombre.
La imagen de la fila india funciona bien: cada instrucción espera su turno, pasa una sola vez y no se devuelve.
Si alguien pregunta si un programa puede saltarse una instrucción o repetirla, la respuesta honesta es que sí, con otras estructuras que llegan más adelante en el curso. Hoy la secuencia es la única que necesitamos, y es la base de las otras.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Ejecuta el segundo caso en vivo. Ver «9 9» en pantalla convence más que cualquier explicación.
El mensaje del primer caso está transcrito literal del compilador; sirve para que lo reconozcan cuando les salga.
El intercambio vuelve como Actividad 2, así que aquí basta con dejar la pregunta abierta: ¿cómo se arregla?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Deja que ellos digan qué falta antes de mostrar las tres tarjetas. Casi siempre sale «que esté en Java», y de ahí se desglosa.
El pseudocódigo es a propósito el del caso guía, así que cuando lleguemos a construirlo ya lo habrán visto dos veces.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No entres en qué significa static ni void: por ahora es una fórmula que se copia. Prometer que se explica más adelante es suficiente y es cierto.
Lo que sí hay que dejar claro es la equivalencia entre las llaves de main y el Inicio–Fin del pseudocódigo. Es el puente conceptual de toda la sesión.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contraste entre las tres líneas es el mismo que hicieron en pseudocódigo con Escribir area y Escribir "area". Recuérdalo explícitamente.
La diferencia entre print y println se aprovecha en el caso guía para preguntar antes de leer.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Meta del bloque: que todos vean su texto en la consola antes de avanzar. Circula mirando pantallas, no cuadernos.
Quien termine rápido puede probar la diferencia entre print y println cambiando una de las tres líneas, o intercambiar dos de las tres para comprobar que el orden de la salida cambia: es la definición de secuencia, vista en su propia pantalla.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primera regla vale un minuto de insistencia: en matemáticas el igual es una afirmación, en programación es una orden.
Amárralo con el caso 2 de la diapositiva del orden: si el igual fuera una afirmación, primero = segundo y segundo = primero serían la misma frase dos veces, y no lo 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Todo lo que leemos hoy son enteros y, en un solo ejercicio, una palabra. Los números con decimales se leen con nextDouble, pero ahí aparece un detalle de configuración regional —unos equipos exigen coma y otros punto— que no vale la pena pelear en el primer día de laboratorio.
Si alguien pregunta, respóndelo así de claro: existe, se llama nextDouble, y lo usaremos cuando el enunciado lo necesite.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residuo es nuevo para casi todos con este nombre, aunque lo conocen de la división de la primaria: es lo que sobraba.
Haz el dibujo en el tablero con la cantidad que ellos propongan y pregunta las dos cosas por separado: cuántos le tocan a cada uno, y cuántos quedan.
Hoy se usa como una operación más dentro de una asignación. La jerarquía entre estas operaciones y el patrón para extraer cifras de un número son el tema de la próxima sesión.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Si vas ajustado de tiempo, esta es la diapositiva que se entrega sin comentar: se lee sola y ellos la copian.
La fila de la división y el residuo es nueva respecto a lo que traían, y conviene señalarla al pasar.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Construye el análisis con ellos antes de mostrar la tabla: cuáles datos se leen, cuáles se calculan y cuál es la regla fija.
El 2 de los metros por persona es la constante, y es buena ocasión para recordar el final int de la sesión anterior.
La medida de 9 por 7 está escogida a propósito para que sobre exactamente un metro: si el área fuera par, el residuo daría cero y el ejemplo perdería la gracia.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Recorre el programa contra el pseudocódigo, línea por línea, señalando el par. Ese recorrido es la sesión entera en dos minutos.
Dejé un solo println a propósito: el ejercicio de completar los otros tres los obliga a leer la tabla de traducción en vez de copiar.
Si hay tiempo, ejecútalo en vivo con 9 y 7, y después con 10 y 6 para que vean que ahí el residuo da cero.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Bloque de trabajo supervisado. Este ejercicio es deliberadamente distinto de todo lo demás: no hay total ni subtotal, solo asignaciones.
El paso 4 cierra el círculo con la diapositiva del orden. Quien lo haga entiende de verdad que el igual es una orden y no una afirmación.
Si alguien pregunta si se puede intercambiar sin auxiliar, la respuesta es que sí, con trucos aritméticos, pero que el auxiliar es la forma clara y la que se califica.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 el bloque más largo y el que no se recorta. Insiste en el orden: cuaderno primero, computador después.
La tercera salida del reto se calcula como dulces menos lo que sobra, o como el producto de los que le tocan a cada uno por el número de niños. Las dos son válidas y comparar las dos formas es una buena conversación.
Solución: paraCadaUno = dulces / ninos · sobran = dulces % ninos.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Proyéctala y déjala visible durante las actividades. La idea es que el primer reflejo sea leer, no llamar.
El cuarto mensaje es el de la diapositiva del orden, y conviene amarrarlo ahí.
El consejo de la barra es literal: un punto y coma faltante puede generar cuatro mensajes distintos, y tres se van al corregir el primero.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Los cuatro están escogidos para que no se parezcan entre sí: uno descompone, uno mide, uno reparte y uno solo mueve valores.
El cuarto es el más difícil de los cuatro y es la extensión natural de la Actividad 2: con tres datos hace falta pensar bien en qué orden se hacen las asignaciones.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5 y el 6 son de rutina. El 7 es el único que lee texto en toda la sesión y sirve para que vean que un dato no siempre es un número.
El 8 anticipa el patrón de descomponer un número por cifras, que es tema de la próxima sesión. Si a alguien le sale, celébralo; si no, no importa.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Los cinco: falta el import de Scanner antes de la clase; en la 5 se declara Segundo con mayúscula y se usa segundo en minúscula; en la 7 falta el punto y coma; en la 8 falta el signo más después de las comillas; y en las líneas 6 y 7 falta el dato auxiliar, así que los dos terminan con el mismo valor.
El truco de método es real y conviene decirlo: mientras haya errores de puntuación, javac reporta cuatro mensajes de sintaxis y ninguno de los otros dos.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1C7293">
              <a:alpha val="22000"/>
            </a:srgbClr>
          </a:solidFill>
          <a:ln w="12700">
            <a:solidFill>
              <a:srgbClr val="1C7293">
                <a:alpha val="0"/>
              </a:srgbClr>
            </a:solidFill>
            <a:prstDash val="solid"/>
          </a:ln>
        </p:spPr>
        <p:txBody>
          <a:bodyPr/>
          <a:lstStyle/>
          <a:p>
            <a:endParaRPr lang="es-CO"/>
          </a:p>
        </p:txBody>
      </p:sp>
      <p:sp>
        <p:nvSpPr>
          <p:cNvPr id="3" name="Shape 1"/>
          <p:cNvSpPr/>
          <p:nvPr/>
        </p:nvSpPr>
        <p:spPr>
          <a:xfrm>
            <a:off x="-1280160" y="4206240"/>
            <a:ext cx="3840480" cy="3840480"/>
          </a:xfrm>
          <a:prstGeom prst="ellipse">
            <a:avLst/>
          </a:prstGeom>
          <a:solidFill>
            <a:srgbClr val="FFB100">
              <a:alpha val="12000"/>
            </a:srgbClr>
          </a:solidFill>
          <a:ln w="12700">
            <a:solidFill>
              <a:srgbClr val="FFB100">
                <a:alpha val="0"/>
              </a:srgbClr>
            </a:solidFill>
            <a:prstDash val="solid"/>
          </a:ln>
        </p:spPr>
        <p:txBody>
          <a:bodyPr/>
          <a:lstStyle/>
          <a:p>
            <a:endParaRPr lang="es-CO"/>
          </a:p>
        </p:txBody>
      </p:sp>
      <p:sp>
        <p:nvSpPr>
          <p:cNvPr id="4" name="Text 2"/>
          <p:cNvSpPr/>
          <p:nvPr/>
        </p:nvSpPr>
        <p:spPr>
          <a:xfrm>
            <a:off x="548640" y="1481328"/>
            <a:ext cx="100584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LÓGICA DE PROGRAMACIÓN Y LABORATORIO</a:t>
            </a:r>
            <a:endParaRPr lang="en-US" sz="1400" dirty="0"/>
          </a:p>
        </p:txBody>
      </p:sp>
      <p:sp>
        <p:nvSpPr>
          <p:cNvPr id="5" name="Text 3"/>
          <p:cNvSpPr/>
          <p:nvPr/>
        </p:nvSpPr>
        <p:spPr>
          <a:xfrm>
            <a:off x="548640" y="1901952"/>
            <a:ext cx="10058400" cy="502920"/>
          </a:xfrm>
          <a:prstGeom prst="rect">
            <a:avLst/>
          </a:prstGeom>
          <a:noFill/>
          <a:ln/>
        </p:spPr>
        <p:txBody>
          <a:bodyPr wrap="square" lIns="0" tIns="0" rIns="0" bIns="0" rtlCol="0" anchor="ctr"/>
          <a:lstStyle/>
          <a:p>
            <a:pPr marL="0" indent="0">
              <a:buNone/>
            </a:pPr>
            <a:r>
              <a:rPr lang="en-US" sz="2000" b="1" dirty="0">
                <a:solidFill>
                  <a:srgbClr val="FFB100"/>
                </a:solidFill>
                <a:latin typeface="Calibri" pitchFamily="34" charset="0"/>
                <a:ea typeface="Calibri" pitchFamily="34" charset="-122"/>
                <a:cs typeface="Calibri" pitchFamily="34" charset="-120"/>
              </a:rPr>
              <a:t>Semana 3 · </a:t>
            </a:r>
            <a:r>
              <a:rPr lang="en-US" sz="2000" b="1" dirty="0" err="1">
                <a:solidFill>
                  <a:srgbClr val="FFB100"/>
                </a:solidFill>
                <a:latin typeface="Calibri" pitchFamily="34" charset="0"/>
                <a:ea typeface="Calibri" pitchFamily="34" charset="-122"/>
                <a:cs typeface="Calibri" pitchFamily="34" charset="-120"/>
              </a:rPr>
              <a:t>Sesión</a:t>
            </a:r>
            <a:r>
              <a:rPr lang="en-US" sz="2000" b="1" dirty="0">
                <a:solidFill>
                  <a:srgbClr val="FFB100"/>
                </a:solidFill>
                <a:latin typeface="Calibri" pitchFamily="34" charset="0"/>
                <a:ea typeface="Calibri" pitchFamily="34" charset="-122"/>
                <a:cs typeface="Calibri" pitchFamily="34" charset="-120"/>
              </a:rPr>
              <a:t> 6</a:t>
            </a:r>
            <a:endParaRPr lang="en-US" sz="2000" dirty="0"/>
          </a:p>
        </p:txBody>
      </p:sp>
      <p:sp>
        <p:nvSpPr>
          <p:cNvPr id="6" name="Text 4"/>
          <p:cNvSpPr/>
          <p:nvPr/>
        </p:nvSpPr>
        <p:spPr>
          <a:xfrm>
            <a:off x="548640" y="2450592"/>
            <a:ext cx="10515600" cy="173736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Estructuras</a:t>
            </a:r>
            <a:endParaRPr lang="en-US" sz="4400" dirty="0"/>
          </a:p>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secuenciales en Java</a:t>
            </a:r>
            <a:endParaRPr lang="en-US" sz="4400" dirty="0"/>
          </a:p>
        </p:txBody>
      </p:sp>
      <p:sp>
        <p:nvSpPr>
          <p:cNvPr id="8" name="Shape 6"/>
          <p:cNvSpPr/>
          <p:nvPr/>
        </p:nvSpPr>
        <p:spPr>
          <a:xfrm>
            <a:off x="548640" y="4937760"/>
            <a:ext cx="2011680" cy="0"/>
          </a:xfrm>
          <a:prstGeom prst="line">
            <a:avLst/>
          </a:prstGeom>
          <a:noFill/>
          <a:ln w="31750">
            <a:solidFill>
              <a:srgbClr val="FFB100"/>
            </a:solidFill>
            <a:prstDash val="solid"/>
          </a:ln>
        </p:spPr>
        <p:txBody>
          <a:bodyPr/>
          <a:lstStyle/>
          <a:p>
            <a:endParaRPr lang="es-CO"/>
          </a:p>
        </p:txBody>
      </p:sp>
      <p:sp>
        <p:nvSpPr>
          <p:cNvPr id="9" name="Text 7"/>
          <p:cNvSpPr/>
          <p:nvPr/>
        </p:nvSpPr>
        <p:spPr>
          <a:xfrm>
            <a:off x="548640" y="5175504"/>
            <a:ext cx="10058400" cy="320040"/>
          </a:xfrm>
          <a:prstGeom prst="rect">
            <a:avLst/>
          </a:prstGeom>
          <a:noFill/>
          <a:ln/>
        </p:spPr>
        <p:txBody>
          <a:bodyPr wrap="square" lIns="0" tIns="0" rIns="0" bIns="0" rtlCol="0" anchor="ctr"/>
          <a:lstStyle/>
          <a:p>
            <a:pPr marL="0" indent="0">
              <a:buNone/>
            </a:pPr>
            <a:r>
              <a:rPr lang="en-US" sz="1200" dirty="0">
                <a:solidFill>
                  <a:srgbClr val="8FA6C4"/>
                </a:solidFill>
                <a:latin typeface="Calibri" pitchFamily="34" charset="0"/>
                <a:ea typeface="Calibri" pitchFamily="34" charset="-122"/>
                <a:cs typeface="Calibri" pitchFamily="34" charset="-120"/>
              </a:rPr>
              <a:t>Institución Universitaria ITM  ·  Tecnología en Desarrollo de Software  ·  Grupo 27</a:t>
            </a:r>
            <a:endParaRPr lang="en-US" sz="1200" dirty="0"/>
          </a:p>
        </p:txBody>
      </p:sp>
      <p:sp>
        <p:nvSpPr>
          <p:cNvPr id="10" name="Text 8"/>
          <p:cNvSpPr/>
          <p:nvPr/>
        </p:nvSpPr>
        <p:spPr>
          <a:xfrm>
            <a:off x="548640" y="5495544"/>
            <a:ext cx="100584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Sebastián Montoya Villada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SESIÓN 6 · DÍA DE LABORATORIO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Objetivo y ruta de la sesión</a:t>
            </a:r>
            <a:endParaRPr lang="en-US" sz="2900" dirty="0"/>
          </a:p>
        </p:txBody>
      </p:sp>
      <p:sp>
        <p:nvSpPr>
          <p:cNvPr id="4" name="Shape 2"/>
          <p:cNvSpPr/>
          <p:nvPr/>
        </p:nvSpPr>
        <p:spPr>
          <a:xfrm>
            <a:off x="548640" y="1444752"/>
            <a:ext cx="11091672" cy="1005840"/>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5" name="Text 3"/>
          <p:cNvSpPr/>
          <p:nvPr/>
        </p:nvSpPr>
        <p:spPr>
          <a:xfrm>
            <a:off x="822960" y="1554480"/>
            <a:ext cx="10543032" cy="822960"/>
          </a:xfrm>
          <a:prstGeom prst="rect">
            <a:avLst/>
          </a:prstGeom>
          <a:noFill/>
          <a:ln/>
        </p:spPr>
        <p:txBody>
          <a:bodyPr wrap="square" lIns="0" tIns="0" rIns="0" bIns="0" rtlCol="0" anchor="t"/>
          <a:lstStyle/>
          <a:p>
            <a:pPr marL="0" indent="0">
              <a:lnSpc>
                <a:spcPts val="1900"/>
              </a:lnSpc>
              <a:buNone/>
            </a:pPr>
            <a:r>
              <a:rPr lang="en-US" sz="1500" b="1" dirty="0">
                <a:solidFill>
                  <a:srgbClr val="13294B"/>
                </a:solidFill>
                <a:latin typeface="Calibri" pitchFamily="34" charset="0"/>
                <a:ea typeface="Calibri" pitchFamily="34" charset="-122"/>
                <a:cs typeface="Calibri" pitchFamily="34" charset="-120"/>
              </a:rPr>
              <a:t>Objetivo de aprendizaje
</a:t>
            </a:r>
            <a:endParaRPr lang="en-US" sz="1500" dirty="0"/>
          </a:p>
          <a:p>
            <a:pPr marL="0" indent="0">
              <a:lnSpc>
                <a:spcPts val="1900"/>
              </a:lnSpc>
              <a:buNone/>
            </a:pPr>
            <a:r>
              <a:rPr lang="en-US" sz="1400" dirty="0">
                <a:solidFill>
                  <a:srgbClr val="1A1A2E"/>
                </a:solidFill>
                <a:latin typeface="Calibri" pitchFamily="34" charset="0"/>
                <a:ea typeface="Calibri" pitchFamily="34" charset="-122"/>
                <a:cs typeface="Calibri" pitchFamily="34" charset="-120"/>
              </a:rPr>
              <a:t>Implementar un algoritmo secuencial en Java, dentro de una clase con su método principal, usando las instrucciones de lectura, asignación y escritura con entrada y salida estándar.</a:t>
            </a:r>
            <a:endParaRPr lang="en-US" sz="1500" dirty="0"/>
          </a:p>
        </p:txBody>
      </p:sp>
      <p:sp>
        <p:nvSpPr>
          <p:cNvPr id="6" name="Shape 4"/>
          <p:cNvSpPr/>
          <p:nvPr/>
        </p:nvSpPr>
        <p:spPr>
          <a:xfrm>
            <a:off x="548640" y="2670048"/>
            <a:ext cx="365760" cy="365760"/>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548640" y="26700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97280" y="26243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Qué es una estructura secuencial</a:t>
            </a:r>
            <a:endParaRPr lang="en-US" sz="1350" dirty="0"/>
          </a:p>
        </p:txBody>
      </p:sp>
      <p:sp>
        <p:nvSpPr>
          <p:cNvPr id="9" name="Text 7"/>
          <p:cNvSpPr/>
          <p:nvPr/>
        </p:nvSpPr>
        <p:spPr>
          <a:xfrm>
            <a:off x="1097280" y="28346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Las tres reglas que la definen, y por qué el orden importa</a:t>
            </a:r>
            <a:endParaRPr lang="en-US" sz="1150" dirty="0"/>
          </a:p>
        </p:txBody>
      </p:sp>
      <p:sp>
        <p:nvSpPr>
          <p:cNvPr id="10" name="Shape 8"/>
          <p:cNvSpPr/>
          <p:nvPr/>
        </p:nvSpPr>
        <p:spPr>
          <a:xfrm>
            <a:off x="548640" y="31272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1" name="Text 9"/>
          <p:cNvSpPr/>
          <p:nvPr/>
        </p:nvSpPr>
        <p:spPr>
          <a:xfrm>
            <a:off x="548640" y="3127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097280" y="30815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La clase y el método principal</a:t>
            </a:r>
            <a:endParaRPr lang="en-US" sz="1350" dirty="0"/>
          </a:p>
        </p:txBody>
      </p:sp>
      <p:sp>
        <p:nvSpPr>
          <p:cNvPr id="13" name="Text 11"/>
          <p:cNvSpPr/>
          <p:nvPr/>
        </p:nvSpPr>
        <p:spPr>
          <a:xfrm>
            <a:off x="1097280" y="32918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El envase de todo programa de Java</a:t>
            </a:r>
            <a:endParaRPr lang="en-US" sz="1150" dirty="0"/>
          </a:p>
        </p:txBody>
      </p:sp>
      <p:sp>
        <p:nvSpPr>
          <p:cNvPr id="14" name="Shape 12"/>
          <p:cNvSpPr/>
          <p:nvPr/>
        </p:nvSpPr>
        <p:spPr>
          <a:xfrm>
            <a:off x="548640" y="35844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5" name="Text 13"/>
          <p:cNvSpPr/>
          <p:nvPr/>
        </p:nvSpPr>
        <p:spPr>
          <a:xfrm>
            <a:off x="548640" y="35844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097280" y="35387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Salida estándar</a:t>
            </a:r>
            <a:endParaRPr lang="en-US" sz="1350" dirty="0"/>
          </a:p>
        </p:txBody>
      </p:sp>
      <p:sp>
        <p:nvSpPr>
          <p:cNvPr id="17" name="Text 15"/>
          <p:cNvSpPr/>
          <p:nvPr/>
        </p:nvSpPr>
        <p:spPr>
          <a:xfrm>
            <a:off x="1097280" y="37490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System.out.println y la concatenación con +</a:t>
            </a:r>
            <a:endParaRPr lang="en-US" sz="1150" dirty="0"/>
          </a:p>
        </p:txBody>
      </p:sp>
      <p:sp>
        <p:nvSpPr>
          <p:cNvPr id="18" name="Shape 16"/>
          <p:cNvSpPr/>
          <p:nvPr/>
        </p:nvSpPr>
        <p:spPr>
          <a:xfrm>
            <a:off x="548640" y="4041648"/>
            <a:ext cx="365760" cy="365760"/>
          </a:xfrm>
          <a:prstGeom prst="ellipse">
            <a:avLst/>
          </a:prstGeom>
          <a:solidFill>
            <a:srgbClr val="1C7293"/>
          </a:solidFill>
          <a:ln w="12700">
            <a:solidFill>
              <a:srgbClr val="1C7293"/>
            </a:solidFill>
            <a:prstDash val="solid"/>
          </a:ln>
        </p:spPr>
        <p:txBody>
          <a:bodyPr/>
          <a:lstStyle/>
          <a:p>
            <a:endParaRPr lang="es-CO"/>
          </a:p>
        </p:txBody>
      </p:sp>
      <p:sp>
        <p:nvSpPr>
          <p:cNvPr id="19" name="Text 17"/>
          <p:cNvSpPr/>
          <p:nvPr/>
        </p:nvSpPr>
        <p:spPr>
          <a:xfrm>
            <a:off x="548640" y="40416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097280" y="39959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Actividad 1 </a:t>
            </a:r>
            <a:endParaRPr lang="en-US" sz="1350" dirty="0"/>
          </a:p>
        </p:txBody>
      </p:sp>
      <p:sp>
        <p:nvSpPr>
          <p:cNvPr id="21" name="Text 19"/>
          <p:cNvSpPr/>
          <p:nvPr/>
        </p:nvSpPr>
        <p:spPr>
          <a:xfrm>
            <a:off x="1097280" y="42062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Escribir, compilar y ver el resultado</a:t>
            </a:r>
            <a:endParaRPr lang="en-US" sz="1150" dirty="0"/>
          </a:p>
        </p:txBody>
      </p:sp>
      <p:sp>
        <p:nvSpPr>
          <p:cNvPr id="22" name="Shape 20"/>
          <p:cNvSpPr/>
          <p:nvPr/>
        </p:nvSpPr>
        <p:spPr>
          <a:xfrm>
            <a:off x="548640" y="4498848"/>
            <a:ext cx="365760" cy="365760"/>
          </a:xfrm>
          <a:prstGeom prst="ellipse">
            <a:avLst/>
          </a:prstGeom>
          <a:solidFill>
            <a:srgbClr val="1C7293"/>
          </a:solidFill>
          <a:ln w="12700">
            <a:solidFill>
              <a:srgbClr val="1C7293"/>
            </a:solidFill>
            <a:prstDash val="solid"/>
          </a:ln>
        </p:spPr>
        <p:txBody>
          <a:bodyPr/>
          <a:lstStyle/>
          <a:p>
            <a:endParaRPr lang="es-CO"/>
          </a:p>
        </p:txBody>
      </p:sp>
      <p:sp>
        <p:nvSpPr>
          <p:cNvPr id="23" name="Text 21"/>
          <p:cNvSpPr/>
          <p:nvPr/>
        </p:nvSpPr>
        <p:spPr>
          <a:xfrm>
            <a:off x="548640" y="44988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097280" y="44531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Asignación y entrada estándar</a:t>
            </a:r>
            <a:endParaRPr lang="en-US" sz="1350" dirty="0"/>
          </a:p>
        </p:txBody>
      </p:sp>
      <p:sp>
        <p:nvSpPr>
          <p:cNvPr id="25" name="Text 23"/>
          <p:cNvSpPr/>
          <p:nvPr/>
        </p:nvSpPr>
        <p:spPr>
          <a:xfrm>
            <a:off x="1097280" y="46634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De la flecha al signo igual, y el Scanner</a:t>
            </a:r>
            <a:endParaRPr lang="en-US" sz="1150" dirty="0"/>
          </a:p>
        </p:txBody>
      </p:sp>
      <p:sp>
        <p:nvSpPr>
          <p:cNvPr id="26" name="Shape 24"/>
          <p:cNvSpPr/>
          <p:nvPr/>
        </p:nvSpPr>
        <p:spPr>
          <a:xfrm>
            <a:off x="548640" y="4956048"/>
            <a:ext cx="365760" cy="365760"/>
          </a:xfrm>
          <a:prstGeom prst="ellipse">
            <a:avLst/>
          </a:prstGeom>
          <a:solidFill>
            <a:srgbClr val="1C7293"/>
          </a:solidFill>
          <a:ln w="12700">
            <a:solidFill>
              <a:srgbClr val="1C7293"/>
            </a:solidFill>
            <a:prstDash val="solid"/>
          </a:ln>
        </p:spPr>
        <p:txBody>
          <a:bodyPr/>
          <a:lstStyle/>
          <a:p>
            <a:endParaRPr lang="es-CO"/>
          </a:p>
        </p:txBody>
      </p:sp>
      <p:sp>
        <p:nvSpPr>
          <p:cNvPr id="27" name="Text 25"/>
          <p:cNvSpPr/>
          <p:nvPr/>
        </p:nvSpPr>
        <p:spPr>
          <a:xfrm>
            <a:off x="548640" y="49560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097280" y="49103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Lo que cabe en una asignación</a:t>
            </a:r>
            <a:endParaRPr lang="en-US" sz="1350" dirty="0"/>
          </a:p>
        </p:txBody>
      </p:sp>
      <p:sp>
        <p:nvSpPr>
          <p:cNvPr id="29" name="Text 27"/>
          <p:cNvSpPr/>
          <p:nvPr/>
        </p:nvSpPr>
        <p:spPr>
          <a:xfrm>
            <a:off x="1097280" y="51206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Producto, división y residuo dentro de un cálculo</a:t>
            </a:r>
            <a:endParaRPr lang="en-US" sz="1150" dirty="0"/>
          </a:p>
        </p:txBody>
      </p:sp>
      <p:sp>
        <p:nvSpPr>
          <p:cNvPr id="30" name="Shape 28"/>
          <p:cNvSpPr/>
          <p:nvPr/>
        </p:nvSpPr>
        <p:spPr>
          <a:xfrm>
            <a:off x="548640" y="5413248"/>
            <a:ext cx="365760" cy="365760"/>
          </a:xfrm>
          <a:prstGeom prst="ellipse">
            <a:avLst/>
          </a:prstGeom>
          <a:solidFill>
            <a:srgbClr val="1C7293"/>
          </a:solidFill>
          <a:ln w="12700">
            <a:solidFill>
              <a:srgbClr val="1C7293"/>
            </a:solidFill>
            <a:prstDash val="solid"/>
          </a:ln>
        </p:spPr>
        <p:txBody>
          <a:bodyPr/>
          <a:lstStyle/>
          <a:p>
            <a:endParaRPr lang="es-CO"/>
          </a:p>
        </p:txBody>
      </p:sp>
      <p:sp>
        <p:nvSpPr>
          <p:cNvPr id="31" name="Text 29"/>
          <p:cNvSpPr/>
          <p:nvPr/>
        </p:nvSpPr>
        <p:spPr>
          <a:xfrm>
            <a:off x="548640" y="5413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1097280" y="53675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Caso guía y Actividades 2 y 3</a:t>
            </a:r>
            <a:endParaRPr lang="en-US" sz="1350" dirty="0"/>
          </a:p>
        </p:txBody>
      </p:sp>
      <p:sp>
        <p:nvSpPr>
          <p:cNvPr id="33" name="Text 31"/>
          <p:cNvSpPr/>
          <p:nvPr/>
        </p:nvSpPr>
        <p:spPr>
          <a:xfrm>
            <a:off x="1097280" y="55778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Traducir un pseudocódigo y construir desde el enunciado</a:t>
            </a:r>
            <a:endParaRPr lang="en-US" sz="1150" dirty="0"/>
          </a:p>
        </p:txBody>
      </p:sp>
      <p:sp>
        <p:nvSpPr>
          <p:cNvPr id="34" name="Shape 32"/>
          <p:cNvSpPr/>
          <p:nvPr/>
        </p:nvSpPr>
        <p:spPr>
          <a:xfrm>
            <a:off x="548640" y="5870448"/>
            <a:ext cx="365760" cy="365760"/>
          </a:xfrm>
          <a:prstGeom prst="ellipse">
            <a:avLst/>
          </a:prstGeom>
          <a:solidFill>
            <a:srgbClr val="1C7293"/>
          </a:solidFill>
          <a:ln w="12700">
            <a:solidFill>
              <a:srgbClr val="1C7293"/>
            </a:solidFill>
            <a:prstDash val="solid"/>
          </a:ln>
        </p:spPr>
        <p:txBody>
          <a:bodyPr/>
          <a:lstStyle/>
          <a:p>
            <a:endParaRPr lang="es-CO"/>
          </a:p>
        </p:txBody>
      </p:sp>
      <p:sp>
        <p:nvSpPr>
          <p:cNvPr id="35" name="Text 33"/>
          <p:cNvSpPr/>
          <p:nvPr/>
        </p:nvSpPr>
        <p:spPr>
          <a:xfrm>
            <a:off x="548640" y="58704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p:nvPr/>
        </p:nvSpPr>
        <p:spPr>
          <a:xfrm>
            <a:off x="1097280" y="5824728"/>
            <a:ext cx="8686800" cy="237744"/>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Cierre y trabajo independiente</a:t>
            </a:r>
            <a:endParaRPr lang="en-US" sz="1350" dirty="0"/>
          </a:p>
        </p:txBody>
      </p:sp>
      <p:sp>
        <p:nvSpPr>
          <p:cNvPr id="37" name="Text 35"/>
          <p:cNvSpPr/>
          <p:nvPr/>
        </p:nvSpPr>
        <p:spPr>
          <a:xfrm>
            <a:off x="1097280" y="6035040"/>
            <a:ext cx="9692640" cy="237744"/>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Ocho ejercicios y una caza de errores para la casa</a:t>
            </a:r>
            <a:endParaRPr lang="en-US" sz="1150" dirty="0"/>
          </a:p>
        </p:txBody>
      </p:sp>
      <p:sp>
        <p:nvSpPr>
          <p:cNvPr id="38" name="Text 3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DÓNDE ESTAMOS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Semana 3 · el saber que estamos construyendo</a:t>
            </a:r>
            <a:endParaRPr lang="en-US" sz="2900" dirty="0"/>
          </a:p>
        </p:txBody>
      </p:sp>
      <p:sp>
        <p:nvSpPr>
          <p:cNvPr id="4" name="Shape 2"/>
          <p:cNvSpPr/>
          <p:nvPr/>
        </p:nvSpPr>
        <p:spPr>
          <a:xfrm>
            <a:off x="548640" y="1389888"/>
            <a:ext cx="11091672" cy="1005840"/>
          </a:xfrm>
          <a:prstGeom prst="roundRect">
            <a:avLst>
              <a:gd name="adj" fmla="val 7273"/>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444752"/>
            <a:ext cx="10451592" cy="841248"/>
          </a:xfrm>
          <a:prstGeom prst="rect">
            <a:avLst/>
          </a:prstGeom>
          <a:noFill/>
          <a:ln/>
        </p:spPr>
        <p:txBody>
          <a:bodyPr wrap="square" lIns="0" tIns="0" rIns="0" bIns="0" rtlCol="0" anchor="t"/>
          <a:lstStyle/>
          <a:p>
            <a:pPr marL="0" indent="0">
              <a:lnSpc>
                <a:spcPts val="1900"/>
              </a:lnSpc>
              <a:buNone/>
            </a:pPr>
            <a:r>
              <a:rPr lang="en-US" sz="1100" b="1" kern="0" spc="120" dirty="0">
                <a:solidFill>
                  <a:srgbClr val="1C7293"/>
                </a:solidFill>
                <a:latin typeface="Calibri" pitchFamily="34" charset="0"/>
                <a:ea typeface="Calibri" pitchFamily="34" charset="-122"/>
                <a:cs typeface="Calibri" pitchFamily="34" charset="-120"/>
              </a:rPr>
              <a:t>COMPROMISO ACADÉMICO · SEMANA 3</a:t>
            </a:r>
            <a:endParaRPr lang="en-US" sz="1100" dirty="0"/>
          </a:p>
          <a:p>
            <a:pPr marL="0" indent="0">
              <a:lnSpc>
                <a:spcPts val="1900"/>
              </a:lnSpc>
              <a:buNone/>
            </a:pPr>
            <a:r>
              <a:rPr lang="en-US" sz="1350" i="1" dirty="0">
                <a:solidFill>
                  <a:srgbClr val="13294B"/>
                </a:solidFill>
                <a:latin typeface="Calibri" pitchFamily="34" charset="0"/>
                <a:ea typeface="Calibri" pitchFamily="34" charset="-122"/>
                <a:cs typeface="Calibri" pitchFamily="34" charset="-120"/>
              </a:rPr>
              <a:t>«Implementa las estructuras secuenciales, las instrucciones básicas de asignación, de lectura y escritura», mediante la definición de datos de entrada y salida estándar usando una clase y el método principal.</a:t>
            </a:r>
            <a:endParaRPr lang="en-US" sz="1100" dirty="0"/>
          </a:p>
        </p:txBody>
      </p:sp>
      <p:sp>
        <p:nvSpPr>
          <p:cNvPr id="6" name="Shape 4"/>
          <p:cNvSpPr/>
          <p:nvPr/>
        </p:nvSpPr>
        <p:spPr>
          <a:xfrm>
            <a:off x="548640" y="2523744"/>
            <a:ext cx="5349240" cy="2926080"/>
          </a:xfrm>
          <a:prstGeom prst="roundRect">
            <a:avLst>
              <a:gd name="adj" fmla="val 2500"/>
            </a:avLst>
          </a:prstGeom>
          <a:solidFill>
            <a:srgbClr val="F4F7FB"/>
          </a:solidFill>
          <a:ln w="12700">
            <a:solidFill>
              <a:srgbClr val="F4F7FB"/>
            </a:solidFill>
            <a:prstDash val="solid"/>
          </a:ln>
        </p:spPr>
        <p:txBody>
          <a:bodyPr/>
          <a:lstStyle/>
          <a:p>
            <a:endParaRPr lang="es-CO"/>
          </a:p>
        </p:txBody>
      </p:sp>
      <p:sp>
        <p:nvSpPr>
          <p:cNvPr id="7" name="Text 5"/>
          <p:cNvSpPr/>
          <p:nvPr/>
        </p:nvSpPr>
        <p:spPr>
          <a:xfrm>
            <a:off x="841248" y="2688336"/>
            <a:ext cx="4754880" cy="274320"/>
          </a:xfrm>
          <a:prstGeom prst="rect">
            <a:avLst/>
          </a:prstGeom>
          <a:noFill/>
          <a:ln/>
        </p:spPr>
        <p:txBody>
          <a:bodyPr wrap="square" lIns="0" tIns="0" rIns="0" bIns="0" rtlCol="0" anchor="ctr"/>
          <a:lstStyle/>
          <a:p>
            <a:pPr marL="0" indent="0">
              <a:buNone/>
            </a:pPr>
            <a:r>
              <a:rPr lang="en-US" sz="1100" b="1" kern="0" spc="120" dirty="0">
                <a:solidFill>
                  <a:srgbClr val="13294B"/>
                </a:solidFill>
                <a:latin typeface="Calibri" pitchFamily="34" charset="0"/>
                <a:ea typeface="Calibri" pitchFamily="34" charset="-122"/>
                <a:cs typeface="Calibri" pitchFamily="34" charset="-120"/>
              </a:rPr>
              <a:t>LO QUE TRAEMOS DE LA SESIÓN 5</a:t>
            </a:r>
            <a:endParaRPr lang="en-US" sz="1100" dirty="0"/>
          </a:p>
        </p:txBody>
      </p:sp>
      <p:sp>
        <p:nvSpPr>
          <p:cNvPr id="8" name="Text 6"/>
          <p:cNvSpPr/>
          <p:nvPr/>
        </p:nvSpPr>
        <p:spPr>
          <a:xfrm>
            <a:off x="841248" y="3017520"/>
            <a:ext cx="4754880" cy="228600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El algoritmo y sus características</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Diagrama de flujo y pseudocódigo</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Identificadores, variables y constantes</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Tipos de datos y conversión</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Cómo se declara un dato en Java</a:t>
            </a:r>
            <a:endParaRPr lang="en-US" sz="1300" dirty="0"/>
          </a:p>
        </p:txBody>
      </p:sp>
      <p:sp>
        <p:nvSpPr>
          <p:cNvPr id="9" name="Shape 7"/>
          <p:cNvSpPr/>
          <p:nvPr/>
        </p:nvSpPr>
        <p:spPr>
          <a:xfrm>
            <a:off x="6291072" y="2523744"/>
            <a:ext cx="5349240" cy="2926080"/>
          </a:xfrm>
          <a:prstGeom prst="roundRect">
            <a:avLst>
              <a:gd name="adj" fmla="val 2500"/>
            </a:avLst>
          </a:prstGeom>
          <a:solidFill>
            <a:srgbClr val="FFF4DE"/>
          </a:solidFill>
          <a:ln w="12700">
            <a:solidFill>
              <a:srgbClr val="FFF4DE"/>
            </a:solidFill>
            <a:prstDash val="solid"/>
          </a:ln>
        </p:spPr>
        <p:txBody>
          <a:bodyPr/>
          <a:lstStyle/>
          <a:p>
            <a:endParaRPr lang="es-CO"/>
          </a:p>
        </p:txBody>
      </p:sp>
      <p:sp>
        <p:nvSpPr>
          <p:cNvPr id="10" name="Text 8"/>
          <p:cNvSpPr/>
          <p:nvPr/>
        </p:nvSpPr>
        <p:spPr>
          <a:xfrm>
            <a:off x="6583680" y="2688336"/>
            <a:ext cx="4754880" cy="274320"/>
          </a:xfrm>
          <a:prstGeom prst="rect">
            <a:avLst/>
          </a:prstGeom>
          <a:noFill/>
          <a:ln/>
        </p:spPr>
        <p:txBody>
          <a:bodyPr wrap="square" lIns="0" tIns="0" rIns="0" bIns="0" rtlCol="0" anchor="ctr"/>
          <a:lstStyle/>
          <a:p>
            <a:pPr marL="0" indent="0">
              <a:buNone/>
            </a:pPr>
            <a:r>
              <a:rPr lang="en-US" sz="1100" b="1" kern="0" spc="120" dirty="0">
                <a:solidFill>
                  <a:srgbClr val="B07800"/>
                </a:solidFill>
                <a:latin typeface="Calibri" pitchFamily="34" charset="0"/>
                <a:ea typeface="Calibri" pitchFamily="34" charset="-122"/>
                <a:cs typeface="Calibri" pitchFamily="34" charset="-120"/>
              </a:rPr>
              <a:t>LO QUE CONSTRUIMOS EN ESTA SESIÓN</a:t>
            </a:r>
            <a:endParaRPr lang="en-US" sz="1100" dirty="0"/>
          </a:p>
        </p:txBody>
      </p:sp>
      <p:sp>
        <p:nvSpPr>
          <p:cNvPr id="11" name="Text 9"/>
          <p:cNvSpPr/>
          <p:nvPr/>
        </p:nvSpPr>
        <p:spPr>
          <a:xfrm>
            <a:off x="6583680" y="3017520"/>
            <a:ext cx="4754880" cy="228600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Qué es una estructura secuencial</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clase y el método principal</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La lectura, la asignación y la escritura</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El producto, la división y el residuo</a:t>
            </a:r>
            <a:endParaRPr lang="en-US" sz="1300" dirty="0"/>
          </a:p>
          <a:p>
            <a:pPr marL="342900" indent="-342900">
              <a:spcAft>
                <a:spcPts val="1100"/>
              </a:spcAft>
              <a:buSzPct val="100000"/>
              <a:buChar char="•"/>
            </a:pPr>
            <a:r>
              <a:rPr lang="en-US" sz="1300" dirty="0">
                <a:solidFill>
                  <a:srgbClr val="1A1A2E"/>
                </a:solidFill>
                <a:latin typeface="Calibri" pitchFamily="34" charset="0"/>
                <a:ea typeface="Calibri" pitchFamily="34" charset="-122"/>
                <a:cs typeface="Calibri" pitchFamily="34" charset="-120"/>
              </a:rPr>
              <a:t>El pseudocódigo convertido en programa</a:t>
            </a:r>
            <a:endParaRPr lang="en-US" sz="1300" dirty="0"/>
          </a:p>
        </p:txBody>
      </p:sp>
      <p:sp>
        <p:nvSpPr>
          <p:cNvPr id="12" name="Shape 10"/>
          <p:cNvSpPr/>
          <p:nvPr/>
        </p:nvSpPr>
        <p:spPr>
          <a:xfrm>
            <a:off x="548640" y="5559552"/>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13" name="Text 11"/>
          <p:cNvSpPr/>
          <p:nvPr/>
        </p:nvSpPr>
        <p:spPr>
          <a:xfrm>
            <a:off x="868680" y="5559552"/>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IDEA DE HOY:  </a:t>
            </a:r>
            <a:r>
              <a:rPr lang="en-US" sz="1350" dirty="0">
                <a:solidFill>
                  <a:srgbClr val="FFFFFF"/>
                </a:solidFill>
                <a:latin typeface="Calibri" pitchFamily="34" charset="0"/>
                <a:ea typeface="Calibri" pitchFamily="34" charset="-122"/>
                <a:cs typeface="Calibri" pitchFamily="34" charset="-120"/>
              </a:rPr>
              <a:t>no cambia la lógica, cambia el idioma. El algoritmo es el mismo que ya escribiste en pseudocódigo; lo que aprendes ahora es cómo se dice en Java.</a:t>
            </a:r>
            <a:endParaRPr lang="en-US" sz="1350" dirty="0"/>
          </a:p>
        </p:txBody>
      </p:sp>
      <p:sp>
        <p:nvSpPr>
          <p:cNvPr id="14" name="Text 12"/>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 CONCEPTO DE LA SEMANA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es una estructura secuencial</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Un conjunto de instrucciones que se ejecutan una tras otra, en el mismo orden en que están escritas. De ahí el nombre: secuencia.</a:t>
            </a:r>
            <a:endParaRPr lang="en-US" sz="1400" dirty="0"/>
          </a:p>
        </p:txBody>
      </p:sp>
      <p:pic>
        <p:nvPicPr>
          <p:cNvPr id="5" name="Image 0" descr="/home/claude/s6b/fig/s1_secuencia.png"/>
          <p:cNvPicPr>
            <a:picLocks noChangeAspect="1"/>
          </p:cNvPicPr>
          <p:nvPr/>
        </p:nvPicPr>
        <p:blipFill>
          <a:blip r:embed="rId3"/>
          <a:stretch>
            <a:fillRect/>
          </a:stretch>
        </p:blipFill>
        <p:spPr>
          <a:xfrm>
            <a:off x="548640" y="1975104"/>
            <a:ext cx="6035040" cy="3721608"/>
          </a:xfrm>
          <a:prstGeom prst="rect">
            <a:avLst/>
          </a:prstGeom>
        </p:spPr>
      </p:pic>
      <p:sp>
        <p:nvSpPr>
          <p:cNvPr id="6" name="Shape 3"/>
          <p:cNvSpPr/>
          <p:nvPr/>
        </p:nvSpPr>
        <p:spPr>
          <a:xfrm>
            <a:off x="6812280" y="1984248"/>
            <a:ext cx="4828032" cy="1133856"/>
          </a:xfrm>
          <a:prstGeom prst="roundRect">
            <a:avLst>
              <a:gd name="adj" fmla="val 6452"/>
            </a:avLst>
          </a:prstGeom>
          <a:solidFill>
            <a:srgbClr val="E8EEF4"/>
          </a:solidFill>
          <a:ln w="12700">
            <a:solidFill>
              <a:srgbClr val="E8EEF4"/>
            </a:solidFill>
            <a:prstDash val="solid"/>
          </a:ln>
        </p:spPr>
        <p:txBody>
          <a:bodyPr/>
          <a:lstStyle/>
          <a:p>
            <a:endParaRPr lang="es-CO"/>
          </a:p>
        </p:txBody>
      </p:sp>
      <p:sp>
        <p:nvSpPr>
          <p:cNvPr id="7" name="Shape 4"/>
          <p:cNvSpPr/>
          <p:nvPr/>
        </p:nvSpPr>
        <p:spPr>
          <a:xfrm>
            <a:off x="7068312" y="2176272"/>
            <a:ext cx="402336" cy="402336"/>
          </a:xfrm>
          <a:prstGeom prst="ellipse">
            <a:avLst/>
          </a:prstGeom>
          <a:solidFill>
            <a:srgbClr val="1C7293"/>
          </a:solidFill>
          <a:ln w="12700">
            <a:solidFill>
              <a:srgbClr val="1C7293"/>
            </a:solidFill>
            <a:prstDash val="solid"/>
          </a:ln>
        </p:spPr>
        <p:txBody>
          <a:bodyPr/>
          <a:lstStyle/>
          <a:p>
            <a:endParaRPr lang="es-CO"/>
          </a:p>
        </p:txBody>
      </p:sp>
      <p:sp>
        <p:nvSpPr>
          <p:cNvPr id="8" name="Text 5"/>
          <p:cNvSpPr/>
          <p:nvPr/>
        </p:nvSpPr>
        <p:spPr>
          <a:xfrm>
            <a:off x="7068312" y="217627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7598664" y="2103120"/>
            <a:ext cx="384048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Se ejecutan todas</a:t>
            </a:r>
            <a:endParaRPr lang="en-US" sz="1300" dirty="0"/>
          </a:p>
        </p:txBody>
      </p:sp>
      <p:sp>
        <p:nvSpPr>
          <p:cNvPr id="10" name="Text 7"/>
          <p:cNvSpPr/>
          <p:nvPr/>
        </p:nvSpPr>
        <p:spPr>
          <a:xfrm>
            <a:off x="7598664" y="2395728"/>
            <a:ext cx="3840480" cy="621792"/>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Ninguna instrucción se salta. Lo que está escrito, se ejecuta.</a:t>
            </a:r>
            <a:endParaRPr lang="en-US" sz="1150" dirty="0"/>
          </a:p>
        </p:txBody>
      </p:sp>
      <p:sp>
        <p:nvSpPr>
          <p:cNvPr id="11" name="Shape 8"/>
          <p:cNvSpPr/>
          <p:nvPr/>
        </p:nvSpPr>
        <p:spPr>
          <a:xfrm>
            <a:off x="6812280" y="3182112"/>
            <a:ext cx="4828032" cy="1133856"/>
          </a:xfrm>
          <a:prstGeom prst="roundRect">
            <a:avLst>
              <a:gd name="adj" fmla="val 6452"/>
            </a:avLst>
          </a:prstGeom>
          <a:solidFill>
            <a:srgbClr val="E8EEF4"/>
          </a:solidFill>
          <a:ln w="12700">
            <a:solidFill>
              <a:srgbClr val="E8EEF4"/>
            </a:solidFill>
            <a:prstDash val="solid"/>
          </a:ln>
        </p:spPr>
        <p:txBody>
          <a:bodyPr/>
          <a:lstStyle/>
          <a:p>
            <a:endParaRPr lang="es-CO"/>
          </a:p>
        </p:txBody>
      </p:sp>
      <p:sp>
        <p:nvSpPr>
          <p:cNvPr id="12" name="Shape 9"/>
          <p:cNvSpPr/>
          <p:nvPr/>
        </p:nvSpPr>
        <p:spPr>
          <a:xfrm>
            <a:off x="7068312" y="3383280"/>
            <a:ext cx="402336" cy="402336"/>
          </a:xfrm>
          <a:prstGeom prst="ellipse">
            <a:avLst/>
          </a:prstGeom>
          <a:solidFill>
            <a:srgbClr val="1C7293"/>
          </a:solidFill>
          <a:ln w="12700">
            <a:solidFill>
              <a:srgbClr val="1C7293"/>
            </a:solidFill>
            <a:prstDash val="solid"/>
          </a:ln>
        </p:spPr>
        <p:txBody>
          <a:bodyPr/>
          <a:lstStyle/>
          <a:p>
            <a:endParaRPr lang="es-CO"/>
          </a:p>
        </p:txBody>
      </p:sp>
      <p:sp>
        <p:nvSpPr>
          <p:cNvPr id="13" name="Text 10"/>
          <p:cNvSpPr/>
          <p:nvPr/>
        </p:nvSpPr>
        <p:spPr>
          <a:xfrm>
            <a:off x="7068312" y="33832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7598664" y="3310128"/>
            <a:ext cx="384048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Cada una, una sola vez</a:t>
            </a:r>
            <a:endParaRPr lang="en-US" sz="1300" dirty="0"/>
          </a:p>
        </p:txBody>
      </p:sp>
      <p:sp>
        <p:nvSpPr>
          <p:cNvPr id="15" name="Text 12"/>
          <p:cNvSpPr/>
          <p:nvPr/>
        </p:nvSpPr>
        <p:spPr>
          <a:xfrm>
            <a:off x="7598664" y="3602736"/>
            <a:ext cx="3840480" cy="621792"/>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Ninguna instrucción se repite. Se pasa a la siguiente y no se vuelve.</a:t>
            </a:r>
            <a:endParaRPr lang="en-US" sz="1150" dirty="0"/>
          </a:p>
        </p:txBody>
      </p:sp>
      <p:sp>
        <p:nvSpPr>
          <p:cNvPr id="16" name="Shape 13"/>
          <p:cNvSpPr/>
          <p:nvPr/>
        </p:nvSpPr>
        <p:spPr>
          <a:xfrm>
            <a:off x="6812280" y="4389120"/>
            <a:ext cx="4828032" cy="1133856"/>
          </a:xfrm>
          <a:prstGeom prst="roundRect">
            <a:avLst>
              <a:gd name="adj" fmla="val 6452"/>
            </a:avLst>
          </a:prstGeom>
          <a:solidFill>
            <a:srgbClr val="E8EEF4"/>
          </a:solidFill>
          <a:ln w="12700">
            <a:solidFill>
              <a:srgbClr val="E8EEF4"/>
            </a:solidFill>
            <a:prstDash val="solid"/>
          </a:ln>
        </p:spPr>
        <p:txBody>
          <a:bodyPr/>
          <a:lstStyle/>
          <a:p>
            <a:endParaRPr lang="es-CO"/>
          </a:p>
        </p:txBody>
      </p:sp>
      <p:sp>
        <p:nvSpPr>
          <p:cNvPr id="17" name="Shape 14"/>
          <p:cNvSpPr/>
          <p:nvPr/>
        </p:nvSpPr>
        <p:spPr>
          <a:xfrm>
            <a:off x="7068312" y="4590288"/>
            <a:ext cx="402336" cy="402336"/>
          </a:xfrm>
          <a:prstGeom prst="ellipse">
            <a:avLst/>
          </a:prstGeom>
          <a:solidFill>
            <a:srgbClr val="1C7293"/>
          </a:solidFill>
          <a:ln w="12700">
            <a:solidFill>
              <a:srgbClr val="1C7293"/>
            </a:solidFill>
            <a:prstDash val="solid"/>
          </a:ln>
        </p:spPr>
        <p:txBody>
          <a:bodyPr/>
          <a:lstStyle/>
          <a:p>
            <a:endParaRPr lang="es-CO"/>
          </a:p>
        </p:txBody>
      </p:sp>
      <p:sp>
        <p:nvSpPr>
          <p:cNvPr id="18" name="Text 15"/>
          <p:cNvSpPr/>
          <p:nvPr/>
        </p:nvSpPr>
        <p:spPr>
          <a:xfrm>
            <a:off x="7068312" y="45902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7598664" y="4517136"/>
            <a:ext cx="384048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En el orden escrito</a:t>
            </a:r>
            <a:endParaRPr lang="en-US" sz="1300" dirty="0"/>
          </a:p>
        </p:txBody>
      </p:sp>
      <p:sp>
        <p:nvSpPr>
          <p:cNvPr id="20" name="Text 17"/>
          <p:cNvSpPr/>
          <p:nvPr/>
        </p:nvSpPr>
        <p:spPr>
          <a:xfrm>
            <a:off x="7598664" y="4809744"/>
            <a:ext cx="3840480" cy="621792"/>
          </a:xfrm>
          <a:prstGeom prst="rect">
            <a:avLst/>
          </a:prstGeom>
          <a:noFill/>
          <a:ln/>
        </p:spPr>
        <p:txBody>
          <a:bodyPr wrap="square" lIns="0" tIns="0" rIns="0" bIns="0" rtlCol="0" anchor="t"/>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La de abajo trabaja con lo que dejó lista la de arriba.</a:t>
            </a:r>
            <a:endParaRPr lang="en-US" sz="1150" dirty="0"/>
          </a:p>
        </p:txBody>
      </p:sp>
      <p:sp>
        <p:nvSpPr>
          <p:cNvPr id="21" name="Shape 18"/>
          <p:cNvSpPr/>
          <p:nvPr/>
        </p:nvSpPr>
        <p:spPr>
          <a:xfrm>
            <a:off x="548640" y="5797296"/>
            <a:ext cx="11091672" cy="475488"/>
          </a:xfrm>
          <a:prstGeom prst="roundRect">
            <a:avLst>
              <a:gd name="adj" fmla="val 15385"/>
            </a:avLst>
          </a:prstGeom>
          <a:solidFill>
            <a:srgbClr val="13294B"/>
          </a:solidFill>
          <a:ln w="12700">
            <a:solidFill>
              <a:srgbClr val="13294B"/>
            </a:solidFill>
            <a:prstDash val="solid"/>
          </a:ln>
        </p:spPr>
        <p:txBody>
          <a:bodyPr/>
          <a:lstStyle/>
          <a:p>
            <a:endParaRPr lang="es-CO"/>
          </a:p>
        </p:txBody>
      </p:sp>
      <p:sp>
        <p:nvSpPr>
          <p:cNvPr id="22" name="Text 19"/>
          <p:cNvSpPr/>
          <p:nvPr/>
        </p:nvSpPr>
        <p:spPr>
          <a:xfrm>
            <a:off x="868680" y="5797296"/>
            <a:ext cx="10451592" cy="47548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TODO LO QUE HAS ESCRITO HASTA HOY ES SECUENCIAL:  </a:t>
            </a:r>
            <a:r>
              <a:rPr lang="en-US" sz="1350" dirty="0">
                <a:solidFill>
                  <a:srgbClr val="FFFFFF"/>
                </a:solidFill>
                <a:latin typeface="Calibri" pitchFamily="34" charset="0"/>
                <a:ea typeface="Calibri" pitchFamily="34" charset="-122"/>
                <a:cs typeface="Calibri" pitchFamily="34" charset="-120"/>
              </a:rPr>
              <a:t>el promedio de tres notas, la conversión de temperatura, el valor de una compra.</a:t>
            </a:r>
            <a:endParaRPr lang="en-US" sz="1350" dirty="0"/>
          </a:p>
        </p:txBody>
      </p:sp>
      <p:sp>
        <p:nvSpPr>
          <p:cNvPr id="23" name="Text 2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04</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LA CONSECUENCIA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orden no es un detalle de estilo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Cambiar dos instrucciones de lugar cambia el resultado, o impide que el programa exista.</a:t>
            </a:r>
            <a:endParaRPr lang="en-US" sz="1400" dirty="0"/>
          </a:p>
        </p:txBody>
      </p:sp>
      <p:sp>
        <p:nvSpPr>
          <p:cNvPr id="5" name="Shape 3"/>
          <p:cNvSpPr/>
          <p:nvPr/>
        </p:nvSpPr>
        <p:spPr>
          <a:xfrm>
            <a:off x="548640" y="1993392"/>
            <a:ext cx="5394960" cy="1920240"/>
          </a:xfrm>
          <a:prstGeom prst="roundRect">
            <a:avLst>
              <a:gd name="adj" fmla="val 3810"/>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2103120"/>
            <a:ext cx="475488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CASO 1 · CALCULAR ANTES DE LEER</a:t>
            </a:r>
            <a:endParaRPr lang="en-US" sz="1050" dirty="0"/>
          </a:p>
        </p:txBody>
      </p:sp>
      <p:sp>
        <p:nvSpPr>
          <p:cNvPr id="7" name="Text 5"/>
          <p:cNvSpPr/>
          <p:nvPr/>
        </p:nvSpPr>
        <p:spPr>
          <a:xfrm>
            <a:off x="822960" y="2395728"/>
            <a:ext cx="4846320" cy="640080"/>
          </a:xfrm>
          <a:prstGeom prst="rect">
            <a:avLst/>
          </a:prstGeom>
          <a:noFill/>
          <a:ln/>
        </p:spPr>
        <p:txBody>
          <a:bodyPr wrap="square" lIns="0" tIns="0" rIns="0" bIns="0" rtlCol="0" anchor="t"/>
          <a:lstStyle/>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int cantidad;</a:t>
            </a:r>
            <a:endParaRPr lang="en-US" sz="1200" dirty="0"/>
          </a:p>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int total = cantidad * 5;</a:t>
            </a:r>
            <a:endParaRPr lang="en-US" sz="1200" dirty="0"/>
          </a:p>
        </p:txBody>
      </p:sp>
      <p:sp>
        <p:nvSpPr>
          <p:cNvPr id="8" name="Shape 6"/>
          <p:cNvSpPr/>
          <p:nvPr/>
        </p:nvSpPr>
        <p:spPr>
          <a:xfrm>
            <a:off x="822960" y="3127248"/>
            <a:ext cx="4846320" cy="603504"/>
          </a:xfrm>
          <a:prstGeom prst="roundRect">
            <a:avLst>
              <a:gd name="adj" fmla="val 7576"/>
            </a:avLst>
          </a:prstGeom>
          <a:solidFill>
            <a:srgbClr val="FBE9E9"/>
          </a:solidFill>
          <a:ln w="12700">
            <a:solidFill>
              <a:srgbClr val="FBE9E9"/>
            </a:solidFill>
            <a:prstDash val="solid"/>
          </a:ln>
        </p:spPr>
        <p:txBody>
          <a:bodyPr/>
          <a:lstStyle/>
          <a:p>
            <a:endParaRPr lang="es-CO"/>
          </a:p>
        </p:txBody>
      </p:sp>
      <p:sp>
        <p:nvSpPr>
          <p:cNvPr id="9" name="Text 7"/>
          <p:cNvSpPr/>
          <p:nvPr/>
        </p:nvSpPr>
        <p:spPr>
          <a:xfrm>
            <a:off x="950976" y="3127248"/>
            <a:ext cx="4663440" cy="603504"/>
          </a:xfrm>
          <a:prstGeom prst="rect">
            <a:avLst/>
          </a:prstGeom>
          <a:noFill/>
          <a:ln/>
        </p:spPr>
        <p:txBody>
          <a:bodyPr wrap="square" lIns="0" tIns="0" rIns="0" bIns="0" rtlCol="0" anchor="ctr"/>
          <a:lstStyle/>
          <a:p>
            <a:pPr marL="0" indent="0">
              <a:buNone/>
            </a:pPr>
            <a:r>
              <a:rPr lang="en-US" sz="1000" b="1" dirty="0">
                <a:solidFill>
                  <a:srgbClr val="D64545"/>
                </a:solidFill>
                <a:latin typeface="Courier New" pitchFamily="34" charset="0"/>
                <a:ea typeface="Courier New" pitchFamily="34" charset="-122"/>
                <a:cs typeface="Courier New" pitchFamily="34" charset="-120"/>
              </a:rPr>
              <a:t>variable cantidad might not have been initialized</a:t>
            </a:r>
            <a:endParaRPr lang="en-US" sz="1000" dirty="0"/>
          </a:p>
        </p:txBody>
      </p:sp>
      <p:sp>
        <p:nvSpPr>
          <p:cNvPr id="10" name="Shape 8"/>
          <p:cNvSpPr/>
          <p:nvPr/>
        </p:nvSpPr>
        <p:spPr>
          <a:xfrm>
            <a:off x="6245352" y="1993392"/>
            <a:ext cx="5394960" cy="1920240"/>
          </a:xfrm>
          <a:prstGeom prst="roundRect">
            <a:avLst>
              <a:gd name="adj" fmla="val 3810"/>
            </a:avLst>
          </a:prstGeom>
          <a:solidFill>
            <a:srgbClr val="F4F7FB"/>
          </a:solidFill>
          <a:ln w="12700">
            <a:solidFill>
              <a:srgbClr val="F4F7FB"/>
            </a:solidFill>
            <a:prstDash val="solid"/>
          </a:ln>
        </p:spPr>
        <p:txBody>
          <a:bodyPr/>
          <a:lstStyle/>
          <a:p>
            <a:endParaRPr lang="es-CO"/>
          </a:p>
        </p:txBody>
      </p:sp>
      <p:sp>
        <p:nvSpPr>
          <p:cNvPr id="11" name="Text 9"/>
          <p:cNvSpPr/>
          <p:nvPr/>
        </p:nvSpPr>
        <p:spPr>
          <a:xfrm>
            <a:off x="6519672" y="2103120"/>
            <a:ext cx="475488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CASO 2 · INTERCAMBIAR SIN AUXILIAR</a:t>
            </a:r>
            <a:endParaRPr lang="en-US" sz="1050" dirty="0"/>
          </a:p>
        </p:txBody>
      </p:sp>
      <p:sp>
        <p:nvSpPr>
          <p:cNvPr id="12" name="Text 10"/>
          <p:cNvSpPr/>
          <p:nvPr/>
        </p:nvSpPr>
        <p:spPr>
          <a:xfrm>
            <a:off x="6519672" y="2395728"/>
            <a:ext cx="4846320" cy="640080"/>
          </a:xfrm>
          <a:prstGeom prst="rect">
            <a:avLst/>
          </a:prstGeom>
          <a:noFill/>
          <a:ln/>
        </p:spPr>
        <p:txBody>
          <a:bodyPr wrap="square" lIns="0" tIns="0" rIns="0" bIns="0" rtlCol="0" anchor="t"/>
          <a:lstStyle/>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primero = segundo;</a:t>
            </a:r>
            <a:endParaRPr lang="en-US" sz="1200" dirty="0"/>
          </a:p>
          <a:p>
            <a:pPr marL="0" indent="0">
              <a:lnSpc>
                <a:spcPts val="1800"/>
              </a:lnSpc>
              <a:buNone/>
            </a:pPr>
            <a:r>
              <a:rPr lang="en-US" sz="1200" b="1" dirty="0">
                <a:solidFill>
                  <a:srgbClr val="13294B"/>
                </a:solidFill>
                <a:latin typeface="Courier New" pitchFamily="34" charset="0"/>
                <a:ea typeface="Courier New" pitchFamily="34" charset="-122"/>
                <a:cs typeface="Courier New" pitchFamily="34" charset="-120"/>
              </a:rPr>
              <a:t>segundo = primero;</a:t>
            </a:r>
            <a:endParaRPr lang="en-US" sz="1200" dirty="0"/>
          </a:p>
        </p:txBody>
      </p:sp>
      <p:sp>
        <p:nvSpPr>
          <p:cNvPr id="13" name="Shape 11"/>
          <p:cNvSpPr/>
          <p:nvPr/>
        </p:nvSpPr>
        <p:spPr>
          <a:xfrm>
            <a:off x="6519672" y="3127248"/>
            <a:ext cx="4846320" cy="603504"/>
          </a:xfrm>
          <a:prstGeom prst="roundRect">
            <a:avLst>
              <a:gd name="adj" fmla="val 7576"/>
            </a:avLst>
          </a:prstGeom>
          <a:solidFill>
            <a:srgbClr val="FBE9E9"/>
          </a:solidFill>
          <a:ln w="12700">
            <a:solidFill>
              <a:srgbClr val="FBE9E9"/>
            </a:solidFill>
            <a:prstDash val="solid"/>
          </a:ln>
        </p:spPr>
        <p:txBody>
          <a:bodyPr/>
          <a:lstStyle/>
          <a:p>
            <a:endParaRPr lang="es-CO"/>
          </a:p>
        </p:txBody>
      </p:sp>
      <p:sp>
        <p:nvSpPr>
          <p:cNvPr id="14" name="Text 12"/>
          <p:cNvSpPr/>
          <p:nvPr/>
        </p:nvSpPr>
        <p:spPr>
          <a:xfrm>
            <a:off x="6647688" y="3127248"/>
            <a:ext cx="4663440" cy="603504"/>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compila y corre.  </a:t>
            </a:r>
            <a:r>
              <a:rPr lang="en-US" sz="1150" b="1" dirty="0">
                <a:solidFill>
                  <a:srgbClr val="D64545"/>
                </a:solidFill>
                <a:latin typeface="Courier New" pitchFamily="34" charset="0"/>
                <a:ea typeface="Courier New" pitchFamily="34" charset="-122"/>
                <a:cs typeface="Courier New" pitchFamily="34" charset="-120"/>
              </a:rPr>
              <a:t>Con 4 y 9 imprime  9 9</a:t>
            </a:r>
            <a:endParaRPr lang="en-US" sz="1100" dirty="0"/>
          </a:p>
        </p:txBody>
      </p:sp>
      <p:sp>
        <p:nvSpPr>
          <p:cNvPr id="15" name="Shape 13"/>
          <p:cNvSpPr/>
          <p:nvPr/>
        </p:nvSpPr>
        <p:spPr>
          <a:xfrm>
            <a:off x="548640" y="4041648"/>
            <a:ext cx="11091672" cy="1517904"/>
          </a:xfrm>
          <a:prstGeom prst="roundRect">
            <a:avLst>
              <a:gd name="adj" fmla="val 4819"/>
            </a:avLst>
          </a:prstGeom>
          <a:solidFill>
            <a:srgbClr val="E8EEF4"/>
          </a:solidFill>
          <a:ln w="12700">
            <a:solidFill>
              <a:srgbClr val="E8EEF4"/>
            </a:solidFill>
            <a:prstDash val="solid"/>
          </a:ln>
        </p:spPr>
        <p:txBody>
          <a:bodyPr/>
          <a:lstStyle/>
          <a:p>
            <a:endParaRPr lang="es-CO"/>
          </a:p>
        </p:txBody>
      </p:sp>
      <p:sp>
        <p:nvSpPr>
          <p:cNvPr id="16" name="Text 14"/>
          <p:cNvSpPr/>
          <p:nvPr/>
        </p:nvSpPr>
        <p:spPr>
          <a:xfrm>
            <a:off x="841248" y="4151376"/>
            <a:ext cx="73152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LO QUE ENSEÑA CADA UNO</a:t>
            </a:r>
            <a:endParaRPr lang="en-US" sz="1050" dirty="0"/>
          </a:p>
        </p:txBody>
      </p:sp>
      <p:sp>
        <p:nvSpPr>
          <p:cNvPr id="17" name="Text 15"/>
          <p:cNvSpPr/>
          <p:nvPr/>
        </p:nvSpPr>
        <p:spPr>
          <a:xfrm>
            <a:off x="841248" y="4443984"/>
            <a:ext cx="10424160" cy="1005840"/>
          </a:xfrm>
          <a:prstGeom prst="rect">
            <a:avLst/>
          </a:prstGeom>
          <a:noFill/>
          <a:ln/>
        </p:spPr>
        <p:txBody>
          <a:bodyPr wrap="square" lIns="0" tIns="0" rIns="0" bIns="0" rtlCol="0" anchor="t"/>
          <a:lstStyle/>
          <a:p>
            <a:pPr marL="0" indent="0">
              <a:lnSpc>
                <a:spcPts val="1800"/>
              </a:lnSpc>
              <a:buNone/>
            </a:pPr>
            <a:r>
              <a:rPr lang="en-US" sz="1250" dirty="0">
                <a:solidFill>
                  <a:srgbClr val="1A1A2E"/>
                </a:solidFill>
                <a:latin typeface="Calibri" pitchFamily="34" charset="0"/>
                <a:ea typeface="Calibri" pitchFamily="34" charset="-122"/>
                <a:cs typeface="Calibri" pitchFamily="34" charset="-120"/>
              </a:rPr>
              <a:t>El primero ni siquiera llega a ejecutarse: el compilador se da cuenta de que la cuenta usa un dato que todavía no tiene valor. </a:t>
            </a:r>
            <a:endParaRPr lang="en-US" sz="1250" dirty="0"/>
          </a:p>
          <a:p>
            <a:pPr marL="0" indent="0">
              <a:lnSpc>
                <a:spcPts val="1800"/>
              </a:lnSpc>
              <a:buNone/>
            </a:pPr>
            <a:r>
              <a:rPr lang="en-US" sz="1250" dirty="0">
                <a:solidFill>
                  <a:srgbClr val="1A1A2E"/>
                </a:solidFill>
                <a:latin typeface="Calibri" pitchFamily="34" charset="0"/>
                <a:ea typeface="Calibri" pitchFamily="34" charset="-122"/>
                <a:cs typeface="Calibri" pitchFamily="34" charset="-120"/>
              </a:rPr>
              <a:t>El segundo es peor, porque no avisa: cuando la segunda línea se ejecuta, </a:t>
            </a:r>
            <a:r>
              <a:rPr lang="en-US" sz="1250" b="1" dirty="0">
                <a:solidFill>
                  <a:srgbClr val="13294B"/>
                </a:solidFill>
                <a:latin typeface="Courier New" pitchFamily="34" charset="0"/>
                <a:ea typeface="Courier New" pitchFamily="34" charset="-122"/>
                <a:cs typeface="Courier New" pitchFamily="34" charset="-120"/>
              </a:rPr>
              <a:t>primero</a:t>
            </a:r>
            <a:r>
              <a:rPr lang="en-US" sz="1250" dirty="0">
                <a:solidFill>
                  <a:srgbClr val="1A1A2E"/>
                </a:solidFill>
                <a:latin typeface="Calibri" pitchFamily="34" charset="0"/>
                <a:ea typeface="Calibri" pitchFamily="34" charset="-122"/>
                <a:cs typeface="Calibri" pitchFamily="34" charset="-120"/>
              </a:rPr>
              <a:t> ya perdió su valor original y los dos datos terminan iguales. La solución es guardar el primero en un dato auxiliar antes de pisarlo.</a:t>
            </a:r>
            <a:endParaRPr lang="en-US" sz="1250" dirty="0"/>
          </a:p>
        </p:txBody>
      </p:sp>
      <p:sp>
        <p:nvSpPr>
          <p:cNvPr id="18" name="Shape 16"/>
          <p:cNvSpPr/>
          <p:nvPr/>
        </p:nvSpPr>
        <p:spPr>
          <a:xfrm>
            <a:off x="548640" y="5705856"/>
            <a:ext cx="11091672" cy="530352"/>
          </a:xfrm>
          <a:prstGeom prst="roundRect">
            <a:avLst>
              <a:gd name="adj" fmla="val 13793"/>
            </a:avLst>
          </a:prstGeom>
          <a:solidFill>
            <a:srgbClr val="13294B"/>
          </a:solidFill>
          <a:ln w="12700">
            <a:solidFill>
              <a:srgbClr val="13294B"/>
            </a:solidFill>
            <a:prstDash val="solid"/>
          </a:ln>
        </p:spPr>
        <p:txBody>
          <a:bodyPr/>
          <a:lstStyle/>
          <a:p>
            <a:endParaRPr lang="es-CO"/>
          </a:p>
        </p:txBody>
      </p:sp>
      <p:sp>
        <p:nvSpPr>
          <p:cNvPr id="19" name="Text 17"/>
          <p:cNvSpPr/>
          <p:nvPr/>
        </p:nvSpPr>
        <p:spPr>
          <a:xfrm>
            <a:off x="868680" y="5705856"/>
            <a:ext cx="10451592" cy="530352"/>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REGLA QUE SE DESPRENDE:  </a:t>
            </a:r>
            <a:r>
              <a:rPr lang="en-US" sz="1350" dirty="0">
                <a:solidFill>
                  <a:srgbClr val="FFFFFF"/>
                </a:solidFill>
                <a:latin typeface="Calibri" pitchFamily="34" charset="0"/>
                <a:ea typeface="Calibri" pitchFamily="34" charset="-122"/>
                <a:cs typeface="Calibri" pitchFamily="34" charset="-120"/>
              </a:rPr>
              <a:t>un dato tiene que estar leído o calculado antes de la línea que lo usa. Siempre.</a:t>
            </a:r>
            <a:endParaRPr lang="en-US" sz="1350" dirty="0"/>
          </a:p>
        </p:txBody>
      </p:sp>
      <p:sp>
        <p:nvSpPr>
          <p:cNvPr id="20" name="Text 18"/>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05</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ARRANQUE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le falta a este pseudocódigo para poder ejecutarse?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Está bien escrito, es secuencial y la lógica es correcta. Aun así, ningún computador puede correrlo tal como está.</a:t>
            </a:r>
            <a:endParaRPr lang="en-US" sz="1400" dirty="0"/>
          </a:p>
        </p:txBody>
      </p:sp>
      <p:sp>
        <p:nvSpPr>
          <p:cNvPr id="5" name="Shape 3"/>
          <p:cNvSpPr/>
          <p:nvPr/>
        </p:nvSpPr>
        <p:spPr>
          <a:xfrm>
            <a:off x="548640" y="2011680"/>
            <a:ext cx="5120640" cy="2468880"/>
          </a:xfrm>
          <a:prstGeom prst="roundRect">
            <a:avLst>
              <a:gd name="adj" fmla="val 2963"/>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212848"/>
            <a:ext cx="4535424" cy="2066544"/>
          </a:xfrm>
          <a:prstGeom prst="rect">
            <a:avLst/>
          </a:prstGeom>
          <a:noFill/>
          <a:ln/>
        </p:spPr>
        <p:txBody>
          <a:bodyPr wrap="square" lIns="0" tIns="0" rIns="0" bIns="0" rtlCol="0" anchor="t"/>
          <a:lstStyle/>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Inicio</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   entero largo, ancho</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   entero area</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   Leer largo, ancho</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   area ← largo * ancho</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   Escribir "Area: ", area</a:t>
            </a:r>
            <a:endParaRPr lang="en-US" sz="1250" dirty="0"/>
          </a:p>
          <a:p>
            <a:pPr marL="0" indent="0">
              <a:lnSpc>
                <a:spcPts val="2000"/>
              </a:lnSpc>
              <a:buNone/>
            </a:pPr>
            <a:r>
              <a:rPr lang="en-US" sz="1250" b="1" dirty="0">
                <a:solidFill>
                  <a:srgbClr val="13294B"/>
                </a:solidFill>
                <a:latin typeface="Courier New" pitchFamily="34" charset="0"/>
                <a:ea typeface="Courier New" pitchFamily="34" charset="-122"/>
                <a:cs typeface="Courier New" pitchFamily="34" charset="-120"/>
              </a:rPr>
              <a:t>Fin</a:t>
            </a:r>
            <a:endParaRPr lang="en-US" sz="1250" dirty="0"/>
          </a:p>
        </p:txBody>
      </p:sp>
      <p:sp>
        <p:nvSpPr>
          <p:cNvPr id="7" name="Shape 5"/>
          <p:cNvSpPr/>
          <p:nvPr/>
        </p:nvSpPr>
        <p:spPr>
          <a:xfrm>
            <a:off x="5989320" y="2011680"/>
            <a:ext cx="5650992" cy="786384"/>
          </a:xfrm>
          <a:prstGeom prst="roundRect">
            <a:avLst>
              <a:gd name="adj" fmla="val 9302"/>
            </a:avLst>
          </a:prstGeom>
          <a:solidFill>
            <a:srgbClr val="F4F7FB"/>
          </a:solidFill>
          <a:ln w="12700">
            <a:solidFill>
              <a:srgbClr val="F4F7FB"/>
            </a:solidFill>
            <a:prstDash val="solid"/>
          </a:ln>
        </p:spPr>
        <p:txBody>
          <a:bodyPr/>
          <a:lstStyle/>
          <a:p>
            <a:endParaRPr lang="es-CO"/>
          </a:p>
        </p:txBody>
      </p:sp>
      <p:sp>
        <p:nvSpPr>
          <p:cNvPr id="8" name="Shape 6"/>
          <p:cNvSpPr/>
          <p:nvPr/>
        </p:nvSpPr>
        <p:spPr>
          <a:xfrm>
            <a:off x="6245352" y="2185416"/>
            <a:ext cx="438912" cy="438912"/>
          </a:xfrm>
          <a:prstGeom prst="ellipse">
            <a:avLst/>
          </a:prstGeom>
          <a:solidFill>
            <a:srgbClr val="1C7293"/>
          </a:solidFill>
          <a:ln w="12700">
            <a:solidFill>
              <a:srgbClr val="1C7293"/>
            </a:solidFill>
            <a:prstDash val="solid"/>
          </a:ln>
        </p:spPr>
        <p:txBody>
          <a:bodyPr/>
          <a:lstStyle/>
          <a:p>
            <a:endParaRPr lang="es-CO"/>
          </a:p>
        </p:txBody>
      </p:sp>
      <p:sp>
        <p:nvSpPr>
          <p:cNvPr id="9" name="Text 7"/>
          <p:cNvSpPr/>
          <p:nvPr/>
        </p:nvSpPr>
        <p:spPr>
          <a:xfrm>
            <a:off x="6245352" y="2185416"/>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6812280" y="2084832"/>
            <a:ext cx="402336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Un envase</a:t>
            </a:r>
            <a:endParaRPr lang="en-US" sz="1300" dirty="0"/>
          </a:p>
        </p:txBody>
      </p:sp>
      <p:sp>
        <p:nvSpPr>
          <p:cNvPr id="11" name="Text 9"/>
          <p:cNvSpPr/>
          <p:nvPr/>
        </p:nvSpPr>
        <p:spPr>
          <a:xfrm>
            <a:off x="6812280" y="2359152"/>
            <a:ext cx="4572000" cy="384048"/>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El código necesita vivir dentro de una clase con nombre propio.</a:t>
            </a:r>
            <a:endParaRPr lang="en-US" sz="1100" dirty="0"/>
          </a:p>
        </p:txBody>
      </p:sp>
      <p:sp>
        <p:nvSpPr>
          <p:cNvPr id="12" name="Shape 10"/>
          <p:cNvSpPr/>
          <p:nvPr/>
        </p:nvSpPr>
        <p:spPr>
          <a:xfrm>
            <a:off x="5989320" y="2871216"/>
            <a:ext cx="5650992" cy="786384"/>
          </a:xfrm>
          <a:prstGeom prst="roundRect">
            <a:avLst>
              <a:gd name="adj" fmla="val 9302"/>
            </a:avLst>
          </a:prstGeom>
          <a:solidFill>
            <a:srgbClr val="F4F7FB"/>
          </a:solidFill>
          <a:ln w="12700">
            <a:solidFill>
              <a:srgbClr val="F4F7FB"/>
            </a:solidFill>
            <a:prstDash val="solid"/>
          </a:ln>
        </p:spPr>
        <p:txBody>
          <a:bodyPr/>
          <a:lstStyle/>
          <a:p>
            <a:endParaRPr lang="es-CO"/>
          </a:p>
        </p:txBody>
      </p:sp>
      <p:sp>
        <p:nvSpPr>
          <p:cNvPr id="13" name="Shape 11"/>
          <p:cNvSpPr/>
          <p:nvPr/>
        </p:nvSpPr>
        <p:spPr>
          <a:xfrm>
            <a:off x="6245352" y="3044952"/>
            <a:ext cx="438912" cy="438912"/>
          </a:xfrm>
          <a:prstGeom prst="ellipse">
            <a:avLst/>
          </a:prstGeom>
          <a:solidFill>
            <a:srgbClr val="1C7293"/>
          </a:solidFill>
          <a:ln w="12700">
            <a:solidFill>
              <a:srgbClr val="1C7293"/>
            </a:solidFill>
            <a:prstDash val="solid"/>
          </a:ln>
        </p:spPr>
        <p:txBody>
          <a:bodyPr/>
          <a:lstStyle/>
          <a:p>
            <a:endParaRPr lang="es-CO"/>
          </a:p>
        </p:txBody>
      </p:sp>
      <p:sp>
        <p:nvSpPr>
          <p:cNvPr id="14" name="Text 12"/>
          <p:cNvSpPr/>
          <p:nvPr/>
        </p:nvSpPr>
        <p:spPr>
          <a:xfrm>
            <a:off x="6245352" y="304495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6812280" y="2944368"/>
            <a:ext cx="402336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Un punto de arranque</a:t>
            </a:r>
            <a:endParaRPr lang="en-US" sz="1300" dirty="0"/>
          </a:p>
        </p:txBody>
      </p:sp>
      <p:sp>
        <p:nvSpPr>
          <p:cNvPr id="16" name="Text 14"/>
          <p:cNvSpPr/>
          <p:nvPr/>
        </p:nvSpPr>
        <p:spPr>
          <a:xfrm>
            <a:off x="6812280" y="3218688"/>
            <a:ext cx="4572000" cy="384048"/>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Alguien tiene que decirle a Java por dónde empezar a leer.</a:t>
            </a:r>
            <a:endParaRPr lang="en-US" sz="1100" dirty="0"/>
          </a:p>
        </p:txBody>
      </p:sp>
      <p:sp>
        <p:nvSpPr>
          <p:cNvPr id="17" name="Shape 15"/>
          <p:cNvSpPr/>
          <p:nvPr/>
        </p:nvSpPr>
        <p:spPr>
          <a:xfrm>
            <a:off x="5989320" y="3730752"/>
            <a:ext cx="5650992" cy="786384"/>
          </a:xfrm>
          <a:prstGeom prst="roundRect">
            <a:avLst>
              <a:gd name="adj" fmla="val 9302"/>
            </a:avLst>
          </a:prstGeom>
          <a:solidFill>
            <a:srgbClr val="F4F7FB"/>
          </a:solidFill>
          <a:ln w="12700">
            <a:solidFill>
              <a:srgbClr val="F4F7FB"/>
            </a:solidFill>
            <a:prstDash val="solid"/>
          </a:ln>
        </p:spPr>
        <p:txBody>
          <a:bodyPr/>
          <a:lstStyle/>
          <a:p>
            <a:endParaRPr lang="es-CO"/>
          </a:p>
        </p:txBody>
      </p:sp>
      <p:sp>
        <p:nvSpPr>
          <p:cNvPr id="18" name="Shape 16"/>
          <p:cNvSpPr/>
          <p:nvPr/>
        </p:nvSpPr>
        <p:spPr>
          <a:xfrm>
            <a:off x="6245352" y="3904488"/>
            <a:ext cx="438912" cy="438912"/>
          </a:xfrm>
          <a:prstGeom prst="ellipse">
            <a:avLst/>
          </a:prstGeom>
          <a:solidFill>
            <a:srgbClr val="1C7293"/>
          </a:solidFill>
          <a:ln w="12700">
            <a:solidFill>
              <a:srgbClr val="1C7293"/>
            </a:solidFill>
            <a:prstDash val="solid"/>
          </a:ln>
        </p:spPr>
        <p:txBody>
          <a:bodyPr/>
          <a:lstStyle/>
          <a:p>
            <a:endParaRPr lang="es-CO"/>
          </a:p>
        </p:txBody>
      </p:sp>
      <p:sp>
        <p:nvSpPr>
          <p:cNvPr id="19" name="Text 17"/>
          <p:cNvSpPr/>
          <p:nvPr/>
        </p:nvSpPr>
        <p:spPr>
          <a:xfrm>
            <a:off x="6245352" y="3904488"/>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812280" y="3803904"/>
            <a:ext cx="4023360" cy="274320"/>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Una sintaxis exacta</a:t>
            </a:r>
            <a:endParaRPr lang="en-US" sz="1300" dirty="0"/>
          </a:p>
        </p:txBody>
      </p:sp>
      <p:sp>
        <p:nvSpPr>
          <p:cNvPr id="21" name="Text 19"/>
          <p:cNvSpPr/>
          <p:nvPr/>
        </p:nvSpPr>
        <p:spPr>
          <a:xfrm>
            <a:off x="6812280" y="4078224"/>
            <a:ext cx="4572000" cy="384048"/>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«Leer» y «Escribir» son palabras nuestras. Java tiene las suyas y no perdona una letra.</a:t>
            </a:r>
            <a:endParaRPr lang="en-US" sz="1100" dirty="0"/>
          </a:p>
        </p:txBody>
      </p:sp>
      <p:sp>
        <p:nvSpPr>
          <p:cNvPr id="22" name="Shape 20"/>
          <p:cNvSpPr/>
          <p:nvPr/>
        </p:nvSpPr>
        <p:spPr>
          <a:xfrm>
            <a:off x="548640" y="4754880"/>
            <a:ext cx="11091672" cy="713232"/>
          </a:xfrm>
          <a:prstGeom prst="roundRect">
            <a:avLst>
              <a:gd name="adj" fmla="val 10256"/>
            </a:avLst>
          </a:prstGeom>
          <a:solidFill>
            <a:srgbClr val="13294B"/>
          </a:solidFill>
          <a:ln w="12700">
            <a:solidFill>
              <a:srgbClr val="13294B"/>
            </a:solidFill>
            <a:prstDash val="solid"/>
          </a:ln>
        </p:spPr>
        <p:txBody>
          <a:bodyPr/>
          <a:lstStyle/>
          <a:p>
            <a:endParaRPr lang="es-CO"/>
          </a:p>
        </p:txBody>
      </p:sp>
      <p:sp>
        <p:nvSpPr>
          <p:cNvPr id="23" name="Text 21"/>
          <p:cNvSpPr/>
          <p:nvPr/>
        </p:nvSpPr>
        <p:spPr>
          <a:xfrm>
            <a:off x="868680" y="4754880"/>
            <a:ext cx="10451592" cy="713232"/>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LO QUE NO LE FALTA:  </a:t>
            </a:r>
            <a:r>
              <a:rPr lang="en-US" sz="1350" dirty="0">
                <a:solidFill>
                  <a:srgbClr val="FFFFFF"/>
                </a:solidFill>
                <a:latin typeface="Calibri" pitchFamily="34" charset="0"/>
                <a:ea typeface="Calibri" pitchFamily="34" charset="-122"/>
                <a:cs typeface="Calibri" pitchFamily="34" charset="-120"/>
              </a:rPr>
              <a:t>la lógica. Los pasos, el orden y los tipos ya están decididos. Lo que sigue es escribirlos en el idioma que el computador entiende.</a:t>
            </a:r>
            <a:endParaRPr lang="en-US" sz="1350" dirty="0"/>
          </a:p>
        </p:txBody>
      </p:sp>
      <p:sp>
        <p:nvSpPr>
          <p:cNvPr id="26" name="Text 24"/>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Todo programa de Java vive dentro de una clase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En la sesión 4 usamos las clases para describir objetos. Ahora usamos una clase para alojar el programa que se ejecuta.</a:t>
            </a:r>
            <a:endParaRPr lang="en-US" sz="1400" dirty="0"/>
          </a:p>
        </p:txBody>
      </p:sp>
      <p:sp>
        <p:nvSpPr>
          <p:cNvPr id="5" name="Shape 3"/>
          <p:cNvSpPr/>
          <p:nvPr/>
        </p:nvSpPr>
        <p:spPr>
          <a:xfrm>
            <a:off x="548640" y="2029968"/>
            <a:ext cx="5532120" cy="2834640"/>
          </a:xfrm>
          <a:prstGeom prst="roundRect">
            <a:avLst>
              <a:gd name="adj" fmla="val 968"/>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212848"/>
            <a:ext cx="5020056" cy="2468880"/>
          </a:xfrm>
          <a:prstGeom prst="rect">
            <a:avLst/>
          </a:prstGeom>
          <a:noFill/>
          <a:ln/>
        </p:spPr>
        <p:txBody>
          <a:bodyPr wrap="square" lIns="0" tIns="0" rIns="0" bIns="0" rtlCol="0" anchor="t"/>
          <a:lstStyle/>
          <a:p>
            <a:pPr marL="0" indent="0">
              <a:lnSpc>
                <a:spcPts val="1938"/>
              </a:lnSpc>
              <a:buNone/>
            </a:pPr>
            <a:r>
              <a:rPr lang="en-US" sz="1250" b="1" dirty="0">
                <a:solidFill>
                  <a:srgbClr val="FFB100"/>
                </a:solidFill>
                <a:latin typeface="Courier New" pitchFamily="34" charset="0"/>
                <a:ea typeface="Courier New" pitchFamily="34" charset="-122"/>
                <a:cs typeface="Courier New" pitchFamily="34" charset="-120"/>
              </a:rPr>
              <a:t>public class </a:t>
            </a:r>
            <a:r>
              <a:rPr lang="en-US" sz="1250" dirty="0">
                <a:solidFill>
                  <a:srgbClr val="E8EEF4"/>
                </a:solidFill>
                <a:latin typeface="Courier New" pitchFamily="34" charset="0"/>
                <a:ea typeface="Courier New" pitchFamily="34" charset="-122"/>
                <a:cs typeface="Courier New" pitchFamily="34" charset="-120"/>
              </a:rPr>
              <a:t>Salon {</a:t>
            </a:r>
            <a:endParaRPr lang="en-US" sz="1250" dirty="0"/>
          </a:p>
          <a:p>
            <a:pPr marL="0" indent="0">
              <a:lnSpc>
                <a:spcPts val="1938"/>
              </a:lnSpc>
              <a:buNone/>
            </a:pPr>
            <a:endParaRPr lang="en-US" sz="1250" dirty="0"/>
          </a:p>
          <a:p>
            <a:pPr marL="0" indent="0">
              <a:lnSpc>
                <a:spcPts val="1938"/>
              </a:lnSpc>
              <a:buNone/>
            </a:pPr>
            <a:r>
              <a:rPr lang="en-US" sz="1250" b="1" dirty="0">
                <a:solidFill>
                  <a:srgbClr val="FFB100"/>
                </a:solidFill>
                <a:latin typeface="Courier New" pitchFamily="34" charset="0"/>
                <a:ea typeface="Courier New" pitchFamily="34" charset="-122"/>
                <a:cs typeface="Courier New" pitchFamily="34" charset="-120"/>
              </a:rPr>
              <a:t>    public static void main</a:t>
            </a:r>
            <a:r>
              <a:rPr lang="en-US" sz="1250" dirty="0">
                <a:solidFill>
                  <a:srgbClr val="E8EEF4"/>
                </a:solidFill>
                <a:latin typeface="Courier New" pitchFamily="34" charset="0"/>
                <a:ea typeface="Courier New" pitchFamily="34" charset="-122"/>
                <a:cs typeface="Courier New" pitchFamily="34" charset="-120"/>
              </a:rPr>
              <a:t>(String[] args) {</a:t>
            </a:r>
            <a:endParaRPr lang="en-US" sz="1250" dirty="0"/>
          </a:p>
          <a:p>
            <a:pPr marL="0" indent="0">
              <a:lnSpc>
                <a:spcPts val="1938"/>
              </a:lnSpc>
              <a:buNone/>
            </a:pP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 aquí van las instrucciones,</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 una debajo de otra</a:t>
            </a:r>
            <a:endParaRPr lang="en-US" sz="1250" dirty="0"/>
          </a:p>
          <a:p>
            <a:pPr marL="0" indent="0">
              <a:lnSpc>
                <a:spcPts val="1938"/>
              </a:lnSpc>
              <a:buNone/>
            </a:pP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    }</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p:txBody>
      </p:sp>
      <p:sp>
        <p:nvSpPr>
          <p:cNvPr id="7" name="Shape 5"/>
          <p:cNvSpPr/>
          <p:nvPr/>
        </p:nvSpPr>
        <p:spPr>
          <a:xfrm>
            <a:off x="6492240" y="2029968"/>
            <a:ext cx="5148072" cy="896112"/>
          </a:xfrm>
          <a:prstGeom prst="roundRect">
            <a:avLst>
              <a:gd name="adj" fmla="val 8163"/>
            </a:avLst>
          </a:prstGeom>
          <a:solidFill>
            <a:srgbClr val="E8EEF4"/>
          </a:solidFill>
          <a:ln w="12700">
            <a:solidFill>
              <a:srgbClr val="E8EEF4"/>
            </a:solidFill>
            <a:prstDash val="solid"/>
          </a:ln>
        </p:spPr>
        <p:txBody>
          <a:bodyPr/>
          <a:lstStyle/>
          <a:p>
            <a:endParaRPr lang="es-CO"/>
          </a:p>
        </p:txBody>
      </p:sp>
      <p:sp>
        <p:nvSpPr>
          <p:cNvPr id="8" name="Text 6"/>
          <p:cNvSpPr/>
          <p:nvPr/>
        </p:nvSpPr>
        <p:spPr>
          <a:xfrm>
            <a:off x="6766560" y="2103120"/>
            <a:ext cx="45720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clase</a:t>
            </a:r>
            <a:endParaRPr lang="en-US" sz="1300" dirty="0"/>
          </a:p>
        </p:txBody>
      </p:sp>
      <p:sp>
        <p:nvSpPr>
          <p:cNvPr id="9" name="Text 7"/>
          <p:cNvSpPr/>
          <p:nvPr/>
        </p:nvSpPr>
        <p:spPr>
          <a:xfrm>
            <a:off x="6766560" y="2359152"/>
            <a:ext cx="4617720" cy="512064"/>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Es el envase. Su nombre lo eliges tú y debe coincidir con el del archivo: la clase Salon vive en Salon.java.</a:t>
            </a:r>
            <a:endParaRPr lang="en-US" sz="1100" dirty="0"/>
          </a:p>
        </p:txBody>
      </p:sp>
      <p:sp>
        <p:nvSpPr>
          <p:cNvPr id="10" name="Shape 8"/>
          <p:cNvSpPr/>
          <p:nvPr/>
        </p:nvSpPr>
        <p:spPr>
          <a:xfrm>
            <a:off x="6492240" y="2999232"/>
            <a:ext cx="5148072" cy="896112"/>
          </a:xfrm>
          <a:prstGeom prst="roundRect">
            <a:avLst>
              <a:gd name="adj" fmla="val 8163"/>
            </a:avLst>
          </a:prstGeom>
          <a:solidFill>
            <a:srgbClr val="E8EEF4"/>
          </a:solidFill>
          <a:ln w="12700">
            <a:solidFill>
              <a:srgbClr val="E8EEF4"/>
            </a:solidFill>
            <a:prstDash val="solid"/>
          </a:ln>
        </p:spPr>
        <p:txBody>
          <a:bodyPr/>
          <a:lstStyle/>
          <a:p>
            <a:endParaRPr lang="es-CO"/>
          </a:p>
        </p:txBody>
      </p:sp>
      <p:sp>
        <p:nvSpPr>
          <p:cNvPr id="11" name="Text 9"/>
          <p:cNvSpPr/>
          <p:nvPr/>
        </p:nvSpPr>
        <p:spPr>
          <a:xfrm>
            <a:off x="6766560" y="3072384"/>
            <a:ext cx="45720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método principal</a:t>
            </a:r>
            <a:endParaRPr lang="en-US" sz="1300" dirty="0"/>
          </a:p>
        </p:txBody>
      </p:sp>
      <p:sp>
        <p:nvSpPr>
          <p:cNvPr id="12" name="Text 10"/>
          <p:cNvSpPr/>
          <p:nvPr/>
        </p:nvSpPr>
        <p:spPr>
          <a:xfrm>
            <a:off x="6766560" y="3328416"/>
            <a:ext cx="4617720" cy="512064"/>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main es por donde arranca la ejecución. Java siempre empieza a leer ahí, sin importar el orden del archivo.</a:t>
            </a:r>
            <a:endParaRPr lang="en-US" sz="1100" dirty="0"/>
          </a:p>
        </p:txBody>
      </p:sp>
      <p:sp>
        <p:nvSpPr>
          <p:cNvPr id="13" name="Shape 11"/>
          <p:cNvSpPr/>
          <p:nvPr/>
        </p:nvSpPr>
        <p:spPr>
          <a:xfrm>
            <a:off x="6492240" y="3968496"/>
            <a:ext cx="5148072" cy="896112"/>
          </a:xfrm>
          <a:prstGeom prst="roundRect">
            <a:avLst>
              <a:gd name="adj" fmla="val 8163"/>
            </a:avLst>
          </a:prstGeom>
          <a:solidFill>
            <a:srgbClr val="E8EEF4"/>
          </a:solidFill>
          <a:ln w="12700">
            <a:solidFill>
              <a:srgbClr val="E8EEF4"/>
            </a:solidFill>
            <a:prstDash val="solid"/>
          </a:ln>
        </p:spPr>
        <p:txBody>
          <a:bodyPr/>
          <a:lstStyle/>
          <a:p>
            <a:endParaRPr lang="es-CO"/>
          </a:p>
        </p:txBody>
      </p:sp>
      <p:sp>
        <p:nvSpPr>
          <p:cNvPr id="14" name="Text 12"/>
          <p:cNvSpPr/>
          <p:nvPr/>
        </p:nvSpPr>
        <p:spPr>
          <a:xfrm>
            <a:off x="6766560" y="4041648"/>
            <a:ext cx="45720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Las llaves</a:t>
            </a:r>
            <a:endParaRPr lang="en-US" sz="1300" dirty="0"/>
          </a:p>
        </p:txBody>
      </p:sp>
      <p:sp>
        <p:nvSpPr>
          <p:cNvPr id="15" name="Text 13"/>
          <p:cNvSpPr/>
          <p:nvPr/>
        </p:nvSpPr>
        <p:spPr>
          <a:xfrm>
            <a:off x="6766560" y="4297680"/>
            <a:ext cx="4617720" cy="512064"/>
          </a:xfrm>
          <a:prstGeom prst="rect">
            <a:avLst/>
          </a:prstGeom>
          <a:noFill/>
          <a:ln/>
        </p:spPr>
        <p:txBody>
          <a:bodyPr wrap="square" lIns="0" tIns="0" rIns="0" bIns="0" rtlCol="0" anchor="t"/>
          <a:lstStyle/>
          <a:p>
            <a:pPr marL="0" indent="0">
              <a:lnSpc>
                <a:spcPts val="1400"/>
              </a:lnSpc>
              <a:buNone/>
            </a:pPr>
            <a:r>
              <a:rPr lang="en-US" sz="1100" dirty="0">
                <a:solidFill>
                  <a:srgbClr val="5B6B7C"/>
                </a:solidFill>
                <a:latin typeface="Calibri" pitchFamily="34" charset="0"/>
                <a:ea typeface="Calibri" pitchFamily="34" charset="-122"/>
                <a:cs typeface="Calibri" pitchFamily="34" charset="-120"/>
              </a:rPr>
              <a:t>Lo que está entre las llaves de main se ejecuta de arriba hacia abajo, una instrucción tras otra.</a:t>
            </a:r>
            <a:endParaRPr lang="en-US" sz="1100" dirty="0"/>
          </a:p>
        </p:txBody>
      </p:sp>
      <p:sp>
        <p:nvSpPr>
          <p:cNvPr id="16" name="Shape 14"/>
          <p:cNvSpPr/>
          <p:nvPr/>
        </p:nvSpPr>
        <p:spPr>
          <a:xfrm>
            <a:off x="548640" y="5102352"/>
            <a:ext cx="11091672" cy="566928"/>
          </a:xfrm>
          <a:prstGeom prst="roundRect">
            <a:avLst>
              <a:gd name="adj" fmla="val 12903"/>
            </a:avLst>
          </a:prstGeom>
          <a:solidFill>
            <a:srgbClr val="13294B"/>
          </a:solidFill>
          <a:ln w="12700">
            <a:solidFill>
              <a:srgbClr val="13294B"/>
            </a:solidFill>
            <a:prstDash val="solid"/>
          </a:ln>
        </p:spPr>
        <p:txBody>
          <a:bodyPr/>
          <a:lstStyle/>
          <a:p>
            <a:endParaRPr lang="es-CO"/>
          </a:p>
        </p:txBody>
      </p:sp>
      <p:sp>
        <p:nvSpPr>
          <p:cNvPr id="17" name="Text 15"/>
          <p:cNvSpPr/>
          <p:nvPr/>
        </p:nvSpPr>
        <p:spPr>
          <a:xfrm>
            <a:off x="868680" y="5102352"/>
            <a:ext cx="10451592" cy="56692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ÚLTIMA FRASE ES LA IMPORTANTE:  </a:t>
            </a:r>
            <a:r>
              <a:rPr lang="en-US" sz="1350" dirty="0">
                <a:solidFill>
                  <a:srgbClr val="FFFFFF"/>
                </a:solidFill>
                <a:latin typeface="Calibri" pitchFamily="34" charset="0"/>
                <a:ea typeface="Calibri" pitchFamily="34" charset="-122"/>
                <a:cs typeface="Calibri" pitchFamily="34" charset="-120"/>
              </a:rPr>
              <a:t>las llaves de main son exactamente el Inicio y el Fin de tu pseudocódigo.</a:t>
            </a:r>
            <a:endParaRPr lang="en-US" sz="1350" dirty="0"/>
          </a:p>
        </p:txBody>
      </p:sp>
      <p:sp>
        <p:nvSpPr>
          <p:cNvPr id="18" name="Shape 16"/>
          <p:cNvSpPr/>
          <p:nvPr/>
        </p:nvSpPr>
        <p:spPr>
          <a:xfrm>
            <a:off x="548640" y="5797296"/>
            <a:ext cx="11091672" cy="457200"/>
          </a:xfrm>
          <a:prstGeom prst="roundRect">
            <a:avLst>
              <a:gd name="adj" fmla="val 16000"/>
            </a:avLst>
          </a:prstGeom>
          <a:solidFill>
            <a:srgbClr val="F4F7FB"/>
          </a:solidFill>
          <a:ln w="12700">
            <a:solidFill>
              <a:srgbClr val="F4F7FB"/>
            </a:solidFill>
            <a:prstDash val="solid"/>
          </a:ln>
        </p:spPr>
        <p:txBody>
          <a:bodyPr/>
          <a:lstStyle/>
          <a:p>
            <a:endParaRPr lang="es-CO"/>
          </a:p>
        </p:txBody>
      </p:sp>
      <p:sp>
        <p:nvSpPr>
          <p:cNvPr id="19" name="Text 17"/>
          <p:cNvSpPr/>
          <p:nvPr/>
        </p:nvSpPr>
        <p:spPr>
          <a:xfrm>
            <a:off x="859536" y="5797296"/>
            <a:ext cx="10469880" cy="457200"/>
          </a:xfrm>
          <a:prstGeom prst="rect">
            <a:avLst/>
          </a:prstGeom>
          <a:noFill/>
          <a:ln/>
        </p:spPr>
        <p:txBody>
          <a:bodyPr wrap="square" lIns="0" tIns="0" rIns="0" bIns="0" rtlCol="0" anchor="ctr"/>
          <a:lstStyle/>
          <a:p>
            <a:pPr marL="0" indent="0">
              <a:buNone/>
            </a:pPr>
            <a:r>
              <a:rPr lang="en-US" sz="1200" i="1" dirty="0">
                <a:solidFill>
                  <a:srgbClr val="5B6B7C"/>
                </a:solidFill>
                <a:latin typeface="Calibri" pitchFamily="34" charset="0"/>
                <a:ea typeface="Calibri" pitchFamily="34" charset="-122"/>
                <a:cs typeface="Calibri" pitchFamily="34" charset="-120"/>
              </a:rPr>
              <a:t>El nombre del archivo debe coincidir con el de la clase, incluidas las mayúsculas.</a:t>
            </a:r>
            <a:endParaRPr lang="en-US" sz="1200" dirty="0"/>
          </a:p>
        </p:txBody>
      </p:sp>
      <p:sp>
        <p:nvSpPr>
          <p:cNvPr id="20" name="Text 18"/>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Escribir en la consola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 la traducción directa de la instrucción Escribir que ya usas en pseudocódigo.</a:t>
            </a:r>
            <a:endParaRPr lang="en-US" sz="1400" dirty="0"/>
          </a:p>
        </p:txBody>
      </p:sp>
      <p:sp>
        <p:nvSpPr>
          <p:cNvPr id="5" name="Shape 3"/>
          <p:cNvSpPr/>
          <p:nvPr/>
        </p:nvSpPr>
        <p:spPr>
          <a:xfrm>
            <a:off x="548640" y="2011680"/>
            <a:ext cx="5532120" cy="1645920"/>
          </a:xfrm>
          <a:prstGeom prst="roundRect">
            <a:avLst>
              <a:gd name="adj" fmla="val 1667"/>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194560"/>
            <a:ext cx="5020056" cy="1280160"/>
          </a:xfrm>
          <a:prstGeom prst="rect">
            <a:avLst/>
          </a:prstGeom>
          <a:noFill/>
          <a:ln/>
        </p:spPr>
        <p:txBody>
          <a:bodyPr wrap="square" lIns="0" tIns="0" rIns="0" bIns="0" rtlCol="0" anchor="t"/>
          <a:lstStyle/>
          <a:p>
            <a:pPr marL="0" indent="0">
              <a:lnSpc>
                <a:spcPts val="1860"/>
              </a:lnSpc>
              <a:buNone/>
            </a:pPr>
            <a:r>
              <a:rPr lang="en-US" sz="1200" dirty="0">
                <a:solidFill>
                  <a:srgbClr val="E8EEF4"/>
                </a:solidFill>
                <a:latin typeface="Courier New" pitchFamily="34" charset="0"/>
                <a:ea typeface="Courier New" pitchFamily="34" charset="-122"/>
                <a:cs typeface="Courier New" pitchFamily="34" charset="-120"/>
              </a:rPr>
              <a:t>System.out.println("Hola");</a:t>
            </a:r>
            <a:endParaRPr lang="en-US" sz="1200" dirty="0"/>
          </a:p>
          <a:p>
            <a:pPr marL="0" indent="0">
              <a:lnSpc>
                <a:spcPts val="1860"/>
              </a:lnSpc>
              <a:buNone/>
            </a:pPr>
            <a:endParaRPr lang="en-US" sz="1200" dirty="0"/>
          </a:p>
          <a:p>
            <a:pPr marL="0" indent="0">
              <a:lnSpc>
                <a:spcPts val="1860"/>
              </a:lnSpc>
              <a:buNone/>
            </a:pPr>
            <a:r>
              <a:rPr lang="en-US" sz="1200" dirty="0">
                <a:solidFill>
                  <a:srgbClr val="E8EEF4"/>
                </a:solidFill>
                <a:latin typeface="Courier New" pitchFamily="34" charset="0"/>
                <a:ea typeface="Courier New" pitchFamily="34" charset="-122"/>
                <a:cs typeface="Courier New" pitchFamily="34" charset="-120"/>
              </a:rPr>
              <a:t>System.out.println("Area: " + area);</a:t>
            </a:r>
            <a:endParaRPr lang="en-US" sz="1200" dirty="0"/>
          </a:p>
          <a:p>
            <a:pPr marL="0" indent="0">
              <a:lnSpc>
                <a:spcPts val="1860"/>
              </a:lnSpc>
              <a:buNone/>
            </a:pPr>
            <a:endParaRPr lang="en-US" sz="1200" dirty="0"/>
          </a:p>
          <a:p>
            <a:pPr marL="0" indent="0">
              <a:lnSpc>
                <a:spcPts val="1860"/>
              </a:lnSpc>
              <a:buNone/>
            </a:pPr>
            <a:r>
              <a:rPr lang="en-US" sz="1200" dirty="0">
                <a:solidFill>
                  <a:srgbClr val="E8EEF4"/>
                </a:solidFill>
                <a:latin typeface="Courier New" pitchFamily="34" charset="0"/>
                <a:ea typeface="Courier New" pitchFamily="34" charset="-122"/>
                <a:cs typeface="Courier New" pitchFamily="34" charset="-120"/>
              </a:rPr>
              <a:t>System.out.print("Largo: ");</a:t>
            </a:r>
            <a:endParaRPr lang="en-US" sz="1200" dirty="0"/>
          </a:p>
        </p:txBody>
      </p:sp>
      <p:sp>
        <p:nvSpPr>
          <p:cNvPr id="7" name="Shape 5"/>
          <p:cNvSpPr/>
          <p:nvPr/>
        </p:nvSpPr>
        <p:spPr>
          <a:xfrm>
            <a:off x="6492240" y="2011680"/>
            <a:ext cx="5148072" cy="768096"/>
          </a:xfrm>
          <a:prstGeom prst="roundRect">
            <a:avLst>
              <a:gd name="adj" fmla="val 9524"/>
            </a:avLst>
          </a:prstGeom>
          <a:solidFill>
            <a:srgbClr val="E8EEF4"/>
          </a:solidFill>
          <a:ln w="12700">
            <a:solidFill>
              <a:srgbClr val="E8EEF4"/>
            </a:solidFill>
            <a:prstDash val="solid"/>
          </a:ln>
        </p:spPr>
        <p:txBody>
          <a:bodyPr/>
          <a:lstStyle/>
          <a:p>
            <a:endParaRPr lang="es-CO"/>
          </a:p>
        </p:txBody>
      </p:sp>
      <p:sp>
        <p:nvSpPr>
          <p:cNvPr id="8" name="Text 6"/>
          <p:cNvSpPr/>
          <p:nvPr/>
        </p:nvSpPr>
        <p:spPr>
          <a:xfrm>
            <a:off x="6766560" y="2011680"/>
            <a:ext cx="4617720" cy="768096"/>
          </a:xfrm>
          <a:prstGeom prst="rect">
            <a:avLst/>
          </a:prstGeom>
          <a:noFill/>
          <a:ln/>
        </p:spPr>
        <p:txBody>
          <a:bodyPr wrap="square" lIns="0" tIns="0" rIns="0" bIns="0" rtlCol="0" anchor="ctr"/>
          <a:lstStyle/>
          <a:p>
            <a:pPr marL="0" indent="0">
              <a:lnSpc>
                <a:spcPts val="1600"/>
              </a:lnSpc>
              <a:buNone/>
            </a:pPr>
            <a:r>
              <a:rPr lang="en-US" sz="1200" b="1" dirty="0">
                <a:solidFill>
                  <a:srgbClr val="13294B"/>
                </a:solidFill>
                <a:latin typeface="Courier New" pitchFamily="34" charset="0"/>
                <a:ea typeface="Courier New" pitchFamily="34" charset="-122"/>
                <a:cs typeface="Courier New" pitchFamily="34" charset="-120"/>
              </a:rPr>
              <a:t>println</a:t>
            </a:r>
            <a:r>
              <a:rPr lang="en-US" sz="1200" dirty="0">
                <a:solidFill>
                  <a:srgbClr val="1A1A2E"/>
                </a:solidFill>
                <a:latin typeface="Calibri" pitchFamily="34" charset="0"/>
                <a:ea typeface="Calibri" pitchFamily="34" charset="-122"/>
                <a:cs typeface="Calibri" pitchFamily="34" charset="-120"/>
              </a:rPr>
              <a:t>  escribe y salta de línea.
</a:t>
            </a:r>
            <a:endParaRPr lang="en-US" sz="1200" dirty="0"/>
          </a:p>
          <a:p>
            <a:pPr marL="0" indent="0">
              <a:lnSpc>
                <a:spcPts val="1600"/>
              </a:lnSpc>
              <a:buNone/>
            </a:pPr>
            <a:r>
              <a:rPr lang="en-US" sz="1200" b="1" dirty="0">
                <a:solidFill>
                  <a:srgbClr val="13294B"/>
                </a:solidFill>
                <a:latin typeface="Courier New" pitchFamily="34" charset="0"/>
                <a:ea typeface="Courier New" pitchFamily="34" charset="-122"/>
                <a:cs typeface="Courier New" pitchFamily="34" charset="-120"/>
              </a:rPr>
              <a:t>print</a:t>
            </a:r>
            <a:r>
              <a:rPr lang="en-US" sz="1200" dirty="0">
                <a:solidFill>
                  <a:srgbClr val="1A1A2E"/>
                </a:solidFill>
                <a:latin typeface="Calibri" pitchFamily="34" charset="0"/>
                <a:ea typeface="Calibri" pitchFamily="34" charset="-122"/>
                <a:cs typeface="Calibri" pitchFamily="34" charset="-120"/>
              </a:rPr>
              <a:t>  escribe y se queda en la misma línea: sirve para preguntar antes de leer.</a:t>
            </a:r>
            <a:endParaRPr lang="en-US" sz="1200" dirty="0"/>
          </a:p>
        </p:txBody>
      </p:sp>
      <p:sp>
        <p:nvSpPr>
          <p:cNvPr id="9" name="Shape 7"/>
          <p:cNvSpPr/>
          <p:nvPr/>
        </p:nvSpPr>
        <p:spPr>
          <a:xfrm>
            <a:off x="6492240" y="2889504"/>
            <a:ext cx="5148072" cy="768096"/>
          </a:xfrm>
          <a:prstGeom prst="roundRect">
            <a:avLst>
              <a:gd name="adj" fmla="val 9524"/>
            </a:avLst>
          </a:prstGeom>
          <a:solidFill>
            <a:srgbClr val="FFF4DE"/>
          </a:solidFill>
          <a:ln w="12700">
            <a:solidFill>
              <a:srgbClr val="FFF4DE"/>
            </a:solidFill>
            <a:prstDash val="solid"/>
          </a:ln>
        </p:spPr>
        <p:txBody>
          <a:bodyPr/>
          <a:lstStyle/>
          <a:p>
            <a:endParaRPr lang="es-CO"/>
          </a:p>
        </p:txBody>
      </p:sp>
      <p:sp>
        <p:nvSpPr>
          <p:cNvPr id="10" name="Text 8"/>
          <p:cNvSpPr/>
          <p:nvPr/>
        </p:nvSpPr>
        <p:spPr>
          <a:xfrm>
            <a:off x="6766560" y="2889504"/>
            <a:ext cx="4617720" cy="768096"/>
          </a:xfrm>
          <a:prstGeom prst="rect">
            <a:avLst/>
          </a:prstGeom>
          <a:noFill/>
          <a:ln/>
        </p:spPr>
        <p:txBody>
          <a:bodyPr wrap="square" lIns="0" tIns="0" rIns="0" bIns="0"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El signo </a:t>
            </a:r>
            <a:r>
              <a:rPr lang="en-US" sz="1300" b="1" dirty="0">
                <a:solidFill>
                  <a:srgbClr val="B07800"/>
                </a:solidFill>
                <a:latin typeface="Courier New" pitchFamily="34" charset="0"/>
                <a:ea typeface="Courier New" pitchFamily="34" charset="-122"/>
                <a:cs typeface="Courier New" pitchFamily="34" charset="-120"/>
              </a:rPr>
              <a:t>+</a:t>
            </a:r>
            <a:r>
              <a:rPr lang="en-US" sz="1200" dirty="0">
                <a:solidFill>
                  <a:srgbClr val="1A1A2E"/>
                </a:solidFill>
                <a:latin typeface="Calibri" pitchFamily="34" charset="0"/>
                <a:ea typeface="Calibri" pitchFamily="34" charset="-122"/>
                <a:cs typeface="Calibri" pitchFamily="34" charset="-120"/>
              </a:rPr>
              <a:t> une el texto con el valor de un dato. No suma: pega. Es lo mismo que la coma del pseudocódigo.</a:t>
            </a:r>
            <a:endParaRPr lang="en-US" sz="1200" dirty="0"/>
          </a:p>
        </p:txBody>
      </p:sp>
      <p:sp>
        <p:nvSpPr>
          <p:cNvPr id="11" name="Shape 9"/>
          <p:cNvSpPr/>
          <p:nvPr/>
        </p:nvSpPr>
        <p:spPr>
          <a:xfrm>
            <a:off x="548640" y="3877056"/>
            <a:ext cx="11091672" cy="1773936"/>
          </a:xfrm>
          <a:prstGeom prst="roundRect">
            <a:avLst>
              <a:gd name="adj" fmla="val 4124"/>
            </a:avLst>
          </a:prstGeom>
          <a:solidFill>
            <a:srgbClr val="F4F7FB"/>
          </a:solidFill>
          <a:ln w="12700">
            <a:solidFill>
              <a:srgbClr val="F4F7FB"/>
            </a:solidFill>
            <a:prstDash val="solid"/>
          </a:ln>
        </p:spPr>
        <p:txBody>
          <a:bodyPr/>
          <a:lstStyle/>
          <a:p>
            <a:endParaRPr lang="es-CO"/>
          </a:p>
        </p:txBody>
      </p:sp>
      <p:sp>
        <p:nvSpPr>
          <p:cNvPr id="12" name="Text 10"/>
          <p:cNvSpPr/>
          <p:nvPr/>
        </p:nvSpPr>
        <p:spPr>
          <a:xfrm>
            <a:off x="841248" y="3986784"/>
            <a:ext cx="822960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LAS COMILLAS DECIDEN QUÉ SE IMPRIME  ·  SUPÓN QUE area VALE 63</a:t>
            </a:r>
            <a:endParaRPr lang="en-US" sz="1050" dirty="0"/>
          </a:p>
        </p:txBody>
      </p:sp>
      <p:sp>
        <p:nvSpPr>
          <p:cNvPr id="13" name="Text 11"/>
          <p:cNvSpPr/>
          <p:nvPr/>
        </p:nvSpPr>
        <p:spPr>
          <a:xfrm>
            <a:off x="841248" y="4315968"/>
            <a:ext cx="4114800" cy="365760"/>
          </a:xfrm>
          <a:prstGeom prst="rect">
            <a:avLst/>
          </a:prstGeom>
          <a:noFill/>
          <a:ln/>
        </p:spPr>
        <p:txBody>
          <a:bodyPr wrap="square" lIns="0" tIns="0" rIns="0" bIns="0" rtlCol="0" anchor="ctr"/>
          <a:lstStyle/>
          <a:p>
            <a:pPr marL="0" indent="0">
              <a:buNone/>
            </a:pPr>
            <a:r>
              <a:rPr lang="en-US" sz="1150" b="1" dirty="0">
                <a:solidFill>
                  <a:srgbClr val="13294B"/>
                </a:solidFill>
                <a:latin typeface="Courier New" pitchFamily="34" charset="0"/>
                <a:ea typeface="Courier New" pitchFamily="34" charset="-122"/>
                <a:cs typeface="Courier New" pitchFamily="34" charset="-120"/>
              </a:rPr>
              <a:t>System.out.println(area);</a:t>
            </a:r>
            <a:endParaRPr lang="en-US" sz="1150" dirty="0"/>
          </a:p>
        </p:txBody>
      </p:sp>
      <p:sp>
        <p:nvSpPr>
          <p:cNvPr id="14" name="Shape 12"/>
          <p:cNvSpPr/>
          <p:nvPr/>
        </p:nvSpPr>
        <p:spPr>
          <a:xfrm>
            <a:off x="5120640" y="4352544"/>
            <a:ext cx="1920240" cy="292608"/>
          </a:xfrm>
          <a:prstGeom prst="roundRect">
            <a:avLst>
              <a:gd name="adj" fmla="val 12500"/>
            </a:avLst>
          </a:prstGeom>
          <a:solidFill>
            <a:srgbClr val="FFFFFF"/>
          </a:solidFill>
          <a:ln w="12700">
            <a:solidFill>
              <a:srgbClr val="E1E7EF"/>
            </a:solidFill>
            <a:prstDash val="solid"/>
          </a:ln>
        </p:spPr>
        <p:txBody>
          <a:bodyPr/>
          <a:lstStyle/>
          <a:p>
            <a:endParaRPr lang="es-CO"/>
          </a:p>
        </p:txBody>
      </p:sp>
      <p:sp>
        <p:nvSpPr>
          <p:cNvPr id="15" name="Text 13"/>
          <p:cNvSpPr/>
          <p:nvPr/>
        </p:nvSpPr>
        <p:spPr>
          <a:xfrm>
            <a:off x="5212080" y="4352544"/>
            <a:ext cx="1737360" cy="292608"/>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63</a:t>
            </a:r>
            <a:endParaRPr lang="en-US" sz="1150" dirty="0"/>
          </a:p>
        </p:txBody>
      </p:sp>
      <p:sp>
        <p:nvSpPr>
          <p:cNvPr id="16" name="Text 14"/>
          <p:cNvSpPr/>
          <p:nvPr/>
        </p:nvSpPr>
        <p:spPr>
          <a:xfrm>
            <a:off x="7223760" y="4315968"/>
            <a:ext cx="4023360" cy="36576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Sin comillas: imprime el valor guardado.</a:t>
            </a:r>
            <a:endParaRPr lang="en-US" sz="1100" dirty="0"/>
          </a:p>
        </p:txBody>
      </p:sp>
      <p:sp>
        <p:nvSpPr>
          <p:cNvPr id="17" name="Text 15"/>
          <p:cNvSpPr/>
          <p:nvPr/>
        </p:nvSpPr>
        <p:spPr>
          <a:xfrm>
            <a:off x="841248" y="4736592"/>
            <a:ext cx="4114800" cy="365760"/>
          </a:xfrm>
          <a:prstGeom prst="rect">
            <a:avLst/>
          </a:prstGeom>
          <a:noFill/>
          <a:ln/>
        </p:spPr>
        <p:txBody>
          <a:bodyPr wrap="square" lIns="0" tIns="0" rIns="0" bIns="0" rtlCol="0" anchor="ctr"/>
          <a:lstStyle/>
          <a:p>
            <a:pPr marL="0" indent="0">
              <a:buNone/>
            </a:pPr>
            <a:r>
              <a:rPr lang="en-US" sz="1150" b="1" dirty="0">
                <a:solidFill>
                  <a:srgbClr val="13294B"/>
                </a:solidFill>
                <a:latin typeface="Courier New" pitchFamily="34" charset="0"/>
                <a:ea typeface="Courier New" pitchFamily="34" charset="-122"/>
                <a:cs typeface="Courier New" pitchFamily="34" charset="-120"/>
              </a:rPr>
              <a:t>System.out.println("area");</a:t>
            </a:r>
            <a:endParaRPr lang="en-US" sz="1150" dirty="0"/>
          </a:p>
        </p:txBody>
      </p:sp>
      <p:sp>
        <p:nvSpPr>
          <p:cNvPr id="18" name="Shape 16"/>
          <p:cNvSpPr/>
          <p:nvPr/>
        </p:nvSpPr>
        <p:spPr>
          <a:xfrm>
            <a:off x="5120640" y="4773168"/>
            <a:ext cx="1920240" cy="292608"/>
          </a:xfrm>
          <a:prstGeom prst="roundRect">
            <a:avLst>
              <a:gd name="adj" fmla="val 12500"/>
            </a:avLst>
          </a:prstGeom>
          <a:solidFill>
            <a:srgbClr val="FFFFFF"/>
          </a:solidFill>
          <a:ln w="12700">
            <a:solidFill>
              <a:srgbClr val="E1E7EF"/>
            </a:solidFill>
            <a:prstDash val="solid"/>
          </a:ln>
        </p:spPr>
        <p:txBody>
          <a:bodyPr/>
          <a:lstStyle/>
          <a:p>
            <a:endParaRPr lang="es-CO"/>
          </a:p>
        </p:txBody>
      </p:sp>
      <p:sp>
        <p:nvSpPr>
          <p:cNvPr id="19" name="Text 17"/>
          <p:cNvSpPr/>
          <p:nvPr/>
        </p:nvSpPr>
        <p:spPr>
          <a:xfrm>
            <a:off x="5212080" y="4773168"/>
            <a:ext cx="1737360" cy="292608"/>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area</a:t>
            </a:r>
            <a:endParaRPr lang="en-US" sz="1150" dirty="0"/>
          </a:p>
        </p:txBody>
      </p:sp>
      <p:sp>
        <p:nvSpPr>
          <p:cNvPr id="20" name="Text 18"/>
          <p:cNvSpPr/>
          <p:nvPr/>
        </p:nvSpPr>
        <p:spPr>
          <a:xfrm>
            <a:off x="7223760" y="4736592"/>
            <a:ext cx="4023360" cy="36576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Con comillas: imprime la palabra.</a:t>
            </a:r>
            <a:endParaRPr lang="en-US" sz="1100" dirty="0"/>
          </a:p>
        </p:txBody>
      </p:sp>
      <p:sp>
        <p:nvSpPr>
          <p:cNvPr id="21" name="Text 19"/>
          <p:cNvSpPr/>
          <p:nvPr/>
        </p:nvSpPr>
        <p:spPr>
          <a:xfrm>
            <a:off x="841248" y="5157216"/>
            <a:ext cx="4114800" cy="365760"/>
          </a:xfrm>
          <a:prstGeom prst="rect">
            <a:avLst/>
          </a:prstGeom>
          <a:noFill/>
          <a:ln/>
        </p:spPr>
        <p:txBody>
          <a:bodyPr wrap="square" lIns="0" tIns="0" rIns="0" bIns="0" rtlCol="0" anchor="ctr"/>
          <a:lstStyle/>
          <a:p>
            <a:pPr marL="0" indent="0">
              <a:buNone/>
            </a:pPr>
            <a:r>
              <a:rPr lang="en-US" sz="1150" b="1" dirty="0">
                <a:solidFill>
                  <a:srgbClr val="13294B"/>
                </a:solidFill>
                <a:latin typeface="Courier New" pitchFamily="34" charset="0"/>
                <a:ea typeface="Courier New" pitchFamily="34" charset="-122"/>
                <a:cs typeface="Courier New" pitchFamily="34" charset="-120"/>
              </a:rPr>
              <a:t>System.out.println("area: " + area);</a:t>
            </a:r>
            <a:endParaRPr lang="en-US" sz="1150" dirty="0"/>
          </a:p>
        </p:txBody>
      </p:sp>
      <p:sp>
        <p:nvSpPr>
          <p:cNvPr id="22" name="Shape 20"/>
          <p:cNvSpPr/>
          <p:nvPr/>
        </p:nvSpPr>
        <p:spPr>
          <a:xfrm>
            <a:off x="5120640" y="5193792"/>
            <a:ext cx="1920240" cy="292608"/>
          </a:xfrm>
          <a:prstGeom prst="roundRect">
            <a:avLst>
              <a:gd name="adj" fmla="val 12500"/>
            </a:avLst>
          </a:prstGeom>
          <a:solidFill>
            <a:srgbClr val="FFFFFF"/>
          </a:solidFill>
          <a:ln w="12700">
            <a:solidFill>
              <a:srgbClr val="E1E7EF"/>
            </a:solidFill>
            <a:prstDash val="solid"/>
          </a:ln>
        </p:spPr>
        <p:txBody>
          <a:bodyPr/>
          <a:lstStyle/>
          <a:p>
            <a:endParaRPr lang="es-CO"/>
          </a:p>
        </p:txBody>
      </p:sp>
      <p:sp>
        <p:nvSpPr>
          <p:cNvPr id="23" name="Text 21"/>
          <p:cNvSpPr/>
          <p:nvPr/>
        </p:nvSpPr>
        <p:spPr>
          <a:xfrm>
            <a:off x="5212080" y="5193792"/>
            <a:ext cx="1737360" cy="292608"/>
          </a:xfrm>
          <a:prstGeom prst="rect">
            <a:avLst/>
          </a:prstGeom>
          <a:noFill/>
          <a:ln/>
        </p:spPr>
        <p:txBody>
          <a:bodyPr wrap="square" lIns="0" tIns="0" rIns="0" bIns="0" rtlCol="0" anchor="ctr"/>
          <a:lstStyle/>
          <a:p>
            <a:pPr marL="0" indent="0">
              <a:buNone/>
            </a:pPr>
            <a:r>
              <a:rPr lang="en-US" sz="1150" b="1" dirty="0">
                <a:solidFill>
                  <a:srgbClr val="B07800"/>
                </a:solidFill>
                <a:latin typeface="Courier New" pitchFamily="34" charset="0"/>
                <a:ea typeface="Courier New" pitchFamily="34" charset="-122"/>
                <a:cs typeface="Courier New" pitchFamily="34" charset="-120"/>
              </a:rPr>
              <a:t>area: 63</a:t>
            </a:r>
            <a:endParaRPr lang="en-US" sz="1150" dirty="0"/>
          </a:p>
        </p:txBody>
      </p:sp>
      <p:sp>
        <p:nvSpPr>
          <p:cNvPr id="24" name="Text 22"/>
          <p:cNvSpPr/>
          <p:nvPr/>
        </p:nvSpPr>
        <p:spPr>
          <a:xfrm>
            <a:off x="7223760" y="5157216"/>
            <a:ext cx="4023360" cy="36576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Las dos cosas, unidas con el signo más.</a:t>
            </a:r>
            <a:endParaRPr lang="en-US" sz="1100" dirty="0"/>
          </a:p>
        </p:txBody>
      </p:sp>
      <p:sp>
        <p:nvSpPr>
          <p:cNvPr id="25" name="Shape 23"/>
          <p:cNvSpPr/>
          <p:nvPr/>
        </p:nvSpPr>
        <p:spPr>
          <a:xfrm>
            <a:off x="548640" y="5779008"/>
            <a:ext cx="11091672" cy="475488"/>
          </a:xfrm>
          <a:prstGeom prst="roundRect">
            <a:avLst>
              <a:gd name="adj" fmla="val 15385"/>
            </a:avLst>
          </a:prstGeom>
          <a:solidFill>
            <a:srgbClr val="13294B"/>
          </a:solidFill>
          <a:ln w="12700">
            <a:solidFill>
              <a:srgbClr val="13294B"/>
            </a:solidFill>
            <a:prstDash val="solid"/>
          </a:ln>
        </p:spPr>
        <p:txBody>
          <a:bodyPr/>
          <a:lstStyle/>
          <a:p>
            <a:endParaRPr lang="es-CO"/>
          </a:p>
        </p:txBody>
      </p:sp>
      <p:sp>
        <p:nvSpPr>
          <p:cNvPr id="26" name="Text 24"/>
          <p:cNvSpPr/>
          <p:nvPr/>
        </p:nvSpPr>
        <p:spPr>
          <a:xfrm>
            <a:off x="868680" y="5779008"/>
            <a:ext cx="10451592" cy="47548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REGLA DE ORO DE LA SALIDA:  </a:t>
            </a:r>
            <a:r>
              <a:rPr lang="en-US" sz="1350" dirty="0">
                <a:solidFill>
                  <a:srgbClr val="FFFFFF"/>
                </a:solidFill>
                <a:latin typeface="Calibri" pitchFamily="34" charset="0"/>
                <a:ea typeface="Calibri" pitchFamily="34" charset="-122"/>
                <a:cs typeface="Calibri" pitchFamily="34" charset="-120"/>
              </a:rPr>
              <a:t>un resultado sin su texto no comunica nada. Siempre di qué es lo que estás mostrando.</a:t>
            </a:r>
            <a:endParaRPr lang="en-US" sz="1350" dirty="0"/>
          </a:p>
        </p:txBody>
      </p:sp>
      <p:sp>
        <p:nvSpPr>
          <p:cNvPr id="27" name="Text 2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08</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1 </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primer </a:t>
            </a:r>
            <a:r>
              <a:rPr lang="en-US" sz="2900" b="1" dirty="0" err="1">
                <a:solidFill>
                  <a:srgbClr val="13294B"/>
                </a:solidFill>
                <a:latin typeface="Cambria" pitchFamily="34" charset="0"/>
                <a:ea typeface="Cambria" pitchFamily="34" charset="-122"/>
                <a:cs typeface="Cambria" pitchFamily="34" charset="-120"/>
              </a:rPr>
              <a:t>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Escríbelo tal cual, con mayúsculas, comillas y punto y coma. Cambia el nombre y el programa por el tuyo.</a:t>
            </a:r>
            <a:endParaRPr lang="en-US" sz="1400" dirty="0"/>
          </a:p>
        </p:txBody>
      </p:sp>
      <p:sp>
        <p:nvSpPr>
          <p:cNvPr id="5" name="Shape 3"/>
          <p:cNvSpPr/>
          <p:nvPr/>
        </p:nvSpPr>
        <p:spPr>
          <a:xfrm>
            <a:off x="548640" y="2121408"/>
            <a:ext cx="5532120" cy="896112"/>
          </a:xfrm>
          <a:prstGeom prst="roundRect">
            <a:avLst>
              <a:gd name="adj" fmla="val 8163"/>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04672" y="2350008"/>
            <a:ext cx="420624" cy="420624"/>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804672" y="23500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89888" y="2249424"/>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Abre el entorno</a:t>
            </a:r>
            <a:endParaRPr lang="en-US" sz="1350" dirty="0"/>
          </a:p>
        </p:txBody>
      </p:sp>
      <p:sp>
        <p:nvSpPr>
          <p:cNvPr id="9" name="Text 7"/>
          <p:cNvSpPr/>
          <p:nvPr/>
        </p:nvSpPr>
        <p:spPr>
          <a:xfrm>
            <a:off x="1389888" y="2523744"/>
            <a:ext cx="4526280" cy="402336"/>
          </a:xfrm>
          <a:prstGeom prst="rect">
            <a:avLst/>
          </a:prstGeom>
          <a:noFill/>
          <a:ln/>
        </p:spPr>
        <p:txBody>
          <a:bodyPr wrap="square" lIns="0" tIns="0" rIns="0" bIns="0" rtlCol="0" anchor="t"/>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Tu IDE, o bien onlinegdb.com/online_java_compiler si aún no lo instalas.</a:t>
            </a:r>
            <a:endParaRPr lang="en-US" sz="1150" dirty="0"/>
          </a:p>
        </p:txBody>
      </p:sp>
      <p:sp>
        <p:nvSpPr>
          <p:cNvPr id="10" name="Shape 8"/>
          <p:cNvSpPr/>
          <p:nvPr/>
        </p:nvSpPr>
        <p:spPr>
          <a:xfrm>
            <a:off x="548640" y="3090672"/>
            <a:ext cx="5532120" cy="896112"/>
          </a:xfrm>
          <a:prstGeom prst="roundRect">
            <a:avLst>
              <a:gd name="adj" fmla="val 8163"/>
            </a:avLst>
          </a:prstGeom>
          <a:solidFill>
            <a:srgbClr val="F4F7FB"/>
          </a:solidFill>
          <a:ln w="12700">
            <a:solidFill>
              <a:srgbClr val="F4F7FB"/>
            </a:solidFill>
            <a:prstDash val="solid"/>
          </a:ln>
        </p:spPr>
        <p:txBody>
          <a:bodyPr/>
          <a:lstStyle/>
          <a:p>
            <a:endParaRPr lang="es-CO"/>
          </a:p>
        </p:txBody>
      </p:sp>
      <p:sp>
        <p:nvSpPr>
          <p:cNvPr id="11" name="Shape 9"/>
          <p:cNvSpPr/>
          <p:nvPr/>
        </p:nvSpPr>
        <p:spPr>
          <a:xfrm>
            <a:off x="804672" y="3319272"/>
            <a:ext cx="420624" cy="420624"/>
          </a:xfrm>
          <a:prstGeom prst="ellipse">
            <a:avLst/>
          </a:prstGeom>
          <a:solidFill>
            <a:srgbClr val="1C7293"/>
          </a:solidFill>
          <a:ln w="12700">
            <a:solidFill>
              <a:srgbClr val="1C7293"/>
            </a:solidFill>
            <a:prstDash val="solid"/>
          </a:ln>
        </p:spPr>
        <p:txBody>
          <a:bodyPr/>
          <a:lstStyle/>
          <a:p>
            <a:endParaRPr lang="es-CO"/>
          </a:p>
        </p:txBody>
      </p:sp>
      <p:sp>
        <p:nvSpPr>
          <p:cNvPr id="12" name="Text 10"/>
          <p:cNvSpPr/>
          <p:nvPr/>
        </p:nvSpPr>
        <p:spPr>
          <a:xfrm>
            <a:off x="804672" y="33192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389888" y="3218688"/>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Crea la clase</a:t>
            </a:r>
            <a:endParaRPr lang="en-US" sz="1350" dirty="0"/>
          </a:p>
        </p:txBody>
      </p:sp>
      <p:sp>
        <p:nvSpPr>
          <p:cNvPr id="14" name="Text 12"/>
          <p:cNvSpPr/>
          <p:nvPr/>
        </p:nvSpPr>
        <p:spPr>
          <a:xfrm>
            <a:off x="1389888" y="3493008"/>
            <a:ext cx="4526280" cy="402336"/>
          </a:xfrm>
          <a:prstGeom prst="rect">
            <a:avLst/>
          </a:prstGeom>
          <a:noFill/>
          <a:ln/>
        </p:spPr>
        <p:txBody>
          <a:bodyPr wrap="square" lIns="0" tIns="0" rIns="0" bIns="0" rtlCol="0" anchor="t"/>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El nombre del archivo debe coincidir con el nombre de la clase.</a:t>
            </a:r>
            <a:endParaRPr lang="en-US" sz="1150" dirty="0"/>
          </a:p>
        </p:txBody>
      </p:sp>
      <p:sp>
        <p:nvSpPr>
          <p:cNvPr id="15" name="Shape 13"/>
          <p:cNvSpPr/>
          <p:nvPr/>
        </p:nvSpPr>
        <p:spPr>
          <a:xfrm>
            <a:off x="548640" y="4059936"/>
            <a:ext cx="5532120" cy="896112"/>
          </a:xfrm>
          <a:prstGeom prst="roundRect">
            <a:avLst>
              <a:gd name="adj" fmla="val 8163"/>
            </a:avLst>
          </a:prstGeom>
          <a:solidFill>
            <a:srgbClr val="F4F7FB"/>
          </a:solidFill>
          <a:ln w="12700">
            <a:solidFill>
              <a:srgbClr val="F4F7FB"/>
            </a:solidFill>
            <a:prstDash val="solid"/>
          </a:ln>
        </p:spPr>
        <p:txBody>
          <a:bodyPr/>
          <a:lstStyle/>
          <a:p>
            <a:endParaRPr lang="es-CO"/>
          </a:p>
        </p:txBody>
      </p:sp>
      <p:sp>
        <p:nvSpPr>
          <p:cNvPr id="16" name="Shape 14"/>
          <p:cNvSpPr/>
          <p:nvPr/>
        </p:nvSpPr>
        <p:spPr>
          <a:xfrm>
            <a:off x="804672" y="4288536"/>
            <a:ext cx="420624" cy="420624"/>
          </a:xfrm>
          <a:prstGeom prst="ellipse">
            <a:avLst/>
          </a:prstGeom>
          <a:solidFill>
            <a:srgbClr val="1C7293"/>
          </a:solidFill>
          <a:ln w="12700">
            <a:solidFill>
              <a:srgbClr val="1C7293"/>
            </a:solidFill>
            <a:prstDash val="solid"/>
          </a:ln>
        </p:spPr>
        <p:txBody>
          <a:bodyPr/>
          <a:lstStyle/>
          <a:p>
            <a:endParaRPr lang="es-CO"/>
          </a:p>
        </p:txBody>
      </p:sp>
      <p:sp>
        <p:nvSpPr>
          <p:cNvPr id="17" name="Text 15"/>
          <p:cNvSpPr/>
          <p:nvPr/>
        </p:nvSpPr>
        <p:spPr>
          <a:xfrm>
            <a:off x="804672" y="42885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89888" y="4187952"/>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Escribe las tres líneas</a:t>
            </a:r>
            <a:endParaRPr lang="en-US" sz="1350" dirty="0"/>
          </a:p>
        </p:txBody>
      </p:sp>
      <p:sp>
        <p:nvSpPr>
          <p:cNvPr id="19" name="Text 17"/>
          <p:cNvSpPr/>
          <p:nvPr/>
        </p:nvSpPr>
        <p:spPr>
          <a:xfrm>
            <a:off x="1389888" y="4462272"/>
            <a:ext cx="4526280" cy="402336"/>
          </a:xfrm>
          <a:prstGeom prst="rect">
            <a:avLst/>
          </a:prstGeom>
          <a:noFill/>
          <a:ln/>
        </p:spPr>
        <p:txBody>
          <a:bodyPr wrap="square" lIns="0" tIns="0" rIns="0" bIns="0" rtlCol="0" anchor="t"/>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Una de saludo, una con tu nombre y una con el programa que cursas.</a:t>
            </a:r>
            <a:endParaRPr lang="en-US" sz="1150" dirty="0"/>
          </a:p>
        </p:txBody>
      </p:sp>
      <p:sp>
        <p:nvSpPr>
          <p:cNvPr id="20" name="Shape 18"/>
          <p:cNvSpPr/>
          <p:nvPr/>
        </p:nvSpPr>
        <p:spPr>
          <a:xfrm>
            <a:off x="548640" y="5029200"/>
            <a:ext cx="5532120" cy="896112"/>
          </a:xfrm>
          <a:prstGeom prst="roundRect">
            <a:avLst>
              <a:gd name="adj" fmla="val 8163"/>
            </a:avLst>
          </a:prstGeom>
          <a:solidFill>
            <a:srgbClr val="F4F7FB"/>
          </a:solidFill>
          <a:ln w="12700">
            <a:solidFill>
              <a:srgbClr val="F4F7FB"/>
            </a:solidFill>
            <a:prstDash val="solid"/>
          </a:ln>
        </p:spPr>
        <p:txBody>
          <a:bodyPr/>
          <a:lstStyle/>
          <a:p>
            <a:endParaRPr lang="es-CO"/>
          </a:p>
        </p:txBody>
      </p:sp>
      <p:sp>
        <p:nvSpPr>
          <p:cNvPr id="21" name="Shape 19"/>
          <p:cNvSpPr/>
          <p:nvPr/>
        </p:nvSpPr>
        <p:spPr>
          <a:xfrm>
            <a:off x="804672" y="5257800"/>
            <a:ext cx="420624" cy="420624"/>
          </a:xfrm>
          <a:prstGeom prst="ellipse">
            <a:avLst/>
          </a:prstGeom>
          <a:solidFill>
            <a:srgbClr val="1C7293"/>
          </a:solidFill>
          <a:ln w="12700">
            <a:solidFill>
              <a:srgbClr val="1C7293"/>
            </a:solidFill>
            <a:prstDash val="solid"/>
          </a:ln>
        </p:spPr>
        <p:txBody>
          <a:bodyPr/>
          <a:lstStyle/>
          <a:p>
            <a:endParaRPr lang="es-CO"/>
          </a:p>
        </p:txBody>
      </p:sp>
      <p:sp>
        <p:nvSpPr>
          <p:cNvPr id="22" name="Text 20"/>
          <p:cNvSpPr/>
          <p:nvPr/>
        </p:nvSpPr>
        <p:spPr>
          <a:xfrm>
            <a:off x="804672" y="52578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389888" y="5157216"/>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Ejecuta</a:t>
            </a:r>
            <a:endParaRPr lang="en-US" sz="1350" dirty="0"/>
          </a:p>
        </p:txBody>
      </p:sp>
      <p:sp>
        <p:nvSpPr>
          <p:cNvPr id="24" name="Text 22"/>
          <p:cNvSpPr/>
          <p:nvPr/>
        </p:nvSpPr>
        <p:spPr>
          <a:xfrm>
            <a:off x="1389888" y="5431536"/>
            <a:ext cx="4526280" cy="402336"/>
          </a:xfrm>
          <a:prstGeom prst="rect">
            <a:avLst/>
          </a:prstGeom>
          <a:noFill/>
          <a:ln/>
        </p:spPr>
        <p:txBody>
          <a:bodyPr wrap="square" lIns="0" tIns="0" rIns="0" bIns="0" rtlCol="0" anchor="t"/>
          <a:lstStyle/>
          <a:p>
            <a:pPr marL="0" indent="0">
              <a:lnSpc>
                <a:spcPts val="1400"/>
              </a:lnSpc>
              <a:buNone/>
            </a:pPr>
            <a:r>
              <a:rPr lang="en-US" sz="1150" dirty="0">
                <a:solidFill>
                  <a:srgbClr val="5B6B7C"/>
                </a:solidFill>
                <a:latin typeface="Calibri" pitchFamily="34" charset="0"/>
                <a:ea typeface="Calibri" pitchFamily="34" charset="-122"/>
                <a:cs typeface="Calibri" pitchFamily="34" charset="-120"/>
              </a:rPr>
              <a:t>Debe aparecer tu texto en la consola, abajo.</a:t>
            </a:r>
            <a:endParaRPr lang="en-US" sz="1150" dirty="0"/>
          </a:p>
        </p:txBody>
      </p:sp>
      <p:sp>
        <p:nvSpPr>
          <p:cNvPr id="25" name="Shape 23"/>
          <p:cNvSpPr/>
          <p:nvPr/>
        </p:nvSpPr>
        <p:spPr>
          <a:xfrm>
            <a:off x="6492240" y="2121408"/>
            <a:ext cx="5148072" cy="2377440"/>
          </a:xfrm>
          <a:prstGeom prst="roundRect">
            <a:avLst>
              <a:gd name="adj" fmla="val 1154"/>
            </a:avLst>
          </a:prstGeom>
          <a:solidFill>
            <a:srgbClr val="0B1E33"/>
          </a:solidFill>
          <a:ln w="12700">
            <a:solidFill>
              <a:srgbClr val="0B1E33"/>
            </a:solidFill>
            <a:prstDash val="solid"/>
          </a:ln>
        </p:spPr>
        <p:txBody>
          <a:bodyPr/>
          <a:lstStyle/>
          <a:p>
            <a:endParaRPr lang="es-CO"/>
          </a:p>
        </p:txBody>
      </p:sp>
      <p:sp>
        <p:nvSpPr>
          <p:cNvPr id="26" name="Text 24"/>
          <p:cNvSpPr/>
          <p:nvPr/>
        </p:nvSpPr>
        <p:spPr>
          <a:xfrm>
            <a:off x="6748272" y="2304288"/>
            <a:ext cx="4636008" cy="2011680"/>
          </a:xfrm>
          <a:prstGeom prst="rect">
            <a:avLst/>
          </a:prstGeom>
          <a:noFill/>
          <a:ln/>
        </p:spPr>
        <p:txBody>
          <a:bodyPr wrap="square" lIns="0" tIns="0" rIns="0" bIns="0" rtlCol="0" anchor="t"/>
          <a:lstStyle/>
          <a:p>
            <a:pPr marL="0" indent="0">
              <a:lnSpc>
                <a:spcPts val="1705"/>
              </a:lnSpc>
              <a:buNone/>
            </a:pPr>
            <a:r>
              <a:rPr lang="en-US" sz="1100" b="1" dirty="0">
                <a:solidFill>
                  <a:srgbClr val="FFB100"/>
                </a:solidFill>
                <a:latin typeface="Courier New" pitchFamily="34" charset="0"/>
                <a:ea typeface="Courier New" pitchFamily="34" charset="-122"/>
                <a:cs typeface="Courier New" pitchFamily="34" charset="-120"/>
              </a:rPr>
              <a:t>public class </a:t>
            </a:r>
            <a:r>
              <a:rPr lang="en-US" sz="1100" dirty="0">
                <a:solidFill>
                  <a:srgbClr val="E8EEF4"/>
                </a:solidFill>
                <a:latin typeface="Courier New" pitchFamily="34" charset="0"/>
                <a:ea typeface="Courier New" pitchFamily="34" charset="-122"/>
                <a:cs typeface="Courier New" pitchFamily="34" charset="-120"/>
              </a:rPr>
              <a:t>Presentacion {</a:t>
            </a:r>
            <a:endParaRPr lang="en-US" sz="1100" dirty="0"/>
          </a:p>
          <a:p>
            <a:pPr marL="0" indent="0">
              <a:lnSpc>
                <a:spcPts val="1705"/>
              </a:lnSpc>
              <a:buNone/>
            </a:pPr>
            <a:r>
              <a:rPr lang="en-US" sz="1100" b="1" dirty="0">
                <a:solidFill>
                  <a:srgbClr val="FFB100"/>
                </a:solidFill>
                <a:latin typeface="Courier New" pitchFamily="34" charset="0"/>
                <a:ea typeface="Courier New" pitchFamily="34" charset="-122"/>
                <a:cs typeface="Courier New" pitchFamily="34" charset="-120"/>
              </a:rPr>
              <a:t>    public static void main</a:t>
            </a:r>
            <a:r>
              <a:rPr lang="en-US" sz="1100" dirty="0">
                <a:solidFill>
                  <a:srgbClr val="E8EEF4"/>
                </a:solidFill>
                <a:latin typeface="Courier New" pitchFamily="34" charset="0"/>
                <a:ea typeface="Courier New" pitchFamily="34" charset="-122"/>
                <a:cs typeface="Courier New" pitchFamily="34" charset="-120"/>
              </a:rPr>
              <a:t>(String[] args) {</a:t>
            </a:r>
            <a:endParaRPr lang="en-US" sz="1100" dirty="0"/>
          </a:p>
          <a:p>
            <a:pPr marL="0" indent="0">
              <a:lnSpc>
                <a:spcPts val="1705"/>
              </a:lnSpc>
              <a:buNone/>
            </a:pP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        System.out.println("Hola");</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        System.out.println("Soy Laura");</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        System.out.println("Desarrollo de Software");</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    }</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a:t>
            </a:r>
            <a:endParaRPr lang="en-US" sz="1100" dirty="0"/>
          </a:p>
        </p:txBody>
      </p:sp>
      <p:sp>
        <p:nvSpPr>
          <p:cNvPr id="27" name="Shape 25"/>
          <p:cNvSpPr/>
          <p:nvPr/>
        </p:nvSpPr>
        <p:spPr>
          <a:xfrm>
            <a:off x="6492240" y="4626864"/>
            <a:ext cx="5148072" cy="1234440"/>
          </a:xfrm>
          <a:prstGeom prst="roundRect">
            <a:avLst>
              <a:gd name="adj" fmla="val 5926"/>
            </a:avLst>
          </a:prstGeom>
          <a:solidFill>
            <a:srgbClr val="FFF4DE"/>
          </a:solidFill>
          <a:ln w="12700">
            <a:solidFill>
              <a:srgbClr val="FFF4DE"/>
            </a:solidFill>
            <a:prstDash val="solid"/>
          </a:ln>
        </p:spPr>
        <p:txBody>
          <a:bodyPr/>
          <a:lstStyle/>
          <a:p>
            <a:endParaRPr lang="es-CO"/>
          </a:p>
        </p:txBody>
      </p:sp>
      <p:sp>
        <p:nvSpPr>
          <p:cNvPr id="28" name="Text 26"/>
          <p:cNvSpPr/>
          <p:nvPr/>
        </p:nvSpPr>
        <p:spPr>
          <a:xfrm>
            <a:off x="6766560" y="4754880"/>
            <a:ext cx="461772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SI NO COMPILA, REVISA EN ESTE ORDEN</a:t>
            </a:r>
            <a:endParaRPr lang="en-US" sz="1050" dirty="0"/>
          </a:p>
        </p:txBody>
      </p:sp>
      <p:sp>
        <p:nvSpPr>
          <p:cNvPr id="29" name="Text 27"/>
          <p:cNvSpPr/>
          <p:nvPr/>
        </p:nvSpPr>
        <p:spPr>
          <a:xfrm>
            <a:off x="6766560" y="5029200"/>
            <a:ext cx="4617720" cy="777240"/>
          </a:xfrm>
          <a:prstGeom prst="rect">
            <a:avLst/>
          </a:prstGeom>
          <a:noFill/>
          <a:ln/>
        </p:spPr>
        <p:txBody>
          <a:bodyPr wrap="square" lIns="0" tIns="0" rIns="0" bIns="0" rtlCol="0" anchor="t"/>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El nombre del archivo contra el de la clase. El punto y coma al final de cada línea. Las comillas abiertas y cerradas. Las mayúsculas: System se escribe con S.</a:t>
            </a:r>
            <a:endParaRPr lang="en-US" sz="1200" dirty="0"/>
          </a:p>
        </p:txBody>
      </p:sp>
      <p:sp>
        <p:nvSpPr>
          <p:cNvPr id="30" name="Text 28"/>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09</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LA ASIGNACIÓN</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 la flecha al signo igual</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 la misma instrucción que ya conoces. Cambia el símbolo y aparecen dos reglas nuevas.</a:t>
            </a:r>
            <a:endParaRPr lang="en-US" sz="1400" dirty="0"/>
          </a:p>
        </p:txBody>
      </p:sp>
      <p:sp>
        <p:nvSpPr>
          <p:cNvPr id="5" name="Shape 3"/>
          <p:cNvSpPr/>
          <p:nvPr/>
        </p:nvSpPr>
        <p:spPr>
          <a:xfrm>
            <a:off x="548640" y="2084832"/>
            <a:ext cx="5349240" cy="1371600"/>
          </a:xfrm>
          <a:prstGeom prst="roundRect">
            <a:avLst>
              <a:gd name="adj" fmla="val 5333"/>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22960" y="2212848"/>
            <a:ext cx="4800600" cy="256032"/>
          </a:xfrm>
          <a:prstGeom prst="rect">
            <a:avLst/>
          </a:prstGeom>
          <a:noFill/>
          <a:ln/>
        </p:spPr>
        <p:txBody>
          <a:bodyPr wrap="square" lIns="0" tIns="0" rIns="0" bIns="0" rtlCol="0" anchor="ctr"/>
          <a:lstStyle/>
          <a:p>
            <a:pPr marL="0" indent="0">
              <a:buNone/>
            </a:pPr>
            <a:r>
              <a:rPr lang="en-US" sz="1050" b="1" kern="0" spc="120" dirty="0">
                <a:solidFill>
                  <a:srgbClr val="5B6B7C"/>
                </a:solidFill>
                <a:latin typeface="Calibri" pitchFamily="34" charset="0"/>
                <a:ea typeface="Calibri" pitchFamily="34" charset="-122"/>
                <a:cs typeface="Calibri" pitchFamily="34" charset="-120"/>
              </a:rPr>
              <a:t>EN PSEUDOCÓDIGO</a:t>
            </a:r>
            <a:endParaRPr lang="en-US" sz="1050" dirty="0"/>
          </a:p>
        </p:txBody>
      </p:sp>
      <p:sp>
        <p:nvSpPr>
          <p:cNvPr id="7" name="Text 5"/>
          <p:cNvSpPr/>
          <p:nvPr/>
        </p:nvSpPr>
        <p:spPr>
          <a:xfrm>
            <a:off x="822960" y="2542032"/>
            <a:ext cx="4800600" cy="548640"/>
          </a:xfrm>
          <a:prstGeom prst="rect">
            <a:avLst/>
          </a:prstGeom>
          <a:noFill/>
          <a:ln/>
        </p:spPr>
        <p:txBody>
          <a:bodyPr wrap="square" lIns="0" tIns="0" rIns="0" bIns="0" rtlCol="0" anchor="ctr"/>
          <a:lstStyle/>
          <a:p>
            <a:pPr marL="0" indent="0">
              <a:buNone/>
            </a:pPr>
            <a:r>
              <a:rPr lang="en-US" sz="1500" b="1" dirty="0">
                <a:solidFill>
                  <a:srgbClr val="13294B"/>
                </a:solidFill>
                <a:latin typeface="Courier New" pitchFamily="34" charset="0"/>
                <a:ea typeface="Courier New" pitchFamily="34" charset="-122"/>
                <a:cs typeface="Courier New" pitchFamily="34" charset="-120"/>
              </a:rPr>
              <a:t>area ← largo * ancho</a:t>
            </a:r>
            <a:endParaRPr lang="en-US" sz="1500" dirty="0"/>
          </a:p>
        </p:txBody>
      </p:sp>
      <p:sp>
        <p:nvSpPr>
          <p:cNvPr id="8" name="Shape 6"/>
          <p:cNvSpPr/>
          <p:nvPr/>
        </p:nvSpPr>
        <p:spPr>
          <a:xfrm>
            <a:off x="6291072" y="2084832"/>
            <a:ext cx="5349240" cy="1371600"/>
          </a:xfrm>
          <a:prstGeom prst="roundRect">
            <a:avLst>
              <a:gd name="adj" fmla="val 5333"/>
            </a:avLst>
          </a:prstGeom>
          <a:solidFill>
            <a:srgbClr val="FFF4DE"/>
          </a:solidFill>
          <a:ln w="12700">
            <a:solidFill>
              <a:srgbClr val="FFF4DE"/>
            </a:solidFill>
            <a:prstDash val="solid"/>
          </a:ln>
        </p:spPr>
        <p:txBody>
          <a:bodyPr/>
          <a:lstStyle/>
          <a:p>
            <a:endParaRPr lang="es-CO"/>
          </a:p>
        </p:txBody>
      </p:sp>
      <p:sp>
        <p:nvSpPr>
          <p:cNvPr id="9" name="Text 7"/>
          <p:cNvSpPr/>
          <p:nvPr/>
        </p:nvSpPr>
        <p:spPr>
          <a:xfrm>
            <a:off x="6565392" y="2212848"/>
            <a:ext cx="480060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EN JAVA</a:t>
            </a:r>
            <a:endParaRPr lang="en-US" sz="1050" dirty="0"/>
          </a:p>
        </p:txBody>
      </p:sp>
      <p:sp>
        <p:nvSpPr>
          <p:cNvPr id="10" name="Text 8"/>
          <p:cNvSpPr/>
          <p:nvPr/>
        </p:nvSpPr>
        <p:spPr>
          <a:xfrm>
            <a:off x="6565392" y="2542032"/>
            <a:ext cx="4800600" cy="548640"/>
          </a:xfrm>
          <a:prstGeom prst="rect">
            <a:avLst/>
          </a:prstGeom>
          <a:noFill/>
          <a:ln/>
        </p:spPr>
        <p:txBody>
          <a:bodyPr wrap="square" lIns="0" tIns="0" rIns="0" bIns="0" rtlCol="0" anchor="ctr"/>
          <a:lstStyle/>
          <a:p>
            <a:pPr marL="0" indent="0">
              <a:buNone/>
            </a:pPr>
            <a:r>
              <a:rPr lang="en-US" sz="1500" b="1" dirty="0">
                <a:solidFill>
                  <a:srgbClr val="13294B"/>
                </a:solidFill>
                <a:latin typeface="Courier New" pitchFamily="34" charset="0"/>
                <a:ea typeface="Courier New" pitchFamily="34" charset="-122"/>
                <a:cs typeface="Courier New" pitchFamily="34" charset="-120"/>
              </a:rPr>
              <a:t>double area = largo * ancho;</a:t>
            </a:r>
            <a:endParaRPr lang="en-US" sz="1500" dirty="0"/>
          </a:p>
        </p:txBody>
      </p:sp>
      <p:sp>
        <p:nvSpPr>
          <p:cNvPr id="11" name="Shape 9"/>
          <p:cNvSpPr/>
          <p:nvPr/>
        </p:nvSpPr>
        <p:spPr>
          <a:xfrm>
            <a:off x="548640" y="3639312"/>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12" name="Shape 10"/>
          <p:cNvSpPr/>
          <p:nvPr/>
        </p:nvSpPr>
        <p:spPr>
          <a:xfrm>
            <a:off x="786384" y="3785616"/>
            <a:ext cx="402336" cy="402336"/>
          </a:xfrm>
          <a:prstGeom prst="ellipse">
            <a:avLst/>
          </a:prstGeom>
          <a:solidFill>
            <a:srgbClr val="1C7293"/>
          </a:solidFill>
          <a:ln w="12700">
            <a:solidFill>
              <a:srgbClr val="1C7293"/>
            </a:solidFill>
            <a:prstDash val="solid"/>
          </a:ln>
        </p:spPr>
        <p:txBody>
          <a:bodyPr/>
          <a:lstStyle/>
          <a:p>
            <a:endParaRPr lang="es-CO"/>
          </a:p>
        </p:txBody>
      </p:sp>
      <p:sp>
        <p:nvSpPr>
          <p:cNvPr id="13" name="Text 11"/>
          <p:cNvSpPr/>
          <p:nvPr/>
        </p:nvSpPr>
        <p:spPr>
          <a:xfrm>
            <a:off x="786384" y="378561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2"/>
          <p:cNvSpPr/>
          <p:nvPr/>
        </p:nvSpPr>
        <p:spPr>
          <a:xfrm>
            <a:off x="1371600" y="3694176"/>
            <a:ext cx="49377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signo igual no significa «es igual a»</a:t>
            </a:r>
            <a:endParaRPr lang="en-US" sz="1300" dirty="0"/>
          </a:p>
        </p:txBody>
      </p:sp>
      <p:sp>
        <p:nvSpPr>
          <p:cNvPr id="15" name="Text 13"/>
          <p:cNvSpPr/>
          <p:nvPr/>
        </p:nvSpPr>
        <p:spPr>
          <a:xfrm>
            <a:off x="1371600" y="3977640"/>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Significa lo mismo que la flecha: toma el valor de. Se lee de derecha a izquierda.</a:t>
            </a:r>
            <a:endParaRPr lang="en-US" sz="1150" dirty="0"/>
          </a:p>
        </p:txBody>
      </p:sp>
      <p:sp>
        <p:nvSpPr>
          <p:cNvPr id="16" name="Shape 14"/>
          <p:cNvSpPr/>
          <p:nvPr/>
        </p:nvSpPr>
        <p:spPr>
          <a:xfrm>
            <a:off x="548640" y="4370832"/>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17" name="Shape 15"/>
          <p:cNvSpPr/>
          <p:nvPr/>
        </p:nvSpPr>
        <p:spPr>
          <a:xfrm>
            <a:off x="786384" y="4517136"/>
            <a:ext cx="402336" cy="402336"/>
          </a:xfrm>
          <a:prstGeom prst="ellipse">
            <a:avLst/>
          </a:prstGeom>
          <a:solidFill>
            <a:srgbClr val="1C7293"/>
          </a:solidFill>
          <a:ln w="12700">
            <a:solidFill>
              <a:srgbClr val="1C7293"/>
            </a:solidFill>
            <a:prstDash val="solid"/>
          </a:ln>
        </p:spPr>
        <p:txBody>
          <a:bodyPr/>
          <a:lstStyle/>
          <a:p>
            <a:endParaRPr lang="es-CO"/>
          </a:p>
        </p:txBody>
      </p:sp>
      <p:sp>
        <p:nvSpPr>
          <p:cNvPr id="18" name="Text 16"/>
          <p:cNvSpPr/>
          <p:nvPr/>
        </p:nvSpPr>
        <p:spPr>
          <a:xfrm>
            <a:off x="786384" y="45171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1371600" y="4425696"/>
            <a:ext cx="49377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Cada instrucción termina en punto y coma</a:t>
            </a:r>
            <a:endParaRPr lang="en-US" sz="1300" dirty="0"/>
          </a:p>
        </p:txBody>
      </p:sp>
      <p:sp>
        <p:nvSpPr>
          <p:cNvPr id="20" name="Text 18"/>
          <p:cNvSpPr/>
          <p:nvPr/>
        </p:nvSpPr>
        <p:spPr>
          <a:xfrm>
            <a:off x="1371600" y="4709160"/>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El punto y coma le dice a Java dónde acaba una orden y empieza la siguiente.</a:t>
            </a:r>
            <a:endParaRPr lang="en-US" sz="1150" dirty="0"/>
          </a:p>
        </p:txBody>
      </p:sp>
      <p:sp>
        <p:nvSpPr>
          <p:cNvPr id="21" name="Shape 19"/>
          <p:cNvSpPr/>
          <p:nvPr/>
        </p:nvSpPr>
        <p:spPr>
          <a:xfrm>
            <a:off x="548640" y="5102352"/>
            <a:ext cx="11091672" cy="676656"/>
          </a:xfrm>
          <a:prstGeom prst="roundRect">
            <a:avLst>
              <a:gd name="adj" fmla="val 10811"/>
            </a:avLst>
          </a:prstGeom>
          <a:solidFill>
            <a:srgbClr val="F4F7FB"/>
          </a:solidFill>
          <a:ln w="12700">
            <a:solidFill>
              <a:srgbClr val="F4F7FB"/>
            </a:solidFill>
            <a:prstDash val="solid"/>
          </a:ln>
        </p:spPr>
        <p:txBody>
          <a:bodyPr/>
          <a:lstStyle/>
          <a:p>
            <a:endParaRPr lang="es-CO"/>
          </a:p>
        </p:txBody>
      </p:sp>
      <p:sp>
        <p:nvSpPr>
          <p:cNvPr id="22" name="Shape 20"/>
          <p:cNvSpPr/>
          <p:nvPr/>
        </p:nvSpPr>
        <p:spPr>
          <a:xfrm>
            <a:off x="786384" y="5248656"/>
            <a:ext cx="402336" cy="402336"/>
          </a:xfrm>
          <a:prstGeom prst="ellipse">
            <a:avLst/>
          </a:prstGeom>
          <a:solidFill>
            <a:srgbClr val="1C7293"/>
          </a:solidFill>
          <a:ln w="12700">
            <a:solidFill>
              <a:srgbClr val="1C7293"/>
            </a:solidFill>
            <a:prstDash val="solid"/>
          </a:ln>
        </p:spPr>
        <p:txBody>
          <a:bodyPr/>
          <a:lstStyle/>
          <a:p>
            <a:endParaRPr lang="es-CO"/>
          </a:p>
        </p:txBody>
      </p:sp>
      <p:sp>
        <p:nvSpPr>
          <p:cNvPr id="23" name="Text 21"/>
          <p:cNvSpPr/>
          <p:nvPr/>
        </p:nvSpPr>
        <p:spPr>
          <a:xfrm>
            <a:off x="786384" y="524865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2"/>
          <p:cNvSpPr/>
          <p:nvPr/>
        </p:nvSpPr>
        <p:spPr>
          <a:xfrm>
            <a:off x="1371600" y="5157216"/>
            <a:ext cx="4937760" cy="29260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Se puede declarar y asignar en la misma línea</a:t>
            </a:r>
            <a:endParaRPr lang="en-US" sz="1300" dirty="0"/>
          </a:p>
        </p:txBody>
      </p:sp>
      <p:sp>
        <p:nvSpPr>
          <p:cNvPr id="25" name="Text 23"/>
          <p:cNvSpPr/>
          <p:nvPr/>
        </p:nvSpPr>
        <p:spPr>
          <a:xfrm>
            <a:off x="1371600" y="5440680"/>
            <a:ext cx="9966960" cy="292608"/>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double area = largo * ancho;  reemplaza dos líneas del pseudocódigo por una.</a:t>
            </a:r>
            <a:endParaRPr lang="en-US" sz="1150" dirty="0"/>
          </a:p>
        </p:txBody>
      </p:sp>
      <p:sp>
        <p:nvSpPr>
          <p:cNvPr id="28"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ENTRADA ESTÁNDAR</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Leer datos desde el teclado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Traducir la instrucción Leer cuesta dos líneas de preparación que se escriben una sola vez por programa.</a:t>
            </a:r>
            <a:endParaRPr lang="en-US" sz="1400" dirty="0"/>
          </a:p>
        </p:txBody>
      </p:sp>
      <p:sp>
        <p:nvSpPr>
          <p:cNvPr id="5" name="Shape 3"/>
          <p:cNvSpPr/>
          <p:nvPr/>
        </p:nvSpPr>
        <p:spPr>
          <a:xfrm>
            <a:off x="548640" y="2011680"/>
            <a:ext cx="5532120" cy="1737360"/>
          </a:xfrm>
          <a:prstGeom prst="roundRect">
            <a:avLst>
              <a:gd name="adj" fmla="val 1579"/>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194560"/>
            <a:ext cx="5020056" cy="1371600"/>
          </a:xfrm>
          <a:prstGeom prst="rect">
            <a:avLst/>
          </a:prstGeom>
          <a:noFill/>
          <a:ln/>
        </p:spPr>
        <p:txBody>
          <a:bodyPr wrap="square" lIns="0" tIns="0" rIns="0" bIns="0" rtlCol="0" anchor="t"/>
          <a:lstStyle/>
          <a:p>
            <a:pPr marL="0" indent="0">
              <a:lnSpc>
                <a:spcPts val="1860"/>
              </a:lnSpc>
              <a:buNone/>
            </a:pPr>
            <a:r>
              <a:rPr lang="en-US" sz="1200" b="1" dirty="0">
                <a:solidFill>
                  <a:srgbClr val="FFB100"/>
                </a:solidFill>
                <a:latin typeface="Courier New" pitchFamily="34" charset="0"/>
                <a:ea typeface="Courier New" pitchFamily="34" charset="-122"/>
                <a:cs typeface="Courier New" pitchFamily="34" charset="-120"/>
              </a:rPr>
              <a:t>import </a:t>
            </a:r>
            <a:r>
              <a:rPr lang="en-US" sz="1200" dirty="0">
                <a:solidFill>
                  <a:srgbClr val="E8EEF4"/>
                </a:solidFill>
                <a:latin typeface="Courier New" pitchFamily="34" charset="0"/>
                <a:ea typeface="Courier New" pitchFamily="34" charset="-122"/>
                <a:cs typeface="Courier New" pitchFamily="34" charset="-120"/>
              </a:rPr>
              <a:t>java.util.Scanner;</a:t>
            </a:r>
            <a:endParaRPr lang="en-US" sz="1200" dirty="0"/>
          </a:p>
          <a:p>
            <a:pPr marL="0" indent="0">
              <a:lnSpc>
                <a:spcPts val="1860"/>
              </a:lnSpc>
              <a:buNone/>
            </a:pPr>
            <a:endParaRPr lang="en-US" sz="1200" dirty="0"/>
          </a:p>
          <a:p>
            <a:pPr marL="0" indent="0">
              <a:lnSpc>
                <a:spcPts val="1860"/>
              </a:lnSpc>
              <a:buNone/>
            </a:pPr>
            <a:r>
              <a:rPr lang="en-US" sz="1200" dirty="0">
                <a:solidFill>
                  <a:srgbClr val="E8EEF4"/>
                </a:solidFill>
                <a:latin typeface="Courier New" pitchFamily="34" charset="0"/>
                <a:ea typeface="Courier New" pitchFamily="34" charset="-122"/>
                <a:cs typeface="Courier New" pitchFamily="34" charset="-120"/>
              </a:rPr>
              <a:t>Scanner teclado = new Scanner(System.in);</a:t>
            </a:r>
            <a:endParaRPr lang="en-US" sz="1200" dirty="0"/>
          </a:p>
          <a:p>
            <a:pPr marL="0" indent="0">
              <a:lnSpc>
                <a:spcPts val="1860"/>
              </a:lnSpc>
              <a:buNone/>
            </a:pPr>
            <a:endParaRPr lang="en-US" sz="1200" dirty="0"/>
          </a:p>
          <a:p>
            <a:pPr marL="0" indent="0">
              <a:lnSpc>
                <a:spcPts val="1860"/>
              </a:lnSpc>
              <a:buNone/>
            </a:pPr>
            <a:r>
              <a:rPr lang="en-US" sz="1200" dirty="0">
                <a:solidFill>
                  <a:srgbClr val="E8EEF4"/>
                </a:solidFill>
                <a:latin typeface="Courier New" pitchFamily="34" charset="0"/>
                <a:ea typeface="Courier New" pitchFamily="34" charset="-122"/>
                <a:cs typeface="Courier New" pitchFamily="34" charset="-120"/>
              </a:rPr>
              <a:t>int largo = teclado.nextInt();</a:t>
            </a:r>
            <a:endParaRPr lang="en-US" sz="1200" dirty="0"/>
          </a:p>
        </p:txBody>
      </p:sp>
      <p:sp>
        <p:nvSpPr>
          <p:cNvPr id="7" name="Shape 5"/>
          <p:cNvSpPr/>
          <p:nvPr/>
        </p:nvSpPr>
        <p:spPr>
          <a:xfrm>
            <a:off x="6492240" y="2011680"/>
            <a:ext cx="5148072" cy="804672"/>
          </a:xfrm>
          <a:prstGeom prst="roundRect">
            <a:avLst>
              <a:gd name="adj" fmla="val 9091"/>
            </a:avLst>
          </a:prstGeom>
          <a:solidFill>
            <a:srgbClr val="E8EEF4"/>
          </a:solidFill>
          <a:ln w="12700">
            <a:solidFill>
              <a:srgbClr val="E8EEF4"/>
            </a:solidFill>
            <a:prstDash val="solid"/>
          </a:ln>
        </p:spPr>
        <p:txBody>
          <a:bodyPr/>
          <a:lstStyle/>
          <a:p>
            <a:endParaRPr lang="es-CO"/>
          </a:p>
        </p:txBody>
      </p:sp>
      <p:sp>
        <p:nvSpPr>
          <p:cNvPr id="8" name="Text 6"/>
          <p:cNvSpPr/>
          <p:nvPr/>
        </p:nvSpPr>
        <p:spPr>
          <a:xfrm>
            <a:off x="6766560" y="2011680"/>
            <a:ext cx="4617720" cy="804672"/>
          </a:xfrm>
          <a:prstGeom prst="rect">
            <a:avLst/>
          </a:prstGeom>
          <a:noFill/>
          <a:ln/>
        </p:spPr>
        <p:txBody>
          <a:bodyPr wrap="square" lIns="0" tIns="0" rIns="0" bIns="0"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La línea del import va arriba de todo, antes de la clase. Le avisa a Java que vas a usar el Scanner.</a:t>
            </a:r>
            <a:endParaRPr lang="en-US" sz="1200" dirty="0"/>
          </a:p>
        </p:txBody>
      </p:sp>
      <p:sp>
        <p:nvSpPr>
          <p:cNvPr id="9" name="Shape 7"/>
          <p:cNvSpPr/>
          <p:nvPr/>
        </p:nvSpPr>
        <p:spPr>
          <a:xfrm>
            <a:off x="6492240" y="2944368"/>
            <a:ext cx="5148072" cy="804672"/>
          </a:xfrm>
          <a:prstGeom prst="roundRect">
            <a:avLst>
              <a:gd name="adj" fmla="val 9091"/>
            </a:avLst>
          </a:prstGeom>
          <a:solidFill>
            <a:srgbClr val="E8EEF4"/>
          </a:solidFill>
          <a:ln w="12700">
            <a:solidFill>
              <a:srgbClr val="E8EEF4"/>
            </a:solidFill>
            <a:prstDash val="solid"/>
          </a:ln>
        </p:spPr>
        <p:txBody>
          <a:bodyPr/>
          <a:lstStyle/>
          <a:p>
            <a:endParaRPr lang="es-CO"/>
          </a:p>
        </p:txBody>
      </p:sp>
      <p:sp>
        <p:nvSpPr>
          <p:cNvPr id="10" name="Text 8"/>
          <p:cNvSpPr/>
          <p:nvPr/>
        </p:nvSpPr>
        <p:spPr>
          <a:xfrm>
            <a:off x="6766560" y="2944368"/>
            <a:ext cx="4617720" cy="804672"/>
          </a:xfrm>
          <a:prstGeom prst="rect">
            <a:avLst/>
          </a:prstGeom>
          <a:noFill/>
          <a:ln/>
        </p:spPr>
        <p:txBody>
          <a:bodyPr wrap="square" lIns="0" tIns="0" rIns="0" bIns="0" rtlCol="0" anchor="ctr"/>
          <a:lstStyle/>
          <a:p>
            <a:pPr marL="0" indent="0">
              <a:lnSpc>
                <a:spcPts val="1600"/>
              </a:lnSpc>
              <a:buNone/>
            </a:pPr>
            <a:r>
              <a:rPr lang="en-US" sz="1200" dirty="0">
                <a:solidFill>
                  <a:srgbClr val="1A1A2E"/>
                </a:solidFill>
                <a:latin typeface="Calibri" pitchFamily="34" charset="0"/>
                <a:ea typeface="Calibri" pitchFamily="34" charset="-122"/>
                <a:cs typeface="Calibri" pitchFamily="34" charset="-120"/>
              </a:rPr>
              <a:t>La línea del Scanner se escribe una sola vez, dentro de main. El nombre </a:t>
            </a:r>
            <a:r>
              <a:rPr lang="en-US" sz="1200" b="1" dirty="0">
                <a:solidFill>
                  <a:srgbClr val="13294B"/>
                </a:solidFill>
                <a:latin typeface="Courier New" pitchFamily="34" charset="0"/>
                <a:ea typeface="Courier New" pitchFamily="34" charset="-122"/>
                <a:cs typeface="Courier New" pitchFamily="34" charset="-120"/>
              </a:rPr>
              <a:t>teclado</a:t>
            </a:r>
            <a:r>
              <a:rPr lang="en-US" sz="1200" dirty="0">
                <a:solidFill>
                  <a:srgbClr val="1A1A2E"/>
                </a:solidFill>
                <a:latin typeface="Calibri" pitchFamily="34" charset="0"/>
                <a:ea typeface="Calibri" pitchFamily="34" charset="-122"/>
                <a:cs typeface="Calibri" pitchFamily="34" charset="-120"/>
              </a:rPr>
              <a:t> lo elegimos nosotros.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1672" cy="1261872"/>
        </p:xfrm>
        <a:graphic>
          <a:graphicData uri="http://schemas.openxmlformats.org/drawingml/2006/table">
            <a:tbl>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605272">
                  <a:extLst>
                    <a:ext uri="{9D8B030D-6E8A-4147-A177-3AD203B41FA5}">
                      <a16:colId xmlns:a16="http://schemas.microsoft.com/office/drawing/2014/main" val="20002"/>
                    </a:ext>
                  </a:extLst>
                </a:gridCol>
              </a:tblGrid>
              <a:tr h="42062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 el dato es…</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 lee con</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Ejemplo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Un número entero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C7293"/>
                          </a:solidFill>
                          <a:latin typeface="Courier New" pitchFamily="34" charset="0"/>
                          <a:ea typeface="Courier New" pitchFamily="34" charset="-122"/>
                          <a:cs typeface="Courier New" pitchFamily="34" charset="-120"/>
                        </a:rPr>
                        <a:t>nextInt()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 largo = teclado.nextInt();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Una palabra sin espacios</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C7293"/>
                          </a:solidFill>
                          <a:latin typeface="Courier New" pitchFamily="34" charset="0"/>
                          <a:ea typeface="Courier New" pitchFamily="34" charset="-122"/>
                          <a:cs typeface="Courier New" pitchFamily="34" charset="-120"/>
                        </a:rPr>
                        <a:t>next()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String nombre = teclado.next();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Shape 9"/>
          <p:cNvSpPr/>
          <p:nvPr/>
        </p:nvSpPr>
        <p:spPr>
          <a:xfrm>
            <a:off x="548640" y="5376672"/>
            <a:ext cx="11091672" cy="822960"/>
          </a:xfrm>
          <a:prstGeom prst="roundRect">
            <a:avLst>
              <a:gd name="adj" fmla="val 8889"/>
            </a:avLst>
          </a:prstGeom>
          <a:solidFill>
            <a:srgbClr val="FFF4DE"/>
          </a:solidFill>
          <a:ln w="12700">
            <a:solidFill>
              <a:srgbClr val="FFF4DE"/>
            </a:solidFill>
            <a:prstDash val="solid"/>
          </a:ln>
        </p:spPr>
        <p:txBody>
          <a:bodyPr/>
          <a:lstStyle/>
          <a:p>
            <a:endParaRPr lang="es-CO"/>
          </a:p>
        </p:txBody>
      </p:sp>
      <p:sp>
        <p:nvSpPr>
          <p:cNvPr id="13" name="Text 10"/>
          <p:cNvSpPr/>
          <p:nvPr/>
        </p:nvSpPr>
        <p:spPr>
          <a:xfrm>
            <a:off x="859536" y="5376672"/>
            <a:ext cx="10469880" cy="822960"/>
          </a:xfrm>
          <a:prstGeom prst="rect">
            <a:avLst/>
          </a:prstGeom>
          <a:noFill/>
          <a:ln/>
        </p:spPr>
        <p:txBody>
          <a:bodyPr wrap="square" lIns="0" tIns="0" rIns="0" bIns="0" rtlCol="0" anchor="ctr"/>
          <a:lstStyle/>
          <a:p>
            <a:pPr marL="0" indent="0">
              <a:lnSpc>
                <a:spcPts val="1700"/>
              </a:lnSpc>
              <a:buNone/>
            </a:pPr>
            <a:r>
              <a:rPr lang="en-US" sz="1250" b="1" dirty="0">
                <a:solidFill>
                  <a:srgbClr val="B07800"/>
                </a:solidFill>
                <a:latin typeface="Calibri" pitchFamily="34" charset="0"/>
                <a:ea typeface="Calibri" pitchFamily="34" charset="-122"/>
                <a:cs typeface="Calibri" pitchFamily="34" charset="-120"/>
              </a:rPr>
              <a:t>Antes de cada lectura, un print que diga qué se está pidiendo.  </a:t>
            </a:r>
            <a:r>
              <a:rPr lang="en-US" sz="1250" dirty="0">
                <a:solidFill>
                  <a:srgbClr val="1A1A2E"/>
                </a:solidFill>
                <a:latin typeface="Calibri" pitchFamily="34" charset="0"/>
                <a:ea typeface="Calibri" pitchFamily="34" charset="-122"/>
                <a:cs typeface="Calibri" pitchFamily="34" charset="-120"/>
              </a:rPr>
              <a:t>Sin él, el programa se queda esperando con la pantalla en blanco y el usuario no sabe qué escribir. Es la misma idea de la regla de oro de la salida.</a:t>
            </a:r>
            <a:endParaRPr lang="en-US" sz="1250" dirty="0"/>
          </a:p>
        </p:txBody>
      </p:sp>
      <p:sp>
        <p:nvSpPr>
          <p:cNvPr id="14" name="Text 11"/>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11</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LO QUE CABE EN UNA ASIGNACIÓN</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Tres operaciones para calcular</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Además de sumar y restar, hay tres operaciones que resuelven casi todos los enunciados de esta sesión.</a:t>
            </a:r>
            <a:endParaRPr lang="en-US" sz="1400" dirty="0"/>
          </a:p>
        </p:txBody>
      </p:sp>
      <p:sp>
        <p:nvSpPr>
          <p:cNvPr id="5" name="Shape 3"/>
          <p:cNvSpPr/>
          <p:nvPr/>
        </p:nvSpPr>
        <p:spPr>
          <a:xfrm>
            <a:off x="548640" y="1975104"/>
            <a:ext cx="3520440" cy="1060704"/>
          </a:xfrm>
          <a:prstGeom prst="roundRect">
            <a:avLst>
              <a:gd name="adj" fmla="val 6897"/>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731520" y="2139696"/>
            <a:ext cx="713232" cy="731520"/>
          </a:xfrm>
          <a:prstGeom prst="roundRect">
            <a:avLst>
              <a:gd name="adj" fmla="val 7692"/>
            </a:avLst>
          </a:prstGeom>
          <a:solidFill>
            <a:srgbClr val="13294B"/>
          </a:solidFill>
          <a:ln w="12700">
            <a:solidFill>
              <a:srgbClr val="13294B"/>
            </a:solidFill>
            <a:prstDash val="solid"/>
          </a:ln>
        </p:spPr>
        <p:txBody>
          <a:bodyPr/>
          <a:lstStyle/>
          <a:p>
            <a:endParaRPr lang="es-CO"/>
          </a:p>
        </p:txBody>
      </p:sp>
      <p:sp>
        <p:nvSpPr>
          <p:cNvPr id="7" name="Text 5"/>
          <p:cNvSpPr/>
          <p:nvPr/>
        </p:nvSpPr>
        <p:spPr>
          <a:xfrm>
            <a:off x="731520" y="2139696"/>
            <a:ext cx="713232" cy="731520"/>
          </a:xfrm>
          <a:prstGeom prst="rect">
            <a:avLst/>
          </a:prstGeom>
          <a:noFill/>
          <a:ln/>
        </p:spPr>
        <p:txBody>
          <a:bodyPr wrap="square" lIns="0" tIns="0" rIns="0" bIns="0" rtlCol="0" anchor="ctr"/>
          <a:lstStyle/>
          <a:p>
            <a:pPr marL="0" indent="0" algn="ctr">
              <a:buNone/>
            </a:pPr>
            <a:r>
              <a:rPr lang="en-US" sz="2200" b="1" dirty="0">
                <a:solidFill>
                  <a:srgbClr val="FFB100"/>
                </a:solidFill>
                <a:latin typeface="Courier New" pitchFamily="34" charset="0"/>
                <a:ea typeface="Courier New" pitchFamily="34" charset="-122"/>
                <a:cs typeface="Courier New" pitchFamily="34" charset="-120"/>
              </a:rPr>
              <a:t>*</a:t>
            </a:r>
            <a:endParaRPr lang="en-US" sz="2200" dirty="0"/>
          </a:p>
        </p:txBody>
      </p:sp>
      <p:sp>
        <p:nvSpPr>
          <p:cNvPr id="8" name="Text 6"/>
          <p:cNvSpPr/>
          <p:nvPr/>
        </p:nvSpPr>
        <p:spPr>
          <a:xfrm>
            <a:off x="1572768" y="2103120"/>
            <a:ext cx="2286000" cy="292608"/>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Producto</a:t>
            </a:r>
            <a:endParaRPr lang="en-US" sz="1350" dirty="0"/>
          </a:p>
        </p:txBody>
      </p:sp>
      <p:sp>
        <p:nvSpPr>
          <p:cNvPr id="9" name="Text 7"/>
          <p:cNvSpPr/>
          <p:nvPr/>
        </p:nvSpPr>
        <p:spPr>
          <a:xfrm>
            <a:off x="1572768" y="2432304"/>
            <a:ext cx="2377440" cy="310896"/>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largo * ancho</a:t>
            </a:r>
            <a:r>
              <a:rPr lang="en-US" sz="1100" dirty="0">
                <a:solidFill>
                  <a:srgbClr val="5B6B7C"/>
                </a:solidFill>
                <a:latin typeface="Calibri" pitchFamily="34" charset="0"/>
                <a:ea typeface="Calibri" pitchFamily="34" charset="-122"/>
                <a:cs typeface="Calibri" pitchFamily="34" charset="-120"/>
              </a:rPr>
              <a:t>  →  </a:t>
            </a:r>
            <a:r>
              <a:rPr lang="en-US" sz="1300" b="1" dirty="0">
                <a:solidFill>
                  <a:srgbClr val="B07800"/>
                </a:solidFill>
                <a:latin typeface="Courier New" pitchFamily="34" charset="0"/>
                <a:ea typeface="Courier New" pitchFamily="34" charset="-122"/>
                <a:cs typeface="Courier New" pitchFamily="34" charset="-120"/>
              </a:rPr>
              <a:t>63</a:t>
            </a:r>
            <a:endParaRPr lang="en-US" sz="1200" dirty="0"/>
          </a:p>
        </p:txBody>
      </p:sp>
      <p:sp>
        <p:nvSpPr>
          <p:cNvPr id="10" name="Shape 8"/>
          <p:cNvSpPr/>
          <p:nvPr/>
        </p:nvSpPr>
        <p:spPr>
          <a:xfrm>
            <a:off x="4306824" y="1975104"/>
            <a:ext cx="3520440" cy="1060704"/>
          </a:xfrm>
          <a:prstGeom prst="roundRect">
            <a:avLst>
              <a:gd name="adj" fmla="val 6897"/>
            </a:avLst>
          </a:prstGeom>
          <a:solidFill>
            <a:srgbClr val="F4F7FB"/>
          </a:solidFill>
          <a:ln w="12700">
            <a:solidFill>
              <a:srgbClr val="F4F7FB"/>
            </a:solidFill>
            <a:prstDash val="solid"/>
          </a:ln>
        </p:spPr>
        <p:txBody>
          <a:bodyPr/>
          <a:lstStyle/>
          <a:p>
            <a:endParaRPr lang="es-CO"/>
          </a:p>
        </p:txBody>
      </p:sp>
      <p:sp>
        <p:nvSpPr>
          <p:cNvPr id="11" name="Shape 9"/>
          <p:cNvSpPr/>
          <p:nvPr/>
        </p:nvSpPr>
        <p:spPr>
          <a:xfrm>
            <a:off x="4489704" y="2139696"/>
            <a:ext cx="713232" cy="731520"/>
          </a:xfrm>
          <a:prstGeom prst="roundRect">
            <a:avLst>
              <a:gd name="adj" fmla="val 7692"/>
            </a:avLst>
          </a:prstGeom>
          <a:solidFill>
            <a:srgbClr val="13294B"/>
          </a:solidFill>
          <a:ln w="12700">
            <a:solidFill>
              <a:srgbClr val="13294B"/>
            </a:solidFill>
            <a:prstDash val="solid"/>
          </a:ln>
        </p:spPr>
        <p:txBody>
          <a:bodyPr/>
          <a:lstStyle/>
          <a:p>
            <a:endParaRPr lang="es-CO"/>
          </a:p>
        </p:txBody>
      </p:sp>
      <p:sp>
        <p:nvSpPr>
          <p:cNvPr id="12" name="Text 10"/>
          <p:cNvSpPr/>
          <p:nvPr/>
        </p:nvSpPr>
        <p:spPr>
          <a:xfrm>
            <a:off x="4489704" y="2139696"/>
            <a:ext cx="713232" cy="731520"/>
          </a:xfrm>
          <a:prstGeom prst="rect">
            <a:avLst/>
          </a:prstGeom>
          <a:noFill/>
          <a:ln/>
        </p:spPr>
        <p:txBody>
          <a:bodyPr wrap="square" lIns="0" tIns="0" rIns="0" bIns="0" rtlCol="0" anchor="ctr"/>
          <a:lstStyle/>
          <a:p>
            <a:pPr marL="0" indent="0" algn="ctr">
              <a:buNone/>
            </a:pPr>
            <a:r>
              <a:rPr lang="en-US" sz="2200" b="1" dirty="0">
                <a:solidFill>
                  <a:srgbClr val="FFB100"/>
                </a:solidFill>
                <a:latin typeface="Courier New" pitchFamily="34" charset="0"/>
                <a:ea typeface="Courier New" pitchFamily="34" charset="-122"/>
                <a:cs typeface="Courier New" pitchFamily="34" charset="-120"/>
              </a:rPr>
              <a:t>/</a:t>
            </a:r>
            <a:endParaRPr lang="en-US" sz="2200" dirty="0"/>
          </a:p>
        </p:txBody>
      </p:sp>
      <p:sp>
        <p:nvSpPr>
          <p:cNvPr id="13" name="Text 11"/>
          <p:cNvSpPr/>
          <p:nvPr/>
        </p:nvSpPr>
        <p:spPr>
          <a:xfrm>
            <a:off x="5330952" y="2103120"/>
            <a:ext cx="2286000" cy="292608"/>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División</a:t>
            </a:r>
            <a:endParaRPr lang="en-US" sz="1350" dirty="0"/>
          </a:p>
        </p:txBody>
      </p:sp>
      <p:sp>
        <p:nvSpPr>
          <p:cNvPr id="14" name="Text 12"/>
          <p:cNvSpPr/>
          <p:nvPr/>
        </p:nvSpPr>
        <p:spPr>
          <a:xfrm>
            <a:off x="5330952" y="2432304"/>
            <a:ext cx="2377440" cy="310896"/>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20 / 6</a:t>
            </a:r>
            <a:r>
              <a:rPr lang="en-US" sz="1100" dirty="0">
                <a:solidFill>
                  <a:srgbClr val="5B6B7C"/>
                </a:solidFill>
                <a:latin typeface="Calibri" pitchFamily="34" charset="0"/>
                <a:ea typeface="Calibri" pitchFamily="34" charset="-122"/>
                <a:cs typeface="Calibri" pitchFamily="34" charset="-120"/>
              </a:rPr>
              <a:t>  →  </a:t>
            </a:r>
            <a:r>
              <a:rPr lang="en-US" sz="1300" b="1" dirty="0">
                <a:solidFill>
                  <a:srgbClr val="B07800"/>
                </a:solidFill>
                <a:latin typeface="Courier New" pitchFamily="34" charset="0"/>
                <a:ea typeface="Courier New" pitchFamily="34" charset="-122"/>
                <a:cs typeface="Courier New" pitchFamily="34" charset="-120"/>
              </a:rPr>
              <a:t>3</a:t>
            </a:r>
            <a:endParaRPr lang="en-US" sz="1200" dirty="0"/>
          </a:p>
        </p:txBody>
      </p:sp>
      <p:sp>
        <p:nvSpPr>
          <p:cNvPr id="15" name="Shape 13"/>
          <p:cNvSpPr/>
          <p:nvPr/>
        </p:nvSpPr>
        <p:spPr>
          <a:xfrm>
            <a:off x="8065008" y="1975104"/>
            <a:ext cx="3520440" cy="1060704"/>
          </a:xfrm>
          <a:prstGeom prst="roundRect">
            <a:avLst>
              <a:gd name="adj" fmla="val 6897"/>
            </a:avLst>
          </a:prstGeom>
          <a:solidFill>
            <a:srgbClr val="FFF4DE"/>
          </a:solidFill>
          <a:ln w="12700">
            <a:solidFill>
              <a:srgbClr val="FFF4DE"/>
            </a:solidFill>
            <a:prstDash val="solid"/>
          </a:ln>
        </p:spPr>
        <p:txBody>
          <a:bodyPr/>
          <a:lstStyle/>
          <a:p>
            <a:endParaRPr lang="es-CO"/>
          </a:p>
        </p:txBody>
      </p:sp>
      <p:sp>
        <p:nvSpPr>
          <p:cNvPr id="16" name="Shape 14"/>
          <p:cNvSpPr/>
          <p:nvPr/>
        </p:nvSpPr>
        <p:spPr>
          <a:xfrm>
            <a:off x="8247888" y="2139696"/>
            <a:ext cx="713232" cy="731520"/>
          </a:xfrm>
          <a:prstGeom prst="roundRect">
            <a:avLst>
              <a:gd name="adj" fmla="val 7692"/>
            </a:avLst>
          </a:prstGeom>
          <a:solidFill>
            <a:srgbClr val="13294B"/>
          </a:solidFill>
          <a:ln w="12700">
            <a:solidFill>
              <a:srgbClr val="13294B"/>
            </a:solidFill>
            <a:prstDash val="solid"/>
          </a:ln>
        </p:spPr>
        <p:txBody>
          <a:bodyPr/>
          <a:lstStyle/>
          <a:p>
            <a:endParaRPr lang="es-CO"/>
          </a:p>
        </p:txBody>
      </p:sp>
      <p:sp>
        <p:nvSpPr>
          <p:cNvPr id="17" name="Text 15"/>
          <p:cNvSpPr/>
          <p:nvPr/>
        </p:nvSpPr>
        <p:spPr>
          <a:xfrm>
            <a:off x="8247888" y="2139696"/>
            <a:ext cx="713232" cy="731520"/>
          </a:xfrm>
          <a:prstGeom prst="rect">
            <a:avLst/>
          </a:prstGeom>
          <a:noFill/>
          <a:ln/>
        </p:spPr>
        <p:txBody>
          <a:bodyPr wrap="square" lIns="0" tIns="0" rIns="0" bIns="0" rtlCol="0" anchor="ctr"/>
          <a:lstStyle/>
          <a:p>
            <a:pPr marL="0" indent="0" algn="ctr">
              <a:buNone/>
            </a:pPr>
            <a:r>
              <a:rPr lang="en-US" sz="2200" b="1" dirty="0">
                <a:solidFill>
                  <a:srgbClr val="FFB100"/>
                </a:solidFill>
                <a:latin typeface="Courier New" pitchFamily="34" charset="0"/>
                <a:ea typeface="Courier New" pitchFamily="34" charset="-122"/>
                <a:cs typeface="Courier New" pitchFamily="34" charset="-120"/>
              </a:rPr>
              <a:t>%</a:t>
            </a:r>
            <a:endParaRPr lang="en-US" sz="2200" dirty="0"/>
          </a:p>
        </p:txBody>
      </p:sp>
      <p:sp>
        <p:nvSpPr>
          <p:cNvPr id="18" name="Text 16"/>
          <p:cNvSpPr/>
          <p:nvPr/>
        </p:nvSpPr>
        <p:spPr>
          <a:xfrm>
            <a:off x="9089136" y="2103120"/>
            <a:ext cx="2286000" cy="292608"/>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Residuo</a:t>
            </a:r>
            <a:endParaRPr lang="en-US" sz="1350" dirty="0"/>
          </a:p>
        </p:txBody>
      </p:sp>
      <p:sp>
        <p:nvSpPr>
          <p:cNvPr id="19" name="Text 17"/>
          <p:cNvSpPr/>
          <p:nvPr/>
        </p:nvSpPr>
        <p:spPr>
          <a:xfrm>
            <a:off x="9089136" y="2432304"/>
            <a:ext cx="2377440" cy="310896"/>
          </a:xfrm>
          <a:prstGeom prst="rect">
            <a:avLst/>
          </a:prstGeom>
          <a:noFill/>
          <a:ln/>
        </p:spPr>
        <p:txBody>
          <a:bodyPr wrap="square" lIns="0" tIns="0" rIns="0" bIns="0" rtlCol="0" anchor="ctr"/>
          <a:lstStyle/>
          <a:p>
            <a:pPr marL="0" indent="0">
              <a:buNone/>
            </a:pPr>
            <a:r>
              <a:rPr lang="en-US" sz="1200" b="1" dirty="0">
                <a:solidFill>
                  <a:srgbClr val="1C7293"/>
                </a:solidFill>
                <a:latin typeface="Courier New" pitchFamily="34" charset="0"/>
                <a:ea typeface="Courier New" pitchFamily="34" charset="-122"/>
                <a:cs typeface="Courier New" pitchFamily="34" charset="-120"/>
              </a:rPr>
              <a:t>20 % 6</a:t>
            </a:r>
            <a:r>
              <a:rPr lang="en-US" sz="1100" dirty="0">
                <a:solidFill>
                  <a:srgbClr val="5B6B7C"/>
                </a:solidFill>
                <a:latin typeface="Calibri" pitchFamily="34" charset="0"/>
                <a:ea typeface="Calibri" pitchFamily="34" charset="-122"/>
                <a:cs typeface="Calibri" pitchFamily="34" charset="-120"/>
              </a:rPr>
              <a:t>  →  </a:t>
            </a:r>
            <a:r>
              <a:rPr lang="en-US" sz="1300" b="1" dirty="0">
                <a:solidFill>
                  <a:srgbClr val="B07800"/>
                </a:solidFill>
                <a:latin typeface="Courier New" pitchFamily="34" charset="0"/>
                <a:ea typeface="Courier New" pitchFamily="34" charset="-122"/>
                <a:cs typeface="Courier New" pitchFamily="34" charset="-120"/>
              </a:rPr>
              <a:t>2</a:t>
            </a:r>
            <a:endParaRPr lang="en-US" sz="1200" dirty="0"/>
          </a:p>
        </p:txBody>
      </p:sp>
      <p:pic>
        <p:nvPicPr>
          <p:cNvPr id="20" name="Image 0" descr="/home/claude/s6b/fig/s2_reparto.png"/>
          <p:cNvPicPr>
            <a:picLocks noChangeAspect="1"/>
          </p:cNvPicPr>
          <p:nvPr/>
        </p:nvPicPr>
        <p:blipFill>
          <a:blip r:embed="rId3"/>
          <a:stretch>
            <a:fillRect/>
          </a:stretch>
        </p:blipFill>
        <p:spPr>
          <a:xfrm>
            <a:off x="548640" y="3200400"/>
            <a:ext cx="6949440" cy="2176272"/>
          </a:xfrm>
          <a:prstGeom prst="rect">
            <a:avLst/>
          </a:prstGeom>
        </p:spPr>
      </p:pic>
      <p:sp>
        <p:nvSpPr>
          <p:cNvPr id="21" name="Shape 18"/>
          <p:cNvSpPr/>
          <p:nvPr/>
        </p:nvSpPr>
        <p:spPr>
          <a:xfrm>
            <a:off x="7635240" y="3200400"/>
            <a:ext cx="4005072" cy="1005840"/>
          </a:xfrm>
          <a:prstGeom prst="roundRect">
            <a:avLst>
              <a:gd name="adj" fmla="val 7273"/>
            </a:avLst>
          </a:prstGeom>
          <a:solidFill>
            <a:srgbClr val="E8EEF4"/>
          </a:solidFill>
          <a:ln w="12700">
            <a:solidFill>
              <a:srgbClr val="E8EEF4"/>
            </a:solidFill>
            <a:prstDash val="solid"/>
          </a:ln>
        </p:spPr>
        <p:txBody>
          <a:bodyPr/>
          <a:lstStyle/>
          <a:p>
            <a:endParaRPr lang="es-CO"/>
          </a:p>
        </p:txBody>
      </p:sp>
      <p:sp>
        <p:nvSpPr>
          <p:cNvPr id="22" name="Text 19"/>
          <p:cNvSpPr/>
          <p:nvPr/>
        </p:nvSpPr>
        <p:spPr>
          <a:xfrm>
            <a:off x="7909560" y="3310128"/>
            <a:ext cx="36576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LA DIVISIÓN ENTRE ENTEROS</a:t>
            </a:r>
            <a:endParaRPr lang="en-US" sz="1050" dirty="0"/>
          </a:p>
        </p:txBody>
      </p:sp>
      <p:sp>
        <p:nvSpPr>
          <p:cNvPr id="23" name="Text 20"/>
          <p:cNvSpPr/>
          <p:nvPr/>
        </p:nvSpPr>
        <p:spPr>
          <a:xfrm>
            <a:off x="7909560" y="3584448"/>
            <a:ext cx="3566160" cy="548640"/>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Entrega cuántas veces cabe el segundo en el primero. La parte decimal se descarta.</a:t>
            </a:r>
            <a:endParaRPr lang="en-US" sz="1150" dirty="0"/>
          </a:p>
        </p:txBody>
      </p:sp>
      <p:sp>
        <p:nvSpPr>
          <p:cNvPr id="24" name="Shape 21"/>
          <p:cNvSpPr/>
          <p:nvPr/>
        </p:nvSpPr>
        <p:spPr>
          <a:xfrm>
            <a:off x="7635240" y="4297680"/>
            <a:ext cx="4005072" cy="1078992"/>
          </a:xfrm>
          <a:prstGeom prst="roundRect">
            <a:avLst>
              <a:gd name="adj" fmla="val 6780"/>
            </a:avLst>
          </a:prstGeom>
          <a:solidFill>
            <a:srgbClr val="FFF4DE"/>
          </a:solidFill>
          <a:ln w="12700">
            <a:solidFill>
              <a:srgbClr val="FFF4DE"/>
            </a:solidFill>
            <a:prstDash val="solid"/>
          </a:ln>
        </p:spPr>
        <p:txBody>
          <a:bodyPr/>
          <a:lstStyle/>
          <a:p>
            <a:endParaRPr lang="es-CO"/>
          </a:p>
        </p:txBody>
      </p:sp>
      <p:sp>
        <p:nvSpPr>
          <p:cNvPr id="25" name="Text 22"/>
          <p:cNvSpPr/>
          <p:nvPr/>
        </p:nvSpPr>
        <p:spPr>
          <a:xfrm>
            <a:off x="7909560" y="4407408"/>
            <a:ext cx="365760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EL RESIDUO</a:t>
            </a:r>
            <a:endParaRPr lang="en-US" sz="1050" dirty="0"/>
          </a:p>
        </p:txBody>
      </p:sp>
      <p:sp>
        <p:nvSpPr>
          <p:cNvPr id="26" name="Text 23"/>
          <p:cNvSpPr/>
          <p:nvPr/>
        </p:nvSpPr>
        <p:spPr>
          <a:xfrm>
            <a:off x="7909560" y="4681728"/>
            <a:ext cx="3566160" cy="640080"/>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Entrega lo que sobra después de repartir. Es la pareja de la división: las dos juntas descomponen una cantidad sin perder nada.</a:t>
            </a:r>
            <a:endParaRPr lang="en-US" sz="1150" dirty="0"/>
          </a:p>
        </p:txBody>
      </p:sp>
      <p:sp>
        <p:nvSpPr>
          <p:cNvPr id="27" name="Shape 24"/>
          <p:cNvSpPr/>
          <p:nvPr/>
        </p:nvSpPr>
        <p:spPr>
          <a:xfrm>
            <a:off x="548640" y="5541264"/>
            <a:ext cx="11091672" cy="676656"/>
          </a:xfrm>
          <a:prstGeom prst="roundRect">
            <a:avLst>
              <a:gd name="adj" fmla="val 10811"/>
            </a:avLst>
          </a:prstGeom>
          <a:solidFill>
            <a:srgbClr val="13294B"/>
          </a:solidFill>
          <a:ln w="12700">
            <a:solidFill>
              <a:srgbClr val="13294B"/>
            </a:solidFill>
            <a:prstDash val="solid"/>
          </a:ln>
        </p:spPr>
        <p:txBody>
          <a:bodyPr/>
          <a:lstStyle/>
          <a:p>
            <a:endParaRPr lang="es-CO"/>
          </a:p>
        </p:txBody>
      </p:sp>
      <p:sp>
        <p:nvSpPr>
          <p:cNvPr id="28" name="Text 25"/>
          <p:cNvSpPr/>
          <p:nvPr/>
        </p:nvSpPr>
        <p:spPr>
          <a:xfrm>
            <a:off x="868680" y="5541264"/>
            <a:ext cx="10451592" cy="676656"/>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PARA QUÉ SIRVE EL RESIDUO:  </a:t>
            </a:r>
            <a:r>
              <a:rPr lang="en-US" sz="1350" dirty="0">
                <a:solidFill>
                  <a:srgbClr val="FFFFFF"/>
                </a:solidFill>
                <a:latin typeface="Calibri" pitchFamily="34" charset="0"/>
                <a:ea typeface="Calibri" pitchFamily="34" charset="-122"/>
                <a:cs typeface="Calibri" pitchFamily="34" charset="-120"/>
              </a:rPr>
              <a:t>repartir en partes iguales, separar minutos de horas, saber cuántas unidades quedan sueltas.</a:t>
            </a:r>
            <a:endParaRPr lang="en-US" sz="1350" dirty="0"/>
          </a:p>
        </p:txBody>
      </p:sp>
      <p:sp>
        <p:nvSpPr>
          <p:cNvPr id="29"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12</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pseudocódigo a Java, línea por línea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Con esta correspondencia, cualquier algoritmo secuencial que hayas escrito se convierte en un programa.</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200400"/>
        </p:xfrm>
        <a:graphic>
          <a:graphicData uri="http://schemas.openxmlformats.org/drawingml/2006/table">
            <a:tbl>
              <a:tblPr/>
              <a:tblGrid>
                <a:gridCol w="3017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 pseudocódigo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 Java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Qué cambia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Inicio  …  Fin</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public class X {  main  }</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El programa necesita un envase y un punto de arranque.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entero largo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 largo;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El mismo tipo, con la palabra de Java y punto y coma.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Leer largo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largo = teclado.nextInt();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Hay que decir de qué tipo es el dato que se lee.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area ← largo * ancho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area = largo * ancho;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La flecha se vuelve un signo igual.</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caben ← area / 2</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caben = area / 2;</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La división y el residuo se escriben igual en los dos.</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Escribir "Area: ", area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System.out.println("Area: " + area);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La coma se vuelve un signo más.</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48640" y="5358384"/>
            <a:ext cx="11091672" cy="822960"/>
          </a:xfrm>
          <a:prstGeom prst="roundRect">
            <a:avLst>
              <a:gd name="adj" fmla="val 8889"/>
            </a:avLst>
          </a:prstGeom>
          <a:solidFill>
            <a:srgbClr val="F4F7FB"/>
          </a:solidFill>
          <a:ln w="12700">
            <a:solidFill>
              <a:srgbClr val="F4F7FB"/>
            </a:solidFill>
            <a:prstDash val="solid"/>
          </a:ln>
        </p:spPr>
        <p:txBody>
          <a:bodyPr/>
          <a:lstStyle/>
          <a:p>
            <a:endParaRPr lang="es-CO"/>
          </a:p>
        </p:txBody>
      </p:sp>
      <p:sp>
        <p:nvSpPr>
          <p:cNvPr id="7" name="Text 4"/>
          <p:cNvSpPr/>
          <p:nvPr/>
        </p:nvSpPr>
        <p:spPr>
          <a:xfrm>
            <a:off x="859536" y="5358384"/>
            <a:ext cx="10469880" cy="822960"/>
          </a:xfrm>
          <a:prstGeom prst="rect">
            <a:avLst/>
          </a:prstGeom>
          <a:noFill/>
          <a:ln/>
        </p:spPr>
        <p:txBody>
          <a:bodyPr wrap="square" lIns="0" tIns="0" rIns="0" bIns="0" rtlCol="0" anchor="ctr"/>
          <a:lstStyle/>
          <a:p>
            <a:pPr marL="0" indent="0">
              <a:lnSpc>
                <a:spcPts val="1700"/>
              </a:lnSpc>
              <a:buNone/>
            </a:pPr>
            <a:r>
              <a:rPr lang="en-US" sz="1300" b="1" dirty="0">
                <a:solidFill>
                  <a:srgbClr val="13294B"/>
                </a:solidFill>
                <a:latin typeface="Calibri" pitchFamily="34" charset="0"/>
                <a:ea typeface="Calibri" pitchFamily="34" charset="-122"/>
                <a:cs typeface="Calibri" pitchFamily="34" charset="-120"/>
              </a:rPr>
              <a:t>Esta tabla se copia en el cuaderno y se usa todo el semestre.  </a:t>
            </a:r>
            <a:r>
              <a:rPr lang="en-US" sz="1300" dirty="0">
                <a:solidFill>
                  <a:srgbClr val="1A1A2E"/>
                </a:solidFill>
                <a:latin typeface="Calibri" pitchFamily="34" charset="0"/>
                <a:ea typeface="Calibri" pitchFamily="34" charset="-122"/>
                <a:cs typeface="Calibri" pitchFamily="34" charset="-120"/>
              </a:rPr>
              <a:t>Mientras exista, traducir un algoritmo deja de ser un problema de memoria y pasa a ser un problema de lectura.</a:t>
            </a:r>
            <a:endParaRPr lang="en-US" sz="1300" dirty="0"/>
          </a:p>
        </p:txBody>
      </p:sp>
      <p:sp>
        <p:nvSpPr>
          <p:cNvPr id="8" name="Text 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13</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CASO 1</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salón de clase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El mismo enunciado del arranque, ahora completo. Cuatro resultados salen de dos datos.</a:t>
            </a:r>
            <a:endParaRPr lang="en-US" sz="1400" dirty="0"/>
          </a:p>
        </p:txBody>
      </p:sp>
      <p:sp>
        <p:nvSpPr>
          <p:cNvPr id="5" name="Shape 3"/>
          <p:cNvSpPr/>
          <p:nvPr/>
        </p:nvSpPr>
        <p:spPr>
          <a:xfrm>
            <a:off x="548640" y="1975104"/>
            <a:ext cx="11091672" cy="841248"/>
          </a:xfrm>
          <a:prstGeom prst="roundRect">
            <a:avLst>
              <a:gd name="adj" fmla="val 8696"/>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59536" y="1975104"/>
            <a:ext cx="10515600" cy="841248"/>
          </a:xfrm>
          <a:prstGeom prst="rect">
            <a:avLst/>
          </a:prstGeom>
          <a:noFill/>
          <a:ln/>
        </p:spPr>
        <p:txBody>
          <a:bodyPr wrap="square" lIns="0" tIns="0" rIns="0" bIns="0" rtlCol="0" anchor="ctr"/>
          <a:lstStyle/>
          <a:p>
            <a:pPr marL="0" indent="0">
              <a:lnSpc>
                <a:spcPts val="1700"/>
              </a:lnSpc>
              <a:buNone/>
            </a:pPr>
            <a:r>
              <a:rPr lang="en-US" sz="1250" i="1" dirty="0">
                <a:solidFill>
                  <a:srgbClr val="13294B"/>
                </a:solidFill>
                <a:latin typeface="Calibri" pitchFamily="34" charset="0"/>
                <a:ea typeface="Calibri" pitchFamily="34" charset="-122"/>
                <a:cs typeface="Calibri" pitchFamily="34" charset="-120"/>
              </a:rPr>
              <a:t>«Se quiere saber </a:t>
            </a:r>
            <a:r>
              <a:rPr lang="en-US" sz="1250" i="1" dirty="0" err="1">
                <a:solidFill>
                  <a:srgbClr val="13294B"/>
                </a:solidFill>
                <a:latin typeface="Calibri" pitchFamily="34" charset="0"/>
                <a:ea typeface="Calibri" pitchFamily="34" charset="-122"/>
                <a:cs typeface="Calibri" pitchFamily="34" charset="-120"/>
              </a:rPr>
              <a:t>cuánta</a:t>
            </a:r>
            <a:r>
              <a:rPr lang="en-US" sz="1250" i="1" dirty="0">
                <a:solidFill>
                  <a:srgbClr val="13294B"/>
                </a:solidFill>
                <a:latin typeface="Calibri" pitchFamily="34" charset="0"/>
                <a:ea typeface="Calibri" pitchFamily="34" charset="-122"/>
                <a:cs typeface="Calibri" pitchFamily="34" charset="-120"/>
              </a:rPr>
              <a:t> </a:t>
            </a:r>
            <a:r>
              <a:rPr lang="en-US" sz="1250" i="1" dirty="0" err="1">
                <a:solidFill>
                  <a:srgbClr val="13294B"/>
                </a:solidFill>
                <a:latin typeface="Calibri" pitchFamily="34" charset="0"/>
                <a:ea typeface="Calibri" pitchFamily="34" charset="-122"/>
                <a:cs typeface="Calibri" pitchFamily="34" charset="-120"/>
              </a:rPr>
              <a:t>gente</a:t>
            </a:r>
            <a:r>
              <a:rPr lang="en-US" sz="1250" i="1" dirty="0">
                <a:solidFill>
                  <a:srgbClr val="13294B"/>
                </a:solidFill>
                <a:latin typeface="Calibri" pitchFamily="34" charset="0"/>
                <a:ea typeface="Calibri" pitchFamily="34" charset="-122"/>
                <a:cs typeface="Calibri" pitchFamily="34" charset="-120"/>
              </a:rPr>
              <a:t> cabe en un salón. Se conocen el largo y el ancho del salón, en metros enteros. Cada estudiante necesita 2 metros cuadrados. Se necesita reportar el área del salón, su perímetro, cuántos estudiantes caben y cuántos metros cuadrados quedan libres.»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787948849"/>
              </p:ext>
            </p:extLst>
          </p:nvPr>
        </p:nvGraphicFramePr>
        <p:xfrm>
          <a:off x="1074851" y="2898648"/>
          <a:ext cx="5148072"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73352">
                  <a:extLst>
                    <a:ext uri="{9D8B030D-6E8A-4147-A177-3AD203B41FA5}">
                      <a16:colId xmlns:a16="http://schemas.microsoft.com/office/drawing/2014/main" val="20002"/>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Tipo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¿Constante?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largo, ancho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area, perimetro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caben, libres</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2 metros por persona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int</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b="1" dirty="0">
                          <a:solidFill>
                            <a:srgbClr val="B07800"/>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7"/>
          <p:cNvSpPr/>
          <p:nvPr/>
        </p:nvSpPr>
        <p:spPr>
          <a:xfrm>
            <a:off x="6492240" y="3646386"/>
            <a:ext cx="5148072" cy="694944"/>
          </a:xfrm>
          <a:prstGeom prst="roundRect">
            <a:avLst>
              <a:gd name="adj" fmla="val 10526"/>
            </a:avLst>
          </a:prstGeom>
          <a:solidFill>
            <a:srgbClr val="FFF4DE"/>
          </a:solidFill>
          <a:ln w="12700">
            <a:solidFill>
              <a:srgbClr val="FFF4DE"/>
            </a:solidFill>
            <a:prstDash val="solid"/>
          </a:ln>
        </p:spPr>
        <p:txBody>
          <a:bodyPr/>
          <a:lstStyle/>
          <a:p>
            <a:endParaRPr lang="es-CO"/>
          </a:p>
        </p:txBody>
      </p:sp>
      <p:sp>
        <p:nvSpPr>
          <p:cNvPr id="11" name="Text 8"/>
          <p:cNvSpPr/>
          <p:nvPr/>
        </p:nvSpPr>
        <p:spPr>
          <a:xfrm>
            <a:off x="6766560" y="3646386"/>
            <a:ext cx="4617720" cy="694944"/>
          </a:xfrm>
          <a:prstGeom prst="rect">
            <a:avLst/>
          </a:prstGeom>
          <a:noFill/>
          <a:ln/>
        </p:spPr>
        <p:txBody>
          <a:bodyPr wrap="square" lIns="0" tIns="0" rIns="0" bIns="0" rtlCol="0" anchor="ctr"/>
          <a:lstStyle/>
          <a:p>
            <a:pPr marL="0" indent="0">
              <a:lnSpc>
                <a:spcPts val="1500"/>
              </a:lnSpc>
              <a:buNone/>
            </a:pPr>
            <a:r>
              <a:rPr lang="en-US" sz="1150" b="1" dirty="0">
                <a:solidFill>
                  <a:srgbClr val="B07800"/>
                </a:solidFill>
                <a:latin typeface="Calibri" pitchFamily="34" charset="0"/>
                <a:ea typeface="Calibri" pitchFamily="34" charset="-122"/>
                <a:cs typeface="Calibri" pitchFamily="34" charset="-120"/>
              </a:rPr>
              <a:t>Los cuatro resultados son enteros. </a:t>
            </a:r>
            <a:r>
              <a:rPr lang="en-US" sz="1150" dirty="0">
                <a:solidFill>
                  <a:srgbClr val="1A1A2E"/>
                </a:solidFill>
                <a:latin typeface="Calibri" pitchFamily="34" charset="0"/>
                <a:ea typeface="Calibri" pitchFamily="34" charset="-122"/>
                <a:cs typeface="Calibri" pitchFamily="34" charset="-120"/>
              </a:rPr>
              <a:t>Nadie cabe por partes: por eso la división es entera y el resto son metros libres.</a:t>
            </a:r>
            <a:endParaRPr lang="en-US" sz="1150" dirty="0"/>
          </a:p>
        </p:txBody>
      </p:sp>
      <p:sp>
        <p:nvSpPr>
          <p:cNvPr id="13" name="Text 10"/>
          <p:cNvSpPr/>
          <p:nvPr/>
        </p:nvSpPr>
        <p:spPr>
          <a:xfrm>
            <a:off x="868680" y="5779008"/>
            <a:ext cx="10451592" cy="475488"/>
          </a:xfrm>
          <a:prstGeom prst="rect">
            <a:avLst/>
          </a:prstGeom>
          <a:noFill/>
          <a:ln/>
        </p:spPr>
        <p:txBody>
          <a:bodyPr wrap="square" lIns="0" tIns="0" rIns="0" bIns="0" rtlCol="0" anchor="ctr"/>
          <a:lstStyle/>
          <a:p>
            <a:pPr marL="0" indent="0">
              <a:buNone/>
            </a:pPr>
            <a:endParaRPr lang="en-US" sz="1350" dirty="0"/>
          </a:p>
        </p:txBody>
      </p:sp>
      <p:sp>
        <p:nvSpPr>
          <p:cNvPr id="14" name="Text 11"/>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14</a:t>
            </a:r>
            <a:endParaRPr lang="en-US" sz="1100" dirty="0"/>
          </a:p>
        </p:txBody>
      </p:sp>
      <p:sp>
        <p:nvSpPr>
          <p:cNvPr id="9" name="Shape 3">
            <a:extLst>
              <a:ext uri="{FF2B5EF4-FFF2-40B4-BE49-F238E27FC236}">
                <a16:creationId xmlns:a16="http://schemas.microsoft.com/office/drawing/2014/main" id="{B96697A9-6AB4-D9D6-37D9-BD20BA13BFDC}"/>
              </a:ext>
            </a:extLst>
          </p:cNvPr>
          <p:cNvSpPr/>
          <p:nvPr/>
        </p:nvSpPr>
        <p:spPr>
          <a:xfrm>
            <a:off x="283464" y="5208543"/>
            <a:ext cx="11091672" cy="841248"/>
          </a:xfrm>
          <a:prstGeom prst="roundRect">
            <a:avLst>
              <a:gd name="adj" fmla="val 8696"/>
            </a:avLst>
          </a:prstGeom>
          <a:solidFill>
            <a:srgbClr val="E8EEF4"/>
          </a:solidFill>
          <a:ln w="12700">
            <a:solidFill>
              <a:srgbClr val="E8EEF4"/>
            </a:solidFill>
            <a:prstDash val="solid"/>
          </a:ln>
        </p:spPr>
        <p:txBody>
          <a:bodyPr/>
          <a:lstStyle/>
          <a:p>
            <a:endParaRPr lang="es-CO"/>
          </a:p>
        </p:txBody>
      </p:sp>
      <p:sp>
        <p:nvSpPr>
          <p:cNvPr id="16" name="Text 4">
            <a:extLst>
              <a:ext uri="{FF2B5EF4-FFF2-40B4-BE49-F238E27FC236}">
                <a16:creationId xmlns:a16="http://schemas.microsoft.com/office/drawing/2014/main" id="{27FEEAB5-435C-EE08-97CD-6CFD388A75D0}"/>
              </a:ext>
            </a:extLst>
          </p:cNvPr>
          <p:cNvSpPr/>
          <p:nvPr/>
        </p:nvSpPr>
        <p:spPr>
          <a:xfrm>
            <a:off x="594360" y="5208543"/>
            <a:ext cx="10515600" cy="841248"/>
          </a:xfrm>
          <a:prstGeom prst="rect">
            <a:avLst/>
          </a:prstGeom>
          <a:noFill/>
          <a:ln/>
        </p:spPr>
        <p:txBody>
          <a:bodyPr wrap="square" lIns="0" tIns="0" rIns="0" bIns="0" rtlCol="0" anchor="ctr"/>
          <a:lstStyle/>
          <a:p>
            <a:pPr marL="0" indent="0" algn="ctr">
              <a:lnSpc>
                <a:spcPts val="1700"/>
              </a:lnSpc>
              <a:buNone/>
            </a:pPr>
            <a:r>
              <a:rPr lang="en-US" dirty="0" err="1"/>
              <a:t>Construya</a:t>
            </a:r>
            <a:r>
              <a:rPr lang="en-US" dirty="0"/>
              <a:t> el </a:t>
            </a:r>
            <a:r>
              <a:rPr lang="en-US" dirty="0" err="1"/>
              <a:t>pseudocodigo</a:t>
            </a:r>
            <a:r>
              <a:rPr lang="en-US" dirty="0"/>
              <a:t> y </a:t>
            </a:r>
            <a:r>
              <a:rPr lang="en-US" dirty="0" err="1"/>
              <a:t>haga</a:t>
            </a:r>
            <a:r>
              <a:rPr lang="en-US" dirty="0"/>
              <a:t> la </a:t>
            </a:r>
            <a:r>
              <a:rPr lang="en-US" dirty="0" err="1"/>
              <a:t>traduccion</a:t>
            </a:r>
            <a:r>
              <a:rPr lang="en-US" dirty="0"/>
              <a:t> </a:t>
            </a:r>
            <a:r>
              <a:rPr lang="en-US" dirty="0" err="1"/>
              <a:t>en</a:t>
            </a:r>
            <a:r>
              <a:rPr lang="en-US" dirty="0"/>
              <a:t>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CASO GUÍA · EL PROGRAMA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salón de clase, ahora en Java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 el mismo algoritmo del pseudocódigo. Compara línea por línea: no aparece ninguna idea nueva.</a:t>
            </a:r>
            <a:endParaRPr lang="en-US" sz="1400" dirty="0"/>
          </a:p>
        </p:txBody>
      </p:sp>
      <p:sp>
        <p:nvSpPr>
          <p:cNvPr id="5" name="Shape 3"/>
          <p:cNvSpPr/>
          <p:nvPr/>
        </p:nvSpPr>
        <p:spPr>
          <a:xfrm>
            <a:off x="548640" y="1975104"/>
            <a:ext cx="6492240" cy="3968496"/>
          </a:xfrm>
          <a:prstGeom prst="roundRect">
            <a:avLst>
              <a:gd name="adj" fmla="val 691"/>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157984"/>
            <a:ext cx="5980176" cy="3602736"/>
          </a:xfrm>
          <a:prstGeom prst="rect">
            <a:avLst/>
          </a:prstGeom>
          <a:noFill/>
          <a:ln/>
        </p:spPr>
        <p:txBody>
          <a:bodyPr wrap="square" lIns="0" tIns="0" rIns="0" bIns="0" rtlCol="0" anchor="t"/>
          <a:lstStyle/>
          <a:p>
            <a:pPr marL="0" indent="0">
              <a:lnSpc>
                <a:spcPts val="1550"/>
              </a:lnSpc>
              <a:buNone/>
            </a:pPr>
            <a:r>
              <a:rPr lang="en-US" sz="1000" b="1" dirty="0">
                <a:solidFill>
                  <a:srgbClr val="FFB100"/>
                </a:solidFill>
                <a:latin typeface="Courier New" pitchFamily="34" charset="0"/>
                <a:ea typeface="Courier New" pitchFamily="34" charset="-122"/>
                <a:cs typeface="Courier New" pitchFamily="34" charset="-120"/>
              </a:rPr>
              <a:t>import </a:t>
            </a:r>
            <a:r>
              <a:rPr lang="en-US" sz="1000" dirty="0">
                <a:solidFill>
                  <a:srgbClr val="E8EEF4"/>
                </a:solidFill>
                <a:latin typeface="Courier New" pitchFamily="34" charset="0"/>
                <a:ea typeface="Courier New" pitchFamily="34" charset="-122"/>
                <a:cs typeface="Courier New" pitchFamily="34" charset="-120"/>
              </a:rPr>
              <a:t>java.util.Scanner;</a:t>
            </a:r>
            <a:endParaRPr lang="en-US" sz="1000" dirty="0"/>
          </a:p>
          <a:p>
            <a:pPr marL="0" indent="0">
              <a:lnSpc>
                <a:spcPts val="1550"/>
              </a:lnSpc>
              <a:buNone/>
            </a:pPr>
            <a:endParaRPr lang="en-US" sz="1000" dirty="0"/>
          </a:p>
          <a:p>
            <a:pPr marL="0" indent="0">
              <a:lnSpc>
                <a:spcPts val="1550"/>
              </a:lnSpc>
              <a:buNone/>
            </a:pPr>
            <a:r>
              <a:rPr lang="en-US" sz="1000" b="1" dirty="0">
                <a:solidFill>
                  <a:srgbClr val="FFB100"/>
                </a:solidFill>
                <a:latin typeface="Courier New" pitchFamily="34" charset="0"/>
                <a:ea typeface="Courier New" pitchFamily="34" charset="-122"/>
                <a:cs typeface="Courier New" pitchFamily="34" charset="-120"/>
              </a:rPr>
              <a:t>public class </a:t>
            </a:r>
            <a:r>
              <a:rPr lang="en-US" sz="1000" dirty="0">
                <a:solidFill>
                  <a:srgbClr val="E8EEF4"/>
                </a:solidFill>
                <a:latin typeface="Courier New" pitchFamily="34" charset="0"/>
                <a:ea typeface="Courier New" pitchFamily="34" charset="-122"/>
                <a:cs typeface="Courier New" pitchFamily="34" charset="-120"/>
              </a:rPr>
              <a:t>Salon {</a:t>
            </a:r>
            <a:endParaRPr lang="en-US" sz="1000" dirty="0"/>
          </a:p>
          <a:p>
            <a:pPr marL="0" indent="0">
              <a:lnSpc>
                <a:spcPts val="1550"/>
              </a:lnSpc>
              <a:buNone/>
            </a:pPr>
            <a:r>
              <a:rPr lang="en-US" sz="1000" b="1" dirty="0">
                <a:solidFill>
                  <a:srgbClr val="FFB100"/>
                </a:solidFill>
                <a:latin typeface="Courier New" pitchFamily="34" charset="0"/>
                <a:ea typeface="Courier New" pitchFamily="34" charset="-122"/>
                <a:cs typeface="Courier New" pitchFamily="34" charset="-120"/>
              </a:rPr>
              <a:t>    public static void main</a:t>
            </a:r>
            <a:r>
              <a:rPr lang="en-US" sz="1000" dirty="0">
                <a:solidFill>
                  <a:srgbClr val="E8EEF4"/>
                </a:solidFill>
                <a:latin typeface="Courier New" pitchFamily="34" charset="0"/>
                <a:ea typeface="Courier New" pitchFamily="34" charset="-122"/>
                <a:cs typeface="Courier New" pitchFamily="34" charset="-120"/>
              </a:rPr>
              <a:t>(String[] args) {</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final int METROS_POR_ESTUDIANTE = 2;</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Scanner teclado = new Scanner(System.in);</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System.out.print("Largo del salon: ");</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largo = teclado.nextInt();</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System.out.print("Ancho del salon: ");</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ancho = teclado.nextInt();</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area = largo * ancho;</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perimetro = 2 * (largo + ancho);</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caben = area / METROS_POR_ESTUDIANTE;</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int libres = area % METROS_POR_ESTUDIANTE;</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System.out.println("Area: " + area);</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    }</a:t>
            </a:r>
            <a:endParaRPr lang="en-US" sz="1000" dirty="0"/>
          </a:p>
          <a:p>
            <a:pPr marL="0" indent="0">
              <a:lnSpc>
                <a:spcPts val="1550"/>
              </a:lnSpc>
              <a:buNone/>
            </a:pPr>
            <a:r>
              <a:rPr lang="en-US" sz="1000" dirty="0">
                <a:solidFill>
                  <a:srgbClr val="E8EEF4"/>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7223760" y="1975104"/>
            <a:ext cx="4416552" cy="1737360"/>
          </a:xfrm>
          <a:prstGeom prst="roundRect">
            <a:avLst>
              <a:gd name="adj" fmla="val 4211"/>
            </a:avLst>
          </a:prstGeom>
          <a:solidFill>
            <a:srgbClr val="E8EEF4"/>
          </a:solidFill>
          <a:ln w="12700">
            <a:solidFill>
              <a:srgbClr val="E8EEF4"/>
            </a:solidFill>
            <a:prstDash val="solid"/>
          </a:ln>
        </p:spPr>
        <p:txBody>
          <a:bodyPr/>
          <a:lstStyle/>
          <a:p>
            <a:endParaRPr lang="es-CO"/>
          </a:p>
        </p:txBody>
      </p:sp>
      <p:sp>
        <p:nvSpPr>
          <p:cNvPr id="8" name="Text 6"/>
          <p:cNvSpPr/>
          <p:nvPr/>
        </p:nvSpPr>
        <p:spPr>
          <a:xfrm>
            <a:off x="7498080" y="2084832"/>
            <a:ext cx="38404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PRUÉBALO CON ESTOS DATOS</a:t>
            </a:r>
            <a:endParaRPr lang="en-US" sz="1050" dirty="0"/>
          </a:p>
        </p:txBody>
      </p:sp>
      <p:sp>
        <p:nvSpPr>
          <p:cNvPr id="9" name="Text 7"/>
          <p:cNvSpPr/>
          <p:nvPr/>
        </p:nvSpPr>
        <p:spPr>
          <a:xfrm>
            <a:off x="7498080" y="2359152"/>
            <a:ext cx="3840480" cy="1280160"/>
          </a:xfrm>
          <a:prstGeom prst="rect">
            <a:avLst/>
          </a:prstGeom>
          <a:noFill/>
          <a:ln/>
        </p:spPr>
        <p:txBody>
          <a:bodyPr wrap="square" lIns="0" tIns="0" rIns="0" bIns="0" rtlCol="0" anchor="t"/>
          <a:lstStyle/>
          <a:p>
            <a:pPr marL="0" indent="0">
              <a:lnSpc>
                <a:spcPts val="1500"/>
              </a:lnSpc>
              <a:buNone/>
            </a:pPr>
            <a:r>
              <a:rPr lang="en-US" sz="1050" dirty="0">
                <a:solidFill>
                  <a:srgbClr val="5B6B7C"/>
                </a:solidFill>
                <a:latin typeface="Calibri" pitchFamily="34" charset="0"/>
                <a:ea typeface="Calibri" pitchFamily="34" charset="-122"/>
                <a:cs typeface="Calibri" pitchFamily="34" charset="-120"/>
              </a:rPr>
              <a:t>entrada  </a:t>
            </a:r>
            <a:r>
              <a:rPr lang="en-US" sz="1150" b="1" dirty="0">
                <a:solidFill>
                  <a:srgbClr val="13294B"/>
                </a:solidFill>
                <a:latin typeface="Courier New" pitchFamily="34" charset="0"/>
                <a:ea typeface="Courier New" pitchFamily="34" charset="-122"/>
                <a:cs typeface="Courier New" pitchFamily="34" charset="-120"/>
              </a:rPr>
              <a:t>9   7</a:t>
            </a:r>
            <a:endParaRPr lang="en-US" sz="1050" dirty="0"/>
          </a:p>
          <a:p>
            <a:pPr marL="0" indent="0">
              <a:lnSpc>
                <a:spcPts val="1500"/>
              </a:lnSpc>
              <a:buNone/>
            </a:pPr>
            <a:r>
              <a:rPr lang="en-US" sz="1050" dirty="0">
                <a:solidFill>
                  <a:srgbClr val="5B6B7C"/>
                </a:solidFill>
                <a:latin typeface="Calibri" pitchFamily="34" charset="0"/>
                <a:ea typeface="Calibri" pitchFamily="34" charset="-122"/>
                <a:cs typeface="Calibri" pitchFamily="34" charset="-120"/>
              </a:rPr>
              <a:t>Area:  </a:t>
            </a:r>
            <a:r>
              <a:rPr lang="en-US" sz="1150" b="1" dirty="0">
                <a:solidFill>
                  <a:srgbClr val="B07800"/>
                </a:solidFill>
                <a:latin typeface="Courier New" pitchFamily="34" charset="0"/>
                <a:ea typeface="Courier New" pitchFamily="34" charset="-122"/>
                <a:cs typeface="Courier New" pitchFamily="34" charset="-120"/>
              </a:rPr>
              <a:t>63</a:t>
            </a:r>
            <a:endParaRPr lang="en-US" sz="1050" dirty="0"/>
          </a:p>
          <a:p>
            <a:pPr marL="0" indent="0">
              <a:lnSpc>
                <a:spcPts val="1500"/>
              </a:lnSpc>
              <a:buNone/>
            </a:pPr>
            <a:r>
              <a:rPr lang="en-US" sz="1050" dirty="0">
                <a:solidFill>
                  <a:srgbClr val="5B6B7C"/>
                </a:solidFill>
                <a:latin typeface="Calibri" pitchFamily="34" charset="0"/>
                <a:ea typeface="Calibri" pitchFamily="34" charset="-122"/>
                <a:cs typeface="Calibri" pitchFamily="34" charset="-120"/>
              </a:rPr>
              <a:t>Perimetro:  </a:t>
            </a:r>
            <a:r>
              <a:rPr lang="en-US" sz="1150" b="1" dirty="0">
                <a:solidFill>
                  <a:srgbClr val="B07800"/>
                </a:solidFill>
                <a:latin typeface="Courier New" pitchFamily="34" charset="0"/>
                <a:ea typeface="Courier New" pitchFamily="34" charset="-122"/>
                <a:cs typeface="Courier New" pitchFamily="34" charset="-120"/>
              </a:rPr>
              <a:t>32</a:t>
            </a:r>
            <a:endParaRPr lang="en-US" sz="1050" dirty="0"/>
          </a:p>
          <a:p>
            <a:pPr marL="0" indent="0">
              <a:lnSpc>
                <a:spcPts val="1500"/>
              </a:lnSpc>
              <a:buNone/>
            </a:pPr>
            <a:r>
              <a:rPr lang="en-US" sz="1050" dirty="0">
                <a:solidFill>
                  <a:srgbClr val="5B6B7C"/>
                </a:solidFill>
                <a:latin typeface="Calibri" pitchFamily="34" charset="0"/>
                <a:ea typeface="Calibri" pitchFamily="34" charset="-122"/>
                <a:cs typeface="Calibri" pitchFamily="34" charset="-120"/>
              </a:rPr>
              <a:t>Caben:  </a:t>
            </a:r>
            <a:r>
              <a:rPr lang="en-US" sz="1150" b="1" dirty="0">
                <a:solidFill>
                  <a:srgbClr val="B07800"/>
                </a:solidFill>
                <a:latin typeface="Courier New" pitchFamily="34" charset="0"/>
                <a:ea typeface="Courier New" pitchFamily="34" charset="-122"/>
                <a:cs typeface="Courier New" pitchFamily="34" charset="-120"/>
              </a:rPr>
              <a:t>31</a:t>
            </a:r>
            <a:endParaRPr lang="en-US" sz="1050" dirty="0"/>
          </a:p>
          <a:p>
            <a:pPr marL="0" indent="0">
              <a:lnSpc>
                <a:spcPts val="1500"/>
              </a:lnSpc>
              <a:buNone/>
            </a:pPr>
            <a:r>
              <a:rPr lang="en-US" sz="1050" dirty="0">
                <a:solidFill>
                  <a:srgbClr val="5B6B7C"/>
                </a:solidFill>
                <a:latin typeface="Calibri" pitchFamily="34" charset="0"/>
                <a:ea typeface="Calibri" pitchFamily="34" charset="-122"/>
                <a:cs typeface="Calibri" pitchFamily="34" charset="-120"/>
              </a:rPr>
              <a:t>Metros libres:  </a:t>
            </a:r>
            <a:r>
              <a:rPr lang="en-US" sz="1150" b="1" dirty="0">
                <a:solidFill>
                  <a:srgbClr val="B07800"/>
                </a:solidFill>
                <a:latin typeface="Courier New" pitchFamily="34" charset="0"/>
                <a:ea typeface="Courier New" pitchFamily="34" charset="-122"/>
                <a:cs typeface="Courier New" pitchFamily="34" charset="-120"/>
              </a:rPr>
              <a:t>1</a:t>
            </a:r>
            <a:endParaRPr lang="en-US" sz="1050" dirty="0"/>
          </a:p>
        </p:txBody>
      </p:sp>
      <p:sp>
        <p:nvSpPr>
          <p:cNvPr id="10" name="Shape 8"/>
          <p:cNvSpPr/>
          <p:nvPr/>
        </p:nvSpPr>
        <p:spPr>
          <a:xfrm>
            <a:off x="7223760" y="3822192"/>
            <a:ext cx="4416552" cy="1938528"/>
          </a:xfrm>
          <a:prstGeom prst="roundRect">
            <a:avLst>
              <a:gd name="adj" fmla="val 3774"/>
            </a:avLst>
          </a:prstGeom>
          <a:solidFill>
            <a:srgbClr val="F4F7FB"/>
          </a:solidFill>
          <a:ln w="12700">
            <a:solidFill>
              <a:srgbClr val="F4F7FB"/>
            </a:solidFill>
            <a:prstDash val="solid"/>
          </a:ln>
        </p:spPr>
        <p:txBody>
          <a:bodyPr/>
          <a:lstStyle/>
          <a:p>
            <a:endParaRPr lang="es-CO"/>
          </a:p>
        </p:txBody>
      </p:sp>
      <p:sp>
        <p:nvSpPr>
          <p:cNvPr id="11" name="Text 9"/>
          <p:cNvSpPr/>
          <p:nvPr/>
        </p:nvSpPr>
        <p:spPr>
          <a:xfrm>
            <a:off x="7498080" y="3931920"/>
            <a:ext cx="384048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LO QUE HAY QUE MIRAR</a:t>
            </a:r>
            <a:endParaRPr lang="en-US" sz="1050" dirty="0"/>
          </a:p>
        </p:txBody>
      </p:sp>
      <p:sp>
        <p:nvSpPr>
          <p:cNvPr id="12" name="Text 10"/>
          <p:cNvSpPr/>
          <p:nvPr/>
        </p:nvSpPr>
        <p:spPr>
          <a:xfrm>
            <a:off x="7498080" y="4224528"/>
            <a:ext cx="3840480" cy="14447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Las llaves de main son el Inicio y el Fin.</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El print antes de cada lectura es lo que hace usable el programa.</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El orden es el mismo del pseudocódigo, sin una sola línea movida.</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Faltan tres println: los escribes tú al copiarlo.</a:t>
            </a:r>
            <a:endParaRPr lang="en-US" sz="1150" dirty="0"/>
          </a:p>
        </p:txBody>
      </p:sp>
      <p:sp>
        <p:nvSpPr>
          <p:cNvPr id="13" name="Text 11"/>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2</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Traduce este pseudocódigo a un 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 el intercambio que quedó pendiente al comienzo de la sesión. Aquí sí funciona: mira por qué.</a:t>
            </a:r>
            <a:endParaRPr lang="en-US" sz="1400" dirty="0"/>
          </a:p>
        </p:txBody>
      </p:sp>
      <p:sp>
        <p:nvSpPr>
          <p:cNvPr id="5" name="Shape 3"/>
          <p:cNvSpPr/>
          <p:nvPr/>
        </p:nvSpPr>
        <p:spPr>
          <a:xfrm>
            <a:off x="548640" y="2011680"/>
            <a:ext cx="5532120" cy="3054096"/>
          </a:xfrm>
          <a:prstGeom prst="roundRect">
            <a:avLst>
              <a:gd name="adj" fmla="val 2395"/>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212848"/>
            <a:ext cx="4946904" cy="2651760"/>
          </a:xfrm>
          <a:prstGeom prst="rect">
            <a:avLst/>
          </a:prstGeom>
          <a:noFill/>
          <a:ln/>
        </p:spPr>
        <p:txBody>
          <a:bodyPr wrap="square" lIns="0" tIns="0" rIns="0" bIns="0" rtlCol="0" anchor="t"/>
          <a:lstStyle/>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Inicio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entero primero, segundo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entero auxiliar</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Leer primero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Leer segundo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Escribir "Antes: ", primero, segundo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auxiliar ← primero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primero ← segundo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segundo ← auxiliar</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   Escribir "Despues: ", primero, segundo</a:t>
            </a:r>
            <a:endParaRPr lang="en-US" sz="1150" dirty="0"/>
          </a:p>
          <a:p>
            <a:pPr marL="0" indent="0">
              <a:lnSpc>
                <a:spcPts val="1840"/>
              </a:lnSpc>
              <a:buNone/>
            </a:pPr>
            <a:r>
              <a:rPr lang="en-US" sz="1150" b="1" dirty="0">
                <a:solidFill>
                  <a:srgbClr val="13294B"/>
                </a:solidFill>
                <a:latin typeface="Courier New" pitchFamily="34" charset="0"/>
                <a:ea typeface="Courier New" pitchFamily="34" charset="-122"/>
                <a:cs typeface="Courier New" pitchFamily="34" charset="-120"/>
              </a:rPr>
              <a:t>Fin</a:t>
            </a:r>
            <a:endParaRPr lang="en-US" sz="1150" dirty="0"/>
          </a:p>
        </p:txBody>
      </p:sp>
      <p:sp>
        <p:nvSpPr>
          <p:cNvPr id="7" name="Shape 5"/>
          <p:cNvSpPr/>
          <p:nvPr/>
        </p:nvSpPr>
        <p:spPr>
          <a:xfrm>
            <a:off x="6492240" y="2011680"/>
            <a:ext cx="5148072" cy="1005840"/>
          </a:xfrm>
          <a:prstGeom prst="roundRect">
            <a:avLst>
              <a:gd name="adj" fmla="val 7273"/>
            </a:avLst>
          </a:prstGeom>
          <a:solidFill>
            <a:srgbClr val="F4F7FB"/>
          </a:solidFill>
          <a:ln w="12700">
            <a:solidFill>
              <a:srgbClr val="F4F7FB"/>
            </a:solidFill>
            <a:prstDash val="solid"/>
          </a:ln>
        </p:spPr>
        <p:txBody>
          <a:bodyPr/>
          <a:lstStyle/>
          <a:p>
            <a:endParaRPr lang="es-CO"/>
          </a:p>
        </p:txBody>
      </p:sp>
      <p:sp>
        <p:nvSpPr>
          <p:cNvPr id="8" name="Text 6"/>
          <p:cNvSpPr/>
          <p:nvPr/>
        </p:nvSpPr>
        <p:spPr>
          <a:xfrm>
            <a:off x="6766560" y="2121408"/>
            <a:ext cx="4617720" cy="256032"/>
          </a:xfrm>
          <a:prstGeom prst="rect">
            <a:avLst/>
          </a:prstGeom>
          <a:noFill/>
          <a:ln/>
        </p:spPr>
        <p:txBody>
          <a:bodyPr wrap="square" lIns="0" tIns="0" rIns="0" bIns="0" rtlCol="0" anchor="ctr"/>
          <a:lstStyle/>
          <a:p>
            <a:pPr marL="0" indent="0">
              <a:buNone/>
            </a:pPr>
            <a:r>
              <a:rPr lang="en-US" sz="1050" b="1" kern="0" spc="120" dirty="0">
                <a:solidFill>
                  <a:srgbClr val="13294B"/>
                </a:solidFill>
                <a:latin typeface="Calibri" pitchFamily="34" charset="0"/>
                <a:ea typeface="Calibri" pitchFamily="34" charset="-122"/>
                <a:cs typeface="Calibri" pitchFamily="34" charset="-120"/>
              </a:rPr>
              <a:t>CONTEXTO</a:t>
            </a:r>
            <a:endParaRPr lang="en-US" sz="1050" dirty="0"/>
          </a:p>
        </p:txBody>
      </p:sp>
      <p:sp>
        <p:nvSpPr>
          <p:cNvPr id="9" name="Text 7"/>
          <p:cNvSpPr/>
          <p:nvPr/>
        </p:nvSpPr>
        <p:spPr>
          <a:xfrm>
            <a:off x="6766560" y="2395728"/>
            <a:ext cx="4617720" cy="566928"/>
          </a:xfrm>
          <a:prstGeom prst="rect">
            <a:avLst/>
          </a:prstGeom>
          <a:noFill/>
          <a:ln/>
        </p:spPr>
        <p:txBody>
          <a:bodyPr wrap="square" lIns="0" tIns="0" rIns="0" bIns="0" rtlCol="0" anchor="t"/>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Dos jugadores intercambian su puesto en una fila. El programa lee los dos números y los muestra antes y después del cambio.</a:t>
            </a:r>
            <a:endParaRPr lang="en-US" sz="1200" dirty="0"/>
          </a:p>
        </p:txBody>
      </p:sp>
      <p:sp>
        <p:nvSpPr>
          <p:cNvPr id="10" name="Shape 8"/>
          <p:cNvSpPr/>
          <p:nvPr/>
        </p:nvSpPr>
        <p:spPr>
          <a:xfrm>
            <a:off x="6492240" y="3127248"/>
            <a:ext cx="5148072" cy="1938528"/>
          </a:xfrm>
          <a:prstGeom prst="roundRect">
            <a:avLst>
              <a:gd name="adj" fmla="val 3774"/>
            </a:avLst>
          </a:prstGeom>
          <a:solidFill>
            <a:srgbClr val="FFF4DE"/>
          </a:solidFill>
          <a:ln w="12700">
            <a:solidFill>
              <a:srgbClr val="FFF4DE"/>
            </a:solidFill>
            <a:prstDash val="solid"/>
          </a:ln>
        </p:spPr>
        <p:txBody>
          <a:bodyPr/>
          <a:lstStyle/>
          <a:p>
            <a:endParaRPr lang="es-CO"/>
          </a:p>
        </p:txBody>
      </p:sp>
      <p:sp>
        <p:nvSpPr>
          <p:cNvPr id="11" name="Text 9"/>
          <p:cNvSpPr/>
          <p:nvPr/>
        </p:nvSpPr>
        <p:spPr>
          <a:xfrm>
            <a:off x="6766560" y="3236976"/>
            <a:ext cx="461772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INSTRUCCIONES</a:t>
            </a:r>
            <a:endParaRPr lang="en-US" sz="1050" dirty="0"/>
          </a:p>
        </p:txBody>
      </p:sp>
      <p:sp>
        <p:nvSpPr>
          <p:cNvPr id="12" name="Shape 10"/>
          <p:cNvSpPr/>
          <p:nvPr/>
        </p:nvSpPr>
        <p:spPr>
          <a:xfrm>
            <a:off x="6766560" y="3529584"/>
            <a:ext cx="347472" cy="347472"/>
          </a:xfrm>
          <a:prstGeom prst="ellipse">
            <a:avLst/>
          </a:prstGeom>
          <a:solidFill>
            <a:srgbClr val="1C7293"/>
          </a:solidFill>
          <a:ln w="12700">
            <a:solidFill>
              <a:srgbClr val="1C7293"/>
            </a:solidFill>
            <a:prstDash val="solid"/>
          </a:ln>
        </p:spPr>
        <p:txBody>
          <a:bodyPr/>
          <a:lstStyle/>
          <a:p>
            <a:endParaRPr lang="es-CO"/>
          </a:p>
        </p:txBody>
      </p:sp>
      <p:sp>
        <p:nvSpPr>
          <p:cNvPr id="13" name="Text 11"/>
          <p:cNvSpPr/>
          <p:nvPr/>
        </p:nvSpPr>
        <p:spPr>
          <a:xfrm>
            <a:off x="6766560" y="352958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2"/>
          <p:cNvSpPr/>
          <p:nvPr/>
        </p:nvSpPr>
        <p:spPr>
          <a:xfrm>
            <a:off x="7223760" y="3502152"/>
            <a:ext cx="4206240" cy="402336"/>
          </a:xfrm>
          <a:prstGeom prst="rect">
            <a:avLst/>
          </a:prstGeom>
          <a:noFill/>
          <a:ln/>
        </p:spPr>
        <p:txBody>
          <a:bodyPr wrap="square" lIns="0" tIns="0" rIns="0" bIns="0" rtlCol="0" anchor="ctr"/>
          <a:lstStyle/>
          <a:p>
            <a:pPr marL="0" indent="0">
              <a:lnSpc>
                <a:spcPts val="1400"/>
              </a:lnSpc>
              <a:buNone/>
            </a:pPr>
            <a:r>
              <a:rPr lang="en-US" sz="1150" dirty="0">
                <a:solidFill>
                  <a:srgbClr val="1A1A2E"/>
                </a:solidFill>
                <a:latin typeface="Calibri" pitchFamily="34" charset="0"/>
                <a:ea typeface="Calibri" pitchFamily="34" charset="-122"/>
                <a:cs typeface="Calibri" pitchFamily="34" charset="-120"/>
              </a:rPr>
              <a:t>Nombra la clase Intercambio y guarda el archivo con ese nombre.</a:t>
            </a:r>
            <a:endParaRPr lang="en-US" sz="1150" dirty="0"/>
          </a:p>
        </p:txBody>
      </p:sp>
      <p:sp>
        <p:nvSpPr>
          <p:cNvPr id="15" name="Shape 13"/>
          <p:cNvSpPr/>
          <p:nvPr/>
        </p:nvSpPr>
        <p:spPr>
          <a:xfrm>
            <a:off x="6766560" y="3931920"/>
            <a:ext cx="347472" cy="347472"/>
          </a:xfrm>
          <a:prstGeom prst="ellipse">
            <a:avLst/>
          </a:prstGeom>
          <a:solidFill>
            <a:srgbClr val="1C7293"/>
          </a:solidFill>
          <a:ln w="12700">
            <a:solidFill>
              <a:srgbClr val="1C7293"/>
            </a:solidFill>
            <a:prstDash val="solid"/>
          </a:ln>
        </p:spPr>
        <p:txBody>
          <a:bodyPr/>
          <a:lstStyle/>
          <a:p>
            <a:endParaRPr lang="es-CO"/>
          </a:p>
        </p:txBody>
      </p:sp>
      <p:sp>
        <p:nvSpPr>
          <p:cNvPr id="16" name="Text 14"/>
          <p:cNvSpPr/>
          <p:nvPr/>
        </p:nvSpPr>
        <p:spPr>
          <a:xfrm>
            <a:off x="6766560" y="393192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7223760" y="3904488"/>
            <a:ext cx="4206240" cy="402336"/>
          </a:xfrm>
          <a:prstGeom prst="rect">
            <a:avLst/>
          </a:prstGeom>
          <a:noFill/>
          <a:ln/>
        </p:spPr>
        <p:txBody>
          <a:bodyPr wrap="square" lIns="0" tIns="0" rIns="0" bIns="0" rtlCol="0" anchor="ctr"/>
          <a:lstStyle/>
          <a:p>
            <a:pPr marL="0" indent="0">
              <a:lnSpc>
                <a:spcPts val="1400"/>
              </a:lnSpc>
              <a:buNone/>
            </a:pPr>
            <a:r>
              <a:rPr lang="en-US" sz="1150" dirty="0">
                <a:solidFill>
                  <a:srgbClr val="1A1A2E"/>
                </a:solidFill>
                <a:latin typeface="Calibri" pitchFamily="34" charset="0"/>
                <a:ea typeface="Calibri" pitchFamily="34" charset="-122"/>
                <a:cs typeface="Calibri" pitchFamily="34" charset="-120"/>
              </a:rPr>
              <a:t>Usa la tabla de traducción: una línea de pseudocódigo, una de Java.</a:t>
            </a:r>
            <a:endParaRPr lang="en-US" sz="1150" dirty="0"/>
          </a:p>
        </p:txBody>
      </p:sp>
      <p:sp>
        <p:nvSpPr>
          <p:cNvPr id="18" name="Shape 16"/>
          <p:cNvSpPr/>
          <p:nvPr/>
        </p:nvSpPr>
        <p:spPr>
          <a:xfrm>
            <a:off x="6766560" y="4334256"/>
            <a:ext cx="347472" cy="347472"/>
          </a:xfrm>
          <a:prstGeom prst="ellipse">
            <a:avLst/>
          </a:prstGeom>
          <a:solidFill>
            <a:srgbClr val="1C7293"/>
          </a:solidFill>
          <a:ln w="12700">
            <a:solidFill>
              <a:srgbClr val="1C7293"/>
            </a:solidFill>
            <a:prstDash val="solid"/>
          </a:ln>
        </p:spPr>
        <p:txBody>
          <a:bodyPr/>
          <a:lstStyle/>
          <a:p>
            <a:endParaRPr lang="es-CO"/>
          </a:p>
        </p:txBody>
      </p:sp>
      <p:sp>
        <p:nvSpPr>
          <p:cNvPr id="19" name="Text 17"/>
          <p:cNvSpPr/>
          <p:nvPr/>
        </p:nvSpPr>
        <p:spPr>
          <a:xfrm>
            <a:off x="6766560" y="433425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7223760" y="4306824"/>
            <a:ext cx="4206240" cy="402336"/>
          </a:xfrm>
          <a:prstGeom prst="rect">
            <a:avLst/>
          </a:prstGeom>
          <a:noFill/>
          <a:ln/>
        </p:spPr>
        <p:txBody>
          <a:bodyPr wrap="square" lIns="0" tIns="0" rIns="0" bIns="0" rtlCol="0" anchor="ctr"/>
          <a:lstStyle/>
          <a:p>
            <a:pPr marL="0" indent="0">
              <a:lnSpc>
                <a:spcPts val="1400"/>
              </a:lnSpc>
              <a:buNone/>
            </a:pPr>
            <a:r>
              <a:rPr lang="en-US" sz="1150" dirty="0">
                <a:solidFill>
                  <a:srgbClr val="1A1A2E"/>
                </a:solidFill>
                <a:latin typeface="Calibri" pitchFamily="34" charset="0"/>
                <a:ea typeface="Calibri" pitchFamily="34" charset="-122"/>
                <a:cs typeface="Calibri" pitchFamily="34" charset="-120"/>
              </a:rPr>
              <a:t>Ejecuta con 4 y 9. Debe imprimir 4 9 y después 9 4.</a:t>
            </a:r>
            <a:endParaRPr lang="en-US" sz="1150" dirty="0"/>
          </a:p>
        </p:txBody>
      </p:sp>
      <p:sp>
        <p:nvSpPr>
          <p:cNvPr id="21" name="Shape 19"/>
          <p:cNvSpPr/>
          <p:nvPr/>
        </p:nvSpPr>
        <p:spPr>
          <a:xfrm>
            <a:off x="6766560" y="4736592"/>
            <a:ext cx="347472" cy="347472"/>
          </a:xfrm>
          <a:prstGeom prst="ellipse">
            <a:avLst/>
          </a:prstGeom>
          <a:solidFill>
            <a:srgbClr val="1C7293"/>
          </a:solidFill>
          <a:ln w="12700">
            <a:solidFill>
              <a:srgbClr val="1C7293"/>
            </a:solidFill>
            <a:prstDash val="solid"/>
          </a:ln>
        </p:spPr>
        <p:txBody>
          <a:bodyPr/>
          <a:lstStyle/>
          <a:p>
            <a:endParaRPr lang="es-CO"/>
          </a:p>
        </p:txBody>
      </p:sp>
      <p:sp>
        <p:nvSpPr>
          <p:cNvPr id="22" name="Text 20"/>
          <p:cNvSpPr/>
          <p:nvPr/>
        </p:nvSpPr>
        <p:spPr>
          <a:xfrm>
            <a:off x="6766560" y="473659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7223760" y="4709160"/>
            <a:ext cx="4206240" cy="402336"/>
          </a:xfrm>
          <a:prstGeom prst="rect">
            <a:avLst/>
          </a:prstGeom>
          <a:noFill/>
          <a:ln/>
        </p:spPr>
        <p:txBody>
          <a:bodyPr wrap="square" lIns="0" tIns="0" rIns="0" bIns="0" rtlCol="0" anchor="ctr"/>
          <a:lstStyle/>
          <a:p>
            <a:pPr marL="0" indent="0">
              <a:lnSpc>
                <a:spcPts val="1400"/>
              </a:lnSpc>
              <a:buNone/>
            </a:pPr>
            <a:r>
              <a:rPr lang="en-US" sz="1150" dirty="0">
                <a:solidFill>
                  <a:srgbClr val="1A1A2E"/>
                </a:solidFill>
                <a:latin typeface="Calibri" pitchFamily="34" charset="0"/>
                <a:ea typeface="Calibri" pitchFamily="34" charset="-122"/>
                <a:cs typeface="Calibri" pitchFamily="34" charset="-120"/>
              </a:rPr>
              <a:t>Borra la línea del auxiliar, ejecuta otra vez y anota qué pasa.</a:t>
            </a:r>
            <a:endParaRPr lang="en-US" sz="1150" dirty="0"/>
          </a:p>
        </p:txBody>
      </p:sp>
      <p:sp>
        <p:nvSpPr>
          <p:cNvPr id="28" name="Text 2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3</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enunciado al </a:t>
            </a:r>
            <a:r>
              <a:rPr lang="en-US" sz="2900" b="1" dirty="0" err="1">
                <a:solidFill>
                  <a:srgbClr val="13294B"/>
                </a:solidFill>
                <a:latin typeface="Cambria" pitchFamily="34" charset="0"/>
                <a:ea typeface="Cambria" pitchFamily="34" charset="-122"/>
                <a:cs typeface="Cambria" pitchFamily="34" charset="-120"/>
              </a:rPr>
              <a:t>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Ahora sin pseudocódigo dado: lo escribes tú antes de tocar el computador.</a:t>
            </a:r>
            <a:endParaRPr lang="en-US" sz="1400" dirty="0"/>
          </a:p>
        </p:txBody>
      </p:sp>
      <p:sp>
        <p:nvSpPr>
          <p:cNvPr id="5" name="Shape 3"/>
          <p:cNvSpPr/>
          <p:nvPr/>
        </p:nvSpPr>
        <p:spPr>
          <a:xfrm>
            <a:off x="548640" y="2011680"/>
            <a:ext cx="6492240" cy="1060704"/>
          </a:xfrm>
          <a:prstGeom prst="roundRect">
            <a:avLst>
              <a:gd name="adj" fmla="val 6897"/>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011680"/>
            <a:ext cx="5943600" cy="1060704"/>
          </a:xfrm>
          <a:prstGeom prst="rect">
            <a:avLst/>
          </a:prstGeom>
          <a:noFill/>
          <a:ln/>
        </p:spPr>
        <p:txBody>
          <a:bodyPr wrap="square" lIns="0" tIns="0" rIns="0" bIns="0" rtlCol="0" anchor="ctr"/>
          <a:lstStyle/>
          <a:p>
            <a:pPr marL="0" indent="0">
              <a:lnSpc>
                <a:spcPts val="1700"/>
              </a:lnSpc>
              <a:buNone/>
            </a:pPr>
            <a:r>
              <a:rPr lang="en-US" sz="1250" i="1" dirty="0">
                <a:solidFill>
                  <a:srgbClr val="13294B"/>
                </a:solidFill>
                <a:latin typeface="Calibri" pitchFamily="34" charset="0"/>
                <a:ea typeface="Calibri" pitchFamily="34" charset="-122"/>
                <a:cs typeface="Calibri" pitchFamily="34" charset="-120"/>
              </a:rPr>
              <a:t>«En una celebración se reparten dulces en partes iguales entre los niños asistentes. Se conocen la cantidad de dulces y la cantidad de niños. Se necesita reportar cuántos dulces le tocan a cada niño y cuántos dulces sobran.»</a:t>
            </a:r>
            <a:endParaRPr lang="en-US" sz="1250" dirty="0"/>
          </a:p>
        </p:txBody>
      </p:sp>
      <p:sp>
        <p:nvSpPr>
          <p:cNvPr id="7" name="Shape 5"/>
          <p:cNvSpPr/>
          <p:nvPr/>
        </p:nvSpPr>
        <p:spPr>
          <a:xfrm>
            <a:off x="548640" y="3163824"/>
            <a:ext cx="6492240" cy="603504"/>
          </a:xfrm>
          <a:prstGeom prst="roundRect">
            <a:avLst>
              <a:gd name="adj" fmla="val 12121"/>
            </a:avLst>
          </a:prstGeom>
          <a:solidFill>
            <a:srgbClr val="F4F7FB"/>
          </a:solidFill>
          <a:ln w="12700">
            <a:solidFill>
              <a:srgbClr val="F4F7FB"/>
            </a:solidFill>
            <a:prstDash val="solid"/>
          </a:ln>
        </p:spPr>
        <p:txBody>
          <a:bodyPr/>
          <a:lstStyle/>
          <a:p>
            <a:endParaRPr lang="es-CO"/>
          </a:p>
        </p:txBody>
      </p:sp>
      <p:sp>
        <p:nvSpPr>
          <p:cNvPr id="8" name="Shape 6"/>
          <p:cNvSpPr/>
          <p:nvPr/>
        </p:nvSpPr>
        <p:spPr>
          <a:xfrm>
            <a:off x="786384" y="3282696"/>
            <a:ext cx="365760" cy="365760"/>
          </a:xfrm>
          <a:prstGeom prst="ellipse">
            <a:avLst/>
          </a:prstGeom>
          <a:solidFill>
            <a:srgbClr val="1C7293"/>
          </a:solidFill>
          <a:ln w="12700">
            <a:solidFill>
              <a:srgbClr val="1C7293"/>
            </a:solidFill>
            <a:prstDash val="solid"/>
          </a:ln>
        </p:spPr>
        <p:txBody>
          <a:bodyPr/>
          <a:lstStyle/>
          <a:p>
            <a:endParaRPr lang="es-CO"/>
          </a:p>
        </p:txBody>
      </p:sp>
      <p:sp>
        <p:nvSpPr>
          <p:cNvPr id="9" name="Text 7"/>
          <p:cNvSpPr/>
          <p:nvPr/>
        </p:nvSpPr>
        <p:spPr>
          <a:xfrm>
            <a:off x="786384" y="328269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316736" y="3182112"/>
            <a:ext cx="2377440" cy="274320"/>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Identifica los datos</a:t>
            </a:r>
            <a:endParaRPr lang="en-US" sz="1250" dirty="0"/>
          </a:p>
        </p:txBody>
      </p:sp>
      <p:sp>
        <p:nvSpPr>
          <p:cNvPr id="11" name="Text 9"/>
          <p:cNvSpPr/>
          <p:nvPr/>
        </p:nvSpPr>
        <p:spPr>
          <a:xfrm>
            <a:off x="1316736" y="3456432"/>
            <a:ext cx="5486400" cy="2743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Cuáles se leen y cuáles se calculan. Aquí no hay ninguna regla fija.</a:t>
            </a:r>
            <a:endParaRPr lang="en-US" sz="1100" dirty="0"/>
          </a:p>
        </p:txBody>
      </p:sp>
      <p:sp>
        <p:nvSpPr>
          <p:cNvPr id="12" name="Shape 10"/>
          <p:cNvSpPr/>
          <p:nvPr/>
        </p:nvSpPr>
        <p:spPr>
          <a:xfrm>
            <a:off x="548640" y="3822192"/>
            <a:ext cx="6492240" cy="603504"/>
          </a:xfrm>
          <a:prstGeom prst="roundRect">
            <a:avLst>
              <a:gd name="adj" fmla="val 12121"/>
            </a:avLst>
          </a:prstGeom>
          <a:solidFill>
            <a:srgbClr val="F4F7FB"/>
          </a:solidFill>
          <a:ln w="12700">
            <a:solidFill>
              <a:srgbClr val="F4F7FB"/>
            </a:solidFill>
            <a:prstDash val="solid"/>
          </a:ln>
        </p:spPr>
        <p:txBody>
          <a:bodyPr/>
          <a:lstStyle/>
          <a:p>
            <a:endParaRPr lang="es-CO"/>
          </a:p>
        </p:txBody>
      </p:sp>
      <p:sp>
        <p:nvSpPr>
          <p:cNvPr id="13" name="Shape 11"/>
          <p:cNvSpPr/>
          <p:nvPr/>
        </p:nvSpPr>
        <p:spPr>
          <a:xfrm>
            <a:off x="786384" y="3941064"/>
            <a:ext cx="365760" cy="365760"/>
          </a:xfrm>
          <a:prstGeom prst="ellipse">
            <a:avLst/>
          </a:prstGeom>
          <a:solidFill>
            <a:srgbClr val="1C7293"/>
          </a:solidFill>
          <a:ln w="12700">
            <a:solidFill>
              <a:srgbClr val="1C7293"/>
            </a:solidFill>
            <a:prstDash val="solid"/>
          </a:ln>
        </p:spPr>
        <p:txBody>
          <a:bodyPr/>
          <a:lstStyle/>
          <a:p>
            <a:endParaRPr lang="es-CO"/>
          </a:p>
        </p:txBody>
      </p:sp>
      <p:sp>
        <p:nvSpPr>
          <p:cNvPr id="14" name="Text 12"/>
          <p:cNvSpPr/>
          <p:nvPr/>
        </p:nvSpPr>
        <p:spPr>
          <a:xfrm>
            <a:off x="786384" y="39410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316736" y="3840480"/>
            <a:ext cx="2377440" cy="274320"/>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Escribe el pseudocódigo</a:t>
            </a:r>
            <a:endParaRPr lang="en-US" sz="1250" dirty="0"/>
          </a:p>
        </p:txBody>
      </p:sp>
      <p:sp>
        <p:nvSpPr>
          <p:cNvPr id="16" name="Text 14"/>
          <p:cNvSpPr/>
          <p:nvPr/>
        </p:nvSpPr>
        <p:spPr>
          <a:xfrm>
            <a:off x="1316736" y="4114800"/>
            <a:ext cx="5486400" cy="2743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Con la convención del curso, en el cuaderno.</a:t>
            </a:r>
            <a:endParaRPr lang="en-US" sz="1100" dirty="0"/>
          </a:p>
        </p:txBody>
      </p:sp>
      <p:sp>
        <p:nvSpPr>
          <p:cNvPr id="17" name="Shape 15"/>
          <p:cNvSpPr/>
          <p:nvPr/>
        </p:nvSpPr>
        <p:spPr>
          <a:xfrm>
            <a:off x="548640" y="4480560"/>
            <a:ext cx="6492240" cy="603504"/>
          </a:xfrm>
          <a:prstGeom prst="roundRect">
            <a:avLst>
              <a:gd name="adj" fmla="val 12121"/>
            </a:avLst>
          </a:prstGeom>
          <a:solidFill>
            <a:srgbClr val="F4F7FB"/>
          </a:solidFill>
          <a:ln w="12700">
            <a:solidFill>
              <a:srgbClr val="F4F7FB"/>
            </a:solidFill>
            <a:prstDash val="solid"/>
          </a:ln>
        </p:spPr>
        <p:txBody>
          <a:bodyPr/>
          <a:lstStyle/>
          <a:p>
            <a:endParaRPr lang="es-CO"/>
          </a:p>
        </p:txBody>
      </p:sp>
      <p:sp>
        <p:nvSpPr>
          <p:cNvPr id="18" name="Shape 16"/>
          <p:cNvSpPr/>
          <p:nvPr/>
        </p:nvSpPr>
        <p:spPr>
          <a:xfrm>
            <a:off x="786384" y="4599432"/>
            <a:ext cx="365760" cy="365760"/>
          </a:xfrm>
          <a:prstGeom prst="ellipse">
            <a:avLst/>
          </a:prstGeom>
          <a:solidFill>
            <a:srgbClr val="1C7293"/>
          </a:solidFill>
          <a:ln w="12700">
            <a:solidFill>
              <a:srgbClr val="1C7293"/>
            </a:solidFill>
            <a:prstDash val="solid"/>
          </a:ln>
        </p:spPr>
        <p:txBody>
          <a:bodyPr/>
          <a:lstStyle/>
          <a:p>
            <a:endParaRPr lang="es-CO"/>
          </a:p>
        </p:txBody>
      </p:sp>
      <p:sp>
        <p:nvSpPr>
          <p:cNvPr id="19" name="Text 17"/>
          <p:cNvSpPr/>
          <p:nvPr/>
        </p:nvSpPr>
        <p:spPr>
          <a:xfrm>
            <a:off x="786384" y="45994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1316736" y="4498848"/>
            <a:ext cx="2377440" cy="274320"/>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Traduce a Java</a:t>
            </a:r>
            <a:endParaRPr lang="en-US" sz="1250" dirty="0"/>
          </a:p>
        </p:txBody>
      </p:sp>
      <p:sp>
        <p:nvSpPr>
          <p:cNvPr id="21" name="Text 19"/>
          <p:cNvSpPr/>
          <p:nvPr/>
        </p:nvSpPr>
        <p:spPr>
          <a:xfrm>
            <a:off x="1316736" y="4773168"/>
            <a:ext cx="5486400" cy="2743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Con la tabla de traducción a la vista. Clase Reparto.</a:t>
            </a:r>
            <a:endParaRPr lang="en-US" sz="1100" dirty="0"/>
          </a:p>
        </p:txBody>
      </p:sp>
      <p:sp>
        <p:nvSpPr>
          <p:cNvPr id="22" name="Shape 20"/>
          <p:cNvSpPr/>
          <p:nvPr/>
        </p:nvSpPr>
        <p:spPr>
          <a:xfrm>
            <a:off x="548640" y="5138928"/>
            <a:ext cx="6492240" cy="603504"/>
          </a:xfrm>
          <a:prstGeom prst="roundRect">
            <a:avLst>
              <a:gd name="adj" fmla="val 12121"/>
            </a:avLst>
          </a:prstGeom>
          <a:solidFill>
            <a:srgbClr val="F4F7FB"/>
          </a:solidFill>
          <a:ln w="12700">
            <a:solidFill>
              <a:srgbClr val="F4F7FB"/>
            </a:solidFill>
            <a:prstDash val="solid"/>
          </a:ln>
        </p:spPr>
        <p:txBody>
          <a:bodyPr/>
          <a:lstStyle/>
          <a:p>
            <a:endParaRPr lang="es-CO"/>
          </a:p>
        </p:txBody>
      </p:sp>
      <p:sp>
        <p:nvSpPr>
          <p:cNvPr id="23" name="Shape 21"/>
          <p:cNvSpPr/>
          <p:nvPr/>
        </p:nvSpPr>
        <p:spPr>
          <a:xfrm>
            <a:off x="786384" y="5257800"/>
            <a:ext cx="365760" cy="365760"/>
          </a:xfrm>
          <a:prstGeom prst="ellipse">
            <a:avLst/>
          </a:prstGeom>
          <a:solidFill>
            <a:srgbClr val="1C7293"/>
          </a:solidFill>
          <a:ln w="12700">
            <a:solidFill>
              <a:srgbClr val="1C7293"/>
            </a:solidFill>
            <a:prstDash val="solid"/>
          </a:ln>
        </p:spPr>
        <p:txBody>
          <a:bodyPr/>
          <a:lstStyle/>
          <a:p>
            <a:endParaRPr lang="es-CO"/>
          </a:p>
        </p:txBody>
      </p:sp>
      <p:sp>
        <p:nvSpPr>
          <p:cNvPr id="24" name="Text 22"/>
          <p:cNvSpPr/>
          <p:nvPr/>
        </p:nvSpPr>
        <p:spPr>
          <a:xfrm>
            <a:off x="786384" y="52578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316736" y="5157216"/>
            <a:ext cx="2377440" cy="274320"/>
          </a:xfrm>
          <a:prstGeom prst="rect">
            <a:avLst/>
          </a:prstGeom>
          <a:noFill/>
          <a:ln/>
        </p:spPr>
        <p:txBody>
          <a:bodyPr wrap="square" lIns="0" tIns="0" rIns="0" bIns="0" rtlCol="0" anchor="ctr"/>
          <a:lstStyle/>
          <a:p>
            <a:pPr marL="0" indent="0">
              <a:buNone/>
            </a:pPr>
            <a:r>
              <a:rPr lang="en-US" sz="1250" b="1" dirty="0">
                <a:solidFill>
                  <a:srgbClr val="13294B"/>
                </a:solidFill>
                <a:latin typeface="Calibri" pitchFamily="34" charset="0"/>
                <a:ea typeface="Calibri" pitchFamily="34" charset="-122"/>
                <a:cs typeface="Calibri" pitchFamily="34" charset="-120"/>
              </a:rPr>
              <a:t>Ejecuta y comprueba</a:t>
            </a:r>
            <a:endParaRPr lang="en-US" sz="1250" dirty="0"/>
          </a:p>
        </p:txBody>
      </p:sp>
      <p:sp>
        <p:nvSpPr>
          <p:cNvPr id="26" name="Text 24"/>
          <p:cNvSpPr/>
          <p:nvPr/>
        </p:nvSpPr>
        <p:spPr>
          <a:xfrm>
            <a:off x="1316736" y="5431536"/>
            <a:ext cx="5486400" cy="2743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Con 47 dulces y 6 niños: a cada uno le tocan 7 y sobran 5.</a:t>
            </a:r>
            <a:endParaRPr lang="en-US" sz="1100" dirty="0"/>
          </a:p>
        </p:txBody>
      </p:sp>
      <p:sp>
        <p:nvSpPr>
          <p:cNvPr id="27" name="Shape 25"/>
          <p:cNvSpPr/>
          <p:nvPr/>
        </p:nvSpPr>
        <p:spPr>
          <a:xfrm>
            <a:off x="7223760" y="2011680"/>
            <a:ext cx="4416552" cy="2231136"/>
          </a:xfrm>
          <a:prstGeom prst="roundRect">
            <a:avLst>
              <a:gd name="adj" fmla="val 3279"/>
            </a:avLst>
          </a:prstGeom>
          <a:solidFill>
            <a:srgbClr val="FFF4DE"/>
          </a:solidFill>
          <a:ln w="12700">
            <a:solidFill>
              <a:srgbClr val="FFF4DE"/>
            </a:solidFill>
            <a:prstDash val="solid"/>
          </a:ln>
        </p:spPr>
        <p:txBody>
          <a:bodyPr/>
          <a:lstStyle/>
          <a:p>
            <a:endParaRPr lang="es-CO"/>
          </a:p>
        </p:txBody>
      </p:sp>
      <p:sp>
        <p:nvSpPr>
          <p:cNvPr id="28" name="Text 26"/>
          <p:cNvSpPr/>
          <p:nvPr/>
        </p:nvSpPr>
        <p:spPr>
          <a:xfrm>
            <a:off x="7498080" y="2121408"/>
            <a:ext cx="38404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ANTES DE ESCRIBIR CÓDIGO, RESPONDE</a:t>
            </a:r>
            <a:endParaRPr lang="en-US" sz="1050" dirty="0"/>
          </a:p>
        </p:txBody>
      </p:sp>
      <p:sp>
        <p:nvSpPr>
          <p:cNvPr id="29" name="Text 27"/>
          <p:cNvSpPr/>
          <p:nvPr/>
        </p:nvSpPr>
        <p:spPr>
          <a:xfrm>
            <a:off x="7498080" y="2414016"/>
            <a:ext cx="3840480" cy="170078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¿Cuántos datos entran y cuántos salen?</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¿Cuál de las tres operaciones da los dulces de cada niño?</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¿Y cuál da los que sobran?</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¿De qué tipo es cada resultado?</a:t>
            </a:r>
            <a:endParaRPr lang="en-US" sz="1200" dirty="0"/>
          </a:p>
        </p:txBody>
      </p:sp>
      <p:sp>
        <p:nvSpPr>
          <p:cNvPr id="30" name="Shape 28"/>
          <p:cNvSpPr/>
          <p:nvPr/>
        </p:nvSpPr>
        <p:spPr>
          <a:xfrm>
            <a:off x="7223760" y="4352544"/>
            <a:ext cx="4416552" cy="1316736"/>
          </a:xfrm>
          <a:prstGeom prst="roundRect">
            <a:avLst>
              <a:gd name="adj" fmla="val 5556"/>
            </a:avLst>
          </a:prstGeom>
          <a:solidFill>
            <a:srgbClr val="E8EEF4"/>
          </a:solidFill>
          <a:ln w="12700">
            <a:solidFill>
              <a:srgbClr val="E8EEF4"/>
            </a:solidFill>
            <a:prstDash val="solid"/>
          </a:ln>
        </p:spPr>
        <p:txBody>
          <a:bodyPr/>
          <a:lstStyle/>
          <a:p>
            <a:endParaRPr lang="es-CO"/>
          </a:p>
        </p:txBody>
      </p:sp>
      <p:sp>
        <p:nvSpPr>
          <p:cNvPr id="31" name="Text 29"/>
          <p:cNvSpPr/>
          <p:nvPr/>
        </p:nvSpPr>
        <p:spPr>
          <a:xfrm>
            <a:off x="7498080" y="4462272"/>
            <a:ext cx="38404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SI TERMINAS TEMPRANO</a:t>
            </a:r>
            <a:endParaRPr lang="en-US" sz="1050" dirty="0"/>
          </a:p>
        </p:txBody>
      </p:sp>
      <p:sp>
        <p:nvSpPr>
          <p:cNvPr id="32" name="Text 30"/>
          <p:cNvSpPr/>
          <p:nvPr/>
        </p:nvSpPr>
        <p:spPr>
          <a:xfrm>
            <a:off x="7498080" y="4754880"/>
            <a:ext cx="3840480" cy="786384"/>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Agrega una tercera salida: cuántos dulces se repartieron en total, sin contar los que sobraron.</a:t>
            </a:r>
            <a:endParaRPr lang="en-US" sz="1150" dirty="0"/>
          </a:p>
        </p:txBody>
      </p:sp>
      <p:sp>
        <p:nvSpPr>
          <p:cNvPr id="35" name="Text 33"/>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AUTONOMÍA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Leer el error antes de levantar la mano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El compilador dice qué pasó y en qué línea. Estos cinco mensajes cubren casi todo lo que vas a encontrar hoy.</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182112"/>
        </p:xfrm>
        <a:graphic>
          <a:graphicData uri="http://schemas.openxmlformats.org/drawingml/2006/table">
            <a:tbl>
              <a:tblPr/>
              <a:tblGrid>
                <a:gridCol w="32918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5303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Mensaje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Qué significa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Qué revisar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30352">
                <a:tc>
                  <a:txBody>
                    <a:bodyPr/>
                    <a:lstStyle/>
                    <a:p>
                      <a:pPr marL="0" indent="0">
                        <a:buNone/>
                      </a:pPr>
                      <a:r>
                        <a:rPr lang="en-US" sz="1100" b="1" dirty="0">
                          <a:solidFill>
                            <a:srgbClr val="D64545"/>
                          </a:solidFill>
                          <a:latin typeface="Courier New" pitchFamily="34" charset="0"/>
                          <a:ea typeface="Courier New" pitchFamily="34" charset="-122"/>
                          <a:cs typeface="Courier New" pitchFamily="34" charset="-120"/>
                        </a:rPr>
                        <a:t>cannot find symbol</a:t>
                      </a:r>
                      <a:endParaRPr lang="en-US" sz="11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Usas un nombre que Java no conoce.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Que esté escrito igual arriba, con las mismas mayúsculas. Si dice Scanner, falta el import.</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100" b="1" dirty="0">
                          <a:solidFill>
                            <a:srgbClr val="D64545"/>
                          </a:solidFill>
                          <a:latin typeface="Courier New" pitchFamily="34" charset="0"/>
                          <a:ea typeface="Courier New" pitchFamily="34" charset="-122"/>
                          <a:cs typeface="Courier New" pitchFamily="34" charset="-120"/>
                        </a:rPr>
                        <a:t>';' expected</a:t>
                      </a:r>
                      <a:endParaRPr lang="en-US" sz="11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Falta un punto y coma.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El final de la línea que señala y el de la anterior.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100" b="1" dirty="0">
                          <a:solidFill>
                            <a:srgbClr val="D64545"/>
                          </a:solidFill>
                          <a:latin typeface="Courier New" pitchFamily="34" charset="0"/>
                          <a:ea typeface="Courier New" pitchFamily="34" charset="-122"/>
                          <a:cs typeface="Courier New" pitchFamily="34" charset="-120"/>
                        </a:rPr>
                        <a:t>')' or ',' expected</a:t>
                      </a:r>
                      <a:endParaRPr lang="en-US" sz="11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Dentro de un println falta el signo más entre el texto y el dato.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100" b="1" dirty="0">
                          <a:solidFill>
                            <a:srgbClr val="13294B"/>
                          </a:solidFill>
                          <a:latin typeface="Courier New" pitchFamily="34" charset="0"/>
                          <a:ea typeface="Courier New" pitchFamily="34" charset="-122"/>
                          <a:cs typeface="Courier New" pitchFamily="34" charset="-120"/>
                        </a:rPr>
                        <a:t>"Area: " + area</a:t>
                      </a:r>
                      <a:endParaRPr lang="en-US" sz="11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100" b="1" dirty="0">
                          <a:solidFill>
                            <a:srgbClr val="D64545"/>
                          </a:solidFill>
                          <a:latin typeface="Courier New" pitchFamily="34" charset="0"/>
                          <a:ea typeface="Courier New" pitchFamily="34" charset="-122"/>
                          <a:cs typeface="Courier New" pitchFamily="34" charset="-120"/>
                        </a:rPr>
                        <a:t>variable x might not have</a:t>
                      </a:r>
                      <a:endParaRPr lang="en-US" sz="1100" dirty="0">
                        <a:latin typeface="Courier New" charset="0"/>
                        <a:ea typeface="Courier New" charset="0"/>
                        <a:cs typeface="Courier New" charset="0"/>
                      </a:endParaRPr>
                    </a:p>
                    <a:p>
                      <a:pPr marL="0" indent="0">
                        <a:buNone/>
                      </a:pPr>
                      <a:r>
                        <a:rPr lang="en-US" sz="1100" b="1" dirty="0">
                          <a:solidFill>
                            <a:srgbClr val="D64545"/>
                          </a:solidFill>
                          <a:latin typeface="Courier New" pitchFamily="34" charset="0"/>
                          <a:ea typeface="Courier New" pitchFamily="34" charset="-122"/>
                          <a:cs typeface="Courier New" pitchFamily="34" charset="-120"/>
                        </a:rPr>
                        <a:t>been initialized</a:t>
                      </a:r>
                      <a:endParaRPr lang="en-US" sz="11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Usas un dato antes de leerlo o calcularlo.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Que la línea que le da valor esté antes de la que lo usa.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000" b="1" dirty="0">
                          <a:solidFill>
                            <a:srgbClr val="D64545"/>
                          </a:solidFill>
                          <a:latin typeface="Courier New" pitchFamily="34" charset="0"/>
                          <a:ea typeface="Courier New" pitchFamily="34" charset="-122"/>
                          <a:cs typeface="Courier New" pitchFamily="34" charset="-120"/>
                        </a:rPr>
                        <a:t>class X is public, should be</a:t>
                      </a:r>
                      <a:endParaRPr lang="en-US" sz="1000" dirty="0">
                        <a:latin typeface="Courier New" charset="0"/>
                        <a:ea typeface="Courier New" charset="0"/>
                        <a:cs typeface="Courier New" charset="0"/>
                      </a:endParaRPr>
                    </a:p>
                    <a:p>
                      <a:pPr marL="0" indent="0">
                        <a:buNone/>
                      </a:pPr>
                      <a:r>
                        <a:rPr lang="en-US" sz="1000" b="1" dirty="0">
                          <a:solidFill>
                            <a:srgbClr val="D64545"/>
                          </a:solidFill>
                          <a:latin typeface="Courier New" pitchFamily="34" charset="0"/>
                          <a:ea typeface="Courier New" pitchFamily="34" charset="-122"/>
                          <a:cs typeface="Courier New" pitchFamily="34" charset="-120"/>
                        </a:rPr>
                        <a:t>declared in a file named X.java</a:t>
                      </a:r>
                      <a:endParaRPr lang="en-US" sz="100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El nombre del archivo no coincide con el de la clase.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Renombra el archivo, no la clase.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48640" y="5632704"/>
            <a:ext cx="11091672" cy="603504"/>
          </a:xfrm>
          <a:prstGeom prst="roundRect">
            <a:avLst>
              <a:gd name="adj" fmla="val 12121"/>
            </a:avLst>
          </a:prstGeom>
          <a:solidFill>
            <a:srgbClr val="13294B"/>
          </a:solidFill>
          <a:ln w="12700">
            <a:solidFill>
              <a:srgbClr val="13294B"/>
            </a:solidFill>
            <a:prstDash val="solid"/>
          </a:ln>
        </p:spPr>
        <p:txBody>
          <a:bodyPr/>
          <a:lstStyle/>
          <a:p>
            <a:endParaRPr lang="es-CO"/>
          </a:p>
        </p:txBody>
      </p:sp>
      <p:sp>
        <p:nvSpPr>
          <p:cNvPr id="7" name="Text 4"/>
          <p:cNvSpPr/>
          <p:nvPr/>
        </p:nvSpPr>
        <p:spPr>
          <a:xfrm>
            <a:off x="868680" y="5632704"/>
            <a:ext cx="10451592" cy="603504"/>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EL ORDEN DE LOS ERRORES ENGAÑA:  </a:t>
            </a:r>
            <a:r>
              <a:rPr lang="en-US" sz="1350" dirty="0">
                <a:solidFill>
                  <a:srgbClr val="FFFFFF"/>
                </a:solidFill>
                <a:latin typeface="Calibri" pitchFamily="34" charset="0"/>
                <a:ea typeface="Calibri" pitchFamily="34" charset="-122"/>
                <a:cs typeface="Calibri" pitchFamily="34" charset="-120"/>
              </a:rPr>
              <a:t>arregla siempre el primero de la lista y vuelve a compilar. Muchos de los otros desaparecen solos.</a:t>
            </a:r>
            <a:endParaRPr lang="en-US" sz="1350" dirty="0"/>
          </a:p>
        </p:txBody>
      </p:sp>
      <p:sp>
        <p:nvSpPr>
          <p:cNvPr id="8" name="Text 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18</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PRIMERA PARTE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Cuatro ejercicios para practicar · 1 de 2</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De cada uno, las dos cosas: el pseudocódigo con la convención del curso y el programa en Java que compila y se ejecuta.</a:t>
            </a:r>
            <a:endParaRPr lang="en-US" sz="1400" dirty="0"/>
          </a:p>
        </p:txBody>
      </p:sp>
      <p:sp>
        <p:nvSpPr>
          <p:cNvPr id="5" name="Shape 3"/>
          <p:cNvSpPr/>
          <p:nvPr/>
        </p:nvSpPr>
        <p:spPr>
          <a:xfrm>
            <a:off x="548640" y="1883664"/>
            <a:ext cx="11091672" cy="932688"/>
          </a:xfrm>
          <a:prstGeom prst="roundRect">
            <a:avLst>
              <a:gd name="adj" fmla="val 7843"/>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04672" y="2139696"/>
            <a:ext cx="402336" cy="402336"/>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804672" y="21396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53312" y="193852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película</a:t>
            </a:r>
            <a:endParaRPr lang="en-US" sz="1300" dirty="0"/>
          </a:p>
        </p:txBody>
      </p:sp>
      <p:sp>
        <p:nvSpPr>
          <p:cNvPr id="9" name="Text 7"/>
          <p:cNvSpPr/>
          <p:nvPr/>
        </p:nvSpPr>
        <p:spPr>
          <a:xfrm>
            <a:off x="1353312" y="219456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 la duración de una película en minutos. Reportar cuántas horas y cuántos minutos dura.</a:t>
            </a:r>
            <a:endParaRPr lang="en-US" sz="1150" dirty="0"/>
          </a:p>
        </p:txBody>
      </p:sp>
      <p:sp>
        <p:nvSpPr>
          <p:cNvPr id="10" name="Shape 8"/>
          <p:cNvSpPr/>
          <p:nvPr/>
        </p:nvSpPr>
        <p:spPr>
          <a:xfrm>
            <a:off x="8503920" y="202996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11" name="Text 9"/>
          <p:cNvSpPr/>
          <p:nvPr/>
        </p:nvSpPr>
        <p:spPr>
          <a:xfrm>
            <a:off x="8668512" y="202996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145</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2 25</a:t>
            </a:r>
            <a:endParaRPr lang="en-US" sz="950" dirty="0"/>
          </a:p>
        </p:txBody>
      </p:sp>
      <p:sp>
        <p:nvSpPr>
          <p:cNvPr id="12" name="Shape 10"/>
          <p:cNvSpPr/>
          <p:nvPr/>
        </p:nvSpPr>
        <p:spPr>
          <a:xfrm>
            <a:off x="548640" y="2889504"/>
            <a:ext cx="11091672" cy="932688"/>
          </a:xfrm>
          <a:prstGeom prst="roundRect">
            <a:avLst>
              <a:gd name="adj" fmla="val 7843"/>
            </a:avLst>
          </a:prstGeom>
          <a:solidFill>
            <a:srgbClr val="E8EEF4"/>
          </a:solidFill>
          <a:ln w="12700">
            <a:solidFill>
              <a:srgbClr val="E8EEF4"/>
            </a:solidFill>
            <a:prstDash val="solid"/>
          </a:ln>
        </p:spPr>
        <p:txBody>
          <a:bodyPr/>
          <a:lstStyle/>
          <a:p>
            <a:endParaRPr lang="es-CO"/>
          </a:p>
        </p:txBody>
      </p:sp>
      <p:sp>
        <p:nvSpPr>
          <p:cNvPr id="13" name="Shape 11"/>
          <p:cNvSpPr/>
          <p:nvPr/>
        </p:nvSpPr>
        <p:spPr>
          <a:xfrm>
            <a:off x="804672" y="3145536"/>
            <a:ext cx="402336" cy="402336"/>
          </a:xfrm>
          <a:prstGeom prst="ellipse">
            <a:avLst/>
          </a:prstGeom>
          <a:solidFill>
            <a:srgbClr val="1C7293"/>
          </a:solidFill>
          <a:ln w="12700">
            <a:solidFill>
              <a:srgbClr val="1C7293"/>
            </a:solidFill>
            <a:prstDash val="solid"/>
          </a:ln>
        </p:spPr>
        <p:txBody>
          <a:bodyPr/>
          <a:lstStyle/>
          <a:p>
            <a:endParaRPr lang="es-CO"/>
          </a:p>
        </p:txBody>
      </p:sp>
      <p:sp>
        <p:nvSpPr>
          <p:cNvPr id="14" name="Text 12"/>
          <p:cNvSpPr/>
          <p:nvPr/>
        </p:nvSpPr>
        <p:spPr>
          <a:xfrm>
            <a:off x="804672" y="31455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353312" y="294436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cancha</a:t>
            </a:r>
            <a:endParaRPr lang="en-US" sz="1300" dirty="0"/>
          </a:p>
        </p:txBody>
      </p:sp>
      <p:sp>
        <p:nvSpPr>
          <p:cNvPr id="16" name="Text 14"/>
          <p:cNvSpPr/>
          <p:nvPr/>
        </p:nvSpPr>
        <p:spPr>
          <a:xfrm>
            <a:off x="1353312" y="320040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conocen el largo y el ancho de una cancha en metros. Reportar su área y su perímetro.</a:t>
            </a:r>
            <a:endParaRPr lang="en-US" sz="1150" dirty="0"/>
          </a:p>
        </p:txBody>
      </p:sp>
      <p:sp>
        <p:nvSpPr>
          <p:cNvPr id="17" name="Shape 15"/>
          <p:cNvSpPr/>
          <p:nvPr/>
        </p:nvSpPr>
        <p:spPr>
          <a:xfrm>
            <a:off x="8503920" y="303580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18" name="Text 16"/>
          <p:cNvSpPr/>
          <p:nvPr/>
        </p:nvSpPr>
        <p:spPr>
          <a:xfrm>
            <a:off x="8668512" y="303580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105  68</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7140 y 346</a:t>
            </a:r>
            <a:endParaRPr lang="en-US" sz="950" dirty="0"/>
          </a:p>
        </p:txBody>
      </p:sp>
      <p:sp>
        <p:nvSpPr>
          <p:cNvPr id="19" name="Shape 17"/>
          <p:cNvSpPr/>
          <p:nvPr/>
        </p:nvSpPr>
        <p:spPr>
          <a:xfrm>
            <a:off x="548640" y="3895344"/>
            <a:ext cx="11091672" cy="932688"/>
          </a:xfrm>
          <a:prstGeom prst="roundRect">
            <a:avLst>
              <a:gd name="adj" fmla="val 7843"/>
            </a:avLst>
          </a:prstGeom>
          <a:solidFill>
            <a:srgbClr val="F4F7FB"/>
          </a:solidFill>
          <a:ln w="12700">
            <a:solidFill>
              <a:srgbClr val="F4F7FB"/>
            </a:solidFill>
            <a:prstDash val="solid"/>
          </a:ln>
        </p:spPr>
        <p:txBody>
          <a:bodyPr/>
          <a:lstStyle/>
          <a:p>
            <a:endParaRPr lang="es-CO"/>
          </a:p>
        </p:txBody>
      </p:sp>
      <p:sp>
        <p:nvSpPr>
          <p:cNvPr id="20" name="Shape 18"/>
          <p:cNvSpPr/>
          <p:nvPr/>
        </p:nvSpPr>
        <p:spPr>
          <a:xfrm>
            <a:off x="804672" y="4151376"/>
            <a:ext cx="402336" cy="402336"/>
          </a:xfrm>
          <a:prstGeom prst="ellipse">
            <a:avLst/>
          </a:prstGeom>
          <a:solidFill>
            <a:srgbClr val="1C7293"/>
          </a:solidFill>
          <a:ln w="12700">
            <a:solidFill>
              <a:srgbClr val="1C7293"/>
            </a:solidFill>
            <a:prstDash val="solid"/>
          </a:ln>
        </p:spPr>
        <p:txBody>
          <a:bodyPr/>
          <a:lstStyle/>
          <a:p>
            <a:endParaRPr lang="es-CO"/>
          </a:p>
        </p:txBody>
      </p:sp>
      <p:sp>
        <p:nvSpPr>
          <p:cNvPr id="21" name="Text 19"/>
          <p:cNvSpPr/>
          <p:nvPr/>
        </p:nvSpPr>
        <p:spPr>
          <a:xfrm>
            <a:off x="804672" y="41513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1353312" y="395020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Los huevos</a:t>
            </a:r>
            <a:endParaRPr lang="en-US" sz="1300" dirty="0"/>
          </a:p>
        </p:txBody>
      </p:sp>
      <p:sp>
        <p:nvSpPr>
          <p:cNvPr id="23" name="Text 21"/>
          <p:cNvSpPr/>
          <p:nvPr/>
        </p:nvSpPr>
        <p:spPr>
          <a:xfrm>
            <a:off x="1353312" y="420624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 la cantidad de huevos recogidos. Se empacan en cartones de 30. Reportar cuántos cartones completos se arman y cuántos huevos quedan sueltos.</a:t>
            </a:r>
            <a:endParaRPr lang="en-US" sz="1150" dirty="0"/>
          </a:p>
        </p:txBody>
      </p:sp>
      <p:sp>
        <p:nvSpPr>
          <p:cNvPr id="24" name="Shape 22"/>
          <p:cNvSpPr/>
          <p:nvPr/>
        </p:nvSpPr>
        <p:spPr>
          <a:xfrm>
            <a:off x="8503920" y="404164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25" name="Text 23"/>
          <p:cNvSpPr/>
          <p:nvPr/>
        </p:nvSpPr>
        <p:spPr>
          <a:xfrm>
            <a:off x="8668512" y="404164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187</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67</a:t>
            </a:r>
            <a:endParaRPr lang="en-US" sz="950" dirty="0"/>
          </a:p>
        </p:txBody>
      </p:sp>
      <p:sp>
        <p:nvSpPr>
          <p:cNvPr id="26" name="Shape 24"/>
          <p:cNvSpPr/>
          <p:nvPr/>
        </p:nvSpPr>
        <p:spPr>
          <a:xfrm>
            <a:off x="548640" y="4901184"/>
            <a:ext cx="11091672" cy="932688"/>
          </a:xfrm>
          <a:prstGeom prst="roundRect">
            <a:avLst>
              <a:gd name="adj" fmla="val 7843"/>
            </a:avLst>
          </a:prstGeom>
          <a:solidFill>
            <a:srgbClr val="E8EEF4"/>
          </a:solidFill>
          <a:ln w="12700">
            <a:solidFill>
              <a:srgbClr val="E8EEF4"/>
            </a:solidFill>
            <a:prstDash val="solid"/>
          </a:ln>
        </p:spPr>
        <p:txBody>
          <a:bodyPr/>
          <a:lstStyle/>
          <a:p>
            <a:endParaRPr lang="es-CO"/>
          </a:p>
        </p:txBody>
      </p:sp>
      <p:sp>
        <p:nvSpPr>
          <p:cNvPr id="27" name="Shape 25"/>
          <p:cNvSpPr/>
          <p:nvPr/>
        </p:nvSpPr>
        <p:spPr>
          <a:xfrm>
            <a:off x="804672" y="5157216"/>
            <a:ext cx="402336" cy="402336"/>
          </a:xfrm>
          <a:prstGeom prst="ellipse">
            <a:avLst/>
          </a:prstGeom>
          <a:solidFill>
            <a:srgbClr val="1C7293"/>
          </a:solidFill>
          <a:ln w="12700">
            <a:solidFill>
              <a:srgbClr val="1C7293"/>
            </a:solidFill>
            <a:prstDash val="solid"/>
          </a:ln>
        </p:spPr>
        <p:txBody>
          <a:bodyPr/>
          <a:lstStyle/>
          <a:p>
            <a:endParaRPr lang="es-CO"/>
          </a:p>
        </p:txBody>
      </p:sp>
      <p:sp>
        <p:nvSpPr>
          <p:cNvPr id="28" name="Text 26"/>
          <p:cNvSpPr/>
          <p:nvPr/>
        </p:nvSpPr>
        <p:spPr>
          <a:xfrm>
            <a:off x="804672" y="515721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7"/>
          <p:cNvSpPr/>
          <p:nvPr/>
        </p:nvSpPr>
        <p:spPr>
          <a:xfrm>
            <a:off x="1353312" y="495604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rotación</a:t>
            </a:r>
            <a:endParaRPr lang="en-US" sz="1300" dirty="0"/>
          </a:p>
        </p:txBody>
      </p:sp>
      <p:sp>
        <p:nvSpPr>
          <p:cNvPr id="30" name="Text 28"/>
          <p:cNvSpPr/>
          <p:nvPr/>
        </p:nvSpPr>
        <p:spPr>
          <a:xfrm>
            <a:off x="1353312" y="521208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conocen tres números. Reportarlos rotados: el primero pasa al lugar del segundo, el segundo al del tercero y el tercero al del primero.</a:t>
            </a:r>
            <a:endParaRPr lang="en-US" sz="1150" dirty="0"/>
          </a:p>
        </p:txBody>
      </p:sp>
      <p:sp>
        <p:nvSpPr>
          <p:cNvPr id="31" name="Shape 29"/>
          <p:cNvSpPr/>
          <p:nvPr/>
        </p:nvSpPr>
        <p:spPr>
          <a:xfrm>
            <a:off x="8503920" y="504748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32" name="Text 30"/>
          <p:cNvSpPr/>
          <p:nvPr/>
        </p:nvSpPr>
        <p:spPr>
          <a:xfrm>
            <a:off x="8668512" y="504748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1  2  3</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3 1 2</a:t>
            </a:r>
            <a:endParaRPr lang="en-US" sz="950" dirty="0"/>
          </a:p>
        </p:txBody>
      </p:sp>
      <p:sp>
        <p:nvSpPr>
          <p:cNvPr id="35" name="Text 33"/>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PRIMERA PARTE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Cuatro ejercicios para practicar · 2 de 2</a:t>
            </a:r>
            <a:endParaRPr lang="en-US" sz="2900" dirty="0"/>
          </a:p>
        </p:txBody>
      </p:sp>
      <p:sp>
        <p:nvSpPr>
          <p:cNvPr id="4" name="Shape 2"/>
          <p:cNvSpPr/>
          <p:nvPr/>
        </p:nvSpPr>
        <p:spPr>
          <a:xfrm>
            <a:off x="548640" y="1883664"/>
            <a:ext cx="11091672" cy="932688"/>
          </a:xfrm>
          <a:prstGeom prst="roundRect">
            <a:avLst>
              <a:gd name="adj" fmla="val 7843"/>
            </a:avLst>
          </a:prstGeom>
          <a:solidFill>
            <a:srgbClr val="F4F7FB"/>
          </a:solidFill>
          <a:ln w="12700">
            <a:solidFill>
              <a:srgbClr val="F4F7FB"/>
            </a:solidFill>
            <a:prstDash val="solid"/>
          </a:ln>
        </p:spPr>
        <p:txBody>
          <a:bodyPr/>
          <a:lstStyle/>
          <a:p>
            <a:endParaRPr lang="es-CO"/>
          </a:p>
        </p:txBody>
      </p:sp>
      <p:sp>
        <p:nvSpPr>
          <p:cNvPr id="5" name="Shape 3"/>
          <p:cNvSpPr/>
          <p:nvPr/>
        </p:nvSpPr>
        <p:spPr>
          <a:xfrm>
            <a:off x="804672" y="2139696"/>
            <a:ext cx="402336" cy="402336"/>
          </a:xfrm>
          <a:prstGeom prst="ellipse">
            <a:avLst/>
          </a:prstGeom>
          <a:solidFill>
            <a:srgbClr val="1C7293"/>
          </a:solidFill>
          <a:ln w="12700">
            <a:solidFill>
              <a:srgbClr val="1C7293"/>
            </a:solidFill>
            <a:prstDash val="solid"/>
          </a:ln>
        </p:spPr>
        <p:txBody>
          <a:bodyPr/>
          <a:lstStyle/>
          <a:p>
            <a:endParaRPr lang="es-CO"/>
          </a:p>
        </p:txBody>
      </p:sp>
      <p:sp>
        <p:nvSpPr>
          <p:cNvPr id="6" name="Text 4"/>
          <p:cNvSpPr/>
          <p:nvPr/>
        </p:nvSpPr>
        <p:spPr>
          <a:xfrm>
            <a:off x="804672" y="21396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5"/>
          <p:cNvSpPr/>
          <p:nvPr/>
        </p:nvSpPr>
        <p:spPr>
          <a:xfrm>
            <a:off x="1353312" y="193852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trío</a:t>
            </a:r>
            <a:endParaRPr lang="en-US" sz="1300" dirty="0"/>
          </a:p>
        </p:txBody>
      </p:sp>
      <p:sp>
        <p:nvSpPr>
          <p:cNvPr id="8" name="Text 6"/>
          <p:cNvSpPr/>
          <p:nvPr/>
        </p:nvSpPr>
        <p:spPr>
          <a:xfrm>
            <a:off x="1353312" y="219456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conocen tres números enteros. Reportar su suma y su promedio. El promedio puede tener decimales.</a:t>
            </a:r>
            <a:endParaRPr lang="en-US" sz="1150" dirty="0"/>
          </a:p>
        </p:txBody>
      </p:sp>
      <p:sp>
        <p:nvSpPr>
          <p:cNvPr id="9" name="Shape 7"/>
          <p:cNvSpPr/>
          <p:nvPr/>
        </p:nvSpPr>
        <p:spPr>
          <a:xfrm>
            <a:off x="8503920" y="202996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10" name="Text 8"/>
          <p:cNvSpPr/>
          <p:nvPr/>
        </p:nvSpPr>
        <p:spPr>
          <a:xfrm>
            <a:off x="8668512" y="202996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7  8  10</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25 y 8.333...</a:t>
            </a:r>
            <a:endParaRPr lang="en-US" sz="950" dirty="0"/>
          </a:p>
        </p:txBody>
      </p:sp>
      <p:sp>
        <p:nvSpPr>
          <p:cNvPr id="11" name="Shape 9"/>
          <p:cNvSpPr/>
          <p:nvPr/>
        </p:nvSpPr>
        <p:spPr>
          <a:xfrm>
            <a:off x="548640" y="2889504"/>
            <a:ext cx="11091672" cy="932688"/>
          </a:xfrm>
          <a:prstGeom prst="roundRect">
            <a:avLst>
              <a:gd name="adj" fmla="val 7843"/>
            </a:avLst>
          </a:prstGeom>
          <a:solidFill>
            <a:srgbClr val="E8EEF4"/>
          </a:solidFill>
          <a:ln w="12700">
            <a:solidFill>
              <a:srgbClr val="E8EEF4"/>
            </a:solidFill>
            <a:prstDash val="solid"/>
          </a:ln>
        </p:spPr>
        <p:txBody>
          <a:bodyPr/>
          <a:lstStyle/>
          <a:p>
            <a:endParaRPr lang="es-CO"/>
          </a:p>
        </p:txBody>
      </p:sp>
      <p:sp>
        <p:nvSpPr>
          <p:cNvPr id="12" name="Shape 10"/>
          <p:cNvSpPr/>
          <p:nvPr/>
        </p:nvSpPr>
        <p:spPr>
          <a:xfrm>
            <a:off x="804672" y="3145536"/>
            <a:ext cx="402336" cy="402336"/>
          </a:xfrm>
          <a:prstGeom prst="ellipse">
            <a:avLst/>
          </a:prstGeom>
          <a:solidFill>
            <a:srgbClr val="1C7293"/>
          </a:solidFill>
          <a:ln w="12700">
            <a:solidFill>
              <a:srgbClr val="1C7293"/>
            </a:solidFill>
            <a:prstDash val="solid"/>
          </a:ln>
        </p:spPr>
        <p:txBody>
          <a:bodyPr/>
          <a:lstStyle/>
          <a:p>
            <a:endParaRPr lang="es-CO"/>
          </a:p>
        </p:txBody>
      </p:sp>
      <p:sp>
        <p:nvSpPr>
          <p:cNvPr id="13" name="Text 11"/>
          <p:cNvSpPr/>
          <p:nvPr/>
        </p:nvSpPr>
        <p:spPr>
          <a:xfrm>
            <a:off x="804672" y="31455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p:nvPr/>
        </p:nvSpPr>
        <p:spPr>
          <a:xfrm>
            <a:off x="1353312" y="294436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estatura</a:t>
            </a:r>
            <a:endParaRPr lang="en-US" sz="1300" dirty="0"/>
          </a:p>
        </p:txBody>
      </p:sp>
      <p:sp>
        <p:nvSpPr>
          <p:cNvPr id="15" name="Text 13"/>
          <p:cNvSpPr/>
          <p:nvPr/>
        </p:nvSpPr>
        <p:spPr>
          <a:xfrm>
            <a:off x="1353312" y="320040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 la estatura de una persona en centímetros. Reportarla en metros y centímetros.</a:t>
            </a:r>
            <a:endParaRPr lang="en-US" sz="1150" dirty="0"/>
          </a:p>
        </p:txBody>
      </p:sp>
      <p:sp>
        <p:nvSpPr>
          <p:cNvPr id="16" name="Shape 14"/>
          <p:cNvSpPr/>
          <p:nvPr/>
        </p:nvSpPr>
        <p:spPr>
          <a:xfrm>
            <a:off x="8503920" y="303580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17" name="Text 15"/>
          <p:cNvSpPr/>
          <p:nvPr/>
        </p:nvSpPr>
        <p:spPr>
          <a:xfrm>
            <a:off x="8668512" y="303580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173</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1 73</a:t>
            </a:r>
            <a:endParaRPr lang="en-US" sz="950" dirty="0"/>
          </a:p>
        </p:txBody>
      </p:sp>
      <p:sp>
        <p:nvSpPr>
          <p:cNvPr id="18" name="Shape 16"/>
          <p:cNvSpPr/>
          <p:nvPr/>
        </p:nvSpPr>
        <p:spPr>
          <a:xfrm>
            <a:off x="548640" y="3895344"/>
            <a:ext cx="11091672" cy="932688"/>
          </a:xfrm>
          <a:prstGeom prst="roundRect">
            <a:avLst>
              <a:gd name="adj" fmla="val 7843"/>
            </a:avLst>
          </a:prstGeom>
          <a:solidFill>
            <a:srgbClr val="F4F7FB"/>
          </a:solidFill>
          <a:ln w="12700">
            <a:solidFill>
              <a:srgbClr val="F4F7FB"/>
            </a:solidFill>
            <a:prstDash val="solid"/>
          </a:ln>
        </p:spPr>
        <p:txBody>
          <a:bodyPr/>
          <a:lstStyle/>
          <a:p>
            <a:endParaRPr lang="es-CO"/>
          </a:p>
        </p:txBody>
      </p:sp>
      <p:sp>
        <p:nvSpPr>
          <p:cNvPr id="19" name="Shape 17"/>
          <p:cNvSpPr/>
          <p:nvPr/>
        </p:nvSpPr>
        <p:spPr>
          <a:xfrm>
            <a:off x="804672" y="4151376"/>
            <a:ext cx="402336" cy="402336"/>
          </a:xfrm>
          <a:prstGeom prst="ellipse">
            <a:avLst/>
          </a:prstGeom>
          <a:solidFill>
            <a:srgbClr val="1C7293"/>
          </a:solidFill>
          <a:ln w="12700">
            <a:solidFill>
              <a:srgbClr val="1C7293"/>
            </a:solidFill>
            <a:prstDash val="solid"/>
          </a:ln>
        </p:spPr>
        <p:txBody>
          <a:bodyPr/>
          <a:lstStyle/>
          <a:p>
            <a:endParaRPr lang="es-CO"/>
          </a:p>
        </p:txBody>
      </p:sp>
      <p:sp>
        <p:nvSpPr>
          <p:cNvPr id="20" name="Text 18"/>
          <p:cNvSpPr/>
          <p:nvPr/>
        </p:nvSpPr>
        <p:spPr>
          <a:xfrm>
            <a:off x="804672" y="41513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1" name="Text 19"/>
          <p:cNvSpPr/>
          <p:nvPr/>
        </p:nvSpPr>
        <p:spPr>
          <a:xfrm>
            <a:off x="1353312" y="395020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El saludo</a:t>
            </a:r>
            <a:endParaRPr lang="en-US" sz="1300" dirty="0"/>
          </a:p>
        </p:txBody>
      </p:sp>
      <p:sp>
        <p:nvSpPr>
          <p:cNvPr id="22" name="Text 20"/>
          <p:cNvSpPr/>
          <p:nvPr/>
        </p:nvSpPr>
        <p:spPr>
          <a:xfrm>
            <a:off x="1353312" y="420624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conocen el nombre de una persona, en una sola palabra, y su edad. Escribir un mensaje que la salude y le diga qué edad cumple el próximo año.</a:t>
            </a:r>
            <a:endParaRPr lang="en-US" sz="1150" dirty="0"/>
          </a:p>
        </p:txBody>
      </p:sp>
      <p:sp>
        <p:nvSpPr>
          <p:cNvPr id="23" name="Shape 21"/>
          <p:cNvSpPr/>
          <p:nvPr/>
        </p:nvSpPr>
        <p:spPr>
          <a:xfrm>
            <a:off x="8503920" y="404164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24" name="Text 22"/>
          <p:cNvSpPr/>
          <p:nvPr/>
        </p:nvSpPr>
        <p:spPr>
          <a:xfrm>
            <a:off x="8668512" y="404164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Laura  19</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Hola Laura, ...</a:t>
            </a:r>
            <a:endParaRPr lang="en-US" sz="950" dirty="0"/>
          </a:p>
        </p:txBody>
      </p:sp>
      <p:sp>
        <p:nvSpPr>
          <p:cNvPr id="25" name="Shape 23"/>
          <p:cNvSpPr/>
          <p:nvPr/>
        </p:nvSpPr>
        <p:spPr>
          <a:xfrm>
            <a:off x="548640" y="4901184"/>
            <a:ext cx="11091672" cy="932688"/>
          </a:xfrm>
          <a:prstGeom prst="roundRect">
            <a:avLst>
              <a:gd name="adj" fmla="val 7843"/>
            </a:avLst>
          </a:prstGeom>
          <a:solidFill>
            <a:srgbClr val="E8EEF4"/>
          </a:solidFill>
          <a:ln w="12700">
            <a:solidFill>
              <a:srgbClr val="E8EEF4"/>
            </a:solidFill>
            <a:prstDash val="solid"/>
          </a:ln>
        </p:spPr>
        <p:txBody>
          <a:bodyPr/>
          <a:lstStyle/>
          <a:p>
            <a:endParaRPr lang="es-CO"/>
          </a:p>
        </p:txBody>
      </p:sp>
      <p:sp>
        <p:nvSpPr>
          <p:cNvPr id="26" name="Shape 24"/>
          <p:cNvSpPr/>
          <p:nvPr/>
        </p:nvSpPr>
        <p:spPr>
          <a:xfrm>
            <a:off x="804672" y="5157216"/>
            <a:ext cx="402336" cy="402336"/>
          </a:xfrm>
          <a:prstGeom prst="ellipse">
            <a:avLst/>
          </a:prstGeom>
          <a:solidFill>
            <a:srgbClr val="1C7293"/>
          </a:solidFill>
          <a:ln w="12700">
            <a:solidFill>
              <a:srgbClr val="1C7293"/>
            </a:solidFill>
            <a:prstDash val="solid"/>
          </a:ln>
        </p:spPr>
        <p:txBody>
          <a:bodyPr/>
          <a:lstStyle/>
          <a:p>
            <a:endParaRPr lang="es-CO"/>
          </a:p>
        </p:txBody>
      </p:sp>
      <p:sp>
        <p:nvSpPr>
          <p:cNvPr id="27" name="Text 25"/>
          <p:cNvSpPr/>
          <p:nvPr/>
        </p:nvSpPr>
        <p:spPr>
          <a:xfrm>
            <a:off x="804672" y="515721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8" name="Text 26"/>
          <p:cNvSpPr/>
          <p:nvPr/>
        </p:nvSpPr>
        <p:spPr>
          <a:xfrm>
            <a:off x="1353312" y="4956048"/>
            <a:ext cx="3657600" cy="256032"/>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La última cifra</a:t>
            </a:r>
            <a:endParaRPr lang="en-US" sz="1300" dirty="0"/>
          </a:p>
        </p:txBody>
      </p:sp>
      <p:sp>
        <p:nvSpPr>
          <p:cNvPr id="29" name="Text 27"/>
          <p:cNvSpPr/>
          <p:nvPr/>
        </p:nvSpPr>
        <p:spPr>
          <a:xfrm>
            <a:off x="1353312" y="5212080"/>
            <a:ext cx="6949440" cy="530352"/>
          </a:xfrm>
          <a:prstGeom prst="rect">
            <a:avLst/>
          </a:prstGeom>
          <a:noFill/>
          <a:ln/>
        </p:spPr>
        <p:txBody>
          <a:bodyPr wrap="square" lIns="0" tIns="0" rIns="0" bIns="0" rtlCol="0" anchor="t"/>
          <a:lstStyle/>
          <a:p>
            <a:pPr marL="0" indent="0">
              <a:lnSpc>
                <a:spcPts val="1450"/>
              </a:lnSpc>
              <a:buNone/>
            </a:pPr>
            <a:r>
              <a:rPr lang="en-US" sz="1150" dirty="0">
                <a:solidFill>
                  <a:srgbClr val="5B6B7C"/>
                </a:solidFill>
                <a:latin typeface="Calibri" pitchFamily="34" charset="0"/>
                <a:ea typeface="Calibri" pitchFamily="34" charset="-122"/>
                <a:cs typeface="Calibri" pitchFamily="34" charset="-120"/>
              </a:rPr>
              <a:t>Se conoce un número de tres cifras. Reportar su última cifra y el número que queda al quitársela.</a:t>
            </a:r>
            <a:endParaRPr lang="en-US" sz="1150" dirty="0"/>
          </a:p>
        </p:txBody>
      </p:sp>
      <p:sp>
        <p:nvSpPr>
          <p:cNvPr id="30" name="Shape 28"/>
          <p:cNvSpPr/>
          <p:nvPr/>
        </p:nvSpPr>
        <p:spPr>
          <a:xfrm>
            <a:off x="8503920" y="5047488"/>
            <a:ext cx="2834640" cy="640080"/>
          </a:xfrm>
          <a:prstGeom prst="roundRect">
            <a:avLst>
              <a:gd name="adj" fmla="val 7143"/>
            </a:avLst>
          </a:prstGeom>
          <a:solidFill>
            <a:srgbClr val="FFFFFF"/>
          </a:solidFill>
          <a:ln w="12700">
            <a:solidFill>
              <a:srgbClr val="E1E7EF"/>
            </a:solidFill>
            <a:prstDash val="solid"/>
          </a:ln>
        </p:spPr>
        <p:txBody>
          <a:bodyPr/>
          <a:lstStyle/>
          <a:p>
            <a:endParaRPr lang="es-CO"/>
          </a:p>
        </p:txBody>
      </p:sp>
      <p:sp>
        <p:nvSpPr>
          <p:cNvPr id="31" name="Text 29"/>
          <p:cNvSpPr/>
          <p:nvPr/>
        </p:nvSpPr>
        <p:spPr>
          <a:xfrm>
            <a:off x="8668512" y="5047488"/>
            <a:ext cx="2651760" cy="640080"/>
          </a:xfrm>
          <a:prstGeom prst="rect">
            <a:avLst/>
          </a:prstGeom>
          <a:noFill/>
          <a:ln/>
        </p:spPr>
        <p:txBody>
          <a:bodyPr wrap="square" lIns="0" tIns="0" rIns="0" bIns="0" rtlCol="0" anchor="ctr"/>
          <a:lstStyle/>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entrada  </a:t>
            </a:r>
            <a:r>
              <a:rPr lang="en-US" sz="1050" b="1" dirty="0">
                <a:solidFill>
                  <a:srgbClr val="13294B"/>
                </a:solidFill>
                <a:latin typeface="Courier New" pitchFamily="34" charset="0"/>
                <a:ea typeface="Courier New" pitchFamily="34" charset="-122"/>
                <a:cs typeface="Courier New" pitchFamily="34" charset="-120"/>
              </a:rPr>
              <a:t>472</a:t>
            </a:r>
            <a:endParaRPr lang="en-US" sz="950" dirty="0"/>
          </a:p>
          <a:p>
            <a:pPr marL="0" indent="0">
              <a:lnSpc>
                <a:spcPts val="1400"/>
              </a:lnSpc>
              <a:buNone/>
            </a:pPr>
            <a:r>
              <a:rPr lang="en-US" sz="950" dirty="0">
                <a:solidFill>
                  <a:srgbClr val="5B6B7C"/>
                </a:solidFill>
                <a:latin typeface="Calibri" pitchFamily="34" charset="0"/>
                <a:ea typeface="Calibri" pitchFamily="34" charset="-122"/>
                <a:cs typeface="Calibri" pitchFamily="34" charset="-120"/>
              </a:rPr>
              <a:t>salida  </a:t>
            </a:r>
            <a:r>
              <a:rPr lang="en-US" sz="1050" b="1" dirty="0">
                <a:solidFill>
                  <a:srgbClr val="B07800"/>
                </a:solidFill>
                <a:latin typeface="Courier New" pitchFamily="34" charset="0"/>
                <a:ea typeface="Courier New" pitchFamily="34" charset="-122"/>
                <a:cs typeface="Courier New" pitchFamily="34" charset="-120"/>
              </a:rPr>
              <a:t>2 y 47</a:t>
            </a:r>
            <a:endParaRPr lang="en-US" sz="950" dirty="0"/>
          </a:p>
        </p:txBody>
      </p:sp>
      <p:sp>
        <p:nvSpPr>
          <p:cNvPr id="32" name="Shape 30"/>
          <p:cNvSpPr/>
          <p:nvPr/>
        </p:nvSpPr>
        <p:spPr>
          <a:xfrm>
            <a:off x="548640" y="5852160"/>
            <a:ext cx="11091672" cy="420624"/>
          </a:xfrm>
          <a:prstGeom prst="roundRect">
            <a:avLst>
              <a:gd name="adj" fmla="val 17391"/>
            </a:avLst>
          </a:prstGeom>
          <a:solidFill>
            <a:srgbClr val="FFF4DE"/>
          </a:solidFill>
          <a:ln w="12700">
            <a:solidFill>
              <a:srgbClr val="FFF4DE"/>
            </a:solidFill>
            <a:prstDash val="solid"/>
          </a:ln>
        </p:spPr>
        <p:txBody>
          <a:bodyPr/>
          <a:lstStyle/>
          <a:p>
            <a:endParaRPr lang="es-CO"/>
          </a:p>
        </p:txBody>
      </p:sp>
      <p:sp>
        <p:nvSpPr>
          <p:cNvPr id="33" name="Text 31"/>
          <p:cNvSpPr/>
          <p:nvPr/>
        </p:nvSpPr>
        <p:spPr>
          <a:xfrm>
            <a:off x="859536" y="5852160"/>
            <a:ext cx="10469880" cy="420624"/>
          </a:xfrm>
          <a:prstGeom prst="rect">
            <a:avLst/>
          </a:prstGeom>
          <a:noFill/>
          <a:ln/>
        </p:spPr>
        <p:txBody>
          <a:bodyPr wrap="square" lIns="0" tIns="0" rIns="0" bIns="0" rtlCol="0" anchor="ctr"/>
          <a:lstStyle/>
          <a:p>
            <a:pPr marL="0" indent="0">
              <a:buNone/>
            </a:pPr>
            <a:r>
              <a:rPr lang="en-US" sz="1200" b="1" dirty="0">
                <a:solidFill>
                  <a:srgbClr val="B07800"/>
                </a:solidFill>
                <a:latin typeface="Calibri" pitchFamily="34" charset="0"/>
                <a:ea typeface="Calibri" pitchFamily="34" charset="-122"/>
                <a:cs typeface="Calibri" pitchFamily="34" charset="-120"/>
              </a:rPr>
              <a:t>Dos avisos.  </a:t>
            </a:r>
            <a:r>
              <a:rPr lang="en-US" sz="1200" dirty="0">
                <a:solidFill>
                  <a:srgbClr val="1A1A2E"/>
                </a:solidFill>
                <a:latin typeface="Calibri" pitchFamily="34" charset="0"/>
                <a:ea typeface="Calibri" pitchFamily="34" charset="-122"/>
                <a:cs typeface="Calibri" pitchFamily="34" charset="-120"/>
              </a:rPr>
              <a:t>En el 5 el promedio necesita decimales: divide entre 3.0 y no entre 3. En el 7 el nombre se lee con next() y se escribe de una sola palabra.</a:t>
            </a:r>
            <a:endParaRPr lang="en-US" sz="1200" dirty="0"/>
          </a:p>
        </p:txBody>
      </p:sp>
      <p:sp>
        <p:nvSpPr>
          <p:cNvPr id="34" name="Text 32"/>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SEGUNDA PARTE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Caza de errores en un programa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Este programa debería intercambiar dos números. Tiene cinco problemas. Encuéntralos y reescríbelo.</a:t>
            </a:r>
            <a:endParaRPr lang="en-US" sz="1400" dirty="0"/>
          </a:p>
        </p:txBody>
      </p:sp>
      <p:sp>
        <p:nvSpPr>
          <p:cNvPr id="5" name="Shape 3"/>
          <p:cNvSpPr/>
          <p:nvPr/>
        </p:nvSpPr>
        <p:spPr>
          <a:xfrm>
            <a:off x="548640" y="2011680"/>
            <a:ext cx="6492240" cy="2926080"/>
          </a:xfrm>
          <a:prstGeom prst="roundRect">
            <a:avLst>
              <a:gd name="adj" fmla="val 938"/>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194560"/>
            <a:ext cx="5980176" cy="2560320"/>
          </a:xfrm>
          <a:prstGeom prst="rect">
            <a:avLst/>
          </a:prstGeom>
          <a:noFill/>
          <a:ln/>
        </p:spPr>
        <p:txBody>
          <a:bodyPr wrap="square" lIns="0" tIns="0" rIns="0" bIns="0" rtlCol="0" anchor="t"/>
          <a:lstStyle/>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1  public class Intercambio {</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2      public static void main(String[] args) {</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3          Scanner teclado = new Scanner(System.in);</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4          int primero = teclado.nextInt();</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5          int Segundo = teclado.nextInt();</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6          primero = segundo;</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7          segundo = primero</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8          System.out.println("Ahora: " primero + " " + segundo);</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9      }</a:t>
            </a:r>
            <a:endParaRPr lang="en-US" sz="1100" dirty="0"/>
          </a:p>
          <a:p>
            <a:pPr marL="0" indent="0">
              <a:lnSpc>
                <a:spcPts val="1705"/>
              </a:lnSpc>
              <a:buNone/>
            </a:pPr>
            <a:r>
              <a:rPr lang="en-US" sz="1100" dirty="0">
                <a:solidFill>
                  <a:srgbClr val="E8EEF4"/>
                </a:solidFill>
                <a:latin typeface="Courier New" pitchFamily="34" charset="0"/>
                <a:ea typeface="Courier New" pitchFamily="34" charset="-122"/>
                <a:cs typeface="Courier New" pitchFamily="34" charset="-120"/>
              </a:rPr>
              <a:t>10 }</a:t>
            </a:r>
            <a:endParaRPr lang="en-US" sz="1100" dirty="0"/>
          </a:p>
        </p:txBody>
      </p:sp>
      <p:sp>
        <p:nvSpPr>
          <p:cNvPr id="7" name="Shape 5"/>
          <p:cNvSpPr/>
          <p:nvPr/>
        </p:nvSpPr>
        <p:spPr>
          <a:xfrm>
            <a:off x="7223760" y="2011680"/>
            <a:ext cx="4416552" cy="1700784"/>
          </a:xfrm>
          <a:prstGeom prst="roundRect">
            <a:avLst>
              <a:gd name="adj" fmla="val 4301"/>
            </a:avLst>
          </a:prstGeom>
          <a:solidFill>
            <a:srgbClr val="FFF4DE"/>
          </a:solidFill>
          <a:ln w="12700">
            <a:solidFill>
              <a:srgbClr val="FFF4DE"/>
            </a:solidFill>
            <a:prstDash val="solid"/>
          </a:ln>
        </p:spPr>
        <p:txBody>
          <a:bodyPr/>
          <a:lstStyle/>
          <a:p>
            <a:endParaRPr lang="es-CO"/>
          </a:p>
        </p:txBody>
      </p:sp>
      <p:sp>
        <p:nvSpPr>
          <p:cNvPr id="8" name="Text 6"/>
          <p:cNvSpPr/>
          <p:nvPr/>
        </p:nvSpPr>
        <p:spPr>
          <a:xfrm>
            <a:off x="7498080" y="2121408"/>
            <a:ext cx="384048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PISTAS</a:t>
            </a:r>
            <a:endParaRPr lang="en-US" sz="1050" dirty="0"/>
          </a:p>
        </p:txBody>
      </p:sp>
      <p:sp>
        <p:nvSpPr>
          <p:cNvPr id="9" name="Text 7"/>
          <p:cNvSpPr/>
          <p:nvPr/>
        </p:nvSpPr>
        <p:spPr>
          <a:xfrm>
            <a:off x="7498080" y="2395728"/>
            <a:ext cx="3840480" cy="124358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Una falta antes de la clase, no dentro de ella.</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Una es de mayúsculas.</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Dos son de puntuación.</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Una no impide compilar: los dos números terminan iguales.</a:t>
            </a:r>
            <a:endParaRPr lang="en-US" sz="1150" dirty="0"/>
          </a:p>
        </p:txBody>
      </p:sp>
      <p:sp>
        <p:nvSpPr>
          <p:cNvPr id="10" name="Shape 8"/>
          <p:cNvSpPr/>
          <p:nvPr/>
        </p:nvSpPr>
        <p:spPr>
          <a:xfrm>
            <a:off x="7223760" y="3822192"/>
            <a:ext cx="4416552" cy="1115568"/>
          </a:xfrm>
          <a:prstGeom prst="roundRect">
            <a:avLst>
              <a:gd name="adj" fmla="val 6557"/>
            </a:avLst>
          </a:prstGeom>
          <a:solidFill>
            <a:srgbClr val="E8EEF4"/>
          </a:solidFill>
          <a:ln w="12700">
            <a:solidFill>
              <a:srgbClr val="E8EEF4"/>
            </a:solidFill>
            <a:prstDash val="solid"/>
          </a:ln>
        </p:spPr>
        <p:txBody>
          <a:bodyPr/>
          <a:lstStyle/>
          <a:p>
            <a:endParaRPr lang="es-CO"/>
          </a:p>
        </p:txBody>
      </p:sp>
      <p:sp>
        <p:nvSpPr>
          <p:cNvPr id="11" name="Text 9"/>
          <p:cNvSpPr/>
          <p:nvPr/>
        </p:nvSpPr>
        <p:spPr>
          <a:xfrm>
            <a:off x="7498080" y="3931920"/>
            <a:ext cx="384048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CÓMO SE ENTREGA</a:t>
            </a:r>
            <a:endParaRPr lang="en-US" sz="1050" dirty="0"/>
          </a:p>
        </p:txBody>
      </p:sp>
      <p:sp>
        <p:nvSpPr>
          <p:cNvPr id="12" name="Text 10"/>
          <p:cNvSpPr/>
          <p:nvPr/>
        </p:nvSpPr>
        <p:spPr>
          <a:xfrm>
            <a:off x="7498080" y="4206240"/>
            <a:ext cx="3840480" cy="658368"/>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La lista de los cinco, con el número de línea y qué le pasa a cada una, y el programa corregido ejecutándose con 4 y 9.</a:t>
            </a:r>
            <a:endParaRPr lang="en-US" sz="1150" dirty="0"/>
          </a:p>
        </p:txBody>
      </p:sp>
      <p:sp>
        <p:nvSpPr>
          <p:cNvPr id="13" name="Shape 11"/>
          <p:cNvSpPr/>
          <p:nvPr/>
        </p:nvSpPr>
        <p:spPr>
          <a:xfrm>
            <a:off x="548640" y="5065776"/>
            <a:ext cx="11091672" cy="694944"/>
          </a:xfrm>
          <a:prstGeom prst="roundRect">
            <a:avLst>
              <a:gd name="adj" fmla="val 10526"/>
            </a:avLst>
          </a:prstGeom>
          <a:solidFill>
            <a:srgbClr val="F4F7FB"/>
          </a:solidFill>
          <a:ln w="12700">
            <a:solidFill>
              <a:srgbClr val="F4F7FB"/>
            </a:solidFill>
            <a:prstDash val="solid"/>
          </a:ln>
        </p:spPr>
        <p:txBody>
          <a:bodyPr/>
          <a:lstStyle/>
          <a:p>
            <a:endParaRPr lang="es-CO"/>
          </a:p>
        </p:txBody>
      </p:sp>
      <p:sp>
        <p:nvSpPr>
          <p:cNvPr id="14" name="Text 12"/>
          <p:cNvSpPr/>
          <p:nvPr/>
        </p:nvSpPr>
        <p:spPr>
          <a:xfrm>
            <a:off x="859536" y="5065776"/>
            <a:ext cx="10469880" cy="694944"/>
          </a:xfrm>
          <a:prstGeom prst="rect">
            <a:avLst/>
          </a:prstGeom>
          <a:noFill/>
          <a:ln/>
        </p:spPr>
        <p:txBody>
          <a:bodyPr wrap="square" lIns="0" tIns="0" rIns="0" bIns="0" rtlCol="0" anchor="ctr"/>
          <a:lstStyle/>
          <a:p>
            <a:pPr marL="0" indent="0">
              <a:lnSpc>
                <a:spcPts val="1700"/>
              </a:lnSpc>
              <a:buNone/>
            </a:pPr>
            <a:r>
              <a:rPr lang="en-US" sz="1250" b="1" dirty="0">
                <a:solidFill>
                  <a:srgbClr val="13294B"/>
                </a:solidFill>
                <a:latin typeface="Calibri" pitchFamily="34" charset="0"/>
                <a:ea typeface="Calibri" pitchFamily="34" charset="-122"/>
                <a:cs typeface="Calibri" pitchFamily="34" charset="-120"/>
              </a:rPr>
              <a:t>Truco de método:  </a:t>
            </a:r>
            <a:r>
              <a:rPr lang="en-US" sz="1250" dirty="0">
                <a:solidFill>
                  <a:srgbClr val="1A1A2E"/>
                </a:solidFill>
                <a:latin typeface="Calibri" pitchFamily="34" charset="0"/>
                <a:ea typeface="Calibri" pitchFamily="34" charset="-122"/>
                <a:cs typeface="Calibri" pitchFamily="34" charset="-120"/>
              </a:rPr>
              <a:t>corrige primero los de puntuación y vuelve a compilar. Solo entonces aparecen los otros, porque el compilador no alcanza a llegar hasta ellos.</a:t>
            </a:r>
            <a:endParaRPr lang="en-US" sz="1250" dirty="0"/>
          </a:p>
        </p:txBody>
      </p:sp>
      <p:sp>
        <p:nvSpPr>
          <p:cNvPr id="15" name="Shape 13"/>
          <p:cNvSpPr/>
          <p:nvPr/>
        </p:nvSpPr>
        <p:spPr>
          <a:xfrm>
            <a:off x="548640" y="5870448"/>
            <a:ext cx="11091672" cy="384048"/>
          </a:xfrm>
          <a:prstGeom prst="roundRect">
            <a:avLst>
              <a:gd name="adj" fmla="val 19048"/>
            </a:avLst>
          </a:prstGeom>
          <a:solidFill>
            <a:srgbClr val="13294B"/>
          </a:solidFill>
          <a:ln w="12700">
            <a:solidFill>
              <a:srgbClr val="13294B"/>
            </a:solidFill>
            <a:prstDash val="solid"/>
          </a:ln>
        </p:spPr>
        <p:txBody>
          <a:bodyPr/>
          <a:lstStyle/>
          <a:p>
            <a:endParaRPr lang="es-CO"/>
          </a:p>
        </p:txBody>
      </p:sp>
      <p:sp>
        <p:nvSpPr>
          <p:cNvPr id="16" name="Text 14"/>
          <p:cNvSpPr/>
          <p:nvPr/>
        </p:nvSpPr>
        <p:spPr>
          <a:xfrm>
            <a:off x="868680" y="5870448"/>
            <a:ext cx="10451592" cy="38404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EL QUINTO ES EL INTERESANTE:  </a:t>
            </a:r>
            <a:r>
              <a:rPr lang="en-US" sz="1350" dirty="0">
                <a:solidFill>
                  <a:srgbClr val="FFFFFF"/>
                </a:solidFill>
                <a:latin typeface="Calibri" pitchFamily="34" charset="0"/>
                <a:ea typeface="Calibri" pitchFamily="34" charset="-122"/>
                <a:cs typeface="Calibri" pitchFamily="34" charset="-120"/>
              </a:rPr>
              <a:t>el programa compila, corre y entrega dos números. Solo que son el mismo dos veces.</a:t>
            </a:r>
            <a:endParaRPr lang="en-US" sz="1350" dirty="0"/>
          </a:p>
        </p:txBody>
      </p:sp>
      <p:sp>
        <p:nvSpPr>
          <p:cNvPr id="17" name="Text 1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5201</Words>
  <Application>Microsoft Office PowerPoint</Application>
  <PresentationFormat>Panorámica</PresentationFormat>
  <Paragraphs>495</Paragraphs>
  <Slides>21</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6 · Estructuras secuenciales en Java</dc:title>
  <dc:subject>PptxGenJS Presentation</dc:subject>
  <dc:creator>Sebastián Montoya Villada</dc:creator>
  <cp:lastModifiedBy>SEBASTIAN MONTOYA VILLADA</cp:lastModifiedBy>
  <cp:revision>4</cp:revision>
  <dcterms:created xsi:type="dcterms:W3CDTF">2026-08-18T16:26:24Z</dcterms:created>
  <dcterms:modified xsi:type="dcterms:W3CDTF">2026-08-18T20:17:41Z</dcterms:modified>
</cp:coreProperties>
</file>